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B6575"/>
                </a:solidFill>
                <a:latin typeface="Arial"/>
              </a:defRPr>
            </a:pPr>
            <a:r>
              <a:rPr sz="1000" b="0" i="0" u="none" strike="noStrike">
                <a:solidFill>
                  <a:srgbClr val="5B6575"/>
                </a:solidFill>
                <a:latin typeface="Arial"/>
              </a:rPr>
              <a:t>REVIEWS MEETING ALL FIVE CRITERIA (%)</a:t>
            </a:r>
          </a:p>
        </c:rich>
      </c:tx>
      <c:layout/>
      <c:overlay val="0"/>
    </c:title>
    <c:autoTitleDeleted val="0"/>
    <c:plotArea>
      <c:layout/>
      <c:barChart>
        <c:barDir val="bar"/>
        <c:grouping val="clustered"/>
        <c:varyColors val="0"/>
        <c:ser>
          <c:idx val="0"/>
          <c:order val="0"/>
          <c:tx>
            <c:strRef>
              <c:f>Sheet1!$B$1</c:f>
              <c:strCache>
                <c:ptCount val="1"/>
                <c:pt idx="0">
                  <c:v>Reviews meeting all five criteria</c:v>
                </c:pt>
              </c:strCache>
            </c:strRef>
          </c:tx>
          <c:spPr>
            <a:solidFill>
              <a:srgbClr val="5B6575"/>
            </a:solidFill>
            <a:effectLst/>
          </c:spPr>
          <c:invertIfNegative val="0"/>
          <c:dLbls>
            <c:numFmt formatCode="0.0&quot;%&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57A90"/>
              </a:solidFill>
              <a:effectLst/>
            </c:spPr>
          </c:dPt>
          <c:dPt>
            <c:idx val="2"/>
            <c:invertIfNegative val="0"/>
            <c:bubble3D val="0"/>
            <c:spPr>
              <a:solidFill>
                <a:srgbClr val="5B3F9E"/>
              </a:solidFill>
              <a:effectLst/>
            </c:spPr>
          </c:dPt>
          <c:dPt>
            <c:idx val="3"/>
            <c:invertIfNegative val="0"/>
            <c:bubble3D val="0"/>
            <c:spPr>
              <a:solidFill>
                <a:srgbClr val="E3A82B"/>
              </a:solidFill>
              <a:effectLst/>
            </c:spPr>
          </c:dPt>
          <c:cat>
            <c:multiLvlStrRef>
              <c:f>Sheet1!$A$2:$A$5</c:f>
              <c:multiLvlStrCache>
                <c:ptCount val="4"/>
                <c:lvl>
                  <c:pt idx="0">
                    <c:v>Fixed-rule program, no AI</c:v>
                  </c:pt>
                  <c:pt idx="1">
                    <c:v>Gemini 3.8 Flash</c:v>
                  </c:pt>
                  <c:pt idx="2">
                    <c:v>GPT-5.6 Luna</c:v>
                  </c:pt>
                  <c:pt idx="3">
                    <c:v>DeepSeek v4.1 Flash</c:v>
                  </c:pt>
                </c:lvl>
              </c:multiLvlStrCache>
            </c:multiLvlStrRef>
          </c:cat>
          <c:val>
            <c:numRef>
              <c:f>Sheet1!$B$2:$B$5</c:f>
              <c:numCache>
                <c:formatCode>General</c:formatCode>
                <c:ptCount val="4"/>
                <c:pt idx="0">
                  <c:v>100</c:v>
                </c:pt>
                <c:pt idx="1">
                  <c:v>94.98</c:v>
                </c:pt>
                <c:pt idx="2">
                  <c:v>83.29</c:v>
                </c:pt>
                <c:pt idx="3">
                  <c:v>74.18</c:v>
                </c:pt>
              </c:numCache>
            </c:numRef>
          </c:val>
        </c:ser>
        <c:dLbls>
          <c:numFmt formatCode="0.0&quot;%&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B6575"/>
                </a:solidFill>
                <a:latin typeface="Arial"/>
              </a:defRPr>
            </a:pPr>
            <a:r>
              <a:rPr sz="1000" b="0" i="0" u="none" strike="noStrike">
                <a:solidFill>
                  <a:srgbClr val="5B6575"/>
                </a:solidFill>
                <a:latin typeface="Arial"/>
              </a:rPr>
              <a:t>PROJECTS WHOSE REVIEWS ALL PASSED (%)</a:t>
            </a:r>
          </a:p>
        </c:rich>
      </c:tx>
      <c:layout/>
      <c:overlay val="0"/>
    </c:title>
    <c:autoTitleDeleted val="0"/>
    <c:plotArea>
      <c:layout/>
      <c:barChart>
        <c:barDir val="bar"/>
        <c:grouping val="clustered"/>
        <c:varyColors val="0"/>
        <c:ser>
          <c:idx val="0"/>
          <c:order val="0"/>
          <c:tx>
            <c:strRef>
              <c:f>Sheet1!$B$1</c:f>
              <c:strCache>
                <c:ptCount val="1"/>
                <c:pt idx="0">
                  <c:v>Projects whose reviews all passed</c:v>
                </c:pt>
              </c:strCache>
            </c:strRef>
          </c:tx>
          <c:spPr>
            <a:solidFill>
              <a:srgbClr val="5B6575"/>
            </a:solidFill>
            <a:effectLst/>
          </c:spPr>
          <c:invertIfNegative val="0"/>
          <c:dLbls>
            <c:numFmt formatCode="0.0&quot;%&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57A90"/>
              </a:solidFill>
              <a:effectLst/>
            </c:spPr>
          </c:dPt>
          <c:dPt>
            <c:idx val="2"/>
            <c:invertIfNegative val="0"/>
            <c:bubble3D val="0"/>
            <c:spPr>
              <a:solidFill>
                <a:srgbClr val="5B3F9E"/>
              </a:solidFill>
              <a:effectLst/>
            </c:spPr>
          </c:dPt>
          <c:dPt>
            <c:idx val="3"/>
            <c:invertIfNegative val="0"/>
            <c:bubble3D val="0"/>
            <c:spPr>
              <a:solidFill>
                <a:srgbClr val="E3A82B"/>
              </a:solidFill>
              <a:effectLst/>
            </c:spPr>
          </c:dPt>
          <c:cat>
            <c:multiLvlStrRef>
              <c:f>Sheet1!$A$2:$A$5</c:f>
              <c:multiLvlStrCache>
                <c:ptCount val="4"/>
                <c:lvl>
                  <c:pt idx="0">
                    <c:v>Fixed-rule program, no AI</c:v>
                  </c:pt>
                  <c:pt idx="1">
                    <c:v>Gemini 3.8 Flash</c:v>
                  </c:pt>
                  <c:pt idx="2">
                    <c:v>GPT-5.6 Luna</c:v>
                  </c:pt>
                  <c:pt idx="3">
                    <c:v>DeepSeek v4.1 Flash</c:v>
                  </c:pt>
                </c:lvl>
              </c:multiLvlStrCache>
            </c:multiLvlStrRef>
          </c:cat>
          <c:val>
            <c:numRef>
              <c:f>Sheet1!$B$2:$B$5</c:f>
              <c:numCache>
                <c:formatCode>General</c:formatCode>
                <c:ptCount val="4"/>
                <c:pt idx="0">
                  <c:v>100</c:v>
                </c:pt>
                <c:pt idx="1">
                  <c:v>76.92</c:v>
                </c:pt>
                <c:pt idx="2">
                  <c:v>42.33</c:v>
                </c:pt>
                <c:pt idx="3">
                  <c:v>24.67</c:v>
                </c:pt>
              </c:numCache>
            </c:numRef>
          </c:val>
        </c:ser>
        <c:dLbls>
          <c:numFmt formatCode="0.0&quot;%&quot;" sourceLinked="0"/>
          <c:txPr>
            <a:bodyPr/>
            <a:lstStyle/>
            <a:p>
              <a:pPr>
                <a:defRPr b="1" i="0" strike="noStrike" sz="1000" u="none">
                  <a:solidFill>
                    <a:srgbClr val="252A3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B6575"/>
                </a:solidFill>
                <a:latin typeface="Arial"/>
              </a:defRPr>
            </a:pPr>
            <a:r>
              <a:rPr sz="1000" b="0" i="0" u="none" strike="noStrike">
                <a:solidFill>
                  <a:srgbClr val="5B6575"/>
                </a:solidFill>
                <a:latin typeface="Arial"/>
              </a:rPr>
              <a:t>REVIEWS MEETING ALL FIVE CRITERIA, BY GATE (%)</a:t>
            </a:r>
          </a:p>
        </c:rich>
      </c:tx>
      <c:layout/>
      <c:overlay val="0"/>
    </c:title>
    <c:autoTitleDeleted val="0"/>
    <c:plotArea>
      <c:layout/>
      <c:barChart>
        <c:barDir val="bar"/>
        <c:grouping val="clustered"/>
        <c:varyColors val="0"/>
        <c:ser>
          <c:idx val="0"/>
          <c:order val="0"/>
          <c:tx>
            <c:strRef>
              <c:f>Sheet1!$B$1</c:f>
              <c:strCache>
                <c:ptCount val="1"/>
                <c:pt idx="0">
                  <c:v>Gemini 3.8 Flash</c:v>
                </c:pt>
              </c:strCache>
            </c:strRef>
          </c:tx>
          <c:spPr>
            <a:solidFill>
              <a:srgbClr val="157A90"/>
            </a:solidFill>
            <a:effectLst/>
          </c:spPr>
          <c:invertIfNegative val="0"/>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cat>
            <c:multiLvlStrRef>
              <c:f>Sheet1!$A$2:$A$9</c:f>
              <c:multiLvlStrCache>
                <c:ptCount val="8"/>
                <c:lvl>
                  <c:pt idx="0">
                    <c:v>Architecture</c:v>
                  </c:pt>
                  <c:pt idx="1">
                    <c:v>Compliance</c:v>
                  </c:pt>
                  <c:pt idx="2">
                    <c:v>General</c:v>
                  </c:pt>
                  <c:pt idx="3">
                    <c:v>IT</c:v>
                  </c:pt>
                  <c:pt idx="4">
                    <c:v>Legal</c:v>
                  </c:pt>
                  <c:pt idx="5">
                    <c:v>Procurement</c:v>
                  </c:pt>
                  <c:pt idx="6">
                    <c:v>Security</c:v>
                  </c:pt>
                  <c:pt idx="7">
                    <c:v>Tech Readiness</c:v>
                  </c:pt>
                </c:lvl>
              </c:multiLvlStrCache>
            </c:multiLvlStrRef>
          </c:cat>
          <c:val>
            <c:numRef>
              <c:f>Sheet1!$B$2:$B$9</c:f>
              <c:numCache>
                <c:formatCode>General</c:formatCode>
                <c:ptCount val="8"/>
                <c:pt idx="0">
                  <c:v>85.43</c:v>
                </c:pt>
                <c:pt idx="1">
                  <c:v>100</c:v>
                </c:pt>
                <c:pt idx="2">
                  <c:v>87.96</c:v>
                </c:pt>
                <c:pt idx="3">
                  <c:v>100</c:v>
                </c:pt>
                <c:pt idx="4">
                  <c:v>99.5</c:v>
                </c:pt>
                <c:pt idx="5">
                  <c:v>96</c:v>
                </c:pt>
                <c:pt idx="6">
                  <c:v>98.66</c:v>
                </c:pt>
                <c:pt idx="7">
                  <c:v>89</c:v>
                </c:pt>
              </c:numCache>
            </c:numRef>
          </c:val>
        </c:ser>
        <c:ser>
          <c:idx val="1"/>
          <c:order val="1"/>
          <c:tx>
            <c:strRef>
              <c:f>Sheet1!$C$1</c:f>
              <c:strCache>
                <c:ptCount val="1"/>
                <c:pt idx="0">
                  <c:v>GPT-5.6 Luna</c:v>
                </c:pt>
              </c:strCache>
            </c:strRef>
          </c:tx>
          <c:spPr>
            <a:solidFill>
              <a:srgbClr val="5B3F9E"/>
            </a:solidFill>
            <a:effectLst/>
          </c:spPr>
          <c:invertIfNegative val="0"/>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cat>
            <c:multiLvlStrRef>
              <c:f>Sheet1!$A$2:$A$9</c:f>
              <c:multiLvlStrCache>
                <c:ptCount val="8"/>
                <c:lvl>
                  <c:pt idx="0">
                    <c:v>Architecture</c:v>
                  </c:pt>
                  <c:pt idx="1">
                    <c:v>Compliance</c:v>
                  </c:pt>
                  <c:pt idx="2">
                    <c:v>General</c:v>
                  </c:pt>
                  <c:pt idx="3">
                    <c:v>IT</c:v>
                  </c:pt>
                  <c:pt idx="4">
                    <c:v>Legal</c:v>
                  </c:pt>
                  <c:pt idx="5">
                    <c:v>Procurement</c:v>
                  </c:pt>
                  <c:pt idx="6">
                    <c:v>Security</c:v>
                  </c:pt>
                  <c:pt idx="7">
                    <c:v>Tech Readiness</c:v>
                  </c:pt>
                </c:lvl>
              </c:multiLvlStrCache>
            </c:multiLvlStrRef>
          </c:cat>
          <c:val>
            <c:numRef>
              <c:f>Sheet1!$C$2:$C$9</c:f>
              <c:numCache>
                <c:formatCode>General</c:formatCode>
                <c:ptCount val="8"/>
                <c:pt idx="0">
                  <c:v>89.5</c:v>
                </c:pt>
                <c:pt idx="1">
                  <c:v>96</c:v>
                </c:pt>
                <c:pt idx="2">
                  <c:v>61.67</c:v>
                </c:pt>
                <c:pt idx="3">
                  <c:v>97.67</c:v>
                </c:pt>
                <c:pt idx="4">
                  <c:v>80.5</c:v>
                </c:pt>
                <c:pt idx="5">
                  <c:v>33</c:v>
                </c:pt>
                <c:pt idx="6">
                  <c:v>92</c:v>
                </c:pt>
                <c:pt idx="7">
                  <c:v>97</c:v>
                </c:pt>
              </c:numCache>
            </c:numRef>
          </c:val>
        </c:ser>
        <c:ser>
          <c:idx val="2"/>
          <c:order val="2"/>
          <c:tx>
            <c:strRef>
              <c:f>Sheet1!$D$1</c:f>
              <c:strCache>
                <c:ptCount val="1"/>
                <c:pt idx="0">
                  <c:v>DeepSeek v4.1 Flash</c:v>
                </c:pt>
              </c:strCache>
            </c:strRef>
          </c:tx>
          <c:spPr>
            <a:solidFill>
              <a:srgbClr val="E3A82B"/>
            </a:solidFill>
            <a:effectLst/>
          </c:spPr>
          <c:invertIfNegative val="0"/>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cat>
            <c:multiLvlStrRef>
              <c:f>Sheet1!$A$2:$A$9</c:f>
              <c:multiLvlStrCache>
                <c:ptCount val="8"/>
                <c:lvl>
                  <c:pt idx="0">
                    <c:v>Architecture</c:v>
                  </c:pt>
                  <c:pt idx="1">
                    <c:v>Compliance</c:v>
                  </c:pt>
                  <c:pt idx="2">
                    <c:v>General</c:v>
                  </c:pt>
                  <c:pt idx="3">
                    <c:v>IT</c:v>
                  </c:pt>
                  <c:pt idx="4">
                    <c:v>Legal</c:v>
                  </c:pt>
                  <c:pt idx="5">
                    <c:v>Procurement</c:v>
                  </c:pt>
                  <c:pt idx="6">
                    <c:v>Security</c:v>
                  </c:pt>
                  <c:pt idx="7">
                    <c:v>Tech Readiness</c:v>
                  </c:pt>
                </c:lvl>
              </c:multiLvlStrCache>
            </c:multiLvlStrRef>
          </c:cat>
          <c:val>
            <c:numRef>
              <c:f>Sheet1!$D$2:$D$9</c:f>
              <c:numCache>
                <c:formatCode>General</c:formatCode>
                <c:ptCount val="8"/>
                <c:pt idx="0">
                  <c:v>75</c:v>
                </c:pt>
                <c:pt idx="1">
                  <c:v>88</c:v>
                </c:pt>
                <c:pt idx="2">
                  <c:v>68.67</c:v>
                </c:pt>
                <c:pt idx="3">
                  <c:v>87</c:v>
                </c:pt>
                <c:pt idx="4">
                  <c:v>68.5</c:v>
                </c:pt>
                <c:pt idx="5">
                  <c:v>43</c:v>
                </c:pt>
                <c:pt idx="6">
                  <c:v>72.33</c:v>
                </c:pt>
                <c:pt idx="7">
                  <c:v>71</c:v>
                </c:pt>
              </c:numCache>
            </c:numRef>
          </c:val>
        </c:ser>
        <c:dLbls>
          <c:numFmt formatCode="0" sourceLinked="0"/>
          <c:txPr>
            <a:bodyPr/>
            <a:lstStyle/>
            <a:p>
              <a:pPr>
                <a:defRPr b="0" i="0" strike="noStrike" sz="700" u="none">
                  <a:solidFill>
                    <a:srgbClr val="5B6575"/>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9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900">
              <a:solidFill>
                <a:srgbClr val="252A3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B6575"/>
                </a:solidFill>
                <a:latin typeface="Arial"/>
              </a:defRPr>
            </a:pPr>
            <a:r>
              <a:rPr sz="1000" b="0" i="0" u="none" strike="noStrike">
                <a:solidFill>
                  <a:srgbClr val="5B6575"/>
                </a:solidFill>
                <a:latin typeface="Arial"/>
              </a:rPr>
              <a:t>STAFFING NEEDED FOR THE SAME WORK UNDER FOUR SCENARIOS</a:t>
            </a:r>
          </a:p>
        </c:rich>
      </c:tx>
      <c:layout/>
      <c:overlay val="0"/>
    </c:title>
    <c:autoTitleDeleted val="0"/>
    <c:plotArea>
      <c:layout/>
      <c:barChart>
        <c:barDir val="col"/>
        <c:grouping val="clustered"/>
        <c:varyColors val="0"/>
        <c:ser>
          <c:idx val="0"/>
          <c:order val="0"/>
          <c:tx>
            <c:strRef>
              <c:f>Sheet1!$B$1</c:f>
              <c:strCache>
                <c:ptCount val="1"/>
                <c:pt idx="0">
                  <c:v>Staffing required (FTE)</c:v>
                </c:pt>
              </c:strCache>
            </c:strRef>
          </c:tx>
          <c:spPr>
            <a:solidFill>
              <a:srgbClr val="5B6575"/>
            </a:solidFill>
            <a:effectLst/>
          </c:spPr>
          <c:invertIfNegative val="0"/>
          <c:dLbls>
            <c:numFmt formatCode="0.0" sourceLinked="0"/>
            <c:txPr>
              <a:bodyPr/>
              <a:lstStyle/>
              <a:p>
                <a:pPr>
                  <a:defRPr b="1" i="0" strike="noStrike" sz="900" u="none">
                    <a:solidFill>
                      <a:srgbClr val="252A3D"/>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57A90"/>
              </a:solidFill>
              <a:effectLst/>
            </c:spPr>
          </c:dPt>
          <c:dPt>
            <c:idx val="2"/>
            <c:invertIfNegative val="0"/>
            <c:bubble3D val="0"/>
            <c:spPr>
              <a:solidFill>
                <a:srgbClr val="1B6E93"/>
              </a:solidFill>
              <a:effectLst/>
            </c:spPr>
          </c:dPt>
          <c:dPt>
            <c:idx val="3"/>
            <c:invertIfNegative val="0"/>
            <c:bubble3D val="0"/>
            <c:spPr>
              <a:solidFill>
                <a:srgbClr val="5B3F9E"/>
              </a:solidFill>
              <a:effectLst/>
            </c:spPr>
          </c:dPt>
          <c:dPt>
            <c:idx val="4"/>
            <c:invertIfNegative val="0"/>
            <c:bubble3D val="0"/>
            <c:spPr>
              <a:solidFill>
                <a:srgbClr val="C8283E"/>
              </a:solidFill>
              <a:effectLst/>
            </c:spPr>
          </c:dPt>
          <c:cat>
            <c:multiLvlStrRef>
              <c:f>Sheet1!$A$2:$A$6</c:f>
              <c:multiLvlStrCache>
                <c:ptCount val="5"/>
                <c:lvl>
                  <c:pt idx="0">
                    <c:v>Before automation</c:v>
                  </c:pt>
                  <c:pt idx="1">
                    <c:v>S0 · AI-assisted complex cases</c:v>
                  </c:pt>
                  <c:pt idx="2">
                    <c:v>S1 · Unassisted complex cases</c:v>
                  </c:pt>
                  <c:pt idx="3">
                    <c:v>S2 · S1 plus corrections</c:v>
                  </c:pt>
                  <c:pt idx="4">
                    <c:v>S3 · Every decision rechecked</c:v>
                  </c:pt>
                </c:lvl>
              </c:multiLvlStrCache>
            </c:multiLvlStrRef>
          </c:cat>
          <c:val>
            <c:numRef>
              <c:f>Sheet1!$B$2:$B$6</c:f>
              <c:numCache>
                <c:formatCode>General</c:formatCode>
                <c:ptCount val="5"/>
                <c:pt idx="0">
                  <c:v>140</c:v>
                </c:pt>
                <c:pt idx="1">
                  <c:v>43.52</c:v>
                </c:pt>
                <c:pt idx="2">
                  <c:v>85.32</c:v>
                </c:pt>
                <c:pt idx="3">
                  <c:v>89.07</c:v>
                </c:pt>
                <c:pt idx="4">
                  <c:v>168.92</c:v>
                </c:pt>
              </c:numCache>
            </c:numRef>
          </c:val>
        </c:ser>
        <c:dLbls>
          <c:numFmt formatCode="0.0" sourceLinked="0"/>
          <c:txPr>
            <a:bodyPr/>
            <a:lstStyle/>
            <a:p>
              <a:pPr>
                <a:defRPr b="1" i="0" strike="noStrike" sz="900" u="none">
                  <a:solidFill>
                    <a:srgbClr val="252A3D"/>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Author’s 2033 target: 28 FTE</c:v>
                </c:pt>
              </c:strCache>
            </c:strRef>
          </c:tx>
          <c:spPr>
            <a:solidFill>
              <a:srgbClr val="C8283E"/>
            </a:solidFill>
            <a:ln w="19050" cap="flat">
              <a:solidFill>
                <a:srgbClr val="C8283E"/>
              </a:solidFill>
              <a:prstDash val="dash"/>
              <a:round/>
            </a:ln>
            <a:effectLst/>
          </c:spPr>
          <c:invertIfNegative val="0"/>
          <c:dLbls>
            <c:numFmt formatCode="0.0" sourceLinked="0"/>
            <c:txPr>
              <a:bodyPr/>
              <a:lstStyle/>
              <a:p>
                <a:pPr>
                  <a:defRPr b="1" i="0" strike="noStrike" sz="900" u="none">
                    <a:solidFill>
                      <a:srgbClr val="252A3D"/>
                    </a:solidFill>
                    <a:latin typeface="Arial"/>
                  </a:defRPr>
                </a:pPr>
              </a:p>
            </c:txPr>
            <c:showLegendKey val="0"/>
            <c:showVal val="0"/>
            <c:showCatName val="0"/>
            <c:showSerName val="0"/>
            <c:showPercent val="0"/>
            <c:showBubbleSize val="0"/>
            <c:showLeaderLines val="0"/>
          </c:dLbls>
          <c:marker>
            <c:symbol val="none"/>
            <c:size val="6"/>
            <c:spPr>
              <a:solidFill>
                <a:srgbClr val="C8283E"/>
              </a:solidFill>
              <a:ln w="9525" cap="flat">
                <a:solidFill>
                  <a:srgbClr val="C8283E"/>
                </a:solidFill>
                <a:prstDash val="solid"/>
                <a:round/>
              </a:ln>
              <a:effectLst/>
            </c:spPr>
          </c:marker>
          <c:cat>
            <c:multiLvlStrRef>
              <c:f>Sheet1!$A$2:$A$6</c:f>
              <c:multiLvlStrCache>
                <c:ptCount val="5"/>
                <c:lvl>
                  <c:pt idx="0">
                    <c:v>Before automation</c:v>
                  </c:pt>
                  <c:pt idx="1">
                    <c:v>S0 · AI-assisted complex cases</c:v>
                  </c:pt>
                  <c:pt idx="2">
                    <c:v>S1 · Unassisted complex cases</c:v>
                  </c:pt>
                  <c:pt idx="3">
                    <c:v>S2 · S1 plus corrections</c:v>
                  </c:pt>
                  <c:pt idx="4">
                    <c:v>S3 · Every decision rechecked</c:v>
                  </c:pt>
                </c:lvl>
              </c:multiLvlStrCache>
            </c:multiLvlStrRef>
          </c:cat>
          <c:val>
            <c:numRef>
              <c:f>Sheet1!$C$2:$C$6</c:f>
              <c:numCache>
                <c:formatCode>General</c:formatCode>
                <c:ptCount val="5"/>
                <c:pt idx="0">
                  <c:v>28</c:v>
                </c:pt>
                <c:pt idx="1">
                  <c:v>28</c:v>
                </c:pt>
                <c:pt idx="2">
                  <c:v>28</c:v>
                </c:pt>
                <c:pt idx="3">
                  <c:v>28</c:v>
                </c:pt>
                <c:pt idx="4">
                  <c:v>28</c:v>
                </c:pt>
              </c:numCache>
            </c:numRef>
          </c:val>
          <c:smooth val="0"/>
        </c:ser>
        <c:dLbls>
          <c:numFmt formatCode="0.0" sourceLinked="0"/>
          <c:txPr>
            <a:bodyPr/>
            <a:lstStyle/>
            <a:p>
              <a:pPr>
                <a:defRPr b="1" i="0" strike="noStrike" sz="900" u="none">
                  <a:solidFill>
                    <a:srgbClr val="252A3D"/>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5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80"/>
          <c:min val="0"/>
        </c:scaling>
        <c:delete val="0"/>
        <c:axPos val="l"/>
        <c:majorGridlines>
          <c:spPr>
            <a:ln w="6350" cap="flat">
              <a:solidFill>
                <a:srgbClr val="E5E9F0"/>
              </a:solidFill>
              <a:prstDash val="solid"/>
              <a:round/>
            </a:ln>
          </c:spPr>
        </c:majorGridlines>
        <c:title>
          <c:tx>
            <c:rich>
              <a:bodyPr/>
              <a:lstStyle/>
              <a:p>
                <a:pPr>
                  <a:defRPr sz="800" b="0" i="0" u="none" strike="noStrike">
                    <a:solidFill>
                      <a:srgbClr val="5B6575"/>
                    </a:solidFill>
                    <a:latin typeface="Arial"/>
                  </a:defRPr>
                </a:pPr>
                <a:r>
                  <a:rPr sz="800" b="0" i="0" u="none" strike="noStrike">
                    <a:solidFill>
                      <a:srgbClr val="5B6575"/>
                    </a:solidFill>
                    <a:latin typeface="Arial"/>
                  </a:rPr>
                  <a:t>Staffing required (FTE)</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30"/>
      </c:valAx>
      <c:spPr>
        <a:noFill/>
        <a:ln>
          <a:noFill/>
        </a:ln>
        <a:effectLst/>
      </c:spPr>
    </c:plotArea>
    <c:legend>
      <c:legendPos val="b"/>
      <c:overlay val="0"/>
      <c:txPr>
        <a:bodyPr/>
        <a:lstStyle/>
        <a:p>
          <a:pPr>
            <a:defRPr sz="850">
              <a:solidFill>
                <a:srgbClr val="252A3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B6575"/>
                </a:solidFill>
                <a:latin typeface="Arial"/>
              </a:defRPr>
            </a:pPr>
            <a:r>
              <a:rPr sz="1000" b="0" i="0" u="none" strike="noStrike">
                <a:solidFill>
                  <a:srgbClr val="5B6575"/>
                </a:solidFill>
                <a:latin typeface="Arial"/>
              </a:rPr>
              <a:t>STAFFING REQUIRED BY PROJECT TYPE AND LEVEL OF AUTOMATION</a:t>
            </a:r>
          </a:p>
        </c:rich>
      </c:tx>
      <c:layout/>
      <c:overlay val="0"/>
    </c:title>
    <c:autoTitleDeleted val="0"/>
    <c:plotArea>
      <c:layout/>
      <c:barChart>
        <c:barDir val="col"/>
        <c:grouping val="stacked"/>
        <c:varyColors val="0"/>
        <c:ser>
          <c:idx val="0"/>
          <c:order val="0"/>
          <c:tx>
            <c:strRef>
              <c:f>Sheet1!$B$1</c:f>
              <c:strCache>
                <c:ptCount val="1"/>
                <c:pt idx="0">
                  <c:v>Purchasing projects</c:v>
                </c:pt>
              </c:strCache>
            </c:strRef>
          </c:tx>
          <c:spPr>
            <a:solidFill>
              <a:srgbClr val="157A9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Before automation · 140</c:v>
                  </c:pt>
                  <c:pt idx="1">
                    <c:v>Partly automated · 61</c:v>
                  </c:pt>
                  <c:pt idx="2">
                    <c:v>Mostly automated · 16</c:v>
                  </c:pt>
                  <c:pt idx="3">
                    <c:v>Support team only · 5</c:v>
                  </c:pt>
                  <c:pt idx="4">
                    <c:v>Fully automated · 0</c:v>
                  </c:pt>
                </c:lvl>
              </c:multiLvlStrCache>
            </c:multiLvlStrRef>
          </c:cat>
          <c:val>
            <c:numRef>
              <c:f>Sheet1!$B$2:$B$6</c:f>
              <c:numCache>
                <c:formatCode>General</c:formatCode>
                <c:ptCount val="5"/>
                <c:pt idx="0">
                  <c:v>51.25</c:v>
                </c:pt>
                <c:pt idx="1">
                  <c:v>15.375</c:v>
                </c:pt>
                <c:pt idx="2">
                  <c:v>2.5625</c:v>
                </c:pt>
                <c:pt idx="3">
                  <c:v>0</c:v>
                </c:pt>
                <c:pt idx="4">
                  <c:v>0</c:v>
                </c:pt>
              </c:numCache>
            </c:numRef>
          </c:val>
        </c:ser>
        <c:ser>
          <c:idx val="1"/>
          <c:order val="1"/>
          <c:tx>
            <c:strRef>
              <c:f>Sheet1!$C$1</c:f>
              <c:strCache>
                <c:ptCount val="1"/>
                <c:pt idx="0">
                  <c:v>System integration projects</c:v>
                </c:pt>
              </c:strCache>
            </c:strRef>
          </c:tx>
          <c:spPr>
            <a:solidFill>
              <a:srgbClr val="5B3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Before automation · 140</c:v>
                  </c:pt>
                  <c:pt idx="1">
                    <c:v>Partly automated · 61</c:v>
                  </c:pt>
                  <c:pt idx="2">
                    <c:v>Mostly automated · 16</c:v>
                  </c:pt>
                  <c:pt idx="3">
                    <c:v>Support team only · 5</c:v>
                  </c:pt>
                  <c:pt idx="4">
                    <c:v>Fully automated · 0</c:v>
                  </c:pt>
                </c:lvl>
              </c:multiLvlStrCache>
            </c:multiLvlStrRef>
          </c:cat>
          <c:val>
            <c:numRef>
              <c:f>Sheet1!$C$2:$C$6</c:f>
              <c:numCache>
                <c:formatCode>General</c:formatCode>
                <c:ptCount val="5"/>
                <c:pt idx="0">
                  <c:v>36</c:v>
                </c:pt>
                <c:pt idx="1">
                  <c:v>27</c:v>
                </c:pt>
                <c:pt idx="2">
                  <c:v>7.2</c:v>
                </c:pt>
                <c:pt idx="3">
                  <c:v>0</c:v>
                </c:pt>
                <c:pt idx="4">
                  <c:v>0</c:v>
                </c:pt>
              </c:numCache>
            </c:numRef>
          </c:val>
        </c:ser>
        <c:ser>
          <c:idx val="2"/>
          <c:order val="2"/>
          <c:tx>
            <c:strRef>
              <c:f>Sheet1!$D$1</c:f>
              <c:strCache>
                <c:ptCount val="1"/>
                <c:pt idx="0">
                  <c:v>Application development projects</c:v>
                </c:pt>
              </c:strCache>
            </c:strRef>
          </c:tx>
          <c:spPr>
            <a:solidFill>
              <a:srgbClr val="E3A8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Before automation · 140</c:v>
                  </c:pt>
                  <c:pt idx="1">
                    <c:v>Partly automated · 61</c:v>
                  </c:pt>
                  <c:pt idx="2">
                    <c:v>Mostly automated · 16</c:v>
                  </c:pt>
                  <c:pt idx="3">
                    <c:v>Support team only · 5</c:v>
                  </c:pt>
                  <c:pt idx="4">
                    <c:v>Fully automated · 0</c:v>
                  </c:pt>
                </c:lvl>
              </c:multiLvlStrCache>
            </c:multiLvlStrRef>
          </c:cat>
          <c:val>
            <c:numRef>
              <c:f>Sheet1!$D$2:$D$6</c:f>
              <c:numCache>
                <c:formatCode>General</c:formatCode>
                <c:ptCount val="5"/>
                <c:pt idx="0">
                  <c:v>52.75</c:v>
                </c:pt>
                <c:pt idx="1">
                  <c:v>13.1875</c:v>
                </c:pt>
                <c:pt idx="2">
                  <c:v>1.5825</c:v>
                </c:pt>
                <c:pt idx="3">
                  <c:v>0</c:v>
                </c:pt>
                <c:pt idx="4">
                  <c:v>0</c:v>
                </c:pt>
              </c:numCache>
            </c:numRef>
          </c:val>
        </c:ser>
        <c:ser>
          <c:idx val="3"/>
          <c:order val="3"/>
          <c:tx>
            <c:strRef>
              <c:f>Sheet1!$E$1</c:f>
              <c:strCache>
                <c:ptCount val="1"/>
                <c:pt idx="0">
                  <c:v>AI operations and support team</c:v>
                </c:pt>
              </c:strCache>
            </c:strRef>
          </c:tx>
          <c:spPr>
            <a:solidFill>
              <a:srgbClr val="5B657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Before automation · 140</c:v>
                  </c:pt>
                  <c:pt idx="1">
                    <c:v>Partly automated · 61</c:v>
                  </c:pt>
                  <c:pt idx="2">
                    <c:v>Mostly automated · 16</c:v>
                  </c:pt>
                  <c:pt idx="3">
                    <c:v>Support team only · 5</c:v>
                  </c:pt>
                  <c:pt idx="4">
                    <c:v>Fully automated · 0</c:v>
                  </c:pt>
                </c:lvl>
              </c:multiLvlStrCache>
            </c:multiLvlStrRef>
          </c:cat>
          <c:val>
            <c:numRef>
              <c:f>Sheet1!$E$2:$E$6</c:f>
              <c:numCache>
                <c:formatCode>General</c:formatCode>
                <c:ptCount val="5"/>
                <c:pt idx="0">
                  <c:v>0</c:v>
                </c:pt>
                <c:pt idx="1">
                  <c:v>5</c:v>
                </c:pt>
                <c:pt idx="2">
                  <c:v>5</c:v>
                </c:pt>
                <c:pt idx="3">
                  <c:v>5</c:v>
                </c:pt>
                <c:pt idx="4">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lineChart>
        <c:varyColors val="0"/>
        <c:ser>
          <c:idx val="4"/>
          <c:order val="4"/>
          <c:tx>
            <c:strRef>
              <c:f>Sheet1!$F$1</c:f>
              <c:strCache>
                <c:ptCount val="1"/>
                <c:pt idx="0">
                  <c:v>2033 target: 28 FTE</c:v>
                </c:pt>
              </c:strCache>
            </c:strRef>
          </c:tx>
          <c:spPr>
            <a:solidFill>
              <a:srgbClr val="C8283E"/>
            </a:solidFill>
            <a:ln w="19050" cap="flat">
              <a:solidFill>
                <a:srgbClr val="C8283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283E"/>
              </a:solidFill>
              <a:ln w="9525" cap="flat">
                <a:solidFill>
                  <a:srgbClr val="C8283E"/>
                </a:solidFill>
                <a:prstDash val="solid"/>
                <a:round/>
              </a:ln>
              <a:effectLst/>
            </c:spPr>
          </c:marker>
          <c:cat>
            <c:multiLvlStrRef>
              <c:f>Sheet1!$A$2:$A$6</c:f>
              <c:multiLvlStrCache>
                <c:ptCount val="5"/>
                <c:lvl>
                  <c:pt idx="0">
                    <c:v>Before automation · 140</c:v>
                  </c:pt>
                  <c:pt idx="1">
                    <c:v>Partly automated · 61</c:v>
                  </c:pt>
                  <c:pt idx="2">
                    <c:v>Mostly automated · 16</c:v>
                  </c:pt>
                  <c:pt idx="3">
                    <c:v>Support team only · 5</c:v>
                  </c:pt>
                  <c:pt idx="4">
                    <c:v>Fully automated · 0</c:v>
                  </c:pt>
                </c:lvl>
              </c:multiLvlStrCache>
            </c:multiLvlStrRef>
          </c:cat>
          <c:val>
            <c:numRef>
              <c:f>Sheet1!$F$2:$F$6</c:f>
              <c:numCache>
                <c:formatCode>General</c:formatCode>
                <c:ptCount val="5"/>
                <c:pt idx="0">
                  <c:v>28</c:v>
                </c:pt>
                <c:pt idx="1">
                  <c:v>28</c:v>
                </c:pt>
                <c:pt idx="2">
                  <c:v>28</c:v>
                </c:pt>
                <c:pt idx="3">
                  <c:v>28</c:v>
                </c:pt>
                <c:pt idx="4">
                  <c:v>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252A3D"/>
                </a:solidFill>
                <a:latin typeface="Arial"/>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6350" cap="flat">
              <a:solidFill>
                <a:srgbClr val="E5E9F0"/>
              </a:solidFill>
              <a:prstDash val="solid"/>
              <a:round/>
            </a:ln>
          </c:spPr>
        </c:majorGridlines>
        <c:title>
          <c:tx>
            <c:rich>
              <a:bodyPr/>
              <a:lstStyle/>
              <a:p>
                <a:pPr>
                  <a:defRPr sz="800" b="0" i="0" u="none" strike="noStrike">
                    <a:solidFill>
                      <a:srgbClr val="5B6575"/>
                    </a:solidFill>
                    <a:latin typeface="Arial"/>
                  </a:defRPr>
                </a:pPr>
                <a:r>
                  <a:rPr sz="800" b="0" i="0" u="none" strike="noStrike">
                    <a:solidFill>
                      <a:srgbClr val="5B6575"/>
                    </a:solidFill>
                    <a:latin typeface="Arial"/>
                  </a:rPr>
                  <a:t>Staffing required (FTE)</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5B6575"/>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800">
              <a:solidFill>
                <a:srgbClr val="252A3D"/>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explains “The Last Human Gate: Forward Deployed Engineering for Governance Automation” in plain language. The materials are by Jeremy Canale, September 2026: a 28-page paper on arXiv, arXiv:2609.29345 (https://arxiv.org/abs/2609.29345), a 66-page thesis and the data at github.com/jeremy1392/dgf-agentic-bench. All figures come from the paper, the thesis or the public repository. The experiment uses generated projects; it does not report observations from a real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structure: the general FDE role (slide 4); the DGF and the hypothesis that FDEs will start there (slides 5–7); the main idea (slide 8); the experiment (slides 9–19); jobs and future scenarios (slides 20–27); then the conclusion, data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sections 1, 3 and 5. Technical terms used in the paper: a “gate” is one required review; the “review contract” defines what that review requires; “disposition” is the decision (GO, GO_WITH_RESERVATIONS, REWORK, SUSPENSION, NO_GO); a “mandate” authorizes specified decisions; the “dossier” is the set of project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used on this slide: Wikipedia, "Forward Deployed Engineer" (retrieved September 2026); Palantir Technologies, "Forward Deployed Software Engineer" role description (jobs.lever.co/palantir) and Palantir's blog "A Day in the Life of a Palantir Forward Deployed Software Engineer" (2022); OpenAI, "The Deployment Company" (May 2026) and the 2025 FDE team launch; The Wall Street Journal on the tenfold growth of Indeed postings in 2025; DataCamp, "What Is a Forward Deployed Engineer?" (July 2026); Aced (formerly Exponent), "What Is a Forward Deployed Engineer? Complete 2026 Guide"; The New Stack via Illinois Tech (2026). The paper cites the Palantir and OpenAI role descriptions in paper section 5 and thesis section 20. It also stresses that a job title alone does not establish what work can be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figure 1. Buy and Integrate projects each have six required reviews. Build projects have five. The experiment runs every scheduled review, even after a rejection, so that later reviews and the final overall review are also tested. The paper’s decision codes are GO, GO_WITH_RESERVATIONS, REWORK, SUSPENSION and NO_GO.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3. The questions summarize the policies provided to the agent in the benchmark. The examples explain what the reviews cover; they are not complete job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4 and section 3.6; thesis section 20. FDEs must first pass the company’s governance reviews for their own projects and may then automate those reviews. End-to-end automation needs a sponsor responsible for the full process. Reusing an approach across clients spreads its development cost. The FDEs’ implementation time and ongoing support must both be counted. The idea that companies will automate governance before core business functions is a hypothesis about adoption, not an observed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sections 1, 3.2 and 3.4 define three conditions: access to the required information, a valid review result and authority to make the decision. A fourth condition is that total human working time must decrease. The agent may decline to decide only where the rules allow it. Referring every case to a person keeps decision-making with people but replaces no review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figure 4 and section 6. The models received written rules and a structured summary of project facts as well as the documents. This is the paper’s “information condition.” They could not access the answers used for scoring. Example rule: enabling backups does not show that data can be restored. Without a record of a successful restore test, the required decision is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"Comprendre la vérification des agents dans DGF Bench" (Jeremy Canale). During reviews, synthetic_environment.py checks action requests. After all reviews are complete, score_submission.py reads the prepared answers and calculates scores. openrouter_eval/benchmark_runner.py runs the reviews in order and starts the scoring. The next reviewer receives earlier conclusions exactly as the agent wrote them, including any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"Comprendre la vérification des agents dans DGF Bench". Files in the experiment’s fixed code version: 99_hidden_ground_truth.json, containing canonical_truth and reference_decisions; score_submission.py; synthetic_environment.py; and openrouter_eval/benchmark_runner.py. Repository: github.com/jeremy1392/dgf-agentic-bench.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Generator sources in the repository: facts_engine.py, azure_architecture.py, document_factory.py, evidence_graph.py, generate_dgfbench_v6.py. At difficulty setting 4, the generator uses a 20% probability of overlapping IP ranges, a 22% probability of a shared service account and about a 28% probability for each deliberately introduced architecture flaw. The agent could also query simulated company systems for information such as backup status, restore test results, vulnerability findings and contract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 6.2 and table 8. “Strict gate success” means a review passes all five scoring components. “Complete-route success” means every review for that project passes. The model names identify OpenRouter endpoints as reported by their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OpenRouter benchmark runner during the repeat tests: 15 projects × 3 attempts × 3 models = 135 runs. The screenshot shows the 45 jobs for one attempt across all projects and models. Each review line shows the job number, model and project identifiers, review number and type, decision, reasoning turns, tool calls, reason for stopping, whether output was cut off, and cost. DONE lines show the project’s score and cost. [benchmark] lines show progress and total spending so far. The execution logs are published in the research/2026-09-followup release of github.com/jeremy1392/dgf-agentic-bench.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8. In model order—Gemini, Luna, DeepSeek—the review pass rates are 94.98%, 83.29% and 74.18%; complete-project pass rates are 76.92%, 42.33% and 24.67%. The fixed-rule comparison program passed all 1,700 reviews and all 300 projects. Two errors affected the substance of the decision: Luna approved a Legal review despite a missing data-processing agreement, and DeepSeek submitted a placeholder GO when overlapping address ranges required NO_GO.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table 9 and PAPER_RESULTS.md. Procurement results: DeepSeek made the correct decision in 97% of reviews, but met all five criteria in 43%. Luna’s corresponding figures were 96% and 33%. An alternative scoring check accepts the same source values even when they are quoted in a different order. Under that check, 69 additional Gemini reviews, 38 Luna reviews and 52 DeepSeek reviews would pass. Gemini’s rates would become 99.06% for reviews and 94.98% for complete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 6.5. Falcon: DGF-BLD-035200_build, problem TR-OPS-001, action COMPLETE_OPERATIONAL_HANDOVER, with conditional approval covered by an active authorization. Meridian: DGF-BLD-035201_build, problems ARCH-API-001 and ARCH-PERF-001, with an evidence-fidelity score of 0.5. These two cases were selected after the evaluation to explain the results. Their complete execution logs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 6.6 and table 10. The follow-up covered 135 runs: 15 projects × 3 attempts × 3 models. In model order—Gemini, Luna, DeepSeek—the review pass rates were 96.08%, 82.75% and 73.33%. Complete-project passes were 35, 19 and 11 out of 45 runs. Projects passing on all three attempts were 9, 3 and 0 out of 15. In model order—Gemini, Luna, DeepSeek—conditional approval requests totaled 864, 394 and 216. The authorization tool rejected 466, 40 and 14 of them. The follow-up tests cost USD 12.56.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 3.5, proposition 1 and the published example: two project variants have identical text in all 26 Word documents. One supplier background-check status differs in a CSV record, changing the required decision from GO to REWORK. Giving the reviewer access to the CSV, or allowing a justified request for missing information, removes the restriction in this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 4. Total human work after automation: L_A = λ{q·h_E + (1−q)·h_R + h_W} + B_A. Selection identity: φ = q + Cov(T, e(T))/h_0. Reliability term: p·h_C/h_0. Table 5 lists the measurements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figure 2 and section 4. Starting staffing: 140 FTE across nine groups, with 120 productive hours per FTE per month. Scenario parameters (η, m, h_W, B_A): (0.5, 0.10, 0, 0), (1, 0.10, 0, 120), (1, 0.10, 0.5, 120) and (1.5, 0.35, 2, 240). These values are stated assumptions,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appendix E. Staffing is calculated as N = 51.25(1−a₁) + 36(1−a₂) + 52.75(1−a₃) + F. The five scenarios give 140, 60.56, 16.35, 5 and 0 FTE. The effect of a support team that remains necessary is calculated with N = 140(1−a)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section 15. The starting point is a task equivalent to 3 hours of human work at an 80% success rate on 8 May 2026 (METR), with a 7-month doubling time (Kwa et al.). Under that trend, 24-hour tasks are reached after 21 months, on 8 Feb 2028. Reducing the error rate from 0.20 to 10⁻³ adds 14, 28 or 55 months at 6, 12 or 24 months per tenfold reduction. Testing and organizational authorization add 12 months each. Total delays of 59, 73 and 101 months give 8 Apr 2031, 8 Jun 2032 and 8 Oct 2034. Hypothesized order of automation: Build projects first, then Buy projects, then Integrate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section 8 presents the “law of gate substitution” as a conjecture, not a proven law. Its five components are contract substitutability, complete execution, route preservation, execution displacement and supervisory closure. It also sets out six testable hypotheses, H1–H6, and their failure criteria. Section 17.7 explains what would disprove the conjecture.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sections 7.1–7.2. The target is a workload-equivalent FTE ratio L_A/L_H ≤ 0.20 on 20 September 2033, relative to the year ending 20 September 2026. Count preparation, exceptional cases, verification, corrections, maintenance, supervision and supplier support. Without the required records, the prediction cannot be assessed; it cannot be counted as a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sections 4, 5.5, 7 and 8; thesis section 19.3, “departments become control planes”; and Bainbridge (1983) on retaining the expertise needed to operate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section 20.1 cites Allianz Project Nemo (Allianz 2025), AIG with Palantir and Anthropic (Insurance Journal 2025; Reinsurance News 2026) and Upstart (Upstart 2026). Legal references: AI Act Annex III and GDPR Article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section 8 and thesis section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README lists the two papers, dataset releases with SHA-256 file checks, instructions for recalculating results without AI calls, study protocols and licenses. The code uses MIT OR Apache-2.0; the papers have separate copyright terms. Citation information is in CITATION.cff. The deck states that the paper was published on arXiv on 25 September 2026 as arXiv:2609.29345 (https://arxiv.org/abs/2609.29345).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Contact details and links follow the author’s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https://arxiv.org/abs/2609.29345" TargetMode="External"/><Relationship Id="rId6" Type="http://schemas.openxmlformats.org/officeDocument/2006/relationships/image" Target="../media/image-1-5.png"/><Relationship Id="rId7" Type="http://schemas.openxmlformats.org/officeDocument/2006/relationships/hyperlink" Target="https://arxiv.org/abs/2609.29345" TargetMode="External"/><Relationship Id="rId8" Type="http://schemas.openxmlformats.org/officeDocument/2006/relationships/hyperlink" Target="https://arxiv.org/abs/2609.29345" TargetMode="External"/><Relationship Id="rId9" Type="http://schemas.openxmlformats.org/officeDocument/2006/relationships/hyperlink" Target="https://arxiv.org/abs/2609.29345" TargetMode="External"/><Relationship Id="rId10" Type="http://schemas.openxmlformats.org/officeDocument/2006/relationships/hyperlink" Target="https://github.com/jeremy1392/dgf-agentic-bench" TargetMode="External"/><Relationship Id="rId11" Type="http://schemas.openxmlformats.org/officeDocument/2006/relationships/image" Target="../media/image-1-6.png"/><Relationship Id="rId12" Type="http://schemas.openxmlformats.org/officeDocument/2006/relationships/hyperlink" Target="https://github.com/jeremy1392/dgf-agentic-bench" TargetMode="External"/><Relationship Id="rId13" Type="http://schemas.openxmlformats.org/officeDocument/2006/relationships/hyperlink" Target="https://github.com/jeremy1392/dgf-agentic-bench" TargetMode="External"/><Relationship Id="rId14" Type="http://schemas.openxmlformats.org/officeDocument/2006/relationships/hyperlink" Target="https://github.com/jeremy1392/dgf-agentic-bench" TargetMode="External"/><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linkedin.com/in/jcanale13/" TargetMode="Externa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5BD8"/>
        </a:solidFill>
      </p:bgPr>
    </p:bg>
    <p:spTree>
      <p:nvGrpSpPr>
        <p:cNvPr id="1" name=""/>
        <p:cNvGrpSpPr/>
        <p:nvPr/>
      </p:nvGrpSpPr>
      <p:grpSpPr>
        <a:xfrm>
          <a:off x="0" y="0"/>
          <a:ext cx="0" cy="0"/>
          <a:chOff x="0" y="0"/>
          <a:chExt cx="0" cy="0"/>
        </a:xfrm>
      </p:grpSpPr>
      <p:sp>
        <p:nvSpPr>
          <p:cNvPr id="2" name="Shape 0"/>
          <p:cNvSpPr/>
          <p:nvPr/>
        </p:nvSpPr>
        <p:spPr>
          <a:xfrm>
            <a:off x="548640" y="365760"/>
            <a:ext cx="2834640" cy="438912"/>
          </a:xfrm>
          <a:prstGeom prst="roundRect">
            <a:avLst>
              <a:gd name="adj" fmla="val 50000"/>
            </a:avLst>
          </a:prstGeom>
          <a:solidFill>
            <a:srgbClr val="FFD741"/>
          </a:solidFill>
          <a:ln w="12700">
            <a:solidFill>
              <a:srgbClr val="FFD741"/>
            </a:solidFill>
            <a:prstDash val="solid"/>
          </a:ln>
        </p:spPr>
        <p:txBody>
          <a:bodyPr/>
          <a:p/>
        </p:txBody>
      </p:sp>
      <p:sp>
        <p:nvSpPr>
          <p:cNvPr id="3" name="Text 1"/>
          <p:cNvSpPr txBox="1"/>
          <p:nvPr/>
        </p:nvSpPr>
        <p:spPr>
          <a:xfrm>
            <a:off x="548640" y="365760"/>
            <a:ext cx="2834640" cy="438912"/>
          </a:xfrm>
          <a:prstGeom prst="rect">
            <a:avLst/>
          </a:prstGeom>
          <a:noFill/>
          <a:ln/>
        </p:spPr>
        <p:txBody>
          <a:bodyPr wrap="square" lIns="0" tIns="0" rIns="0" bIns="0" rtlCol="0" anchor="ctr"/>
          <a:lstStyle/>
          <a:p>
            <a:pPr algn="ctr" indent="0" marL="0">
              <a:lnSpc>
                <a:spcPct val="105000"/>
              </a:lnSpc>
              <a:buNone/>
            </a:pPr>
            <a:r>
              <a:rPr lang="en-US" sz="1600" b="1" spc="100" kern="0" dirty="0">
                <a:solidFill>
                  <a:srgbClr val="252A3D"/>
                </a:solidFill>
                <a:latin typeface="Arial" pitchFamily="34" charset="0"/>
                <a:ea typeface="Arial" pitchFamily="34" charset="-122"/>
                <a:cs typeface="Arial" pitchFamily="34" charset="-120"/>
              </a:rPr>
              <a:t>RESEARCH PAPER</a:t>
            </a:r>
            <a:endParaRPr lang="en-US" sz="1600" dirty="0"/>
          </a:p>
        </p:txBody>
      </p:sp>
      <p:sp>
        <p:nvSpPr>
          <p:cNvPr id="4" name="Text 2"/>
          <p:cNvSpPr txBox="1"/>
          <p:nvPr/>
        </p:nvSpPr>
        <p:spPr>
          <a:xfrm>
            <a:off x="530352" y="1143000"/>
            <a:ext cx="7223760" cy="77724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Arial" pitchFamily="34" charset="0"/>
                <a:ea typeface="Arial" pitchFamily="34" charset="-122"/>
                <a:cs typeface="Arial" pitchFamily="34" charset="-120"/>
              </a:rPr>
              <a:t>The Last Human Gate</a:t>
            </a:r>
            <a:endParaRPr lang="en-US" sz="4200" dirty="0"/>
          </a:p>
        </p:txBody>
      </p:sp>
      <p:sp>
        <p:nvSpPr>
          <p:cNvPr id="5" name="Text 3"/>
          <p:cNvSpPr txBox="1"/>
          <p:nvPr/>
        </p:nvSpPr>
        <p:spPr>
          <a:xfrm>
            <a:off x="548640" y="1938528"/>
            <a:ext cx="6949440" cy="868680"/>
          </a:xfrm>
          <a:prstGeom prst="rect">
            <a:avLst/>
          </a:prstGeom>
          <a:noFill/>
          <a:ln/>
        </p:spPr>
        <p:txBody>
          <a:bodyPr wrap="square" lIns="0" tIns="0" rIns="0" bIns="0" rtlCol="0" anchor="t"/>
          <a:lstStyle/>
          <a:p>
            <a:pPr indent="0" marL="0">
              <a:lnSpc>
                <a:spcPct val="105000"/>
              </a:lnSpc>
              <a:buNone/>
            </a:pPr>
            <a:r>
              <a:rPr lang="en-US" sz="2400" dirty="0">
                <a:solidFill>
                  <a:srgbClr val="FFFFFF"/>
                </a:solidFill>
                <a:latin typeface="Arial" pitchFamily="34" charset="0"/>
                <a:ea typeface="Arial" pitchFamily="34" charset="-122"/>
                <a:cs typeface="Arial" pitchFamily="34" charset="-120"/>
              </a:rPr>
              <a:t>Forward Deployed Engineering for Governance Automation</a:t>
            </a:r>
            <a:endParaRPr lang="en-US" sz="2400" dirty="0"/>
          </a:p>
        </p:txBody>
      </p:sp>
      <p:sp>
        <p:nvSpPr>
          <p:cNvPr id="6" name="Text 4"/>
          <p:cNvSpPr txBox="1"/>
          <p:nvPr/>
        </p:nvSpPr>
        <p:spPr>
          <a:xfrm>
            <a:off x="566928" y="3017520"/>
            <a:ext cx="7040880" cy="1234440"/>
          </a:xfrm>
          <a:prstGeom prst="rect">
            <a:avLst/>
          </a:prstGeom>
          <a:noFill/>
          <a:ln/>
        </p:spPr>
        <p:txBody>
          <a:bodyPr wrap="square" lIns="0" tIns="0" rIns="0" bIns="0" rtlCol="0" anchor="t"/>
          <a:lstStyle/>
          <a:p>
            <a:pPr indent="0" marL="0">
              <a:lnSpc>
                <a:spcPct val="105000"/>
              </a:lnSpc>
              <a:buNone/>
            </a:pPr>
            <a:r>
              <a:rPr lang="en-US" sz="1530" dirty="0">
                <a:solidFill>
                  <a:srgbClr val="FFFFFF"/>
                </a:solidFill>
                <a:latin typeface="Arial" pitchFamily="34" charset="0"/>
                <a:ea typeface="Arial" pitchFamily="34" charset="-122"/>
                <a:cs typeface="Arial" pitchFamily="34" charset="-120"/>
              </a:rPr>
              <a:t>Before a company buys a technology solution, connects systems or launches an app, specialists must review the project at a series of required checkpoints, called gates. Can an AI agent carry out these reviews well enough that a specialist does not have to redo them? If so, what would that mean for the people who do this work today?</a:t>
            </a:r>
            <a:endParaRPr lang="en-US" sz="1700" dirty="0"/>
          </a:p>
        </p:txBody>
      </p:sp>
      <p:sp>
        <p:nvSpPr>
          <p:cNvPr id="7" name="Text 5"/>
          <p:cNvSpPr txBox="1"/>
          <p:nvPr/>
        </p:nvSpPr>
        <p:spPr>
          <a:xfrm>
            <a:off x="576072" y="4617720"/>
            <a:ext cx="5943600" cy="356616"/>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Arial" pitchFamily="34" charset="0"/>
                <a:ea typeface="Arial" pitchFamily="34" charset="-122"/>
                <a:cs typeface="Arial" pitchFamily="34" charset="-120"/>
              </a:rPr>
              <a:t>Jeremy Canale</a:t>
            </a:r>
            <a:endParaRPr lang="en-US" sz="2000" dirty="0"/>
          </a:p>
        </p:txBody>
      </p:sp>
      <p:sp>
        <p:nvSpPr>
          <p:cNvPr id="8" name="Text 6"/>
          <p:cNvSpPr txBox="1"/>
          <p:nvPr/>
        </p:nvSpPr>
        <p:spPr>
          <a:xfrm>
            <a:off x="585216" y="5065776"/>
            <a:ext cx="6858000" cy="274320"/>
          </a:xfrm>
          <a:prstGeom prst="rect">
            <a:avLst/>
          </a:prstGeom>
          <a:noFill/>
          <a:ln/>
        </p:spPr>
        <p:txBody>
          <a:bodyPr wrap="square" lIns="0" tIns="0" rIns="0" bIns="0" rtlCol="0" anchor="t"/>
          <a:lstStyle/>
          <a:p>
            <a:pPr indent="0" marL="0">
              <a:lnSpc>
                <a:spcPct val="105000"/>
              </a:lnSpc>
              <a:buNone/>
            </a:pPr>
            <a:r>
              <a:rPr lang="en-US" sz="1560" dirty="0">
                <a:solidFill>
                  <a:srgbClr val="DDF5FC"/>
                </a:solidFill>
                <a:latin typeface="Arial" pitchFamily="34" charset="0"/>
                <a:ea typeface="Arial" pitchFamily="34" charset="-122"/>
                <a:cs typeface="Arial" pitchFamily="34" charset="-120"/>
              </a:rPr>
              <a:t>AI Applied Security Architect  ·  contact@jeremycanale.com</a:t>
            </a:r>
            <a:endParaRPr lang="en-US" sz="1560" dirty="0"/>
          </a:p>
        </p:txBody>
      </p:sp>
      <p:sp>
        <p:nvSpPr>
          <p:cNvPr id="9" name="Text 7"/>
          <p:cNvSpPr txBox="1"/>
          <p:nvPr/>
        </p:nvSpPr>
        <p:spPr>
          <a:xfrm>
            <a:off x="585216" y="5989320"/>
            <a:ext cx="7269480" cy="219456"/>
          </a:xfrm>
          <a:prstGeom prst="rect">
            <a:avLst/>
          </a:prstGeom>
          <a:noFill/>
          <a:ln/>
        </p:spPr>
        <p:txBody>
          <a:bodyPr wrap="square" lIns="0" tIns="0" rIns="0" bIns="0" rtlCol="0" anchor="t"/>
          <a:lstStyle/>
          <a:p>
            <a:pPr indent="0" marL="0">
              <a:lnSpc>
                <a:spcPct val="105000"/>
              </a:lnSpc>
              <a:buNone/>
            </a:pPr>
            <a:r>
              <a:rPr lang="en-US" sz="1000" dirty="0">
                <a:solidFill>
                  <a:srgbClr val="DDF5FC"/>
                </a:solidFill>
                <a:latin typeface="Arial" pitchFamily="34" charset="0"/>
                <a:ea typeface="Arial" pitchFamily="34" charset="-122"/>
                <a:cs typeface="Arial" pitchFamily="34" charset="-120"/>
              </a:rPr>
              <a:t>Thesis (66 p.), data and execution logs in the DGF-Bench repository · September 2026</a:t>
            </a:r>
            <a:endParaRPr lang="en-US" sz="1000" dirty="0"/>
          </a:p>
        </p:txBody>
      </p:sp>
      <p:sp>
        <p:nvSpPr>
          <p:cNvPr id="10" name="Shape 8"/>
          <p:cNvSpPr/>
          <p:nvPr/>
        </p:nvSpPr>
        <p:spPr>
          <a:xfrm>
            <a:off x="8001000" y="676656"/>
            <a:ext cx="3593592" cy="5422392"/>
          </a:xfrm>
          <a:prstGeom prst="roundRect">
            <a:avLst>
              <a:gd name="adj" fmla="val 5598"/>
            </a:avLst>
          </a:prstGeom>
          <a:solidFill>
            <a:srgbClr val="FFFFFF"/>
          </a:solidFill>
          <a:ln w="12700">
            <a:solidFill>
              <a:srgbClr val="252A3D"/>
            </a:solidFill>
            <a:prstDash val="solid"/>
          </a:ln>
        </p:spPr>
        <p:txBody>
          <a:bodyPr/>
          <a:p/>
        </p:txBody>
      </p:sp>
      <p:sp>
        <p:nvSpPr>
          <p:cNvPr id="11" name="Text 9"/>
          <p:cNvSpPr txBox="1"/>
          <p:nvPr/>
        </p:nvSpPr>
        <p:spPr>
          <a:xfrm>
            <a:off x="8247888" y="841248"/>
            <a:ext cx="3099816"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HOW A PROJECT MOVES THROUGH THE DGF</a:t>
            </a:r>
            <a:endParaRPr lang="en-US" sz="850" dirty="0"/>
          </a:p>
        </p:txBody>
      </p:sp>
      <p:sp>
        <p:nvSpPr>
          <p:cNvPr id="12" name="Shape 10"/>
          <p:cNvSpPr/>
          <p:nvPr/>
        </p:nvSpPr>
        <p:spPr>
          <a:xfrm>
            <a:off x="8247888" y="1078992"/>
            <a:ext cx="3099816" cy="640080"/>
          </a:xfrm>
          <a:prstGeom prst="roundRect">
            <a:avLst>
              <a:gd name="adj" fmla="val 14286"/>
            </a:avLst>
          </a:prstGeom>
          <a:solidFill>
            <a:srgbClr val="DDF5FC"/>
          </a:solidFill>
          <a:ln w="12700">
            <a:solidFill>
              <a:srgbClr val="DDF5FC"/>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8375904" y="1243584"/>
            <a:ext cx="310896" cy="310896"/>
          </a:xfrm>
          <a:prstGeom prst="rect">
            <a:avLst/>
          </a:prstGeom>
        </p:spPr>
      </p:pic>
      <p:sp>
        <p:nvSpPr>
          <p:cNvPr id="14" name="Text 11"/>
          <p:cNvSpPr txBox="1"/>
          <p:nvPr/>
        </p:nvSpPr>
        <p:spPr>
          <a:xfrm>
            <a:off x="8778240" y="1133856"/>
            <a:ext cx="2459736" cy="237744"/>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Project documents</a:t>
            </a:r>
            <a:endParaRPr lang="en-US" sz="1250" dirty="0"/>
          </a:p>
        </p:txBody>
      </p:sp>
      <p:sp>
        <p:nvSpPr>
          <p:cNvPr id="15" name="Text 12"/>
          <p:cNvSpPr txBox="1"/>
          <p:nvPr/>
        </p:nvSpPr>
        <p:spPr>
          <a:xfrm>
            <a:off x="8778240" y="1371600"/>
            <a:ext cx="2459736" cy="274320"/>
          </a:xfrm>
          <a:prstGeom prst="rect">
            <a:avLst/>
          </a:prstGeom>
          <a:noFill/>
          <a:ln/>
        </p:spPr>
        <p:txBody>
          <a:bodyPr wrap="square" lIns="0" tIns="0" rIns="0" bIns="0" rtlCol="0" anchor="t"/>
          <a:lstStyle/>
          <a:p>
            <a:pPr indent="0" marL="0">
              <a:lnSpc>
                <a:spcPct val="105000"/>
              </a:lnSpc>
              <a:buNone/>
            </a:pPr>
            <a:r>
              <a:rPr lang="en-US" sz="840" dirty="0">
                <a:solidFill>
                  <a:srgbClr val="5B6575"/>
                </a:solidFill>
                <a:latin typeface="Arial" pitchFamily="34" charset="0"/>
                <a:ea typeface="Arial" pitchFamily="34" charset="-122"/>
                <a:cs typeface="Arial" pitchFamily="34" charset="-120"/>
              </a:rPr>
              <a:t>project charter · technical design · contracts · test reports</a:t>
            </a:r>
            <a:endParaRPr lang="en-US" sz="880" dirty="0"/>
          </a:p>
        </p:txBody>
      </p:sp>
      <p:sp>
        <p:nvSpPr>
          <p:cNvPr id="16" name="Shape 13"/>
          <p:cNvSpPr/>
          <p:nvPr/>
        </p:nvSpPr>
        <p:spPr>
          <a:xfrm>
            <a:off x="9797796" y="1719072"/>
            <a:ext cx="0" cy="182880"/>
          </a:xfrm>
          <a:prstGeom prst="line">
            <a:avLst/>
          </a:prstGeom>
          <a:noFill/>
          <a:ln w="15875">
            <a:solidFill>
              <a:srgbClr val="252A3D"/>
            </a:solidFill>
            <a:prstDash val="solid"/>
            <a:tailEnd type="triangle"/>
          </a:ln>
        </p:spPr>
        <p:txBody>
          <a:bodyPr/>
          <a:p/>
        </p:txBody>
      </p:sp>
      <p:sp>
        <p:nvSpPr>
          <p:cNvPr id="17" name="Shape 14"/>
          <p:cNvSpPr/>
          <p:nvPr/>
        </p:nvSpPr>
        <p:spPr>
          <a:xfrm>
            <a:off x="8247888" y="1920240"/>
            <a:ext cx="3099816" cy="2487168"/>
          </a:xfrm>
          <a:prstGeom prst="roundRect">
            <a:avLst>
              <a:gd name="adj" fmla="val 3676"/>
            </a:avLst>
          </a:prstGeom>
          <a:solidFill>
            <a:srgbClr val="F5F7FA"/>
          </a:solidFill>
          <a:ln w="12700">
            <a:solidFill>
              <a:srgbClr val="D4DAE3"/>
            </a:solidFill>
            <a:prstDash val="solid"/>
          </a:ln>
        </p:spPr>
        <p:txBody>
          <a:bodyPr/>
          <a:p/>
        </p:txBody>
      </p:sp>
      <p:sp>
        <p:nvSpPr>
          <p:cNvPr id="18" name="Text 15"/>
          <p:cNvSpPr txBox="1"/>
          <p:nvPr/>
        </p:nvSpPr>
        <p:spPr>
          <a:xfrm>
            <a:off x="8375904" y="1956816"/>
            <a:ext cx="2843784" cy="292608"/>
          </a:xfrm>
          <a:prstGeom prst="rect">
            <a:avLst/>
          </a:prstGeom>
          <a:noFill/>
          <a:ln/>
        </p:spPr>
        <p:txBody>
          <a:bodyPr wrap="square" lIns="0" tIns="0" rIns="0" bIns="0" rtlCol="0" anchor="t"/>
          <a:lstStyle/>
          <a:p>
            <a:pPr indent="0" marL="0">
              <a:lnSpc>
                <a:spcPct val="105000"/>
              </a:lnSpc>
              <a:buNone/>
            </a:pPr>
            <a:r>
              <a:rPr lang="en-US" sz="720" b="1" dirty="0">
                <a:solidFill>
                  <a:srgbClr val="5B6575"/>
                </a:solidFill>
                <a:latin typeface="Arial" pitchFamily="34" charset="0"/>
                <a:ea typeface="Arial" pitchFamily="34" charset="-122"/>
                <a:cs typeface="Arial" pitchFamily="34" charset="-120"/>
              </a:rPr>
              <a:t>REQUIRED REVIEWS · example: developing an application</a:t>
            </a:r>
            <a:endParaRPr lang="en-US" sz="720" dirty="0"/>
          </a:p>
        </p:txBody>
      </p:sp>
      <p:sp>
        <p:nvSpPr>
          <p:cNvPr id="19" name="Shape 16"/>
          <p:cNvSpPr/>
          <p:nvPr/>
        </p:nvSpPr>
        <p:spPr>
          <a:xfrm>
            <a:off x="8375904" y="2286000"/>
            <a:ext cx="2843784" cy="256032"/>
          </a:xfrm>
          <a:prstGeom prst="roundRect">
            <a:avLst>
              <a:gd name="adj" fmla="val 21429"/>
            </a:avLst>
          </a:prstGeom>
          <a:solidFill>
            <a:srgbClr val="DDF5FC"/>
          </a:solidFill>
          <a:ln w="9525">
            <a:solidFill>
              <a:srgbClr val="DDF5FC"/>
            </a:solidFill>
            <a:prstDash val="solid"/>
          </a:ln>
        </p:spPr>
        <p:txBody>
          <a:bodyPr/>
          <a:p/>
        </p:txBody>
      </p:sp>
      <p:sp>
        <p:nvSpPr>
          <p:cNvPr id="20" name="Text 17"/>
          <p:cNvSpPr txBox="1"/>
          <p:nvPr/>
        </p:nvSpPr>
        <p:spPr>
          <a:xfrm>
            <a:off x="8449056" y="2286000"/>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1</a:t>
            </a:r>
            <a:endParaRPr lang="en-US" sz="900" dirty="0"/>
          </a:p>
        </p:txBody>
      </p:sp>
      <p:sp>
        <p:nvSpPr>
          <p:cNvPr id="21" name="Text 18"/>
          <p:cNvSpPr txBox="1"/>
          <p:nvPr/>
        </p:nvSpPr>
        <p:spPr>
          <a:xfrm>
            <a:off x="8723376" y="2286000"/>
            <a:ext cx="2459736" cy="256032"/>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IT gate</a:t>
            </a:r>
            <a:endParaRPr lang="en-US" sz="950" dirty="0"/>
          </a:p>
        </p:txBody>
      </p:sp>
      <p:sp>
        <p:nvSpPr>
          <p:cNvPr id="22" name="Shape 19"/>
          <p:cNvSpPr/>
          <p:nvPr/>
        </p:nvSpPr>
        <p:spPr>
          <a:xfrm>
            <a:off x="8375904" y="2578608"/>
            <a:ext cx="2843784" cy="256032"/>
          </a:xfrm>
          <a:prstGeom prst="roundRect">
            <a:avLst>
              <a:gd name="adj" fmla="val 21429"/>
            </a:avLst>
          </a:prstGeom>
          <a:solidFill>
            <a:srgbClr val="FFF5BF"/>
          </a:solidFill>
          <a:ln w="9525">
            <a:solidFill>
              <a:srgbClr val="FFF5BF"/>
            </a:solidFill>
            <a:prstDash val="solid"/>
          </a:ln>
        </p:spPr>
        <p:txBody>
          <a:bodyPr/>
          <a:p/>
        </p:txBody>
      </p:sp>
      <p:sp>
        <p:nvSpPr>
          <p:cNvPr id="23" name="Text 20"/>
          <p:cNvSpPr txBox="1"/>
          <p:nvPr/>
        </p:nvSpPr>
        <p:spPr>
          <a:xfrm>
            <a:off x="8449056" y="2578608"/>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2</a:t>
            </a:r>
            <a:endParaRPr lang="en-US" sz="900" dirty="0"/>
          </a:p>
        </p:txBody>
      </p:sp>
      <p:sp>
        <p:nvSpPr>
          <p:cNvPr id="24" name="Text 21"/>
          <p:cNvSpPr txBox="1"/>
          <p:nvPr/>
        </p:nvSpPr>
        <p:spPr>
          <a:xfrm>
            <a:off x="8723376" y="2578608"/>
            <a:ext cx="2459736" cy="256032"/>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Architecture gate</a:t>
            </a:r>
            <a:endParaRPr lang="en-US" sz="950" dirty="0"/>
          </a:p>
        </p:txBody>
      </p:sp>
      <p:sp>
        <p:nvSpPr>
          <p:cNvPr id="25" name="Shape 22"/>
          <p:cNvSpPr/>
          <p:nvPr/>
        </p:nvSpPr>
        <p:spPr>
          <a:xfrm>
            <a:off x="8375904" y="2871216"/>
            <a:ext cx="2843784" cy="256032"/>
          </a:xfrm>
          <a:prstGeom prst="roundRect">
            <a:avLst>
              <a:gd name="adj" fmla="val 21429"/>
            </a:avLst>
          </a:prstGeom>
          <a:solidFill>
            <a:srgbClr val="FFE4E6"/>
          </a:solidFill>
          <a:ln w="9525">
            <a:solidFill>
              <a:srgbClr val="FFE4E6"/>
            </a:solidFill>
            <a:prstDash val="solid"/>
          </a:ln>
        </p:spPr>
        <p:txBody>
          <a:bodyPr/>
          <a:p/>
        </p:txBody>
      </p:sp>
      <p:sp>
        <p:nvSpPr>
          <p:cNvPr id="26" name="Text 23"/>
          <p:cNvSpPr txBox="1"/>
          <p:nvPr/>
        </p:nvSpPr>
        <p:spPr>
          <a:xfrm>
            <a:off x="8449056" y="2871216"/>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8723376" y="2871216"/>
            <a:ext cx="2459736" cy="256032"/>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Security gate</a:t>
            </a:r>
            <a:endParaRPr lang="en-US" sz="950" dirty="0"/>
          </a:p>
        </p:txBody>
      </p:sp>
      <p:sp>
        <p:nvSpPr>
          <p:cNvPr id="28" name="Shape 25"/>
          <p:cNvSpPr/>
          <p:nvPr/>
        </p:nvSpPr>
        <p:spPr>
          <a:xfrm>
            <a:off x="8375904" y="3163824"/>
            <a:ext cx="2843784" cy="256032"/>
          </a:xfrm>
          <a:prstGeom prst="roundRect">
            <a:avLst>
              <a:gd name="adj" fmla="val 21429"/>
            </a:avLst>
          </a:prstGeom>
          <a:solidFill>
            <a:srgbClr val="E5F6E9"/>
          </a:solidFill>
          <a:ln w="9525">
            <a:solidFill>
              <a:srgbClr val="E5F6E9"/>
            </a:solidFill>
            <a:prstDash val="solid"/>
          </a:ln>
        </p:spPr>
        <p:txBody>
          <a:bodyPr/>
          <a:p/>
        </p:txBody>
      </p:sp>
      <p:sp>
        <p:nvSpPr>
          <p:cNvPr id="29" name="Text 26"/>
          <p:cNvSpPr txBox="1"/>
          <p:nvPr/>
        </p:nvSpPr>
        <p:spPr>
          <a:xfrm>
            <a:off x="8449056" y="3163824"/>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4</a:t>
            </a:r>
            <a:endParaRPr lang="en-US" sz="900" dirty="0"/>
          </a:p>
        </p:txBody>
      </p:sp>
      <p:sp>
        <p:nvSpPr>
          <p:cNvPr id="30" name="Text 27"/>
          <p:cNvSpPr txBox="1"/>
          <p:nvPr/>
        </p:nvSpPr>
        <p:spPr>
          <a:xfrm>
            <a:off x="8723376" y="3163824"/>
            <a:ext cx="2459736" cy="256032"/>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Tech Readiness gate</a:t>
            </a:r>
            <a:endParaRPr lang="en-US" sz="950" dirty="0"/>
          </a:p>
        </p:txBody>
      </p:sp>
      <p:sp>
        <p:nvSpPr>
          <p:cNvPr id="31" name="Shape 28"/>
          <p:cNvSpPr/>
          <p:nvPr/>
        </p:nvSpPr>
        <p:spPr>
          <a:xfrm>
            <a:off x="8375904" y="3456432"/>
            <a:ext cx="2843784" cy="256032"/>
          </a:xfrm>
          <a:prstGeom prst="roundRect">
            <a:avLst>
              <a:gd name="adj" fmla="val 21429"/>
            </a:avLst>
          </a:prstGeom>
          <a:solidFill>
            <a:srgbClr val="F3F5F8"/>
          </a:solidFill>
          <a:ln w="12700">
            <a:solidFill>
              <a:srgbClr val="252A3D"/>
            </a:solidFill>
            <a:prstDash val="solid"/>
          </a:ln>
        </p:spPr>
        <p:txBody>
          <a:bodyPr/>
          <a:p/>
        </p:txBody>
      </p:sp>
      <p:sp>
        <p:nvSpPr>
          <p:cNvPr id="32" name="Text 29"/>
          <p:cNvSpPr txBox="1"/>
          <p:nvPr/>
        </p:nvSpPr>
        <p:spPr>
          <a:xfrm>
            <a:off x="8449056" y="3456432"/>
            <a:ext cx="274320" cy="256032"/>
          </a:xfrm>
          <a:prstGeom prst="rect">
            <a:avLst/>
          </a:prstGeom>
          <a:noFill/>
          <a:ln/>
        </p:spPr>
        <p:txBody>
          <a:bodyPr wrap="square" lIns="0" tIns="0" rIns="0" bIns="0" rtlCol="0" anchor="ctr"/>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5</a:t>
            </a:r>
            <a:endParaRPr lang="en-US" sz="900" dirty="0"/>
          </a:p>
        </p:txBody>
      </p:sp>
      <p:sp>
        <p:nvSpPr>
          <p:cNvPr id="33" name="Text 30"/>
          <p:cNvSpPr txBox="1"/>
          <p:nvPr/>
        </p:nvSpPr>
        <p:spPr>
          <a:xfrm>
            <a:off x="8723376" y="3456432"/>
            <a:ext cx="2459736" cy="256032"/>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General gate</a:t>
            </a:r>
            <a:endParaRPr lang="en-US" sz="950" dirty="0"/>
          </a:p>
        </p:txBody>
      </p:sp>
      <p:pic>
        <p:nvPicPr>
          <p:cNvPr id="34" name="Image 1" descr="preencoded.png">    </p:cNvPr>
          <p:cNvPicPr>
            <a:picLocks noChangeAspect="1"/>
          </p:cNvPicPr>
          <p:nvPr/>
        </p:nvPicPr>
        <p:blipFill>
          <a:blip r:embed="rId2"/>
          <a:stretch>
            <a:fillRect/>
          </a:stretch>
        </p:blipFill>
        <p:spPr>
          <a:xfrm>
            <a:off x="8375904" y="3767328"/>
            <a:ext cx="182880" cy="182880"/>
          </a:xfrm>
          <a:prstGeom prst="rect">
            <a:avLst/>
          </a:prstGeom>
        </p:spPr>
      </p:pic>
      <p:sp>
        <p:nvSpPr>
          <p:cNvPr id="35" name="Text 31"/>
          <p:cNvSpPr txBox="1"/>
          <p:nvPr/>
        </p:nvSpPr>
        <p:spPr>
          <a:xfrm>
            <a:off x="8631936" y="3749040"/>
            <a:ext cx="2642616" cy="219456"/>
          </a:xfrm>
          <a:prstGeom prst="rect">
            <a:avLst/>
          </a:prstGeom>
          <a:noFill/>
          <a:ln/>
        </p:spPr>
        <p:txBody>
          <a:bodyPr wrap="square" lIns="0" tIns="0" rIns="0" bIns="0" rtlCol="0" anchor="ctr"/>
          <a:lstStyle/>
          <a:p>
            <a:pPr indent="0" marL="0">
              <a:lnSpc>
                <a:spcPct val="105000"/>
              </a:lnSpc>
              <a:buNone/>
            </a:pPr>
            <a:r>
              <a:rPr lang="en-US" sz="800" dirty="0">
                <a:solidFill>
                  <a:srgbClr val="252A3D"/>
                </a:solidFill>
                <a:latin typeface="Arial" pitchFamily="34" charset="0"/>
                <a:ea typeface="Arial" pitchFamily="34" charset="-122"/>
                <a:cs typeface="Arial" pitchFamily="34" charset="-120"/>
              </a:rPr>
              <a:t>The AI agent reviews the project at each gate.</a:t>
            </a:r>
            <a:endParaRPr lang="en-US" sz="800" dirty="0"/>
          </a:p>
        </p:txBody>
      </p:sp>
      <p:pic>
        <p:nvPicPr>
          <p:cNvPr id="36" name="Image 2" descr="preencoded.png">    </p:cNvPr>
          <p:cNvPicPr>
            <a:picLocks noChangeAspect="1"/>
          </p:cNvPicPr>
          <p:nvPr/>
        </p:nvPicPr>
        <p:blipFill>
          <a:blip r:embed="rId3"/>
          <a:stretch>
            <a:fillRect/>
          </a:stretch>
        </p:blipFill>
        <p:spPr>
          <a:xfrm>
            <a:off x="8375904" y="4059936"/>
            <a:ext cx="182880" cy="182880"/>
          </a:xfrm>
          <a:prstGeom prst="rect">
            <a:avLst/>
          </a:prstGeom>
        </p:spPr>
      </p:pic>
      <p:sp>
        <p:nvSpPr>
          <p:cNvPr id="37" name="Text 32"/>
          <p:cNvSpPr txBox="1"/>
          <p:nvPr/>
        </p:nvSpPr>
        <p:spPr>
          <a:xfrm>
            <a:off x="8631936" y="3986784"/>
            <a:ext cx="2642616" cy="411480"/>
          </a:xfrm>
          <a:prstGeom prst="rect">
            <a:avLst/>
          </a:prstGeom>
          <a:noFill/>
          <a:ln/>
        </p:spPr>
        <p:txBody>
          <a:bodyPr wrap="square" lIns="0" tIns="0" rIns="0" bIns="0" rtlCol="0" anchor="ctr"/>
          <a:lstStyle/>
          <a:p>
            <a:pPr indent="0" marL="0">
              <a:lnSpc>
                <a:spcPct val="105000"/>
              </a:lnSpc>
              <a:buNone/>
            </a:pPr>
            <a:r>
              <a:rPr lang="en-US" sz="700" dirty="0">
                <a:solidFill>
                  <a:srgbClr val="252A3D"/>
                </a:solidFill>
                <a:latin typeface="Arial" pitchFamily="34" charset="0"/>
                <a:ea typeface="Arial" pitchFamily="34" charset="-122"/>
                <a:cs typeface="Arial" pitchFamily="34" charset="-120"/>
              </a:rPr>
              <a:t>No human approves the agent’s decisions during the experiment. A separate authorization check blocks decisions the agent is not authorized to make.</a:t>
            </a:r>
            <a:endParaRPr lang="en-US" sz="700" dirty="0"/>
          </a:p>
        </p:txBody>
      </p:sp>
      <p:sp>
        <p:nvSpPr>
          <p:cNvPr id="38" name="Shape 33"/>
          <p:cNvSpPr/>
          <p:nvPr/>
        </p:nvSpPr>
        <p:spPr>
          <a:xfrm>
            <a:off x="9797796" y="4407408"/>
            <a:ext cx="0" cy="182880"/>
          </a:xfrm>
          <a:prstGeom prst="line">
            <a:avLst/>
          </a:prstGeom>
          <a:noFill/>
          <a:ln w="15875">
            <a:solidFill>
              <a:srgbClr val="252A3D"/>
            </a:solidFill>
            <a:prstDash val="solid"/>
            <a:tailEnd type="triangle"/>
          </a:ln>
        </p:spPr>
        <p:txBody>
          <a:bodyPr/>
          <a:p/>
        </p:txBody>
      </p:sp>
      <p:sp>
        <p:nvSpPr>
          <p:cNvPr id="39" name="Shape 34"/>
          <p:cNvSpPr/>
          <p:nvPr/>
        </p:nvSpPr>
        <p:spPr>
          <a:xfrm>
            <a:off x="8247888" y="4608576"/>
            <a:ext cx="3099816" cy="1298448"/>
          </a:xfrm>
          <a:prstGeom prst="roundRect">
            <a:avLst>
              <a:gd name="adj" fmla="val 7042"/>
            </a:avLst>
          </a:prstGeom>
          <a:solidFill>
            <a:srgbClr val="E5F6E9"/>
          </a:solidFill>
          <a:ln w="12700">
            <a:solidFill>
              <a:srgbClr val="E5F6E9"/>
            </a:solidFill>
            <a:prstDash val="solid"/>
          </a:ln>
        </p:spPr>
        <p:txBody>
          <a:bodyPr/>
          <a:p/>
        </p:txBody>
      </p:sp>
      <p:pic>
        <p:nvPicPr>
          <p:cNvPr id="40" name="Image 3" descr="preencoded.png">    </p:cNvPr>
          <p:cNvPicPr>
            <a:picLocks noChangeAspect="1"/>
          </p:cNvPicPr>
          <p:nvPr/>
        </p:nvPicPr>
        <p:blipFill>
          <a:blip r:embed="rId4"/>
          <a:stretch>
            <a:fillRect/>
          </a:stretch>
        </p:blipFill>
        <p:spPr>
          <a:xfrm>
            <a:off x="8375904" y="4718304"/>
            <a:ext cx="274320" cy="274320"/>
          </a:xfrm>
          <a:prstGeom prst="rect">
            <a:avLst/>
          </a:prstGeom>
        </p:spPr>
      </p:pic>
      <p:sp>
        <p:nvSpPr>
          <p:cNvPr id="41" name="Text 35"/>
          <p:cNvSpPr txBox="1"/>
          <p:nvPr/>
        </p:nvSpPr>
        <p:spPr>
          <a:xfrm>
            <a:off x="8778240" y="4663440"/>
            <a:ext cx="2459736" cy="237744"/>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Record of the review</a:t>
            </a:r>
            <a:endParaRPr lang="en-US" sz="1250" dirty="0"/>
          </a:p>
        </p:txBody>
      </p:sp>
      <p:sp>
        <p:nvSpPr>
          <p:cNvPr id="42" name="Text 36"/>
          <p:cNvSpPr txBox="1"/>
          <p:nvPr/>
        </p:nvSpPr>
        <p:spPr>
          <a:xfrm>
            <a:off x="8375904" y="4974336"/>
            <a:ext cx="2843784" cy="310896"/>
          </a:xfrm>
          <a:prstGeom prst="rect">
            <a:avLst/>
          </a:prstGeom>
          <a:noFill/>
          <a:ln/>
        </p:spPr>
        <p:txBody>
          <a:bodyPr wrap="square" lIns="0" tIns="0" rIns="0" bIns="0" rtlCol="0" anchor="t"/>
          <a:lstStyle/>
          <a:p>
            <a:pPr indent="0" marL="0">
              <a:lnSpc>
                <a:spcPct val="105000"/>
              </a:lnSpc>
              <a:buNone/>
            </a:pPr>
            <a:r>
              <a:rPr lang="en-US" sz="860" b="1" dirty="0">
                <a:solidFill>
                  <a:srgbClr val="1E7A3C"/>
                </a:solidFill>
                <a:latin typeface="Arial" pitchFamily="34" charset="0"/>
                <a:ea typeface="Arial" pitchFamily="34" charset="-122"/>
                <a:cs typeface="Arial" pitchFamily="34" charset="-120"/>
              </a:rPr>
              <a:t>Decision: </a:t>
            </a:r>
            <a:r>
              <a:rPr lang="en-US" sz="860" dirty="0">
                <a:solidFill>
                  <a:srgbClr val="1E7A3C"/>
                </a:solidFill>
                <a:latin typeface="Arial" pitchFamily="34" charset="0"/>
                <a:ea typeface="Arial" pitchFamily="34" charset="-122"/>
                <a:cs typeface="Arial" pitchFamily="34" charset="-120"/>
              </a:rPr>
              <a:t>GO · GO WITH CONDITIONS · REWORK · WAIT · NO</a:t>
            </a:r>
            <a:endParaRPr lang="en-US" sz="860" dirty="0"/>
          </a:p>
        </p:txBody>
      </p:sp>
      <p:sp>
        <p:nvSpPr>
          <p:cNvPr id="43" name="Text 37"/>
          <p:cNvSpPr txBox="1"/>
          <p:nvPr/>
        </p:nvSpPr>
        <p:spPr>
          <a:xfrm>
            <a:off x="8375904" y="5303520"/>
            <a:ext cx="2843784" cy="566928"/>
          </a:xfrm>
          <a:prstGeom prst="rect">
            <a:avLst/>
          </a:prstGeom>
          <a:noFill/>
          <a:ln/>
        </p:spPr>
        <p:txBody>
          <a:bodyPr wrap="square" lIns="0" tIns="0" rIns="0" bIns="0" rtlCol="0" anchor="t"/>
          <a:lstStyle/>
          <a:p>
            <a:pPr indent="0" marL="0">
              <a:lnSpc>
                <a:spcPct val="105000"/>
              </a:lnSpc>
              <a:buNone/>
            </a:pPr>
            <a:r>
              <a:rPr lang="en-US" sz="860" dirty="0">
                <a:solidFill>
                  <a:srgbClr val="5B6575"/>
                </a:solidFill>
                <a:latin typeface="Arial" pitchFamily="34" charset="0"/>
                <a:ea typeface="Arial" pitchFamily="34" charset="-122"/>
                <a:cs typeface="Arial" pitchFamily="34" charset="-120"/>
              </a:rPr>
              <a:t>The record also lists the problems found, the required actions, the supporting sources and the authorization to make the decision.</a:t>
            </a:r>
            <a:endParaRPr lang="en-US" sz="860" dirty="0"/>
          </a:p>
        </p:txBody>
      </p:sp>
      <p:sp>
        <p:nvSpPr>
          <p:cNvPr id="44" name="Text 38"/>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DDF5FC"/>
                </a:solidFill>
                <a:latin typeface="Arial" pitchFamily="34" charset="0"/>
                <a:ea typeface="Arial" pitchFamily="34" charset="-122"/>
                <a:cs typeface="Arial" pitchFamily="34" charset="-120"/>
              </a:rPr>
              <a:t>RESEARCH PAPER · SEPTEMBER 2026</a:t>
            </a:r>
            <a:endParaRPr lang="en-US" sz="810" dirty="0"/>
          </a:p>
        </p:txBody>
      </p:sp>
      <p:sp>
        <p:nvSpPr>
          <p:cNvPr id="45" name="Text 39"/>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DDF5FC"/>
                </a:solidFill>
                <a:latin typeface="Arial" pitchFamily="34" charset="0"/>
                <a:ea typeface="Arial" pitchFamily="34" charset="-122"/>
                <a:cs typeface="Arial" pitchFamily="34" charset="-120"/>
              </a:rPr>
              <a:t>01 / 30</a:t>
            </a:r>
            <a:endParaRPr lang="en-US" sz="1000" dirty="0"/>
          </a:p>
        </p:txBody>
      </p:sp>
      <p:sp>
        <p:nvSpPr>
          <p:cNvPr id="47" name="Shape 40">
            <a:hlinkClick r:id="rId5" tooltip="Read the paper on arXiv"/>
          </p:cNvPr>
          <p:cNvSpPr/>
          <p:nvPr/>
        </p:nvSpPr>
        <p:spPr>
          <a:xfrm>
            <a:off x="585216" y="5440680"/>
            <a:ext cx="3017520" cy="438912"/>
          </a:xfrm>
          <a:prstGeom prst="roundRect">
            <a:avLst>
              <a:gd name="adj" fmla="val 25000"/>
            </a:avLst>
          </a:prstGeom>
          <a:solidFill>
            <a:srgbClr val="FFFFFF"/>
          </a:solidFill>
          <a:ln w="6350">
            <a:solidFill>
              <a:srgbClr val="FFFFFF"/>
            </a:solidFill>
            <a:prstDash val="solid"/>
          </a:ln>
        </p:spPr>
        <p:txBody>
          <a:bodyPr/>
          <a:p/>
        </p:txBody>
      </p:sp>
      <p:pic>
        <p:nvPicPr>
          <p:cNvPr id="48" name="Image 4" descr="preencoded.png">
            <a:hlinkClick r:id="rId7" tooltip=""/>
          </p:cNvPr>
          <p:cNvPicPr>
            <a:picLocks noChangeAspect="1"/>
          </p:cNvPicPr>
          <p:nvPr/>
        </p:nvPicPr>
        <p:blipFill>
          <a:blip r:embed="rId6"/>
          <a:stretch>
            <a:fillRect/>
          </a:stretch>
        </p:blipFill>
        <p:spPr>
          <a:xfrm>
            <a:off x="713232" y="5532120"/>
            <a:ext cx="256032" cy="256032"/>
          </a:xfrm>
          <a:prstGeom prst="rect">
            <a:avLst/>
          </a:prstGeom>
        </p:spPr>
      </p:pic>
      <p:sp>
        <p:nvSpPr>
          <p:cNvPr id="49" name="Text 41"/>
          <p:cNvSpPr txBox="1"/>
          <p:nvPr/>
        </p:nvSpPr>
        <p:spPr>
          <a:xfrm>
            <a:off x="1060704" y="5440680"/>
            <a:ext cx="2514600" cy="438912"/>
          </a:xfrm>
          <a:prstGeom prst="rect">
            <a:avLst/>
          </a:prstGeom>
          <a:noFill/>
          <a:ln/>
        </p:spPr>
        <p:txBody>
          <a:bodyPr wrap="square" lIns="0" tIns="0" rIns="0" bIns="0" rtlCol="0" anchor="ctr"/>
          <a:lstStyle/>
          <a:p>
            <a:pPr indent="0" marL="0">
              <a:lnSpc>
                <a:spcPct val="105000"/>
              </a:lnSpc>
              <a:buNone/>
            </a:pPr>
            <a:r>
              <a:rPr lang="en-US" sz="1050" b="1" u="sng" dirty="0">
                <a:solidFill>
                  <a:srgbClr val="252A3D"/>
                </a:solidFill>
                <a:latin typeface="Arial" pitchFamily="34" charset="0"/>
                <a:ea typeface="Arial" pitchFamily="34" charset="-122"/>
                <a:cs typeface="Arial" pitchFamily="34" charset="-120"/>
                <a:hlinkClick r:id="rId8" invalidUrl="" action="" tgtFrame="" tooltip="Read the paper on arXiv" history="1" highlightClick="0" endSnd="0">
                  <a:extLst>
                    <a:ext uri="{A12FA001-AC4F-418D-AE19-62706E023703}">
                      <ahyp:hlinkClr xmlns:ahyp="http://schemas.microsoft.com/office/drawing/2018/hyperlinkcolor" val="tx"/>
                    </a:ext>
                  </a:extLst>
                </a:hlinkClick>
              </a:rPr>
              <a:t>arXiv:2609.29345</a:t>
            </a:r>
            <a:r>
              <a:rPr lang="en-US" sz="1050" u="sng" dirty="0">
                <a:solidFill>
                  <a:srgbClr val="5B6575"/>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  ·  Read the paper</a:t>
            </a:r>
            <a:endParaRPr lang="en-US" sz="1050" dirty="0"/>
          </a:p>
        </p:txBody>
      </p:sp>
      <p:sp>
        <p:nvSpPr>
          <p:cNvPr id="50" name="Shape 42">
            <a:hlinkClick r:id="rId10" tooltip="DGF-Bench on GitHub"/>
          </p:cNvPr>
          <p:cNvSpPr/>
          <p:nvPr/>
        </p:nvSpPr>
        <p:spPr>
          <a:xfrm>
            <a:off x="3730752" y="5440680"/>
            <a:ext cx="4069080" cy="438912"/>
          </a:xfrm>
          <a:prstGeom prst="roundRect">
            <a:avLst>
              <a:gd name="adj" fmla="val 25000"/>
            </a:avLst>
          </a:prstGeom>
          <a:solidFill>
            <a:srgbClr val="FFFFFF"/>
          </a:solidFill>
          <a:ln w="6350">
            <a:solidFill>
              <a:srgbClr val="FFFFFF"/>
            </a:solidFill>
            <a:prstDash val="solid"/>
          </a:ln>
        </p:spPr>
        <p:txBody>
          <a:bodyPr/>
          <a:p/>
        </p:txBody>
      </p:sp>
      <p:pic>
        <p:nvPicPr>
          <p:cNvPr id="51" name="Image 5" descr="preencoded.png">
            <a:hlinkClick r:id="rId12" tooltip=""/>
          </p:cNvPr>
          <p:cNvPicPr>
            <a:picLocks noChangeAspect="1"/>
          </p:cNvPicPr>
          <p:nvPr/>
        </p:nvPicPr>
        <p:blipFill>
          <a:blip r:embed="rId11"/>
          <a:stretch>
            <a:fillRect/>
          </a:stretch>
        </p:blipFill>
        <p:spPr>
          <a:xfrm>
            <a:off x="3858768" y="5532120"/>
            <a:ext cx="256032" cy="256032"/>
          </a:xfrm>
          <a:prstGeom prst="rect">
            <a:avLst/>
          </a:prstGeom>
        </p:spPr>
      </p:pic>
      <p:sp>
        <p:nvSpPr>
          <p:cNvPr id="52" name="Text 43"/>
          <p:cNvSpPr txBox="1"/>
          <p:nvPr/>
        </p:nvSpPr>
        <p:spPr>
          <a:xfrm>
            <a:off x="4206240" y="5440680"/>
            <a:ext cx="3566160" cy="438912"/>
          </a:xfrm>
          <a:prstGeom prst="rect">
            <a:avLst/>
          </a:prstGeom>
          <a:noFill/>
          <a:ln/>
        </p:spPr>
        <p:txBody>
          <a:bodyPr wrap="square" lIns="0" tIns="0" rIns="0" bIns="0" rtlCol="0" anchor="ctr"/>
          <a:lstStyle/>
          <a:p>
            <a:pPr indent="0" marL="0">
              <a:lnSpc>
                <a:spcPct val="105000"/>
              </a:lnSpc>
              <a:buNone/>
            </a:pPr>
            <a:r>
              <a:rPr lang="en-US" sz="1050" b="1" u="sng" dirty="0">
                <a:solidFill>
                  <a:srgbClr val="252A3D"/>
                </a:solidFill>
                <a:latin typeface="Arial" pitchFamily="34" charset="0"/>
                <a:ea typeface="Arial" pitchFamily="34" charset="-122"/>
                <a:cs typeface="Arial" pitchFamily="34" charset="-120"/>
                <a:hlinkClick r:id="rId13" invalidUrl="" action="" tgtFrame="" tooltip="DGF-Bench on GitHub" history="1" highlightClick="0" endSnd="0">
                  <a:extLst>
                    <a:ext uri="{A12FA001-AC4F-418D-AE19-62706E023703}">
                      <ahyp:hlinkClr xmlns:ahyp="http://schemas.microsoft.com/office/drawing/2018/hyperlinkcolor" val="tx"/>
                    </a:ext>
                  </a:extLst>
                </a:hlinkClick>
              </a:rPr>
              <a:t>DGF-Bench on GitHub</a:t>
            </a:r>
            <a:r>
              <a:rPr lang="en-US" sz="1050" u="sng" dirty="0">
                <a:solidFill>
                  <a:srgbClr val="5B6575"/>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  jeremy1392/dgf-agentic-bench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STUDY IN ONE MINUTE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Four key points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If you only read one slide, read this one.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OVERVIEW</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02 / 30</a:t>
            </a:r>
            <a:endParaRPr lang="en-US" sz="1000" dirty="0"/>
          </a:p>
        </p:txBody>
      </p:sp>
      <p:sp>
        <p:nvSpPr>
          <p:cNvPr id="9" name="Shape 7"/>
          <p:cNvSpPr/>
          <p:nvPr/>
        </p:nvSpPr>
        <p:spPr>
          <a:xfrm>
            <a:off x="457200" y="1965960"/>
            <a:ext cx="2651760" cy="3429000"/>
          </a:xfrm>
          <a:prstGeom prst="roundRect">
            <a:avLst>
              <a:gd name="adj" fmla="val 3448"/>
            </a:avLst>
          </a:prstGeom>
          <a:solidFill>
            <a:srgbClr val="DDF5FC"/>
          </a:solidFill>
          <a:ln w="12700">
            <a:solidFill>
              <a:srgbClr val="DDF5FC"/>
            </a:solidFill>
            <a:prstDash val="solid"/>
          </a:ln>
        </p:spPr>
        <p:txBody>
          <a:bodyPr/>
          <a:p/>
        </p:txBody>
      </p:sp>
      <p:sp>
        <p:nvSpPr>
          <p:cNvPr id="10" name="Text 8"/>
          <p:cNvSpPr txBox="1"/>
          <p:nvPr/>
        </p:nvSpPr>
        <p:spPr>
          <a:xfrm>
            <a:off x="640080"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The context</a:t>
            </a:r>
            <a:endParaRPr lang="en-US" sz="1600" dirty="0"/>
          </a:p>
        </p:txBody>
      </p:sp>
      <p:sp>
        <p:nvSpPr>
          <p:cNvPr id="11" name="Text 9"/>
          <p:cNvSpPr txBox="1"/>
          <p:nvPr/>
        </p:nvSpPr>
        <p:spPr>
          <a:xfrm>
            <a:off x="640080" y="2560320"/>
            <a:ext cx="2286000" cy="2103120"/>
          </a:xfrm>
          <a:prstGeom prst="rect">
            <a:avLst/>
          </a:prstGeom>
          <a:noFill/>
          <a:ln/>
        </p:spPr>
        <p:txBody>
          <a:bodyPr wrap="square" lIns="0" tIns="0" rIns="0" bIns="0" rtlCol="0" anchor="t"/>
          <a:lstStyle/>
          <a:p>
            <a:pPr indent="0" marL="0">
              <a:lnSpc>
                <a:spcPct val="105000"/>
              </a:lnSpc>
              <a:buNone/>
            </a:pPr>
            <a:r>
              <a:rPr lang="en-US" sz="1050" dirty="0">
                <a:solidFill>
                  <a:srgbClr val="252A3D"/>
                </a:solidFill>
                <a:latin typeface="Arial" pitchFamily="34" charset="0"/>
                <a:ea typeface="Arial" pitchFamily="34" charset="-122"/>
                <a:cs typeface="Arial" pitchFamily="34" charset="-120"/>
              </a:rPr>
              <a:t>Before a company buys a technology solution, connects two systems or builds an application, specialists review the project at a series of checkpoints covering purchasing, legal requirements, compliance, security, IT, architecture and operational readiness. The paper calls this series of project reviews a Digital Governance Framework (DGF).</a:t>
            </a:r>
            <a:endParaRPr lang="en-US" sz="1050" dirty="0"/>
          </a:p>
        </p:txBody>
      </p:sp>
      <p:sp>
        <p:nvSpPr>
          <p:cNvPr id="12" name="Shape 10"/>
          <p:cNvSpPr/>
          <p:nvPr/>
        </p:nvSpPr>
        <p:spPr>
          <a:xfrm>
            <a:off x="2432304" y="4718304"/>
            <a:ext cx="493776" cy="493776"/>
          </a:xfrm>
          <a:prstGeom prst="ellipse">
            <a:avLst/>
          </a:prstGeom>
          <a:solidFill>
            <a:srgbClr val="FFFFFF"/>
          </a:solidFill>
          <a:ln w="12700">
            <a:solidFill>
              <a:srgbClr val="FFFFFF"/>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2542032" y="4828032"/>
            <a:ext cx="274320" cy="274320"/>
          </a:xfrm>
          <a:prstGeom prst="rect">
            <a:avLst/>
          </a:prstGeom>
        </p:spPr>
      </p:pic>
      <p:sp>
        <p:nvSpPr>
          <p:cNvPr id="14" name="Shape 11"/>
          <p:cNvSpPr/>
          <p:nvPr/>
        </p:nvSpPr>
        <p:spPr>
          <a:xfrm>
            <a:off x="3332988" y="1965960"/>
            <a:ext cx="2651760" cy="3429000"/>
          </a:xfrm>
          <a:prstGeom prst="roundRect">
            <a:avLst>
              <a:gd name="adj" fmla="val 3448"/>
            </a:avLst>
          </a:prstGeom>
          <a:solidFill>
            <a:srgbClr val="FFE4E6"/>
          </a:solidFill>
          <a:ln w="12700">
            <a:solidFill>
              <a:srgbClr val="FFE4E6"/>
            </a:solidFill>
            <a:prstDash val="solid"/>
          </a:ln>
        </p:spPr>
        <p:txBody>
          <a:bodyPr/>
          <a:p/>
        </p:txBody>
      </p:sp>
      <p:sp>
        <p:nvSpPr>
          <p:cNvPr id="15" name="Text 12"/>
          <p:cNvSpPr txBox="1"/>
          <p:nvPr/>
        </p:nvSpPr>
        <p:spPr>
          <a:xfrm>
            <a:off x="3515868"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The idea</a:t>
            </a:r>
            <a:endParaRPr lang="en-US" sz="1600" dirty="0"/>
          </a:p>
        </p:txBody>
      </p:sp>
      <p:sp>
        <p:nvSpPr>
          <p:cNvPr id="16" name="Text 13"/>
          <p:cNvSpPr txBox="1"/>
          <p:nvPr/>
        </p:nvSpPr>
        <p:spPr>
          <a:xfrm>
            <a:off x="3515868" y="2560320"/>
            <a:ext cx="2286000" cy="2103120"/>
          </a:xfrm>
          <a:prstGeom prst="rect">
            <a:avLst/>
          </a:prstGeom>
          <a:noFill/>
          <a:ln/>
        </p:spPr>
        <p:txBody>
          <a:bodyPr wrap="square" lIns="0" tIns="0" rIns="0" bIns="0" rtlCol="0" anchor="t"/>
          <a:lstStyle/>
          <a:p>
            <a:pPr indent="0" marL="0">
              <a:lnSpc>
                <a:spcPct val="105000"/>
              </a:lnSpc>
              <a:buNone/>
            </a:pPr>
            <a:r>
              <a:rPr lang="en-US" sz="1010" dirty="0">
                <a:solidFill>
                  <a:srgbClr val="252A3D"/>
                </a:solidFill>
                <a:latin typeface="Arial" pitchFamily="34" charset="0"/>
                <a:ea typeface="Arial" pitchFamily="34" charset="-122"/>
                <a:cs typeface="Arial" pitchFamily="34" charset="-120"/>
              </a:rPr>
              <a:t>The paper argues that these reviews are assigned to people today, but do not necessarily have to be performed by people. An AI agent can read the same project documents, apply the same written rules and reach the same decision. People retain the decisions that still require human involvement. Forward Deployed Engineers (FDEs) help companies put AI into use. The paper proposes that DGF reviews are a likely starting point for their work.</a:t>
            </a:r>
            <a:endParaRPr lang="en-US" sz="1050" dirty="0"/>
          </a:p>
        </p:txBody>
      </p:sp>
      <p:sp>
        <p:nvSpPr>
          <p:cNvPr id="17" name="Shape 14"/>
          <p:cNvSpPr/>
          <p:nvPr/>
        </p:nvSpPr>
        <p:spPr>
          <a:xfrm>
            <a:off x="5308092" y="4718304"/>
            <a:ext cx="493776" cy="493776"/>
          </a:xfrm>
          <a:prstGeom prst="ellipse">
            <a:avLst/>
          </a:prstGeom>
          <a:solidFill>
            <a:srgbClr val="FFFFFF"/>
          </a:solidFill>
          <a:ln w="12700">
            <a:solidFill>
              <a:srgbClr val="FFFFFF"/>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5417820" y="4828032"/>
            <a:ext cx="274320" cy="274320"/>
          </a:xfrm>
          <a:prstGeom prst="rect">
            <a:avLst/>
          </a:prstGeom>
        </p:spPr>
      </p:pic>
      <p:sp>
        <p:nvSpPr>
          <p:cNvPr id="19" name="Shape 15"/>
          <p:cNvSpPr/>
          <p:nvPr/>
        </p:nvSpPr>
        <p:spPr>
          <a:xfrm>
            <a:off x="6208776" y="1965960"/>
            <a:ext cx="2651760" cy="3429000"/>
          </a:xfrm>
          <a:prstGeom prst="roundRect">
            <a:avLst>
              <a:gd name="adj" fmla="val 3448"/>
            </a:avLst>
          </a:prstGeom>
          <a:solidFill>
            <a:srgbClr val="E5F6E9"/>
          </a:solidFill>
          <a:ln w="12700">
            <a:solidFill>
              <a:srgbClr val="E5F6E9"/>
            </a:solidFill>
            <a:prstDash val="solid"/>
          </a:ln>
        </p:spPr>
        <p:txBody>
          <a:bodyPr/>
          <a:p/>
        </p:txBody>
      </p:sp>
      <p:sp>
        <p:nvSpPr>
          <p:cNvPr id="20" name="Text 16"/>
          <p:cNvSpPr txBox="1"/>
          <p:nvPr/>
        </p:nvSpPr>
        <p:spPr>
          <a:xfrm>
            <a:off x="6391656"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The experiment</a:t>
            </a:r>
            <a:endParaRPr lang="en-US" sz="1600" dirty="0"/>
          </a:p>
        </p:txBody>
      </p:sp>
      <p:sp>
        <p:nvSpPr>
          <p:cNvPr id="21" name="Text 17"/>
          <p:cNvSpPr txBox="1"/>
          <p:nvPr/>
        </p:nvSpPr>
        <p:spPr>
          <a:xfrm>
            <a:off x="6391656" y="2560320"/>
            <a:ext cx="2286000" cy="2103120"/>
          </a:xfrm>
          <a:prstGeom prst="rect">
            <a:avLst/>
          </a:prstGeom>
          <a:noFill/>
          <a:ln/>
        </p:spPr>
        <p:txBody>
          <a:bodyPr wrap="square" lIns="0" tIns="0" rIns="0" bIns="0" rtlCol="0" anchor="t"/>
          <a:lstStyle/>
          <a:p>
            <a:pPr indent="0" marL="0">
              <a:lnSpc>
                <a:spcPct val="105000"/>
              </a:lnSpc>
              <a:buNone/>
            </a:pPr>
            <a:r>
              <a:rPr lang="en-US" sz="1050" dirty="0">
                <a:solidFill>
                  <a:srgbClr val="252A3D"/>
                </a:solidFill>
                <a:latin typeface="Arial" pitchFamily="34" charset="0"/>
                <a:ea typeface="Arial" pitchFamily="34" charset="-122"/>
                <a:cs typeface="Arial" pitchFamily="34" charset="-120"/>
              </a:rPr>
              <a:t>The same AI agent reviewed 300 realistic but fictional projects using three different AI models. A program scored each response against answers the agent could not access. With the best-performing model, the agent made the correct decision at every gate. Its reviews met all five scoring criteria at 95% of gates, and every review passed for 77% of projects.</a:t>
            </a:r>
            <a:endParaRPr lang="en-US" sz="1050" dirty="0"/>
          </a:p>
        </p:txBody>
      </p:sp>
      <p:sp>
        <p:nvSpPr>
          <p:cNvPr id="22" name="Shape 18"/>
          <p:cNvSpPr/>
          <p:nvPr/>
        </p:nvSpPr>
        <p:spPr>
          <a:xfrm>
            <a:off x="8183880" y="4718304"/>
            <a:ext cx="493776" cy="493776"/>
          </a:xfrm>
          <a:prstGeom prst="ellipse">
            <a:avLst/>
          </a:prstGeom>
          <a:solidFill>
            <a:srgbClr val="FFFFFF"/>
          </a:solidFill>
          <a:ln w="12700">
            <a:solidFill>
              <a:srgbClr val="FFFFFF"/>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8293608" y="4828032"/>
            <a:ext cx="274320" cy="274320"/>
          </a:xfrm>
          <a:prstGeom prst="rect">
            <a:avLst/>
          </a:prstGeom>
        </p:spPr>
      </p:pic>
      <p:sp>
        <p:nvSpPr>
          <p:cNvPr id="24" name="Shape 19"/>
          <p:cNvSpPr/>
          <p:nvPr/>
        </p:nvSpPr>
        <p:spPr>
          <a:xfrm>
            <a:off x="9084564" y="1965960"/>
            <a:ext cx="2651760" cy="3429000"/>
          </a:xfrm>
          <a:prstGeom prst="roundRect">
            <a:avLst>
              <a:gd name="adj" fmla="val 3448"/>
            </a:avLst>
          </a:prstGeom>
          <a:solidFill>
            <a:srgbClr val="FFF5BF"/>
          </a:solidFill>
          <a:ln w="12700">
            <a:solidFill>
              <a:srgbClr val="FFF5BF"/>
            </a:solidFill>
            <a:prstDash val="solid"/>
          </a:ln>
        </p:spPr>
        <p:txBody>
          <a:bodyPr/>
          <a:p/>
        </p:txBody>
      </p:sp>
      <p:sp>
        <p:nvSpPr>
          <p:cNvPr id="25" name="Text 20"/>
          <p:cNvSpPr txBox="1"/>
          <p:nvPr/>
        </p:nvSpPr>
        <p:spPr>
          <a:xfrm>
            <a:off x="9267444" y="2130552"/>
            <a:ext cx="2286000" cy="365760"/>
          </a:xfrm>
          <a:prstGeom prst="rect">
            <a:avLst/>
          </a:prstGeom>
          <a:noFill/>
          <a:ln/>
        </p:spPr>
        <p:txBody>
          <a:bodyPr wrap="square" lIns="0" tIns="0" rIns="0" bIns="0" rtlCol="0" anchor="t"/>
          <a:lstStyle/>
          <a:p>
            <a:pPr indent="0" marL="0">
              <a:lnSpc>
                <a:spcPct val="105000"/>
              </a:lnSpc>
              <a:buNone/>
            </a:pPr>
            <a:r>
              <a:rPr lang="en-US" sz="1600" b="1" dirty="0">
                <a:solidFill>
                  <a:srgbClr val="252A3D"/>
                </a:solidFill>
                <a:latin typeface="Arial" pitchFamily="34" charset="0"/>
                <a:ea typeface="Arial" pitchFamily="34" charset="-122"/>
                <a:cs typeface="Arial" pitchFamily="34" charset="-120"/>
              </a:rPr>
              <a:t>The limit</a:t>
            </a:r>
            <a:endParaRPr lang="en-US" sz="1600" dirty="0"/>
          </a:p>
        </p:txBody>
      </p:sp>
      <p:sp>
        <p:nvSpPr>
          <p:cNvPr id="26" name="Text 21"/>
          <p:cNvSpPr txBox="1"/>
          <p:nvPr/>
        </p:nvSpPr>
        <p:spPr>
          <a:xfrm>
            <a:off x="9267444" y="2560320"/>
            <a:ext cx="2286000" cy="2103120"/>
          </a:xfrm>
          <a:prstGeom prst="rect">
            <a:avLst/>
          </a:prstGeom>
          <a:noFill/>
          <a:ln/>
        </p:spPr>
        <p:txBody>
          <a:bodyPr wrap="square" lIns="0" tIns="0" rIns="0" bIns="0" rtlCol="0" anchor="t"/>
          <a:lstStyle/>
          <a:p>
            <a:pPr indent="0" marL="0">
              <a:lnSpc>
                <a:spcPct val="105000"/>
              </a:lnSpc>
              <a:buNone/>
            </a:pPr>
            <a:r>
              <a:rPr lang="en-US" sz="1050" dirty="0">
                <a:solidFill>
                  <a:srgbClr val="252A3D"/>
                </a:solidFill>
                <a:latin typeface="Arial" pitchFamily="34" charset="0"/>
                <a:ea typeface="Arial" pitchFamily="34" charset="-122"/>
                <a:cs typeface="Arial" pitchFamily="34" charset="-120"/>
              </a:rPr>
              <a:t>Automating most cases does not necessarily eliminate most jobs. People may still handle the most time-consuming cases, check the agent's work, correct its errors and maintain the AI agents. The author predicts that this work will require 80% fewer full-time-equivalent staff by 2033 and sets out how to test that prediction.</a:t>
            </a:r>
            <a:endParaRPr lang="en-US" sz="1050" dirty="0"/>
          </a:p>
        </p:txBody>
      </p:sp>
      <p:sp>
        <p:nvSpPr>
          <p:cNvPr id="27" name="Shape 22"/>
          <p:cNvSpPr/>
          <p:nvPr/>
        </p:nvSpPr>
        <p:spPr>
          <a:xfrm>
            <a:off x="11059668" y="4718304"/>
            <a:ext cx="493776" cy="493776"/>
          </a:xfrm>
          <a:prstGeom prst="ellipse">
            <a:avLst/>
          </a:prstGeom>
          <a:solidFill>
            <a:srgbClr val="FFFFFF"/>
          </a:solidFill>
          <a:ln w="12700">
            <a:solidFill>
              <a:srgbClr val="FFFFFF"/>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11169396" y="4828032"/>
            <a:ext cx="274320" cy="274320"/>
          </a:xfrm>
          <a:prstGeom prst="rect">
            <a:avLst/>
          </a:prstGeom>
        </p:spPr>
      </p:pic>
      <p:sp>
        <p:nvSpPr>
          <p:cNvPr id="29" name="Shape 23"/>
          <p:cNvSpPr/>
          <p:nvPr/>
        </p:nvSpPr>
        <p:spPr>
          <a:xfrm>
            <a:off x="457200" y="5577840"/>
            <a:ext cx="11274552" cy="868680"/>
          </a:xfrm>
          <a:prstGeom prst="roundRect">
            <a:avLst>
              <a:gd name="adj" fmla="val 10526"/>
            </a:avLst>
          </a:prstGeom>
          <a:solidFill>
            <a:srgbClr val="FFF5BF"/>
          </a:solidFill>
          <a:ln w="12700">
            <a:solidFill>
              <a:srgbClr val="FFF5BF"/>
            </a:solidFill>
            <a:prstDash val="solid"/>
          </a:ln>
        </p:spPr>
        <p:txBody>
          <a:bodyPr/>
          <a:p/>
        </p:txBody>
      </p:sp>
      <p:pic>
        <p:nvPicPr>
          <p:cNvPr id="30" name="Image 4" descr="preencoded.png">    </p:cNvPr>
          <p:cNvPicPr>
            <a:picLocks noChangeAspect="1"/>
          </p:cNvPicPr>
          <p:nvPr/>
        </p:nvPicPr>
        <p:blipFill>
          <a:blip r:embed="rId5"/>
          <a:stretch>
            <a:fillRect/>
          </a:stretch>
        </p:blipFill>
        <p:spPr>
          <a:xfrm>
            <a:off x="621792" y="5856732"/>
            <a:ext cx="310896" cy="310896"/>
          </a:xfrm>
          <a:prstGeom prst="rect">
            <a:avLst/>
          </a:prstGeom>
        </p:spPr>
      </p:pic>
      <p:sp>
        <p:nvSpPr>
          <p:cNvPr id="31" name="Text 24"/>
          <p:cNvSpPr txBox="1"/>
          <p:nvPr/>
        </p:nvSpPr>
        <p:spPr>
          <a:xfrm>
            <a:off x="1051560" y="5577840"/>
            <a:ext cx="10469880" cy="868680"/>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Every required project review must still be carried out, but it can be performed by a specialist or an AI agent. This deck explains the FDE role, the reviews that make up a DGF, the experiment’s findings and the possible effects on jobs.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KEY TERMS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Six key terms explained</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The paper uses several terms repeatedly. Here is what each one means.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OVERVIEW</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03 / 30</a:t>
            </a:r>
            <a:endParaRPr lang="en-US" sz="1000" dirty="0"/>
          </a:p>
        </p:txBody>
      </p:sp>
      <p:sp>
        <p:nvSpPr>
          <p:cNvPr id="9" name="Shape 7"/>
          <p:cNvSpPr/>
          <p:nvPr/>
        </p:nvSpPr>
        <p:spPr>
          <a:xfrm>
            <a:off x="457200" y="1965960"/>
            <a:ext cx="3557016" cy="1828800"/>
          </a:xfrm>
          <a:prstGeom prst="roundRect">
            <a:avLst>
              <a:gd name="adj" fmla="val 5000"/>
            </a:avLst>
          </a:prstGeom>
          <a:solidFill>
            <a:srgbClr val="DDF5FC"/>
          </a:solidFill>
          <a:ln w="12700">
            <a:solidFill>
              <a:srgbClr val="DDF5FC"/>
            </a:solidFill>
            <a:prstDash val="solid"/>
          </a:ln>
        </p:spPr>
        <p:txBody>
          <a:bodyPr/>
          <a:p/>
        </p:txBody>
      </p:sp>
      <p:sp>
        <p:nvSpPr>
          <p:cNvPr id="10" name="Text 8"/>
          <p:cNvSpPr txBox="1"/>
          <p:nvPr/>
        </p:nvSpPr>
        <p:spPr>
          <a:xfrm>
            <a:off x="649224" y="2130552"/>
            <a:ext cx="3191256" cy="29260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Forward Deployed Engineer (FDE)</a:t>
            </a:r>
            <a:endParaRPr lang="en-US" sz="1350" dirty="0"/>
          </a:p>
        </p:txBody>
      </p:sp>
      <p:sp>
        <p:nvSpPr>
          <p:cNvPr id="11" name="Text 9"/>
          <p:cNvSpPr txBox="1"/>
          <p:nvPr/>
        </p:nvSpPr>
        <p:spPr>
          <a:xfrm>
            <a:off x="649224" y="2496312"/>
            <a:ext cx="3191256" cy="123444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An engineer who works directly with a client’s teams to put AI into use in their day-to-day processes and systems. Rather than only advising or developing software remotely, the FDE turns a demonstration into a system the company can use every day. The role covers many business processes, not just governance.</a:t>
            </a:r>
            <a:endParaRPr lang="en-US" sz="1020" dirty="0"/>
          </a:p>
        </p:txBody>
      </p:sp>
      <p:sp>
        <p:nvSpPr>
          <p:cNvPr id="12" name="Shape 10"/>
          <p:cNvSpPr/>
          <p:nvPr/>
        </p:nvSpPr>
        <p:spPr>
          <a:xfrm>
            <a:off x="4315968" y="1965960"/>
            <a:ext cx="3557016" cy="1828800"/>
          </a:xfrm>
          <a:prstGeom prst="roundRect">
            <a:avLst>
              <a:gd name="adj" fmla="val 5000"/>
            </a:avLst>
          </a:prstGeom>
          <a:solidFill>
            <a:srgbClr val="FFE4E6"/>
          </a:solidFill>
          <a:ln w="12700">
            <a:solidFill>
              <a:srgbClr val="FFE4E6"/>
            </a:solidFill>
            <a:prstDash val="solid"/>
          </a:ln>
        </p:spPr>
        <p:txBody>
          <a:bodyPr/>
          <a:p/>
        </p:txBody>
      </p:sp>
      <p:sp>
        <p:nvSpPr>
          <p:cNvPr id="13" name="Text 11"/>
          <p:cNvSpPr txBox="1"/>
          <p:nvPr/>
        </p:nvSpPr>
        <p:spPr>
          <a:xfrm>
            <a:off x="4507992" y="2130552"/>
            <a:ext cx="3191256" cy="29260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Digital Governance Framework (DGF)</a:t>
            </a:r>
            <a:endParaRPr lang="en-US" sz="1350" dirty="0"/>
          </a:p>
        </p:txBody>
      </p:sp>
      <p:sp>
        <p:nvSpPr>
          <p:cNvPr id="14" name="Text 12"/>
          <p:cNvSpPr txBox="1"/>
          <p:nvPr/>
        </p:nvSpPr>
        <p:spPr>
          <a:xfrm>
            <a:off x="4507992" y="2496312"/>
            <a:ext cx="3191256" cy="123444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The required reviews a project goes through before the company commits to it: Procurement, Legal, Compliance, Security, IT, Architecture and Tech Readiness, followed by the final overall review, called the General gate. It is similar to customs checks or the approvals needed for a building permit.</a:t>
            </a:r>
            <a:endParaRPr lang="en-US" sz="1020" dirty="0"/>
          </a:p>
        </p:txBody>
      </p:sp>
      <p:sp>
        <p:nvSpPr>
          <p:cNvPr id="15" name="Shape 13"/>
          <p:cNvSpPr/>
          <p:nvPr/>
        </p:nvSpPr>
        <p:spPr>
          <a:xfrm>
            <a:off x="8174736" y="1965960"/>
            <a:ext cx="3557016" cy="1828800"/>
          </a:xfrm>
          <a:prstGeom prst="roundRect">
            <a:avLst>
              <a:gd name="adj" fmla="val 5000"/>
            </a:avLst>
          </a:prstGeom>
          <a:solidFill>
            <a:srgbClr val="E5F6E9"/>
          </a:solidFill>
          <a:ln w="12700">
            <a:solidFill>
              <a:srgbClr val="E5F6E9"/>
            </a:solidFill>
            <a:prstDash val="solid"/>
          </a:ln>
        </p:spPr>
        <p:txBody>
          <a:bodyPr/>
          <a:p/>
        </p:txBody>
      </p:sp>
      <p:sp>
        <p:nvSpPr>
          <p:cNvPr id="16" name="Text 14"/>
          <p:cNvSpPr txBox="1"/>
          <p:nvPr/>
        </p:nvSpPr>
        <p:spPr>
          <a:xfrm>
            <a:off x="8366760" y="2130552"/>
            <a:ext cx="3191256" cy="29260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Gate</a:t>
            </a:r>
            <a:endParaRPr lang="en-US" sz="1350" dirty="0"/>
          </a:p>
        </p:txBody>
      </p:sp>
      <p:sp>
        <p:nvSpPr>
          <p:cNvPr id="17" name="Text 15"/>
          <p:cNvSpPr txBox="1"/>
          <p:nvPr/>
        </p:nvSpPr>
        <p:spPr>
          <a:xfrm>
            <a:off x="8366760" y="2496312"/>
            <a:ext cx="3191256" cy="123444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A required project checkpoint where a specialist reads the documents, identifies problems, requests corrections, cites supporting sources and makes a decision. Each gate has written rules that define what to check and which decisions the reviewer is allowed to make.</a:t>
            </a:r>
            <a:endParaRPr lang="en-US" sz="1020" dirty="0"/>
          </a:p>
        </p:txBody>
      </p:sp>
      <p:sp>
        <p:nvSpPr>
          <p:cNvPr id="18" name="Shape 16"/>
          <p:cNvSpPr/>
          <p:nvPr/>
        </p:nvSpPr>
        <p:spPr>
          <a:xfrm>
            <a:off x="457200" y="3977640"/>
            <a:ext cx="3557016" cy="1828800"/>
          </a:xfrm>
          <a:prstGeom prst="roundRect">
            <a:avLst>
              <a:gd name="adj" fmla="val 5000"/>
            </a:avLst>
          </a:prstGeom>
          <a:solidFill>
            <a:srgbClr val="FFF5BF"/>
          </a:solidFill>
          <a:ln w="12700">
            <a:solidFill>
              <a:srgbClr val="FFF5BF"/>
            </a:solidFill>
            <a:prstDash val="solid"/>
          </a:ln>
        </p:spPr>
        <p:txBody>
          <a:bodyPr/>
          <a:p/>
        </p:txBody>
      </p:sp>
      <p:sp>
        <p:nvSpPr>
          <p:cNvPr id="19" name="Text 17"/>
          <p:cNvSpPr txBox="1"/>
          <p:nvPr/>
        </p:nvSpPr>
        <p:spPr>
          <a:xfrm>
            <a:off x="649224" y="4142232"/>
            <a:ext cx="3191256" cy="29260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AI agent</a:t>
            </a:r>
            <a:endParaRPr lang="en-US" sz="1350" dirty="0"/>
          </a:p>
        </p:txBody>
      </p:sp>
      <p:sp>
        <p:nvSpPr>
          <p:cNvPr id="20" name="Text 18"/>
          <p:cNvSpPr txBox="1"/>
          <p:nvPr/>
        </p:nvSpPr>
        <p:spPr>
          <a:xfrm>
            <a:off x="649224" y="4507992"/>
            <a:ext cx="3191256" cy="123444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An AI agent uses a language model to do more than answer questions. It can open documents, search company systems, request missing information and explain its decisions. In the experiment, the AI agent carries out the reviews normally assigned to specialists.</a:t>
            </a:r>
            <a:endParaRPr lang="en-US" sz="1020" dirty="0"/>
          </a:p>
        </p:txBody>
      </p:sp>
      <p:sp>
        <p:nvSpPr>
          <p:cNvPr id="21" name="Shape 19"/>
          <p:cNvSpPr/>
          <p:nvPr/>
        </p:nvSpPr>
        <p:spPr>
          <a:xfrm>
            <a:off x="4315968" y="3977640"/>
            <a:ext cx="3557016" cy="1828800"/>
          </a:xfrm>
          <a:prstGeom prst="roundRect">
            <a:avLst>
              <a:gd name="adj" fmla="val 5000"/>
            </a:avLst>
          </a:prstGeom>
          <a:solidFill>
            <a:srgbClr val="EFE8FA"/>
          </a:solidFill>
          <a:ln w="12700">
            <a:solidFill>
              <a:srgbClr val="EFE8FA"/>
            </a:solidFill>
            <a:prstDash val="solid"/>
          </a:ln>
        </p:spPr>
        <p:txBody>
          <a:bodyPr/>
          <a:p/>
        </p:txBody>
      </p:sp>
      <p:sp>
        <p:nvSpPr>
          <p:cNvPr id="22" name="Text 20"/>
          <p:cNvSpPr txBox="1"/>
          <p:nvPr/>
        </p:nvSpPr>
        <p:spPr>
          <a:xfrm>
            <a:off x="4507992" y="4142232"/>
            <a:ext cx="3191256" cy="29260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Project documents (the “dossier”)</a:t>
            </a:r>
            <a:endParaRPr lang="en-US" sz="1350" dirty="0"/>
          </a:p>
        </p:txBody>
      </p:sp>
      <p:sp>
        <p:nvSpPr>
          <p:cNvPr id="23" name="Text 21"/>
          <p:cNvSpPr txBox="1"/>
          <p:nvPr/>
        </p:nvSpPr>
        <p:spPr>
          <a:xfrm>
            <a:off x="4507992" y="4507992"/>
            <a:ext cx="3191256" cy="123444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The documents available to the reviewer: the project charter, architecture diagram, contracts, security test reports, backup and recovery test results, and supplier proposals. As in real projects, documents may be missing, outdated or inconsistent.</a:t>
            </a:r>
            <a:endParaRPr lang="en-US" sz="1020" dirty="0"/>
          </a:p>
        </p:txBody>
      </p:sp>
      <p:sp>
        <p:nvSpPr>
          <p:cNvPr id="24" name="Shape 22"/>
          <p:cNvSpPr/>
          <p:nvPr/>
        </p:nvSpPr>
        <p:spPr>
          <a:xfrm>
            <a:off x="8174736" y="3977640"/>
            <a:ext cx="3557016" cy="1828800"/>
          </a:xfrm>
          <a:prstGeom prst="roundRect">
            <a:avLst>
              <a:gd name="adj" fmla="val 5000"/>
            </a:avLst>
          </a:prstGeom>
          <a:solidFill>
            <a:srgbClr val="F3F5F8"/>
          </a:solidFill>
          <a:ln w="12700">
            <a:solidFill>
              <a:srgbClr val="F3F5F8"/>
            </a:solidFill>
            <a:prstDash val="solid"/>
          </a:ln>
        </p:spPr>
        <p:txBody>
          <a:bodyPr/>
          <a:p/>
        </p:txBody>
      </p:sp>
      <p:sp>
        <p:nvSpPr>
          <p:cNvPr id="25" name="Text 23"/>
          <p:cNvSpPr txBox="1"/>
          <p:nvPr/>
        </p:nvSpPr>
        <p:spPr>
          <a:xfrm>
            <a:off x="8366760" y="4142232"/>
            <a:ext cx="3191256" cy="292608"/>
          </a:xfrm>
          <a:prstGeom prst="rect">
            <a:avLst/>
          </a:prstGeom>
          <a:noFill/>
          <a:ln/>
        </p:spPr>
        <p:txBody>
          <a:bodyPr wrap="square" lIns="0" tIns="0" rIns="0" bIns="0" rtlCol="0" anchor="t"/>
          <a:lstStyle/>
          <a:p>
            <a:pPr indent="0" marL="0">
              <a:lnSpc>
                <a:spcPct val="105000"/>
              </a:lnSpc>
              <a:buNone/>
            </a:pPr>
            <a:r>
              <a:rPr lang="en-US" sz="1350" b="1" dirty="0">
                <a:solidFill>
                  <a:srgbClr val="252A3D"/>
                </a:solidFill>
                <a:latin typeface="Arial" pitchFamily="34" charset="0"/>
                <a:ea typeface="Arial" pitchFamily="34" charset="-122"/>
                <a:cs typeface="Arial" pitchFamily="34" charset="-120"/>
              </a:rPr>
              <a:t>The five possible decisions</a:t>
            </a:r>
            <a:endParaRPr lang="en-US" sz="1350" dirty="0"/>
          </a:p>
        </p:txBody>
      </p:sp>
      <p:sp>
        <p:nvSpPr>
          <p:cNvPr id="26" name="Text 24"/>
          <p:cNvSpPr txBox="1"/>
          <p:nvPr/>
        </p:nvSpPr>
        <p:spPr>
          <a:xfrm>
            <a:off x="8366760" y="4507992"/>
            <a:ext cx="3191256" cy="123444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GO: proceed. GO WITH CONDITIONS: proceed subject to the stated conditions and deadlines. REWORK: revise the proposal and submit it again. WAIT: pause until a requirement is met. NO: do not proceed with the proposal as submitted. Correctly rejecting a project can count as a successful review.</a:t>
            </a:r>
            <a:endParaRPr lang="en-US" sz="1020" dirty="0"/>
          </a:p>
        </p:txBody>
      </p:sp>
      <p:sp>
        <p:nvSpPr>
          <p:cNvPr id="27" name="Shape 25"/>
          <p:cNvSpPr/>
          <p:nvPr/>
        </p:nvSpPr>
        <p:spPr>
          <a:xfrm>
            <a:off x="457200" y="6035040"/>
            <a:ext cx="11274552" cy="457200"/>
          </a:xfrm>
          <a:prstGeom prst="roundRect">
            <a:avLst>
              <a:gd name="adj" fmla="val 20000"/>
            </a:avLst>
          </a:prstGeom>
          <a:solidFill>
            <a:srgbClr val="F5F7FA"/>
          </a:solidFill>
          <a:ln w="12700">
            <a:solidFill>
              <a:srgbClr val="F5F7FA"/>
            </a:solidFill>
            <a:prstDash val="solid"/>
          </a:ln>
        </p:spPr>
        <p:txBody>
          <a:bodyPr/>
          <a:p/>
        </p:txBody>
      </p:sp>
      <p:sp>
        <p:nvSpPr>
          <p:cNvPr id="28" name="Text 26"/>
          <p:cNvSpPr txBox="1"/>
          <p:nvPr/>
        </p:nvSpPr>
        <p:spPr>
          <a:xfrm>
            <a:off x="658368" y="6035040"/>
            <a:ext cx="10872216" cy="457200"/>
          </a:xfrm>
          <a:prstGeom prst="rect">
            <a:avLst/>
          </a:prstGeom>
          <a:noFill/>
          <a:ln/>
        </p:spPr>
        <p:txBody>
          <a:bodyPr wrap="square" lIns="0" tIns="0" rIns="0" bIns="0" rtlCol="0" anchor="ctr"/>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Two other terms matter: </a:t>
            </a:r>
            <a:r>
              <a:rPr lang="en-US" sz="1100" dirty="0">
                <a:solidFill>
                  <a:srgbClr val="252A3D"/>
                </a:solidFill>
                <a:latin typeface="Arial" pitchFamily="34" charset="0"/>
                <a:ea typeface="Arial" pitchFamily="34" charset="-122"/>
                <a:cs typeface="Arial" pitchFamily="34" charset="-120"/>
              </a:rPr>
              <a:t>“evidence” means the documents or records that support a conclusion; “authority” means permission to make a particular decision. A correct decision also needs supporting sources and the required authorization.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FORWARD DEPLOYED ENGINEER · THE ROLE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What a Forward Deployed Engineer does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How the cited industry sources describe the role. FDEs work across business processes, not just governance.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FORWARD DEPLOYED ENGINEER</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04 / 30</a:t>
            </a:r>
            <a:endParaRPr lang="en-US" sz="1000" dirty="0"/>
          </a:p>
        </p:txBody>
      </p:sp>
      <p:sp>
        <p:nvSpPr>
          <p:cNvPr id="9" name="Shape 7"/>
          <p:cNvSpPr/>
          <p:nvPr/>
        </p:nvSpPr>
        <p:spPr>
          <a:xfrm>
            <a:off x="457200" y="1965960"/>
            <a:ext cx="5120640" cy="3611880"/>
          </a:xfrm>
          <a:prstGeom prst="roundRect">
            <a:avLst>
              <a:gd name="adj" fmla="val 2532"/>
            </a:avLst>
          </a:prstGeom>
          <a:solidFill>
            <a:srgbClr val="DDF5FC"/>
          </a:solidFill>
          <a:ln w="12700">
            <a:solidFill>
              <a:srgbClr val="DDF5FC"/>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138928" y="2066544"/>
            <a:ext cx="292608" cy="292608"/>
          </a:xfrm>
          <a:prstGeom prst="rect">
            <a:avLst/>
          </a:prstGeom>
        </p:spPr>
      </p:pic>
      <p:sp>
        <p:nvSpPr>
          <p:cNvPr id="11" name="Text 8"/>
          <p:cNvSpPr txBox="1"/>
          <p:nvPr/>
        </p:nvSpPr>
        <p:spPr>
          <a:xfrm>
            <a:off x="640080" y="2103120"/>
            <a:ext cx="42976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WHAT THE ROLE INVOLVES</a:t>
            </a:r>
            <a:endParaRPr lang="en-US" sz="950" dirty="0"/>
          </a:p>
        </p:txBody>
      </p:sp>
      <p:sp>
        <p:nvSpPr>
          <p:cNvPr id="12" name="Text 9"/>
          <p:cNvSpPr txBox="1"/>
          <p:nvPr/>
        </p:nvSpPr>
        <p:spPr>
          <a:xfrm>
            <a:off x="640080" y="2468880"/>
            <a:ext cx="4754880" cy="3063240"/>
          </a:xfrm>
          <a:prstGeom prst="rect">
            <a:avLst/>
          </a:prstGeom>
          <a:noFill/>
          <a:ln/>
        </p:spPr>
        <p:txBody>
          <a:bodyPr wrap="square" lIns="0" tIns="0" rIns="0" bIns="0" rtlCol="0" anchor="t"/>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An engineer who works directly with a client to build, adapt and deploy technical solutions in the systems the client uses every day. </a:t>
            </a:r>
            <a:r>
              <a:rPr lang="en-US" sz="960" dirty="0">
                <a:solidFill>
                  <a:srgbClr val="252A3D"/>
                </a:solidFill>
                <a:latin typeface="Arial" pitchFamily="34" charset="0"/>
                <a:ea typeface="Arial" pitchFamily="34" charset="-122"/>
                <a:cs typeface="Arial" pitchFamily="34" charset="-120"/>
              </a:rPr>
              <a:t>The role combines software development, an understanding of the client’s business and direct work with users, from gathering requirements to design, implementation, integration and deployment.</a:t>
            </a:r>
            <a:endParaRPr lang="en-US" sz="960" dirty="0"/>
          </a:p>
          <a:p>
            <a:pPr indent="0" marL="0">
              <a:lnSpc>
                <a:spcPct val="105000"/>
              </a:lnSpc>
              <a:buNone/>
            </a:pPr>
            <a:r>
              <a:rPr lang="en-US" sz="800" i="1" dirty="0">
                <a:solidFill>
                  <a:srgbClr val="5B6575"/>
                </a:solidFill>
                <a:latin typeface="Arial" pitchFamily="34" charset="0"/>
                <a:ea typeface="Arial" pitchFamily="34" charset="-122"/>
                <a:cs typeface="Arial" pitchFamily="34" charset="-120"/>
              </a:rPr>
              <a:t>Wikipedia, "Forward Deployed Engineer"</a:t>
            </a:r>
            <a:endParaRPr lang="en-US" sz="96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60" dirty="0"/>
          </a:p>
          <a:p>
            <a:pPr indent="0" marL="0">
              <a:lnSpc>
                <a:spcPct val="105000"/>
              </a:lnSpc>
              <a:buNone/>
            </a:pPr>
            <a:r>
              <a:rPr lang="en-US" sz="960" b="1" dirty="0">
                <a:solidFill>
                  <a:srgbClr val="252A3D"/>
                </a:solidFill>
                <a:latin typeface="Arial" pitchFamily="34" charset="0"/>
                <a:ea typeface="Arial" pitchFamily="34" charset="-122"/>
                <a:cs typeface="Arial" pitchFamily="34" charset="-120"/>
              </a:rPr>
              <a:t>Palantir, which popularized the term, </a:t>
            </a:r>
            <a:r>
              <a:rPr lang="en-US" sz="960" dirty="0">
                <a:solidFill>
                  <a:srgbClr val="252A3D"/>
                </a:solidFill>
                <a:latin typeface="Arial" pitchFamily="34" charset="0"/>
                <a:ea typeface="Arial" pitchFamily="34" charset="-122"/>
                <a:cs typeface="Arial" pitchFamily="34" charset="-120"/>
              </a:rPr>
              <a:t>compares the role to a startup’s chief technology officer: small teams responsible for delivering important projects from start to finish. A conventional product developer builds a feature for many customers. An FDE works across features and systems to meet one customer’s needs.</a:t>
            </a:r>
            <a:endParaRPr lang="en-US" sz="960" dirty="0"/>
          </a:p>
          <a:p>
            <a:pPr indent="0" marL="0">
              <a:lnSpc>
                <a:spcPct val="105000"/>
              </a:lnSpc>
              <a:buNone/>
            </a:pPr>
            <a:r>
              <a:rPr lang="en-US" sz="800" i="1" dirty="0">
                <a:solidFill>
                  <a:srgbClr val="5B6575"/>
                </a:solidFill>
                <a:latin typeface="Arial" pitchFamily="34" charset="0"/>
                <a:ea typeface="Arial" pitchFamily="34" charset="-122"/>
                <a:cs typeface="Arial" pitchFamily="34" charset="-120"/>
              </a:rPr>
              <a:t>Palantir Technologies, Forward Deployed Software Engineer role description</a:t>
            </a:r>
            <a:endParaRPr lang="en-US" sz="96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60" dirty="0"/>
          </a:p>
          <a:p>
            <a:pPr indent="0" marL="0">
              <a:lnSpc>
                <a:spcPct val="105000"/>
              </a:lnSpc>
              <a:buNone/>
            </a:pPr>
            <a:r>
              <a:rPr lang="en-US" sz="960" b="1" dirty="0">
                <a:solidFill>
                  <a:srgbClr val="252A3D"/>
                </a:solidFill>
                <a:latin typeface="Arial" pitchFamily="34" charset="0"/>
                <a:ea typeface="Arial" pitchFamily="34" charset="-122"/>
                <a:cs typeface="Arial" pitchFamily="34" charset="-120"/>
              </a:rPr>
              <a:t>OpenAI </a:t>
            </a:r>
            <a:r>
              <a:rPr lang="en-US" sz="960" dirty="0">
                <a:solidFill>
                  <a:srgbClr val="252A3D"/>
                </a:solidFill>
                <a:latin typeface="Arial" pitchFamily="34" charset="0"/>
                <a:ea typeface="Arial" pitchFamily="34" charset="-122"/>
                <a:cs typeface="Arial" pitchFamily="34" charset="-120"/>
              </a:rPr>
              <a:t>set up an FDE team in 2025 and launched “The Deployment Company” in 2026, placing engineers within client organizations to implement AI systems and workflows. The Wall Street Journal described FDE as the hottest job in tech. Job postings on Indeed increased more than tenfold in 2025.</a:t>
            </a:r>
            <a:endParaRPr lang="en-US" sz="960" dirty="0"/>
          </a:p>
          <a:p>
            <a:pPr indent="0" marL="0">
              <a:lnSpc>
                <a:spcPct val="105000"/>
              </a:lnSpc>
              <a:buNone/>
            </a:pPr>
            <a:r>
              <a:rPr lang="en-US" sz="800" i="1" dirty="0">
                <a:solidFill>
                  <a:srgbClr val="5B6575"/>
                </a:solidFill>
                <a:latin typeface="Arial" pitchFamily="34" charset="0"/>
                <a:ea typeface="Arial" pitchFamily="34" charset="-122"/>
                <a:cs typeface="Arial" pitchFamily="34" charset="-120"/>
              </a:rPr>
              <a:t>OpenAI (2026); The Wall Street Journal, via Indeed</a:t>
            </a:r>
            <a:endParaRPr lang="en-US" sz="960" dirty="0"/>
          </a:p>
        </p:txBody>
      </p:sp>
      <p:sp>
        <p:nvSpPr>
          <p:cNvPr id="13" name="Shape 10"/>
          <p:cNvSpPr/>
          <p:nvPr/>
        </p:nvSpPr>
        <p:spPr>
          <a:xfrm>
            <a:off x="5760720" y="1965960"/>
            <a:ext cx="5971032" cy="3611880"/>
          </a:xfrm>
          <a:prstGeom prst="roundRect">
            <a:avLst>
              <a:gd name="adj" fmla="val 2532"/>
            </a:avLst>
          </a:prstGeom>
          <a:solidFill>
            <a:srgbClr val="FFF5BF"/>
          </a:solidFill>
          <a:ln w="12700">
            <a:solidFill>
              <a:srgbClr val="FFF5BF"/>
            </a:solidFill>
            <a:prstDash val="solid"/>
          </a:ln>
        </p:spPr>
        <p:txBody>
          <a:bodyPr/>
          <a:p/>
        </p:txBody>
      </p:sp>
      <p:sp>
        <p:nvSpPr>
          <p:cNvPr id="14" name="Text 11"/>
          <p:cNvSpPr txBox="1"/>
          <p:nvPr/>
        </p:nvSpPr>
        <p:spPr>
          <a:xfrm>
            <a:off x="5943600" y="2103120"/>
            <a:ext cx="54864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DAY-TO-DAY WORK</a:t>
            </a:r>
            <a:endParaRPr lang="en-US" sz="950" dirty="0"/>
          </a:p>
        </p:txBody>
      </p:sp>
      <p:sp>
        <p:nvSpPr>
          <p:cNvPr id="15" name="Shape 12"/>
          <p:cNvSpPr/>
          <p:nvPr/>
        </p:nvSpPr>
        <p:spPr>
          <a:xfrm>
            <a:off x="5943600" y="246888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6" name="Text 13"/>
          <p:cNvSpPr txBox="1"/>
          <p:nvPr/>
        </p:nvSpPr>
        <p:spPr>
          <a:xfrm>
            <a:off x="5943600" y="246888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7" name="Text 14"/>
          <p:cNvSpPr txBox="1"/>
          <p:nvPr/>
        </p:nvSpPr>
        <p:spPr>
          <a:xfrm>
            <a:off x="6446520" y="2395728"/>
            <a:ext cx="5120640" cy="585216"/>
          </a:xfrm>
          <a:prstGeom prst="rect">
            <a:avLst/>
          </a:prstGeom>
          <a:noFill/>
          <a:ln/>
        </p:spPr>
        <p:txBody>
          <a:bodyPr wrap="square" lIns="0" tIns="0" rIns="0" bIns="0" rtlCol="0" anchor="ctr"/>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Work directly with the client’s teams. </a:t>
            </a:r>
            <a:r>
              <a:rPr lang="en-US" sz="960" dirty="0">
                <a:solidFill>
                  <a:srgbClr val="252A3D"/>
                </a:solidFill>
                <a:latin typeface="Arial" pitchFamily="34" charset="0"/>
                <a:ea typeface="Arial" pitchFamily="34" charset="-122"/>
                <a:cs typeface="Arial" pitchFamily="34" charset="-120"/>
              </a:rPr>
              <a:t>They join the teams’ day-to-day work, on site or remotely, to understand how the work is actually done rather than relying only on a requirements document.</a:t>
            </a:r>
            <a:endParaRPr lang="en-US" sz="960" dirty="0"/>
          </a:p>
        </p:txBody>
      </p:sp>
      <p:sp>
        <p:nvSpPr>
          <p:cNvPr id="18" name="Shape 15"/>
          <p:cNvSpPr/>
          <p:nvPr/>
        </p:nvSpPr>
        <p:spPr>
          <a:xfrm>
            <a:off x="5943600" y="3072384"/>
            <a:ext cx="384048" cy="274320"/>
          </a:xfrm>
          <a:prstGeom prst="roundRect">
            <a:avLst>
              <a:gd name="adj" fmla="val 16667"/>
            </a:avLst>
          </a:prstGeom>
          <a:solidFill>
            <a:srgbClr val="FFFFFF"/>
          </a:solidFill>
          <a:ln w="12700">
            <a:solidFill>
              <a:srgbClr val="FFFFFF"/>
            </a:solidFill>
            <a:prstDash val="solid"/>
          </a:ln>
        </p:spPr>
        <p:txBody>
          <a:bodyPr/>
          <a:p/>
        </p:txBody>
      </p:sp>
      <p:sp>
        <p:nvSpPr>
          <p:cNvPr id="19" name="Text 16"/>
          <p:cNvSpPr txBox="1"/>
          <p:nvPr/>
        </p:nvSpPr>
        <p:spPr>
          <a:xfrm>
            <a:off x="5943600" y="3072384"/>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7"/>
          <p:cNvSpPr txBox="1"/>
          <p:nvPr/>
        </p:nvSpPr>
        <p:spPr>
          <a:xfrm>
            <a:off x="6446520" y="2999232"/>
            <a:ext cx="5120640" cy="585216"/>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Build and deploy a working solution for the client. </a:t>
            </a:r>
            <a:r>
              <a:rPr lang="en-US" sz="900" dirty="0">
                <a:solidFill>
                  <a:srgbClr val="252A3D"/>
                </a:solidFill>
                <a:latin typeface="Arial" pitchFamily="34" charset="0"/>
                <a:ea typeface="Arial" pitchFamily="34" charset="-122"/>
                <a:cs typeface="Arial" pitchFamily="34" charset="-120"/>
              </a:rPr>
              <a:t>Connect AI agents to the client’s records, identity systems and data, adapt them to local ways of working and fix integration problems in production. For example, a documentation agent connected to a hospital’s medical records.</a:t>
            </a:r>
            <a:endParaRPr lang="en-US" sz="960" dirty="0"/>
          </a:p>
        </p:txBody>
      </p:sp>
      <p:sp>
        <p:nvSpPr>
          <p:cNvPr id="21" name="Shape 18"/>
          <p:cNvSpPr/>
          <p:nvPr/>
        </p:nvSpPr>
        <p:spPr>
          <a:xfrm>
            <a:off x="5943600" y="3675888"/>
            <a:ext cx="384048" cy="274320"/>
          </a:xfrm>
          <a:prstGeom prst="roundRect">
            <a:avLst>
              <a:gd name="adj" fmla="val 16667"/>
            </a:avLst>
          </a:prstGeom>
          <a:solidFill>
            <a:srgbClr val="FFFFFF"/>
          </a:solidFill>
          <a:ln w="12700">
            <a:solidFill>
              <a:srgbClr val="FFFFFF"/>
            </a:solidFill>
            <a:prstDash val="solid"/>
          </a:ln>
        </p:spPr>
        <p:txBody>
          <a:bodyPr/>
          <a:p/>
        </p:txBody>
      </p:sp>
      <p:sp>
        <p:nvSpPr>
          <p:cNvPr id="22" name="Text 19"/>
          <p:cNvSpPr txBox="1"/>
          <p:nvPr/>
        </p:nvSpPr>
        <p:spPr>
          <a:xfrm>
            <a:off x="5943600" y="367588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3" name="Text 20"/>
          <p:cNvSpPr txBox="1"/>
          <p:nvPr/>
        </p:nvSpPr>
        <p:spPr>
          <a:xfrm>
            <a:off x="6446520" y="3602736"/>
            <a:ext cx="5120640" cy="585216"/>
          </a:xfrm>
          <a:prstGeom prst="rect">
            <a:avLst/>
          </a:prstGeom>
          <a:noFill/>
          <a:ln/>
        </p:spPr>
        <p:txBody>
          <a:bodyPr wrap="square" lIns="0" tIns="0" rIns="0" bIns="0" rtlCol="0" anchor="ctr"/>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Take responsibility for delivery from start to finish. </a:t>
            </a:r>
            <a:r>
              <a:rPr lang="en-US" sz="900" dirty="0">
                <a:solidFill>
                  <a:srgbClr val="252A3D"/>
                </a:solidFill>
                <a:latin typeface="Arial" pitchFamily="34" charset="0"/>
                <a:ea typeface="Arial" pitchFamily="34" charset="-122"/>
                <a:cs typeface="Arial" pitchFamily="34" charset="-120"/>
              </a:rPr>
              <a:t>The role combines consulting to identify the problem, product management to decide what to build, and engineering to build and deploy it. It is an engineering role, not a sales role: the work involves writing code, not meeting a sales quota.</a:t>
            </a:r>
            <a:endParaRPr lang="en-US" sz="960" dirty="0"/>
          </a:p>
        </p:txBody>
      </p:sp>
      <p:sp>
        <p:nvSpPr>
          <p:cNvPr id="24" name="Shape 21"/>
          <p:cNvSpPr/>
          <p:nvPr/>
        </p:nvSpPr>
        <p:spPr>
          <a:xfrm>
            <a:off x="5943600" y="4279392"/>
            <a:ext cx="384048" cy="274320"/>
          </a:xfrm>
          <a:prstGeom prst="roundRect">
            <a:avLst>
              <a:gd name="adj" fmla="val 16667"/>
            </a:avLst>
          </a:prstGeom>
          <a:solidFill>
            <a:srgbClr val="FFFFFF"/>
          </a:solidFill>
          <a:ln w="12700">
            <a:solidFill>
              <a:srgbClr val="FFFFFF"/>
            </a:solidFill>
            <a:prstDash val="solid"/>
          </a:ln>
        </p:spPr>
        <p:txBody>
          <a:bodyPr/>
          <a:p/>
        </p:txBody>
      </p:sp>
      <p:sp>
        <p:nvSpPr>
          <p:cNvPr id="25" name="Text 22"/>
          <p:cNvSpPr txBox="1"/>
          <p:nvPr/>
        </p:nvSpPr>
        <p:spPr>
          <a:xfrm>
            <a:off x="5943600" y="427939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26" name="Text 23"/>
          <p:cNvSpPr txBox="1"/>
          <p:nvPr/>
        </p:nvSpPr>
        <p:spPr>
          <a:xfrm>
            <a:off x="6446520" y="4206240"/>
            <a:ext cx="5120640" cy="585216"/>
          </a:xfrm>
          <a:prstGeom prst="rect">
            <a:avLst/>
          </a:prstGeom>
          <a:noFill/>
          <a:ln/>
        </p:spPr>
        <p:txBody>
          <a:bodyPr wrap="square" lIns="0" tIns="0" rIns="0" bIns="0" rtlCol="0" anchor="ctr"/>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Get the solution working and keep it running. </a:t>
            </a:r>
            <a:r>
              <a:rPr lang="en-US" sz="960" dirty="0">
                <a:solidFill>
                  <a:srgbClr val="252A3D"/>
                </a:solidFill>
                <a:latin typeface="Arial" pitchFamily="34" charset="0"/>
                <a:ea typeface="Arial" pitchFamily="34" charset="-122"/>
                <a:cs typeface="Arial" pitchFamily="34" charset="-120"/>
              </a:rPr>
              <a:t>They support the solution throughout its life, fix problems during use and adapt it as the client’s needs become clearer.</a:t>
            </a:r>
            <a:endParaRPr lang="en-US" sz="960" dirty="0"/>
          </a:p>
        </p:txBody>
      </p:sp>
      <p:sp>
        <p:nvSpPr>
          <p:cNvPr id="27" name="Shape 24"/>
          <p:cNvSpPr/>
          <p:nvPr/>
        </p:nvSpPr>
        <p:spPr>
          <a:xfrm>
            <a:off x="5943600" y="4882896"/>
            <a:ext cx="384048" cy="274320"/>
          </a:xfrm>
          <a:prstGeom prst="roundRect">
            <a:avLst>
              <a:gd name="adj" fmla="val 16667"/>
            </a:avLst>
          </a:prstGeom>
          <a:solidFill>
            <a:srgbClr val="FFFFFF"/>
          </a:solidFill>
          <a:ln w="12700">
            <a:solidFill>
              <a:srgbClr val="FFFFFF"/>
            </a:solidFill>
            <a:prstDash val="solid"/>
          </a:ln>
        </p:spPr>
        <p:txBody>
          <a:bodyPr/>
          <a:p/>
        </p:txBody>
      </p:sp>
      <p:sp>
        <p:nvSpPr>
          <p:cNvPr id="28" name="Text 25"/>
          <p:cNvSpPr txBox="1"/>
          <p:nvPr/>
        </p:nvSpPr>
        <p:spPr>
          <a:xfrm>
            <a:off x="5943600" y="4882896"/>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5</a:t>
            </a:r>
            <a:endParaRPr lang="en-US" sz="1000" dirty="0"/>
          </a:p>
        </p:txBody>
      </p:sp>
      <p:sp>
        <p:nvSpPr>
          <p:cNvPr id="29" name="Text 26"/>
          <p:cNvSpPr txBox="1"/>
          <p:nvPr/>
        </p:nvSpPr>
        <p:spPr>
          <a:xfrm>
            <a:off x="6446520" y="4809744"/>
            <a:ext cx="5120640" cy="585216"/>
          </a:xfrm>
          <a:prstGeom prst="rect">
            <a:avLst/>
          </a:prstGeom>
          <a:noFill/>
          <a:ln/>
        </p:spPr>
        <p:txBody>
          <a:bodyPr wrap="square" lIns="0" tIns="0" rIns="0" bIns="0" rtlCol="0" anchor="ctr"/>
          <a:lstStyle/>
          <a:p>
            <a:pPr indent="0" marL="0">
              <a:lnSpc>
                <a:spcPct val="105000"/>
              </a:lnSpc>
              <a:buNone/>
            </a:pPr>
            <a:r>
              <a:rPr lang="en-US" sz="960" b="1" dirty="0">
                <a:solidFill>
                  <a:srgbClr val="252A3D"/>
                </a:solidFill>
                <a:latin typeface="Arial" pitchFamily="34" charset="0"/>
                <a:ea typeface="Arial" pitchFamily="34" charset="-122"/>
                <a:cs typeface="Arial" pitchFamily="34" charset="-120"/>
              </a:rPr>
              <a:t>Use lessons from each deployment to improve the product. </a:t>
            </a:r>
            <a:r>
              <a:rPr lang="en-US" sz="960" dirty="0">
                <a:solidFill>
                  <a:srgbClr val="252A3D"/>
                </a:solidFill>
                <a:latin typeface="Arial" pitchFamily="34" charset="0"/>
                <a:ea typeface="Arial" pitchFamily="34" charset="-122"/>
                <a:cs typeface="Arial" pitchFamily="34" charset="-120"/>
              </a:rPr>
              <a:t>Improvements developed for one client help make the platform better for other clients.</a:t>
            </a:r>
            <a:endParaRPr lang="en-US" sz="960" dirty="0"/>
          </a:p>
        </p:txBody>
      </p:sp>
      <p:sp>
        <p:nvSpPr>
          <p:cNvPr id="30" name="Text 27"/>
          <p:cNvSpPr txBox="1"/>
          <p:nvPr/>
        </p:nvSpPr>
        <p:spPr>
          <a:xfrm>
            <a:off x="5943600" y="5376672"/>
            <a:ext cx="5623560" cy="223113"/>
          </a:xfrm>
          <a:prstGeom prst="rect">
            <a:avLst/>
          </a:prstGeom>
          <a:noFill/>
          <a:ln/>
        </p:spPr>
        <p:txBody>
          <a:bodyPr wrap="square" lIns="0" tIns="0" rIns="0" bIns="0" rtlCol="0" anchor="t"/>
          <a:lstStyle/>
          <a:p>
            <a:pPr indent="0" marL="0">
              <a:lnSpc>
                <a:spcPct val="105000"/>
              </a:lnSpc>
              <a:buNone/>
            </a:pPr>
            <a:r>
              <a:rPr lang="en-US" sz="640" i="1" dirty="0">
                <a:solidFill>
                  <a:srgbClr val="5B6575"/>
                </a:solidFill>
                <a:latin typeface="Arial" pitchFamily="34" charset="0"/>
                <a:ea typeface="Arial" pitchFamily="34" charset="-122"/>
                <a:cs typeface="Arial" pitchFamily="34" charset="-120"/>
              </a:rPr>
              <a:t>Sources: DataCamp, "What is a Forward Deployed Engineer?" (2026); Aced / Exponent, interview with a former Palantir FDE (2026); The New Stack (2026).</a:t>
            </a:r>
            <a:endParaRPr lang="en-US" sz="750" dirty="0"/>
          </a:p>
        </p:txBody>
      </p:sp>
      <p:sp>
        <p:nvSpPr>
          <p:cNvPr id="31" name="Shape 28"/>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32" name="Image 1"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33" name="Text 29"/>
          <p:cNvSpPr txBox="1"/>
          <p:nvPr/>
        </p:nvSpPr>
        <p:spPr>
          <a:xfrm>
            <a:off x="1051560" y="5791809"/>
            <a:ext cx="10469880" cy="663854"/>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In this paper, FDEs can apply AI to any business process; governance is not their only role. The author proposes that DGF reviews are a likely starting point for FDEs. Slide 7 explains why.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DIGITAL GOVERNANCE FRAMEWORK · HOW IT WORKS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The reviews a project must go through</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Three typical project types: buying a solution, connecting existing systems or developing an application.</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DIGITAL GOVERNANCE FRAMEWORK</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05 / 30</a:t>
            </a:r>
            <a:endParaRPr lang="en-US" sz="1000" dirty="0"/>
          </a:p>
        </p:txBody>
      </p:sp>
      <p:sp>
        <p:nvSpPr>
          <p:cNvPr id="9" name="Shape 7"/>
          <p:cNvSpPr/>
          <p:nvPr/>
        </p:nvSpPr>
        <p:spPr>
          <a:xfrm>
            <a:off x="457200" y="1965960"/>
            <a:ext cx="2148840" cy="868680"/>
          </a:xfrm>
          <a:prstGeom prst="roundRect">
            <a:avLst>
              <a:gd name="adj" fmla="val 10526"/>
            </a:avLst>
          </a:prstGeom>
          <a:solidFill>
            <a:srgbClr val="FFFFFF"/>
          </a:solidFill>
          <a:ln w="12700">
            <a:solidFill>
              <a:srgbClr val="D4DAE3"/>
            </a:solidFill>
            <a:prstDash val="solid"/>
          </a:ln>
        </p:spPr>
        <p:txBody>
          <a:bodyPr/>
          <a:p/>
        </p:txBody>
      </p:sp>
      <p:sp>
        <p:nvSpPr>
          <p:cNvPr id="10" name="Text 8"/>
          <p:cNvSpPr txBox="1"/>
          <p:nvPr/>
        </p:nvSpPr>
        <p:spPr>
          <a:xfrm>
            <a:off x="640080" y="2121408"/>
            <a:ext cx="1828800" cy="274320"/>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BUY</a:t>
            </a:r>
            <a:endParaRPr lang="en-US" sz="1400" dirty="0"/>
          </a:p>
        </p:txBody>
      </p:sp>
      <p:sp>
        <p:nvSpPr>
          <p:cNvPr id="11" name="Text 9"/>
          <p:cNvSpPr txBox="1"/>
          <p:nvPr/>
        </p:nvSpPr>
        <p:spPr>
          <a:xfrm>
            <a:off x="640080" y="2423160"/>
            <a:ext cx="1828800" cy="256032"/>
          </a:xfrm>
          <a:prstGeom prst="rect">
            <a:avLst/>
          </a:prstGeom>
          <a:noFill/>
          <a:ln/>
        </p:spPr>
        <p:txBody>
          <a:bodyPr wrap="square" lIns="0" tIns="0" rIns="0" bIns="0" rtlCol="0" anchor="t"/>
          <a:lstStyle/>
          <a:p>
            <a:pPr indent="0" marL="0">
              <a:lnSpc>
                <a:spcPct val="105000"/>
              </a:lnSpc>
              <a:buNone/>
            </a:pPr>
            <a:r>
              <a:rPr lang="en-US" sz="1050" dirty="0">
                <a:solidFill>
                  <a:srgbClr val="5B6575"/>
                </a:solidFill>
                <a:latin typeface="Arial" pitchFamily="34" charset="0"/>
                <a:ea typeface="Arial" pitchFamily="34" charset="-122"/>
                <a:cs typeface="Arial" pitchFamily="34" charset="-120"/>
              </a:rPr>
              <a:t>Buy a technology solution</a:t>
            </a:r>
            <a:endParaRPr lang="en-US" sz="1050" dirty="0"/>
          </a:p>
        </p:txBody>
      </p:sp>
      <p:sp>
        <p:nvSpPr>
          <p:cNvPr id="12" name="Text 10"/>
          <p:cNvSpPr txBox="1"/>
          <p:nvPr/>
        </p:nvSpPr>
        <p:spPr>
          <a:xfrm>
            <a:off x="640080" y="2624328"/>
            <a:ext cx="182880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6 required reviews</a:t>
            </a:r>
            <a:endParaRPr lang="en-US" sz="850" dirty="0"/>
          </a:p>
        </p:txBody>
      </p:sp>
      <p:sp>
        <p:nvSpPr>
          <p:cNvPr id="13" name="Shape 11"/>
          <p:cNvSpPr/>
          <p:nvPr/>
        </p:nvSpPr>
        <p:spPr>
          <a:xfrm>
            <a:off x="2880360" y="2116836"/>
            <a:ext cx="1243584" cy="566928"/>
          </a:xfrm>
          <a:prstGeom prst="roundRect">
            <a:avLst>
              <a:gd name="adj" fmla="val 12903"/>
            </a:avLst>
          </a:prstGeom>
          <a:solidFill>
            <a:srgbClr val="FFF5BF"/>
          </a:solidFill>
          <a:ln w="12700">
            <a:solidFill>
              <a:srgbClr val="FFF5BF"/>
            </a:solidFill>
            <a:prstDash val="solid"/>
          </a:ln>
        </p:spPr>
        <p:txBody>
          <a:bodyPr/>
          <a:p/>
        </p:txBody>
      </p:sp>
      <p:sp>
        <p:nvSpPr>
          <p:cNvPr id="14" name="Text 12"/>
          <p:cNvSpPr txBox="1"/>
          <p:nvPr/>
        </p:nvSpPr>
        <p:spPr>
          <a:xfrm>
            <a:off x="2880360" y="2116836"/>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Procurement</a:t>
            </a:r>
            <a:endParaRPr lang="en-US" sz="1050" dirty="0"/>
          </a:p>
        </p:txBody>
      </p:sp>
      <p:sp>
        <p:nvSpPr>
          <p:cNvPr id="15" name="Shape 13"/>
          <p:cNvSpPr/>
          <p:nvPr/>
        </p:nvSpPr>
        <p:spPr>
          <a:xfrm>
            <a:off x="4160520" y="2400300"/>
            <a:ext cx="201168" cy="0"/>
          </a:xfrm>
          <a:prstGeom prst="line">
            <a:avLst/>
          </a:prstGeom>
          <a:noFill/>
          <a:ln w="15875">
            <a:solidFill>
              <a:srgbClr val="5B6575"/>
            </a:solidFill>
            <a:prstDash val="solid"/>
            <a:tailEnd type="triangle"/>
          </a:ln>
        </p:spPr>
        <p:txBody>
          <a:bodyPr/>
          <a:p/>
        </p:txBody>
      </p:sp>
      <p:sp>
        <p:nvSpPr>
          <p:cNvPr id="16" name="Shape 14"/>
          <p:cNvSpPr/>
          <p:nvPr/>
        </p:nvSpPr>
        <p:spPr>
          <a:xfrm>
            <a:off x="4398264" y="2116836"/>
            <a:ext cx="1243584" cy="566928"/>
          </a:xfrm>
          <a:prstGeom prst="roundRect">
            <a:avLst>
              <a:gd name="adj" fmla="val 12903"/>
            </a:avLst>
          </a:prstGeom>
          <a:solidFill>
            <a:srgbClr val="EFE8FA"/>
          </a:solidFill>
          <a:ln w="12700">
            <a:solidFill>
              <a:srgbClr val="EFE8FA"/>
            </a:solidFill>
            <a:prstDash val="solid"/>
          </a:ln>
        </p:spPr>
        <p:txBody>
          <a:bodyPr/>
          <a:p/>
        </p:txBody>
      </p:sp>
      <p:sp>
        <p:nvSpPr>
          <p:cNvPr id="17" name="Text 15"/>
          <p:cNvSpPr txBox="1"/>
          <p:nvPr/>
        </p:nvSpPr>
        <p:spPr>
          <a:xfrm>
            <a:off x="4398264" y="2116836"/>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Legal</a:t>
            </a:r>
            <a:endParaRPr lang="en-US" sz="1050" dirty="0"/>
          </a:p>
        </p:txBody>
      </p:sp>
      <p:sp>
        <p:nvSpPr>
          <p:cNvPr id="18" name="Shape 16"/>
          <p:cNvSpPr/>
          <p:nvPr/>
        </p:nvSpPr>
        <p:spPr>
          <a:xfrm>
            <a:off x="5678424" y="2400300"/>
            <a:ext cx="201168" cy="0"/>
          </a:xfrm>
          <a:prstGeom prst="line">
            <a:avLst/>
          </a:prstGeom>
          <a:noFill/>
          <a:ln w="15875">
            <a:solidFill>
              <a:srgbClr val="5B6575"/>
            </a:solidFill>
            <a:prstDash val="solid"/>
            <a:tailEnd type="triangle"/>
          </a:ln>
        </p:spPr>
        <p:txBody>
          <a:bodyPr/>
          <a:p/>
        </p:txBody>
      </p:sp>
      <p:sp>
        <p:nvSpPr>
          <p:cNvPr id="19" name="Shape 17"/>
          <p:cNvSpPr/>
          <p:nvPr/>
        </p:nvSpPr>
        <p:spPr>
          <a:xfrm>
            <a:off x="5916168" y="2116836"/>
            <a:ext cx="1243584" cy="566928"/>
          </a:xfrm>
          <a:prstGeom prst="roundRect">
            <a:avLst>
              <a:gd name="adj" fmla="val 12903"/>
            </a:avLst>
          </a:prstGeom>
          <a:solidFill>
            <a:srgbClr val="E5F6E9"/>
          </a:solidFill>
          <a:ln w="12700">
            <a:solidFill>
              <a:srgbClr val="E5F6E9"/>
            </a:solidFill>
            <a:prstDash val="solid"/>
          </a:ln>
        </p:spPr>
        <p:txBody>
          <a:bodyPr/>
          <a:p/>
        </p:txBody>
      </p:sp>
      <p:sp>
        <p:nvSpPr>
          <p:cNvPr id="20" name="Text 18"/>
          <p:cNvSpPr txBox="1"/>
          <p:nvPr/>
        </p:nvSpPr>
        <p:spPr>
          <a:xfrm>
            <a:off x="5916168" y="2116836"/>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Compliance</a:t>
            </a:r>
            <a:endParaRPr lang="en-US" sz="1050" dirty="0"/>
          </a:p>
        </p:txBody>
      </p:sp>
      <p:sp>
        <p:nvSpPr>
          <p:cNvPr id="21" name="Shape 19"/>
          <p:cNvSpPr/>
          <p:nvPr/>
        </p:nvSpPr>
        <p:spPr>
          <a:xfrm>
            <a:off x="7196328" y="2400300"/>
            <a:ext cx="201168" cy="0"/>
          </a:xfrm>
          <a:prstGeom prst="line">
            <a:avLst/>
          </a:prstGeom>
          <a:noFill/>
          <a:ln w="15875">
            <a:solidFill>
              <a:srgbClr val="5B6575"/>
            </a:solidFill>
            <a:prstDash val="solid"/>
            <a:tailEnd type="triangle"/>
          </a:ln>
        </p:spPr>
        <p:txBody>
          <a:bodyPr/>
          <a:p/>
        </p:txBody>
      </p:sp>
      <p:sp>
        <p:nvSpPr>
          <p:cNvPr id="22" name="Shape 20"/>
          <p:cNvSpPr/>
          <p:nvPr/>
        </p:nvSpPr>
        <p:spPr>
          <a:xfrm>
            <a:off x="7434072" y="2116836"/>
            <a:ext cx="1243584" cy="566928"/>
          </a:xfrm>
          <a:prstGeom prst="roundRect">
            <a:avLst>
              <a:gd name="adj" fmla="val 12903"/>
            </a:avLst>
          </a:prstGeom>
          <a:solidFill>
            <a:srgbClr val="FFE4E6"/>
          </a:solidFill>
          <a:ln w="12700">
            <a:solidFill>
              <a:srgbClr val="FFE4E6"/>
            </a:solidFill>
            <a:prstDash val="solid"/>
          </a:ln>
        </p:spPr>
        <p:txBody>
          <a:bodyPr/>
          <a:p/>
        </p:txBody>
      </p:sp>
      <p:sp>
        <p:nvSpPr>
          <p:cNvPr id="23" name="Text 21"/>
          <p:cNvSpPr txBox="1"/>
          <p:nvPr/>
        </p:nvSpPr>
        <p:spPr>
          <a:xfrm>
            <a:off x="7434072" y="2116836"/>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Security</a:t>
            </a:r>
            <a:endParaRPr lang="en-US" sz="1050" dirty="0"/>
          </a:p>
        </p:txBody>
      </p:sp>
      <p:sp>
        <p:nvSpPr>
          <p:cNvPr id="24" name="Shape 22"/>
          <p:cNvSpPr/>
          <p:nvPr/>
        </p:nvSpPr>
        <p:spPr>
          <a:xfrm>
            <a:off x="8714232" y="2400300"/>
            <a:ext cx="201168" cy="0"/>
          </a:xfrm>
          <a:prstGeom prst="line">
            <a:avLst/>
          </a:prstGeom>
          <a:noFill/>
          <a:ln w="15875">
            <a:solidFill>
              <a:srgbClr val="5B6575"/>
            </a:solidFill>
            <a:prstDash val="solid"/>
            <a:tailEnd type="triangle"/>
          </a:ln>
        </p:spPr>
        <p:txBody>
          <a:bodyPr/>
          <a:p/>
        </p:txBody>
      </p:sp>
      <p:sp>
        <p:nvSpPr>
          <p:cNvPr id="25" name="Shape 23"/>
          <p:cNvSpPr/>
          <p:nvPr/>
        </p:nvSpPr>
        <p:spPr>
          <a:xfrm>
            <a:off x="8951976" y="2116836"/>
            <a:ext cx="1243584" cy="566928"/>
          </a:xfrm>
          <a:prstGeom prst="roundRect">
            <a:avLst>
              <a:gd name="adj" fmla="val 12903"/>
            </a:avLst>
          </a:prstGeom>
          <a:solidFill>
            <a:srgbClr val="DDF5FC"/>
          </a:solidFill>
          <a:ln w="12700">
            <a:solidFill>
              <a:srgbClr val="DDF5FC"/>
            </a:solidFill>
            <a:prstDash val="solid"/>
          </a:ln>
        </p:spPr>
        <p:txBody>
          <a:bodyPr/>
          <a:p/>
        </p:txBody>
      </p:sp>
      <p:sp>
        <p:nvSpPr>
          <p:cNvPr id="26" name="Text 24"/>
          <p:cNvSpPr txBox="1"/>
          <p:nvPr/>
        </p:nvSpPr>
        <p:spPr>
          <a:xfrm>
            <a:off x="8951976" y="2116836"/>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IT</a:t>
            </a:r>
            <a:endParaRPr lang="en-US" sz="1050" dirty="0"/>
          </a:p>
        </p:txBody>
      </p:sp>
      <p:sp>
        <p:nvSpPr>
          <p:cNvPr id="27" name="Shape 25"/>
          <p:cNvSpPr/>
          <p:nvPr/>
        </p:nvSpPr>
        <p:spPr>
          <a:xfrm>
            <a:off x="10232136" y="2400300"/>
            <a:ext cx="201168" cy="0"/>
          </a:xfrm>
          <a:prstGeom prst="line">
            <a:avLst/>
          </a:prstGeom>
          <a:noFill/>
          <a:ln w="15875">
            <a:solidFill>
              <a:srgbClr val="5B6575"/>
            </a:solidFill>
            <a:prstDash val="solid"/>
            <a:tailEnd type="triangle"/>
          </a:ln>
        </p:spPr>
        <p:txBody>
          <a:bodyPr/>
          <a:p/>
        </p:txBody>
      </p:sp>
      <p:sp>
        <p:nvSpPr>
          <p:cNvPr id="28" name="Shape 26"/>
          <p:cNvSpPr/>
          <p:nvPr/>
        </p:nvSpPr>
        <p:spPr>
          <a:xfrm>
            <a:off x="10469880" y="2116836"/>
            <a:ext cx="1243584" cy="566928"/>
          </a:xfrm>
          <a:prstGeom prst="roundRect">
            <a:avLst>
              <a:gd name="adj" fmla="val 12903"/>
            </a:avLst>
          </a:prstGeom>
          <a:solidFill>
            <a:srgbClr val="F3F5F8"/>
          </a:solidFill>
          <a:ln w="15875">
            <a:solidFill>
              <a:srgbClr val="252A3D"/>
            </a:solidFill>
            <a:prstDash val="solid"/>
          </a:ln>
        </p:spPr>
        <p:txBody>
          <a:bodyPr/>
          <a:p/>
        </p:txBody>
      </p:sp>
      <p:sp>
        <p:nvSpPr>
          <p:cNvPr id="29" name="Text 27"/>
          <p:cNvSpPr txBox="1"/>
          <p:nvPr/>
        </p:nvSpPr>
        <p:spPr>
          <a:xfrm>
            <a:off x="10469880" y="2116836"/>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General</a:t>
            </a:r>
            <a:endParaRPr lang="en-US" sz="1050" dirty="0"/>
          </a:p>
        </p:txBody>
      </p:sp>
      <p:sp>
        <p:nvSpPr>
          <p:cNvPr id="30" name="Shape 28"/>
          <p:cNvSpPr/>
          <p:nvPr/>
        </p:nvSpPr>
        <p:spPr>
          <a:xfrm>
            <a:off x="457200" y="2990088"/>
            <a:ext cx="2148840" cy="868680"/>
          </a:xfrm>
          <a:prstGeom prst="roundRect">
            <a:avLst>
              <a:gd name="adj" fmla="val 10526"/>
            </a:avLst>
          </a:prstGeom>
          <a:solidFill>
            <a:srgbClr val="FFFFFF"/>
          </a:solidFill>
          <a:ln w="12700">
            <a:solidFill>
              <a:srgbClr val="D4DAE3"/>
            </a:solidFill>
            <a:prstDash val="solid"/>
          </a:ln>
        </p:spPr>
        <p:txBody>
          <a:bodyPr/>
          <a:p/>
        </p:txBody>
      </p:sp>
      <p:sp>
        <p:nvSpPr>
          <p:cNvPr id="31" name="Text 29"/>
          <p:cNvSpPr txBox="1"/>
          <p:nvPr/>
        </p:nvSpPr>
        <p:spPr>
          <a:xfrm>
            <a:off x="640080" y="3145536"/>
            <a:ext cx="1828800" cy="274320"/>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INTEGRATE</a:t>
            </a:r>
            <a:endParaRPr lang="en-US" sz="1400" dirty="0"/>
          </a:p>
        </p:txBody>
      </p:sp>
      <p:sp>
        <p:nvSpPr>
          <p:cNvPr id="32" name="Text 30"/>
          <p:cNvSpPr txBox="1"/>
          <p:nvPr/>
        </p:nvSpPr>
        <p:spPr>
          <a:xfrm>
            <a:off x="640080" y="3447288"/>
            <a:ext cx="1828800" cy="256032"/>
          </a:xfrm>
          <a:prstGeom prst="rect">
            <a:avLst/>
          </a:prstGeom>
          <a:noFill/>
          <a:ln/>
        </p:spPr>
        <p:txBody>
          <a:bodyPr wrap="square" lIns="0" tIns="0" rIns="0" bIns="0" rtlCol="0" anchor="t"/>
          <a:lstStyle/>
          <a:p>
            <a:pPr indent="0" marL="0">
              <a:lnSpc>
                <a:spcPct val="105000"/>
              </a:lnSpc>
              <a:buNone/>
            </a:pPr>
            <a:r>
              <a:rPr lang="en-US" sz="1050" dirty="0">
                <a:solidFill>
                  <a:srgbClr val="5B6575"/>
                </a:solidFill>
                <a:latin typeface="Arial" pitchFamily="34" charset="0"/>
                <a:ea typeface="Arial" pitchFamily="34" charset="-122"/>
                <a:cs typeface="Arial" pitchFamily="34" charset="-120"/>
              </a:rPr>
              <a:t>Connect existing systems</a:t>
            </a:r>
            <a:endParaRPr lang="en-US" sz="1050" dirty="0"/>
          </a:p>
        </p:txBody>
      </p:sp>
      <p:sp>
        <p:nvSpPr>
          <p:cNvPr id="33" name="Text 31"/>
          <p:cNvSpPr txBox="1"/>
          <p:nvPr/>
        </p:nvSpPr>
        <p:spPr>
          <a:xfrm>
            <a:off x="640080" y="3648456"/>
            <a:ext cx="182880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6 required reviews</a:t>
            </a:r>
            <a:endParaRPr lang="en-US" sz="850" dirty="0"/>
          </a:p>
        </p:txBody>
      </p:sp>
      <p:sp>
        <p:nvSpPr>
          <p:cNvPr id="34" name="Shape 32"/>
          <p:cNvSpPr/>
          <p:nvPr/>
        </p:nvSpPr>
        <p:spPr>
          <a:xfrm>
            <a:off x="2880360" y="3140964"/>
            <a:ext cx="1243584" cy="566928"/>
          </a:xfrm>
          <a:prstGeom prst="roundRect">
            <a:avLst>
              <a:gd name="adj" fmla="val 12903"/>
            </a:avLst>
          </a:prstGeom>
          <a:solidFill>
            <a:srgbClr val="DDF5FC"/>
          </a:solidFill>
          <a:ln w="12700">
            <a:solidFill>
              <a:srgbClr val="DDF5FC"/>
            </a:solidFill>
            <a:prstDash val="solid"/>
          </a:ln>
        </p:spPr>
        <p:txBody>
          <a:bodyPr/>
          <a:p/>
        </p:txBody>
      </p:sp>
      <p:sp>
        <p:nvSpPr>
          <p:cNvPr id="35" name="Text 33"/>
          <p:cNvSpPr txBox="1"/>
          <p:nvPr/>
        </p:nvSpPr>
        <p:spPr>
          <a:xfrm>
            <a:off x="2880360" y="3140964"/>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IT</a:t>
            </a:r>
            <a:endParaRPr lang="en-US" sz="1050" dirty="0"/>
          </a:p>
        </p:txBody>
      </p:sp>
      <p:sp>
        <p:nvSpPr>
          <p:cNvPr id="36" name="Shape 34"/>
          <p:cNvSpPr/>
          <p:nvPr/>
        </p:nvSpPr>
        <p:spPr>
          <a:xfrm>
            <a:off x="4160520" y="3424428"/>
            <a:ext cx="201168" cy="0"/>
          </a:xfrm>
          <a:prstGeom prst="line">
            <a:avLst/>
          </a:prstGeom>
          <a:noFill/>
          <a:ln w="15875">
            <a:solidFill>
              <a:srgbClr val="5B6575"/>
            </a:solidFill>
            <a:prstDash val="solid"/>
            <a:tailEnd type="triangle"/>
          </a:ln>
        </p:spPr>
        <p:txBody>
          <a:bodyPr/>
          <a:p/>
        </p:txBody>
      </p:sp>
      <p:sp>
        <p:nvSpPr>
          <p:cNvPr id="37" name="Shape 35"/>
          <p:cNvSpPr/>
          <p:nvPr/>
        </p:nvSpPr>
        <p:spPr>
          <a:xfrm>
            <a:off x="4398264" y="3140964"/>
            <a:ext cx="1243584" cy="566928"/>
          </a:xfrm>
          <a:prstGeom prst="roundRect">
            <a:avLst>
              <a:gd name="adj" fmla="val 12903"/>
            </a:avLst>
          </a:prstGeom>
          <a:solidFill>
            <a:srgbClr val="FFF5BF"/>
          </a:solidFill>
          <a:ln w="12700">
            <a:solidFill>
              <a:srgbClr val="FFF5BF"/>
            </a:solidFill>
            <a:prstDash val="solid"/>
          </a:ln>
        </p:spPr>
        <p:txBody>
          <a:bodyPr/>
          <a:p/>
        </p:txBody>
      </p:sp>
      <p:sp>
        <p:nvSpPr>
          <p:cNvPr id="38" name="Text 36"/>
          <p:cNvSpPr txBox="1"/>
          <p:nvPr/>
        </p:nvSpPr>
        <p:spPr>
          <a:xfrm>
            <a:off x="4398264" y="3140964"/>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Architecture</a:t>
            </a:r>
            <a:endParaRPr lang="en-US" sz="1050" dirty="0"/>
          </a:p>
        </p:txBody>
      </p:sp>
      <p:sp>
        <p:nvSpPr>
          <p:cNvPr id="39" name="Shape 37"/>
          <p:cNvSpPr/>
          <p:nvPr/>
        </p:nvSpPr>
        <p:spPr>
          <a:xfrm>
            <a:off x="5678424" y="3424428"/>
            <a:ext cx="201168" cy="0"/>
          </a:xfrm>
          <a:prstGeom prst="line">
            <a:avLst/>
          </a:prstGeom>
          <a:noFill/>
          <a:ln w="15875">
            <a:solidFill>
              <a:srgbClr val="5B6575"/>
            </a:solidFill>
            <a:prstDash val="solid"/>
            <a:tailEnd type="triangle"/>
          </a:ln>
        </p:spPr>
        <p:txBody>
          <a:bodyPr/>
          <a:p/>
        </p:txBody>
      </p:sp>
      <p:sp>
        <p:nvSpPr>
          <p:cNvPr id="40" name="Shape 38"/>
          <p:cNvSpPr/>
          <p:nvPr/>
        </p:nvSpPr>
        <p:spPr>
          <a:xfrm>
            <a:off x="5916168" y="3140964"/>
            <a:ext cx="1243584" cy="566928"/>
          </a:xfrm>
          <a:prstGeom prst="roundRect">
            <a:avLst>
              <a:gd name="adj" fmla="val 12903"/>
            </a:avLst>
          </a:prstGeom>
          <a:solidFill>
            <a:srgbClr val="FFE4E6"/>
          </a:solidFill>
          <a:ln w="12700">
            <a:solidFill>
              <a:srgbClr val="FFE4E6"/>
            </a:solidFill>
            <a:prstDash val="solid"/>
          </a:ln>
        </p:spPr>
        <p:txBody>
          <a:bodyPr/>
          <a:p/>
        </p:txBody>
      </p:sp>
      <p:sp>
        <p:nvSpPr>
          <p:cNvPr id="41" name="Text 39"/>
          <p:cNvSpPr txBox="1"/>
          <p:nvPr/>
        </p:nvSpPr>
        <p:spPr>
          <a:xfrm>
            <a:off x="5916168" y="3140964"/>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Security</a:t>
            </a:r>
            <a:endParaRPr lang="en-US" sz="1050" dirty="0"/>
          </a:p>
        </p:txBody>
      </p:sp>
      <p:sp>
        <p:nvSpPr>
          <p:cNvPr id="42" name="Shape 40"/>
          <p:cNvSpPr/>
          <p:nvPr/>
        </p:nvSpPr>
        <p:spPr>
          <a:xfrm>
            <a:off x="7196328" y="3424428"/>
            <a:ext cx="201168" cy="0"/>
          </a:xfrm>
          <a:prstGeom prst="line">
            <a:avLst/>
          </a:prstGeom>
          <a:noFill/>
          <a:ln w="15875">
            <a:solidFill>
              <a:srgbClr val="5B6575"/>
            </a:solidFill>
            <a:prstDash val="solid"/>
            <a:tailEnd type="triangle"/>
          </a:ln>
        </p:spPr>
        <p:txBody>
          <a:bodyPr/>
          <a:p/>
        </p:txBody>
      </p:sp>
      <p:sp>
        <p:nvSpPr>
          <p:cNvPr id="43" name="Shape 41"/>
          <p:cNvSpPr/>
          <p:nvPr/>
        </p:nvSpPr>
        <p:spPr>
          <a:xfrm>
            <a:off x="7434072" y="3140964"/>
            <a:ext cx="1243584" cy="566928"/>
          </a:xfrm>
          <a:prstGeom prst="roundRect">
            <a:avLst>
              <a:gd name="adj" fmla="val 12903"/>
            </a:avLst>
          </a:prstGeom>
          <a:solidFill>
            <a:srgbClr val="EFE8FA"/>
          </a:solidFill>
          <a:ln w="12700">
            <a:solidFill>
              <a:srgbClr val="EFE8FA"/>
            </a:solidFill>
            <a:prstDash val="solid"/>
          </a:ln>
        </p:spPr>
        <p:txBody>
          <a:bodyPr/>
          <a:p/>
        </p:txBody>
      </p:sp>
      <p:sp>
        <p:nvSpPr>
          <p:cNvPr id="44" name="Text 42"/>
          <p:cNvSpPr txBox="1"/>
          <p:nvPr/>
        </p:nvSpPr>
        <p:spPr>
          <a:xfrm>
            <a:off x="7434072" y="3140964"/>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Legal</a:t>
            </a:r>
            <a:endParaRPr lang="en-US" sz="1050" dirty="0"/>
          </a:p>
        </p:txBody>
      </p:sp>
      <p:sp>
        <p:nvSpPr>
          <p:cNvPr id="45" name="Shape 43"/>
          <p:cNvSpPr/>
          <p:nvPr/>
        </p:nvSpPr>
        <p:spPr>
          <a:xfrm>
            <a:off x="8714232" y="3424428"/>
            <a:ext cx="201168" cy="0"/>
          </a:xfrm>
          <a:prstGeom prst="line">
            <a:avLst/>
          </a:prstGeom>
          <a:noFill/>
          <a:ln w="15875">
            <a:solidFill>
              <a:srgbClr val="5B6575"/>
            </a:solidFill>
            <a:prstDash val="solid"/>
            <a:tailEnd type="triangle"/>
          </a:ln>
        </p:spPr>
        <p:txBody>
          <a:bodyPr/>
          <a:p/>
        </p:txBody>
      </p:sp>
      <p:sp>
        <p:nvSpPr>
          <p:cNvPr id="46" name="Shape 44"/>
          <p:cNvSpPr/>
          <p:nvPr/>
        </p:nvSpPr>
        <p:spPr>
          <a:xfrm>
            <a:off x="8951976" y="3140964"/>
            <a:ext cx="1243584" cy="566928"/>
          </a:xfrm>
          <a:prstGeom prst="roundRect">
            <a:avLst>
              <a:gd name="adj" fmla="val 12903"/>
            </a:avLst>
          </a:prstGeom>
          <a:solidFill>
            <a:srgbClr val="E5F6E9"/>
          </a:solidFill>
          <a:ln w="12700">
            <a:solidFill>
              <a:srgbClr val="E5F6E9"/>
            </a:solidFill>
            <a:prstDash val="solid"/>
          </a:ln>
        </p:spPr>
        <p:txBody>
          <a:bodyPr/>
          <a:p/>
        </p:txBody>
      </p:sp>
      <p:sp>
        <p:nvSpPr>
          <p:cNvPr id="47" name="Text 45"/>
          <p:cNvSpPr txBox="1"/>
          <p:nvPr/>
        </p:nvSpPr>
        <p:spPr>
          <a:xfrm>
            <a:off x="8951976" y="3140964"/>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Compliance</a:t>
            </a:r>
            <a:endParaRPr lang="en-US" sz="1050" dirty="0"/>
          </a:p>
        </p:txBody>
      </p:sp>
      <p:sp>
        <p:nvSpPr>
          <p:cNvPr id="48" name="Shape 46"/>
          <p:cNvSpPr/>
          <p:nvPr/>
        </p:nvSpPr>
        <p:spPr>
          <a:xfrm>
            <a:off x="10232136" y="3424428"/>
            <a:ext cx="201168" cy="0"/>
          </a:xfrm>
          <a:prstGeom prst="line">
            <a:avLst/>
          </a:prstGeom>
          <a:noFill/>
          <a:ln w="15875">
            <a:solidFill>
              <a:srgbClr val="5B6575"/>
            </a:solidFill>
            <a:prstDash val="solid"/>
            <a:tailEnd type="triangle"/>
          </a:ln>
        </p:spPr>
        <p:txBody>
          <a:bodyPr/>
          <a:p/>
        </p:txBody>
      </p:sp>
      <p:sp>
        <p:nvSpPr>
          <p:cNvPr id="49" name="Shape 47"/>
          <p:cNvSpPr/>
          <p:nvPr/>
        </p:nvSpPr>
        <p:spPr>
          <a:xfrm>
            <a:off x="10469880" y="3140964"/>
            <a:ext cx="1243584" cy="566928"/>
          </a:xfrm>
          <a:prstGeom prst="roundRect">
            <a:avLst>
              <a:gd name="adj" fmla="val 12903"/>
            </a:avLst>
          </a:prstGeom>
          <a:solidFill>
            <a:srgbClr val="F3F5F8"/>
          </a:solidFill>
          <a:ln w="15875">
            <a:solidFill>
              <a:srgbClr val="252A3D"/>
            </a:solidFill>
            <a:prstDash val="solid"/>
          </a:ln>
        </p:spPr>
        <p:txBody>
          <a:bodyPr/>
          <a:p/>
        </p:txBody>
      </p:sp>
      <p:sp>
        <p:nvSpPr>
          <p:cNvPr id="50" name="Text 48"/>
          <p:cNvSpPr txBox="1"/>
          <p:nvPr/>
        </p:nvSpPr>
        <p:spPr>
          <a:xfrm>
            <a:off x="10469880" y="3140964"/>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General</a:t>
            </a:r>
            <a:endParaRPr lang="en-US" sz="1050" dirty="0"/>
          </a:p>
        </p:txBody>
      </p:sp>
      <p:sp>
        <p:nvSpPr>
          <p:cNvPr id="51" name="Shape 49"/>
          <p:cNvSpPr/>
          <p:nvPr/>
        </p:nvSpPr>
        <p:spPr>
          <a:xfrm>
            <a:off x="457200" y="4014216"/>
            <a:ext cx="2148840" cy="868680"/>
          </a:xfrm>
          <a:prstGeom prst="roundRect">
            <a:avLst>
              <a:gd name="adj" fmla="val 10526"/>
            </a:avLst>
          </a:prstGeom>
          <a:solidFill>
            <a:srgbClr val="FFFFFF"/>
          </a:solidFill>
          <a:ln w="12700">
            <a:solidFill>
              <a:srgbClr val="D4DAE3"/>
            </a:solidFill>
            <a:prstDash val="solid"/>
          </a:ln>
        </p:spPr>
        <p:txBody>
          <a:bodyPr/>
          <a:p/>
        </p:txBody>
      </p:sp>
      <p:sp>
        <p:nvSpPr>
          <p:cNvPr id="52" name="Text 50"/>
          <p:cNvSpPr txBox="1"/>
          <p:nvPr/>
        </p:nvSpPr>
        <p:spPr>
          <a:xfrm>
            <a:off x="640080" y="4169664"/>
            <a:ext cx="1828800" cy="274320"/>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BUILD</a:t>
            </a:r>
            <a:endParaRPr lang="en-US" sz="1400" dirty="0"/>
          </a:p>
        </p:txBody>
      </p:sp>
      <p:sp>
        <p:nvSpPr>
          <p:cNvPr id="53" name="Text 51"/>
          <p:cNvSpPr txBox="1"/>
          <p:nvPr/>
        </p:nvSpPr>
        <p:spPr>
          <a:xfrm>
            <a:off x="640080" y="4471416"/>
            <a:ext cx="1828800" cy="256032"/>
          </a:xfrm>
          <a:prstGeom prst="rect">
            <a:avLst/>
          </a:prstGeom>
          <a:noFill/>
          <a:ln/>
        </p:spPr>
        <p:txBody>
          <a:bodyPr wrap="square" lIns="0" tIns="0" rIns="0" bIns="0" rtlCol="0" anchor="t"/>
          <a:lstStyle/>
          <a:p>
            <a:pPr indent="0" marL="0">
              <a:lnSpc>
                <a:spcPct val="105000"/>
              </a:lnSpc>
              <a:buNone/>
            </a:pPr>
            <a:r>
              <a:rPr lang="en-US" sz="1050" dirty="0">
                <a:solidFill>
                  <a:srgbClr val="5B6575"/>
                </a:solidFill>
                <a:latin typeface="Arial" pitchFamily="34" charset="0"/>
                <a:ea typeface="Arial" pitchFamily="34" charset="-122"/>
                <a:cs typeface="Arial" pitchFamily="34" charset="-120"/>
              </a:rPr>
              <a:t>Develop an application</a:t>
            </a:r>
            <a:endParaRPr lang="en-US" sz="1050" dirty="0"/>
          </a:p>
        </p:txBody>
      </p:sp>
      <p:sp>
        <p:nvSpPr>
          <p:cNvPr id="54" name="Text 52"/>
          <p:cNvSpPr txBox="1"/>
          <p:nvPr/>
        </p:nvSpPr>
        <p:spPr>
          <a:xfrm>
            <a:off x="640080" y="4672584"/>
            <a:ext cx="182880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5 required reviews</a:t>
            </a:r>
            <a:endParaRPr lang="en-US" sz="850" dirty="0"/>
          </a:p>
        </p:txBody>
      </p:sp>
      <p:sp>
        <p:nvSpPr>
          <p:cNvPr id="55" name="Shape 53"/>
          <p:cNvSpPr/>
          <p:nvPr/>
        </p:nvSpPr>
        <p:spPr>
          <a:xfrm>
            <a:off x="2880360" y="4165092"/>
            <a:ext cx="1243584" cy="566928"/>
          </a:xfrm>
          <a:prstGeom prst="roundRect">
            <a:avLst>
              <a:gd name="adj" fmla="val 12903"/>
            </a:avLst>
          </a:prstGeom>
          <a:solidFill>
            <a:srgbClr val="DDF5FC"/>
          </a:solidFill>
          <a:ln w="12700">
            <a:solidFill>
              <a:srgbClr val="DDF5FC"/>
            </a:solidFill>
            <a:prstDash val="solid"/>
          </a:ln>
        </p:spPr>
        <p:txBody>
          <a:bodyPr/>
          <a:p/>
        </p:txBody>
      </p:sp>
      <p:sp>
        <p:nvSpPr>
          <p:cNvPr id="56" name="Text 54"/>
          <p:cNvSpPr txBox="1"/>
          <p:nvPr/>
        </p:nvSpPr>
        <p:spPr>
          <a:xfrm>
            <a:off x="2880360" y="4165092"/>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IT</a:t>
            </a:r>
            <a:endParaRPr lang="en-US" sz="1050" dirty="0"/>
          </a:p>
        </p:txBody>
      </p:sp>
      <p:sp>
        <p:nvSpPr>
          <p:cNvPr id="57" name="Shape 55"/>
          <p:cNvSpPr/>
          <p:nvPr/>
        </p:nvSpPr>
        <p:spPr>
          <a:xfrm>
            <a:off x="4160520" y="4448556"/>
            <a:ext cx="201168" cy="0"/>
          </a:xfrm>
          <a:prstGeom prst="line">
            <a:avLst/>
          </a:prstGeom>
          <a:noFill/>
          <a:ln w="15875">
            <a:solidFill>
              <a:srgbClr val="5B6575"/>
            </a:solidFill>
            <a:prstDash val="solid"/>
            <a:tailEnd type="triangle"/>
          </a:ln>
        </p:spPr>
        <p:txBody>
          <a:bodyPr/>
          <a:p/>
        </p:txBody>
      </p:sp>
      <p:sp>
        <p:nvSpPr>
          <p:cNvPr id="58" name="Shape 56"/>
          <p:cNvSpPr/>
          <p:nvPr/>
        </p:nvSpPr>
        <p:spPr>
          <a:xfrm>
            <a:off x="4398264" y="4165092"/>
            <a:ext cx="1243584" cy="566928"/>
          </a:xfrm>
          <a:prstGeom prst="roundRect">
            <a:avLst>
              <a:gd name="adj" fmla="val 12903"/>
            </a:avLst>
          </a:prstGeom>
          <a:solidFill>
            <a:srgbClr val="FFF5BF"/>
          </a:solidFill>
          <a:ln w="12700">
            <a:solidFill>
              <a:srgbClr val="FFF5BF"/>
            </a:solidFill>
            <a:prstDash val="solid"/>
          </a:ln>
        </p:spPr>
        <p:txBody>
          <a:bodyPr/>
          <a:p/>
        </p:txBody>
      </p:sp>
      <p:sp>
        <p:nvSpPr>
          <p:cNvPr id="59" name="Text 57"/>
          <p:cNvSpPr txBox="1"/>
          <p:nvPr/>
        </p:nvSpPr>
        <p:spPr>
          <a:xfrm>
            <a:off x="4398264" y="4165092"/>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Architecture</a:t>
            </a:r>
            <a:endParaRPr lang="en-US" sz="1050" dirty="0"/>
          </a:p>
        </p:txBody>
      </p:sp>
      <p:sp>
        <p:nvSpPr>
          <p:cNvPr id="60" name="Shape 58"/>
          <p:cNvSpPr/>
          <p:nvPr/>
        </p:nvSpPr>
        <p:spPr>
          <a:xfrm>
            <a:off x="5678424" y="4448556"/>
            <a:ext cx="201168" cy="0"/>
          </a:xfrm>
          <a:prstGeom prst="line">
            <a:avLst/>
          </a:prstGeom>
          <a:noFill/>
          <a:ln w="15875">
            <a:solidFill>
              <a:srgbClr val="5B6575"/>
            </a:solidFill>
            <a:prstDash val="solid"/>
            <a:tailEnd type="triangle"/>
          </a:ln>
        </p:spPr>
        <p:txBody>
          <a:bodyPr/>
          <a:p/>
        </p:txBody>
      </p:sp>
      <p:sp>
        <p:nvSpPr>
          <p:cNvPr id="61" name="Shape 59"/>
          <p:cNvSpPr/>
          <p:nvPr/>
        </p:nvSpPr>
        <p:spPr>
          <a:xfrm>
            <a:off x="5916168" y="4165092"/>
            <a:ext cx="1243584" cy="566928"/>
          </a:xfrm>
          <a:prstGeom prst="roundRect">
            <a:avLst>
              <a:gd name="adj" fmla="val 12903"/>
            </a:avLst>
          </a:prstGeom>
          <a:solidFill>
            <a:srgbClr val="FFE4E6"/>
          </a:solidFill>
          <a:ln w="12700">
            <a:solidFill>
              <a:srgbClr val="FFE4E6"/>
            </a:solidFill>
            <a:prstDash val="solid"/>
          </a:ln>
        </p:spPr>
        <p:txBody>
          <a:bodyPr/>
          <a:p/>
        </p:txBody>
      </p:sp>
      <p:sp>
        <p:nvSpPr>
          <p:cNvPr id="62" name="Text 60"/>
          <p:cNvSpPr txBox="1"/>
          <p:nvPr/>
        </p:nvSpPr>
        <p:spPr>
          <a:xfrm>
            <a:off x="5916168" y="4165092"/>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Security</a:t>
            </a:r>
            <a:endParaRPr lang="en-US" sz="1050" dirty="0"/>
          </a:p>
        </p:txBody>
      </p:sp>
      <p:sp>
        <p:nvSpPr>
          <p:cNvPr id="63" name="Shape 61"/>
          <p:cNvSpPr/>
          <p:nvPr/>
        </p:nvSpPr>
        <p:spPr>
          <a:xfrm>
            <a:off x="7196328" y="4448556"/>
            <a:ext cx="201168" cy="0"/>
          </a:xfrm>
          <a:prstGeom prst="line">
            <a:avLst/>
          </a:prstGeom>
          <a:noFill/>
          <a:ln w="15875">
            <a:solidFill>
              <a:srgbClr val="5B6575"/>
            </a:solidFill>
            <a:prstDash val="solid"/>
            <a:tailEnd type="triangle"/>
          </a:ln>
        </p:spPr>
        <p:txBody>
          <a:bodyPr/>
          <a:p/>
        </p:txBody>
      </p:sp>
      <p:sp>
        <p:nvSpPr>
          <p:cNvPr id="64" name="Shape 62"/>
          <p:cNvSpPr/>
          <p:nvPr/>
        </p:nvSpPr>
        <p:spPr>
          <a:xfrm>
            <a:off x="7434072" y="4165092"/>
            <a:ext cx="1243584" cy="566928"/>
          </a:xfrm>
          <a:prstGeom prst="roundRect">
            <a:avLst>
              <a:gd name="adj" fmla="val 12903"/>
            </a:avLst>
          </a:prstGeom>
          <a:solidFill>
            <a:srgbClr val="E5F6E9"/>
          </a:solidFill>
          <a:ln w="12700">
            <a:solidFill>
              <a:srgbClr val="E5F6E9"/>
            </a:solidFill>
            <a:prstDash val="solid"/>
          </a:ln>
        </p:spPr>
        <p:txBody>
          <a:bodyPr/>
          <a:p/>
        </p:txBody>
      </p:sp>
      <p:sp>
        <p:nvSpPr>
          <p:cNvPr id="65" name="Text 63"/>
          <p:cNvSpPr txBox="1"/>
          <p:nvPr/>
        </p:nvSpPr>
        <p:spPr>
          <a:xfrm>
            <a:off x="7434072" y="4165092"/>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Tech Readiness</a:t>
            </a:r>
            <a:endParaRPr lang="en-US" sz="1050" dirty="0"/>
          </a:p>
        </p:txBody>
      </p:sp>
      <p:sp>
        <p:nvSpPr>
          <p:cNvPr id="66" name="Shape 64"/>
          <p:cNvSpPr/>
          <p:nvPr/>
        </p:nvSpPr>
        <p:spPr>
          <a:xfrm>
            <a:off x="8714232" y="4448556"/>
            <a:ext cx="201168" cy="0"/>
          </a:xfrm>
          <a:prstGeom prst="line">
            <a:avLst/>
          </a:prstGeom>
          <a:noFill/>
          <a:ln w="15875">
            <a:solidFill>
              <a:srgbClr val="5B6575"/>
            </a:solidFill>
            <a:prstDash val="solid"/>
            <a:tailEnd type="triangle"/>
          </a:ln>
        </p:spPr>
        <p:txBody>
          <a:bodyPr/>
          <a:p/>
        </p:txBody>
      </p:sp>
      <p:sp>
        <p:nvSpPr>
          <p:cNvPr id="67" name="Shape 65"/>
          <p:cNvSpPr/>
          <p:nvPr/>
        </p:nvSpPr>
        <p:spPr>
          <a:xfrm>
            <a:off x="8951976" y="4165092"/>
            <a:ext cx="1243584" cy="566928"/>
          </a:xfrm>
          <a:prstGeom prst="roundRect">
            <a:avLst>
              <a:gd name="adj" fmla="val 12903"/>
            </a:avLst>
          </a:prstGeom>
          <a:solidFill>
            <a:srgbClr val="F3F5F8"/>
          </a:solidFill>
          <a:ln w="15875">
            <a:solidFill>
              <a:srgbClr val="252A3D"/>
            </a:solidFill>
            <a:prstDash val="solid"/>
          </a:ln>
        </p:spPr>
        <p:txBody>
          <a:bodyPr/>
          <a:p/>
        </p:txBody>
      </p:sp>
      <p:sp>
        <p:nvSpPr>
          <p:cNvPr id="68" name="Text 66"/>
          <p:cNvSpPr txBox="1"/>
          <p:nvPr/>
        </p:nvSpPr>
        <p:spPr>
          <a:xfrm>
            <a:off x="8951976" y="4165092"/>
            <a:ext cx="1243584" cy="566928"/>
          </a:xfrm>
          <a:prstGeom prst="rect">
            <a:avLst/>
          </a:prstGeom>
          <a:noFill/>
          <a:ln/>
        </p:spPr>
        <p:txBody>
          <a:bodyPr wrap="square" lIns="0" tIns="0" rIns="0" bIns="0" rtlCol="0" anchor="ctr"/>
          <a:lstStyle/>
          <a:p>
            <a:pPr algn="ctr" indent="0" marL="0">
              <a:lnSpc>
                <a:spcPct val="105000"/>
              </a:lnSpc>
              <a:buNone/>
            </a:pPr>
            <a:r>
              <a:rPr lang="en-US" sz="1050" b="1" dirty="0">
                <a:solidFill>
                  <a:srgbClr val="252A3D"/>
                </a:solidFill>
                <a:latin typeface="Arial" pitchFamily="34" charset="0"/>
                <a:ea typeface="Arial" pitchFamily="34" charset="-122"/>
                <a:cs typeface="Arial" pitchFamily="34" charset="-120"/>
              </a:rPr>
              <a:t>General</a:t>
            </a:r>
            <a:endParaRPr lang="en-US" sz="1050" dirty="0"/>
          </a:p>
        </p:txBody>
      </p:sp>
      <p:sp>
        <p:nvSpPr>
          <p:cNvPr id="69" name="Text 67"/>
          <p:cNvSpPr txBox="1"/>
          <p:nvPr/>
        </p:nvSpPr>
        <p:spPr>
          <a:xfrm>
            <a:off x="457200" y="5074920"/>
            <a:ext cx="7315200" cy="182880"/>
          </a:xfrm>
          <a:prstGeom prst="rect">
            <a:avLst/>
          </a:prstGeom>
          <a:noFill/>
          <a:ln/>
        </p:spPr>
        <p:txBody>
          <a:bodyPr wrap="square" lIns="0" tIns="0" rIns="0" bIns="0" rtlCol="0" anchor="t"/>
          <a:lstStyle/>
          <a:p>
            <a:pPr indent="0" marL="0">
              <a:lnSpc>
                <a:spcPct val="105000"/>
              </a:lnSpc>
              <a:buNone/>
            </a:pPr>
            <a:r>
              <a:rPr lang="en-US" sz="900" b="1" dirty="0">
                <a:solidFill>
                  <a:srgbClr val="5B6575"/>
                </a:solidFill>
                <a:latin typeface="Arial" pitchFamily="34" charset="0"/>
                <a:ea typeface="Arial" pitchFamily="34" charset="-122"/>
                <a:cs typeface="Arial" pitchFamily="34" charset="-120"/>
              </a:rPr>
              <a:t>FIVE DECISIONS THE SPECIALIST CAN MAKE</a:t>
            </a:r>
            <a:endParaRPr lang="en-US" sz="900" dirty="0"/>
          </a:p>
        </p:txBody>
      </p:sp>
      <p:sp>
        <p:nvSpPr>
          <p:cNvPr id="70" name="Shape 68"/>
          <p:cNvSpPr/>
          <p:nvPr/>
        </p:nvSpPr>
        <p:spPr>
          <a:xfrm>
            <a:off x="457200" y="5303520"/>
            <a:ext cx="2148840" cy="566928"/>
          </a:xfrm>
          <a:prstGeom prst="roundRect">
            <a:avLst>
              <a:gd name="adj" fmla="val 16129"/>
            </a:avLst>
          </a:prstGeom>
          <a:solidFill>
            <a:srgbClr val="E5F6E9"/>
          </a:solidFill>
          <a:ln w="12700">
            <a:solidFill>
              <a:srgbClr val="E5F6E9"/>
            </a:solidFill>
            <a:prstDash val="solid"/>
          </a:ln>
        </p:spPr>
        <p:txBody>
          <a:bodyPr/>
          <a:p/>
        </p:txBody>
      </p:sp>
      <p:sp>
        <p:nvSpPr>
          <p:cNvPr id="71" name="Text 69"/>
          <p:cNvSpPr txBox="1"/>
          <p:nvPr/>
        </p:nvSpPr>
        <p:spPr>
          <a:xfrm>
            <a:off x="566928" y="5367528"/>
            <a:ext cx="1965960" cy="219456"/>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GO</a:t>
            </a:r>
            <a:endParaRPr lang="en-US" sz="950" dirty="0"/>
          </a:p>
        </p:txBody>
      </p:sp>
      <p:sp>
        <p:nvSpPr>
          <p:cNvPr id="72" name="Text 70"/>
          <p:cNvSpPr txBox="1"/>
          <p:nvPr/>
        </p:nvSpPr>
        <p:spPr>
          <a:xfrm>
            <a:off x="566928" y="5586984"/>
            <a:ext cx="1965960" cy="237744"/>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approved: the project can proceed</a:t>
            </a:r>
            <a:endParaRPr lang="en-US" sz="900" dirty="0"/>
          </a:p>
        </p:txBody>
      </p:sp>
      <p:sp>
        <p:nvSpPr>
          <p:cNvPr id="73" name="Shape 71"/>
          <p:cNvSpPr/>
          <p:nvPr/>
        </p:nvSpPr>
        <p:spPr>
          <a:xfrm>
            <a:off x="2727198" y="5303520"/>
            <a:ext cx="2148840" cy="566928"/>
          </a:xfrm>
          <a:prstGeom prst="roundRect">
            <a:avLst>
              <a:gd name="adj" fmla="val 16129"/>
            </a:avLst>
          </a:prstGeom>
          <a:solidFill>
            <a:srgbClr val="DDF5FC"/>
          </a:solidFill>
          <a:ln w="12700">
            <a:solidFill>
              <a:srgbClr val="DDF5FC"/>
            </a:solidFill>
            <a:prstDash val="solid"/>
          </a:ln>
        </p:spPr>
        <p:txBody>
          <a:bodyPr/>
          <a:p/>
        </p:txBody>
      </p:sp>
      <p:sp>
        <p:nvSpPr>
          <p:cNvPr id="74" name="Text 72"/>
          <p:cNvSpPr txBox="1"/>
          <p:nvPr/>
        </p:nvSpPr>
        <p:spPr>
          <a:xfrm>
            <a:off x="2836926" y="5367528"/>
            <a:ext cx="1965960" cy="219456"/>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GO WITH CONDITIONS</a:t>
            </a:r>
            <a:endParaRPr lang="en-US" sz="950" dirty="0"/>
          </a:p>
        </p:txBody>
      </p:sp>
      <p:sp>
        <p:nvSpPr>
          <p:cNvPr id="75" name="Text 73"/>
          <p:cNvSpPr txBox="1"/>
          <p:nvPr/>
        </p:nvSpPr>
        <p:spPr>
          <a:xfrm>
            <a:off x="2836926" y="5586984"/>
            <a:ext cx="1965960" cy="237744"/>
          </a:xfrm>
          <a:prstGeom prst="rect">
            <a:avLst/>
          </a:prstGeom>
          <a:noFill/>
          <a:ln/>
        </p:spPr>
        <p:txBody>
          <a:bodyPr wrap="square" lIns="0" tIns="0" rIns="0" bIns="0" rtlCol="0" anchor="t"/>
          <a:lstStyle/>
          <a:p>
            <a:pPr indent="0" marL="0">
              <a:lnSpc>
                <a:spcPct val="105000"/>
              </a:lnSpc>
              <a:buNone/>
            </a:pPr>
            <a:r>
              <a:rPr lang="en-US" sz="810" dirty="0">
                <a:solidFill>
                  <a:srgbClr val="5B6575"/>
                </a:solidFill>
                <a:latin typeface="Arial" pitchFamily="34" charset="0"/>
                <a:ea typeface="Arial" pitchFamily="34" charset="-122"/>
                <a:cs typeface="Arial" pitchFamily="34" charset="-120"/>
              </a:rPr>
              <a:t>approved subject to the stated conditions</a:t>
            </a:r>
            <a:endParaRPr lang="en-US" sz="900" dirty="0"/>
          </a:p>
        </p:txBody>
      </p:sp>
      <p:sp>
        <p:nvSpPr>
          <p:cNvPr id="76" name="Shape 74"/>
          <p:cNvSpPr/>
          <p:nvPr/>
        </p:nvSpPr>
        <p:spPr>
          <a:xfrm>
            <a:off x="4997196" y="5303520"/>
            <a:ext cx="2148840" cy="566928"/>
          </a:xfrm>
          <a:prstGeom prst="roundRect">
            <a:avLst>
              <a:gd name="adj" fmla="val 16129"/>
            </a:avLst>
          </a:prstGeom>
          <a:solidFill>
            <a:srgbClr val="FFF5BF"/>
          </a:solidFill>
          <a:ln w="12700">
            <a:solidFill>
              <a:srgbClr val="FFF5BF"/>
            </a:solidFill>
            <a:prstDash val="solid"/>
          </a:ln>
        </p:spPr>
        <p:txBody>
          <a:bodyPr/>
          <a:p/>
        </p:txBody>
      </p:sp>
      <p:sp>
        <p:nvSpPr>
          <p:cNvPr id="77" name="Text 75"/>
          <p:cNvSpPr txBox="1"/>
          <p:nvPr/>
        </p:nvSpPr>
        <p:spPr>
          <a:xfrm>
            <a:off x="5106924" y="5367528"/>
            <a:ext cx="1965960" cy="219456"/>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REWORK</a:t>
            </a:r>
            <a:endParaRPr lang="en-US" sz="950" dirty="0"/>
          </a:p>
        </p:txBody>
      </p:sp>
      <p:sp>
        <p:nvSpPr>
          <p:cNvPr id="78" name="Text 76"/>
          <p:cNvSpPr txBox="1"/>
          <p:nvPr/>
        </p:nvSpPr>
        <p:spPr>
          <a:xfrm>
            <a:off x="5106924" y="5586984"/>
            <a:ext cx="1965960" cy="237744"/>
          </a:xfrm>
          <a:prstGeom prst="rect">
            <a:avLst/>
          </a:prstGeom>
          <a:noFill/>
          <a:ln/>
        </p:spPr>
        <p:txBody>
          <a:bodyPr wrap="square" lIns="0" tIns="0" rIns="0" bIns="0" rtlCol="0" anchor="t"/>
          <a:lstStyle/>
          <a:p>
            <a:pPr indent="0" marL="0">
              <a:lnSpc>
                <a:spcPct val="105000"/>
              </a:lnSpc>
              <a:buNone/>
            </a:pPr>
            <a:r>
              <a:rPr lang="en-US" sz="850" dirty="0">
                <a:solidFill>
                  <a:srgbClr val="5B6575"/>
                </a:solidFill>
                <a:latin typeface="Arial" pitchFamily="34" charset="0"/>
                <a:ea typeface="Arial" pitchFamily="34" charset="-122"/>
                <a:cs typeface="Arial" pitchFamily="34" charset="-120"/>
              </a:rPr>
              <a:t>revise the proposal and submit it again</a:t>
            </a:r>
            <a:endParaRPr lang="en-US" sz="900" dirty="0"/>
          </a:p>
        </p:txBody>
      </p:sp>
      <p:sp>
        <p:nvSpPr>
          <p:cNvPr id="79" name="Shape 77"/>
          <p:cNvSpPr/>
          <p:nvPr/>
        </p:nvSpPr>
        <p:spPr>
          <a:xfrm>
            <a:off x="7267194" y="5303520"/>
            <a:ext cx="2148840" cy="566928"/>
          </a:xfrm>
          <a:prstGeom prst="roundRect">
            <a:avLst>
              <a:gd name="adj" fmla="val 16129"/>
            </a:avLst>
          </a:prstGeom>
          <a:solidFill>
            <a:srgbClr val="EFE8FA"/>
          </a:solidFill>
          <a:ln w="12700">
            <a:solidFill>
              <a:srgbClr val="EFE8FA"/>
            </a:solidFill>
            <a:prstDash val="solid"/>
          </a:ln>
        </p:spPr>
        <p:txBody>
          <a:bodyPr/>
          <a:p/>
        </p:txBody>
      </p:sp>
      <p:sp>
        <p:nvSpPr>
          <p:cNvPr id="80" name="Text 78"/>
          <p:cNvSpPr txBox="1"/>
          <p:nvPr/>
        </p:nvSpPr>
        <p:spPr>
          <a:xfrm>
            <a:off x="7376922" y="5367528"/>
            <a:ext cx="1965960" cy="219456"/>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WAIT</a:t>
            </a:r>
            <a:endParaRPr lang="en-US" sz="950" dirty="0"/>
          </a:p>
        </p:txBody>
      </p:sp>
      <p:sp>
        <p:nvSpPr>
          <p:cNvPr id="81" name="Text 79"/>
          <p:cNvSpPr txBox="1"/>
          <p:nvPr/>
        </p:nvSpPr>
        <p:spPr>
          <a:xfrm>
            <a:off x="7376922" y="5586984"/>
            <a:ext cx="1965960" cy="237744"/>
          </a:xfrm>
          <a:prstGeom prst="rect">
            <a:avLst/>
          </a:prstGeom>
          <a:noFill/>
          <a:ln/>
        </p:spPr>
        <p:txBody>
          <a:bodyPr wrap="square" lIns="0" tIns="0" rIns="0" bIns="0" rtlCol="0" anchor="t"/>
          <a:lstStyle/>
          <a:p>
            <a:pPr indent="0" marL="0">
              <a:lnSpc>
                <a:spcPct val="105000"/>
              </a:lnSpc>
              <a:buNone/>
            </a:pPr>
            <a:r>
              <a:rPr lang="en-US" sz="740" dirty="0">
                <a:solidFill>
                  <a:srgbClr val="5B6575"/>
                </a:solidFill>
                <a:latin typeface="Arial" pitchFamily="34" charset="0"/>
                <a:ea typeface="Arial" pitchFamily="34" charset="-122"/>
                <a:cs typeface="Arial" pitchFamily="34" charset="-120"/>
              </a:rPr>
              <a:t>put the project on hold until the required condition is met</a:t>
            </a:r>
            <a:endParaRPr lang="en-US" sz="900" dirty="0"/>
          </a:p>
        </p:txBody>
      </p:sp>
      <p:sp>
        <p:nvSpPr>
          <p:cNvPr id="82" name="Shape 80"/>
          <p:cNvSpPr/>
          <p:nvPr/>
        </p:nvSpPr>
        <p:spPr>
          <a:xfrm>
            <a:off x="9537192" y="5303520"/>
            <a:ext cx="2148840" cy="566928"/>
          </a:xfrm>
          <a:prstGeom prst="roundRect">
            <a:avLst>
              <a:gd name="adj" fmla="val 16129"/>
            </a:avLst>
          </a:prstGeom>
          <a:solidFill>
            <a:srgbClr val="FFE4E6"/>
          </a:solidFill>
          <a:ln w="12700">
            <a:solidFill>
              <a:srgbClr val="FFE4E6"/>
            </a:solidFill>
            <a:prstDash val="solid"/>
          </a:ln>
        </p:spPr>
        <p:txBody>
          <a:bodyPr/>
          <a:p/>
        </p:txBody>
      </p:sp>
      <p:sp>
        <p:nvSpPr>
          <p:cNvPr id="83" name="Text 81"/>
          <p:cNvSpPr txBox="1"/>
          <p:nvPr/>
        </p:nvSpPr>
        <p:spPr>
          <a:xfrm>
            <a:off x="9646920" y="5367528"/>
            <a:ext cx="1965960" cy="219456"/>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NO</a:t>
            </a:r>
            <a:endParaRPr lang="en-US" sz="950" dirty="0"/>
          </a:p>
        </p:txBody>
      </p:sp>
      <p:sp>
        <p:nvSpPr>
          <p:cNvPr id="84" name="Text 82"/>
          <p:cNvSpPr txBox="1"/>
          <p:nvPr/>
        </p:nvSpPr>
        <p:spPr>
          <a:xfrm>
            <a:off x="9646920" y="5586984"/>
            <a:ext cx="1965960" cy="237744"/>
          </a:xfrm>
          <a:prstGeom prst="rect">
            <a:avLst/>
          </a:prstGeom>
          <a:noFill/>
          <a:ln/>
        </p:spPr>
        <p:txBody>
          <a:bodyPr wrap="square" lIns="0" tIns="0" rIns="0" bIns="0" rtlCol="0" anchor="t"/>
          <a:lstStyle/>
          <a:p>
            <a:pPr indent="0" marL="0">
              <a:lnSpc>
                <a:spcPct val="105000"/>
              </a:lnSpc>
              <a:buNone/>
            </a:pPr>
            <a:r>
              <a:rPr lang="en-US" sz="740" dirty="0">
                <a:solidFill>
                  <a:srgbClr val="5B6575"/>
                </a:solidFill>
                <a:latin typeface="Arial" pitchFamily="34" charset="0"/>
                <a:ea typeface="Arial" pitchFamily="34" charset="-122"/>
                <a:cs typeface="Arial" pitchFamily="34" charset="-120"/>
              </a:rPr>
              <a:t>do not proceed with the proposal as submitted</a:t>
            </a:r>
            <a:endParaRPr lang="en-US" sz="900" dirty="0"/>
          </a:p>
        </p:txBody>
      </p:sp>
      <p:sp>
        <p:nvSpPr>
          <p:cNvPr id="85" name="Shape 83"/>
          <p:cNvSpPr/>
          <p:nvPr/>
        </p:nvSpPr>
        <p:spPr>
          <a:xfrm>
            <a:off x="457200" y="6016752"/>
            <a:ext cx="11274552" cy="502920"/>
          </a:xfrm>
          <a:prstGeom prst="roundRect">
            <a:avLst>
              <a:gd name="adj" fmla="val 18182"/>
            </a:avLst>
          </a:prstGeom>
          <a:solidFill>
            <a:srgbClr val="FFF5BF"/>
          </a:solidFill>
          <a:ln w="12700">
            <a:solidFill>
              <a:srgbClr val="FFF5BF"/>
            </a:solidFill>
            <a:prstDash val="solid"/>
          </a:ln>
        </p:spPr>
        <p:txBody>
          <a:bodyPr/>
          <a:p/>
        </p:txBody>
      </p:sp>
      <p:pic>
        <p:nvPicPr>
          <p:cNvPr id="86" name="Image 0" descr="preencoded.png">    </p:cNvPr>
          <p:cNvPicPr>
            <a:picLocks noChangeAspect="1"/>
          </p:cNvPicPr>
          <p:nvPr/>
        </p:nvPicPr>
        <p:blipFill>
          <a:blip r:embed="rId1"/>
          <a:stretch>
            <a:fillRect/>
          </a:stretch>
        </p:blipFill>
        <p:spPr>
          <a:xfrm>
            <a:off x="621792" y="6112764"/>
            <a:ext cx="310896" cy="310896"/>
          </a:xfrm>
          <a:prstGeom prst="rect">
            <a:avLst/>
          </a:prstGeom>
        </p:spPr>
      </p:pic>
      <p:sp>
        <p:nvSpPr>
          <p:cNvPr id="87" name="Text 84"/>
          <p:cNvSpPr txBox="1"/>
          <p:nvPr/>
        </p:nvSpPr>
        <p:spPr>
          <a:xfrm>
            <a:off x="1051560" y="6016752"/>
            <a:ext cx="10469880" cy="502920"/>
          </a:xfrm>
          <a:prstGeom prst="rect">
            <a:avLst/>
          </a:prstGeom>
          <a:noFill/>
          <a:ln/>
        </p:spPr>
        <p:txBody>
          <a:bodyPr wrap="square" lIns="0" tIns="0" rIns="0" bIns="0" rtlCol="0" anchor="ctr"/>
          <a:lstStyle/>
          <a:p>
            <a:pPr indent="0" marL="0">
              <a:lnSpc>
                <a:spcPct val="105000"/>
              </a:lnSpc>
              <a:buNone/>
            </a:pPr>
            <a:r>
              <a:rPr lang="en-US" sz="1060" b="1" dirty="0">
                <a:solidFill>
                  <a:srgbClr val="252A3D"/>
                </a:solidFill>
                <a:latin typeface="Arial" pitchFamily="34" charset="0"/>
                <a:ea typeface="Arial" pitchFamily="34" charset="-122"/>
                <a:cs typeface="Arial" pitchFamily="34" charset="-120"/>
              </a:rPr>
              <a:t>Like officers carrying out different customs checks, specialists examine the same project documents for different reasons. </a:t>
            </a:r>
            <a:r>
              <a:rPr lang="en-US" sz="1060" dirty="0">
                <a:solidFill>
                  <a:srgbClr val="252A3D"/>
                </a:solidFill>
                <a:latin typeface="Arial" pitchFamily="34" charset="0"/>
                <a:ea typeface="Arial" pitchFamily="34" charset="-122"/>
                <a:cs typeface="Arial" pitchFamily="34" charset="-120"/>
              </a:rPr>
              <a:t>The final reviewer at the General gate considers their conclusions and makes the overall decision. Companies may add, combine or reorder these reviews, but must still meet the underlying requirements.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DIGITAL GOVERNANCE FRAMEWORK · THE EIGHT REVIEWS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Eight reviews, eight questions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The question each specialist must answer and the information needed to answer it.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DIGITAL GOVERNANCE FRAMEWORK</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06 / 30</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11274552" cy="914400"/>
        </p:xfrm>
        <a:graphic>
          <a:graphicData uri="http://schemas.openxmlformats.org/drawingml/2006/table">
            <a:tbl>
              <a:tblPr/>
              <a:tblGrid>
                <a:gridCol w="1645920"/>
                <a:gridCol w="4663440"/>
                <a:gridCol w="4965192"/>
              </a:tblGrid>
              <a:tr h="292608">
                <a:tc>
                  <a:txBody>
                    <a:bodyPr/>
                    <a:lstStyle/>
                    <a:p>
                      <a:pPr indent="0" marL="0">
                        <a:buNone/>
                      </a:pPr>
                      <a:r>
                        <a:rPr lang="en-US" sz="900" b="1" dirty="0">
                          <a:solidFill>
                            <a:srgbClr val="5B6575"/>
                          </a:solidFill>
                          <a:latin typeface="Arial" pitchFamily="34" charset="0"/>
                          <a:ea typeface="Arial" pitchFamily="34" charset="-122"/>
                          <a:cs typeface="Arial" pitchFamily="34" charset="-120"/>
                        </a:rPr>
                        <a:t>GATE</a:t>
                      </a:r>
                      <a:endParaRPr lang="en-US" sz="9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5B6575"/>
                          </a:solidFill>
                          <a:latin typeface="Arial" pitchFamily="34" charset="0"/>
                          <a:ea typeface="Arial" pitchFamily="34" charset="-122"/>
                          <a:cs typeface="Arial" pitchFamily="34" charset="-120"/>
                        </a:rPr>
                        <a:t>QUESTION TO ANSWER</a:t>
                      </a:r>
                      <a:endParaRPr lang="en-US" sz="9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b="1" dirty="0">
                          <a:solidFill>
                            <a:srgbClr val="5B6575"/>
                          </a:solidFill>
                          <a:latin typeface="Arial" pitchFamily="34" charset="0"/>
                          <a:ea typeface="Arial" pitchFamily="34" charset="-122"/>
                          <a:cs typeface="Arial" pitchFamily="34" charset="-120"/>
                        </a:rPr>
                        <a:t>DOCUMENTS AND RECORDS TO CHECK</a:t>
                      </a:r>
                      <a:endParaRPr lang="en-US" sz="9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Procurement</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Does the supplier meet the selection and pricing requirements, and has it passed the required background and sanctions checks?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supplier proposals, mandatory requirements, background checks, sanctions lists and total cost over three years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Legal</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Do the contract terms meet the company’s requirements, and is the person signing authorized to commit the company?</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data-protection agreement, liability terms, termination clauses and the signer’s authorization</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Compliance</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Does the project meet the regulatory requirements that apply to it?</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privacy impact assessment, data storage locations, applicable regulations and records of decisions and actions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Security</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Are the security measures appropriate for the data being handled and the systems’ exposure to threats?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identity and access controls, private network access, monitoring and known vulnerabilities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IT</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Is the solution compatible with the company’s systems, and can the company operate and support it?</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approved technologies, available capacity, support responsibilities and records of system changes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Architecture</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Do the system’s components work together as intended, and does the design meet the company’s technical requirements?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overlapping IP address ranges, system interfaces, data ownership, response times and the ability to move away from the solution</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Tech Readiness</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Have tests shown that the solution is ready to operate?</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load, backup and restore tests; recovery plan; operating instructions; and handover to the operations team</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3F5F8"/>
                    </a:solidFill>
                  </a:tcPr>
                </a:tc>
              </a:tr>
              <a:tr h="411480">
                <a:tc>
                  <a:txBody>
                    <a:bodyPr/>
                    <a:lstStyle/>
                    <a:p>
                      <a:pPr indent="0" marL="0">
                        <a:buNone/>
                      </a:pPr>
                      <a:r>
                        <a:rPr lang="en-US" sz="1050" b="1" dirty="0">
                          <a:solidFill>
                            <a:srgbClr val="252A3D"/>
                          </a:solidFill>
                          <a:latin typeface="Arial" pitchFamily="34" charset="0"/>
                          <a:ea typeface="Arial" pitchFamily="34" charset="-122"/>
                          <a:cs typeface="Arial" pitchFamily="34" charset="-120"/>
                        </a:rPr>
                        <a:t>General</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252A3D"/>
                          </a:solidFill>
                          <a:latin typeface="Arial" pitchFamily="34" charset="0"/>
                          <a:ea typeface="Arial" pitchFamily="34" charset="-122"/>
                          <a:cs typeface="Arial" pitchFamily="34" charset="-120"/>
                        </a:rPr>
                        <a:t>Considering the specialist reviews, budget and company strategy, can the project proceed?</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5B6575"/>
                          </a:solidFill>
                          <a:latin typeface="Arial" pitchFamily="34" charset="0"/>
                          <a:ea typeface="Arial" pitchFamily="34" charset="-122"/>
                          <a:cs typeface="Arial" pitchFamily="34" charset="-120"/>
                        </a:rPr>
                        <a:t>earlier review decisions, budget approval, alignment with company strategy and the change plan</a:t>
                      </a:r>
                      <a:endParaRPr lang="en-US" sz="105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Shape 7"/>
          <p:cNvSpPr/>
          <p:nvPr/>
        </p:nvSpPr>
        <p:spPr>
          <a:xfrm>
            <a:off x="457200" y="5870448"/>
            <a:ext cx="11274552" cy="603504"/>
          </a:xfrm>
          <a:prstGeom prst="roundRect">
            <a:avLst>
              <a:gd name="adj" fmla="val 15152"/>
            </a:avLst>
          </a:prstGeom>
          <a:solidFill>
            <a:srgbClr val="FFF5BF"/>
          </a:solidFill>
          <a:ln w="12700">
            <a:solidFill>
              <a:srgbClr val="FFF5BF"/>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621792" y="6016752"/>
            <a:ext cx="310896" cy="310896"/>
          </a:xfrm>
          <a:prstGeom prst="rect">
            <a:avLst/>
          </a:prstGeom>
        </p:spPr>
      </p:pic>
      <p:sp>
        <p:nvSpPr>
          <p:cNvPr id="12" name="Text 8"/>
          <p:cNvSpPr txBox="1"/>
          <p:nvPr/>
        </p:nvSpPr>
        <p:spPr>
          <a:xfrm>
            <a:off x="1051560" y="5870448"/>
            <a:ext cx="10469880" cy="603504"/>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The security and legal reviewers examine the same project documents, but each checks for different risks. They are not repeating the same review: each is responsible for a different area.</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DIGITAL GOVERNANCE FRAMEWORK · WHY FDEs MIGHT START HERE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Why DGF reviews could be a starting point for FDEs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FDEs can apply AI to any business process. The paper gives four reasons why they might start with governance reviews.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DIGITAL GOVERNANCE FRAMEWORK</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07 / 30</a:t>
            </a:r>
            <a:endParaRPr lang="en-US" sz="1000" dirty="0"/>
          </a:p>
        </p:txBody>
      </p:sp>
      <p:sp>
        <p:nvSpPr>
          <p:cNvPr id="9" name="Shape 7"/>
          <p:cNvSpPr/>
          <p:nvPr/>
        </p:nvSpPr>
        <p:spPr>
          <a:xfrm>
            <a:off x="457200" y="1965960"/>
            <a:ext cx="2651760" cy="3246120"/>
          </a:xfrm>
          <a:prstGeom prst="roundRect">
            <a:avLst>
              <a:gd name="adj" fmla="val 3448"/>
            </a:avLst>
          </a:prstGeom>
          <a:solidFill>
            <a:srgbClr val="DDF5FC"/>
          </a:solidFill>
          <a:ln w="12700">
            <a:solidFill>
              <a:srgbClr val="DDF5FC"/>
            </a:solidFill>
            <a:prstDash val="solid"/>
          </a:ln>
        </p:spPr>
        <p:txBody>
          <a:bodyPr/>
          <a:p/>
        </p:txBody>
      </p:sp>
      <p:sp>
        <p:nvSpPr>
          <p:cNvPr id="10" name="Shape 8"/>
          <p:cNvSpPr/>
          <p:nvPr/>
        </p:nvSpPr>
        <p:spPr>
          <a:xfrm>
            <a:off x="621792"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11" name="Text 9"/>
          <p:cNvSpPr txBox="1"/>
          <p:nvPr/>
        </p:nvSpPr>
        <p:spPr>
          <a:xfrm>
            <a:off x="621792"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21792" y="2542032"/>
            <a:ext cx="2322576" cy="320040"/>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The same work comes up repeatedly</a:t>
            </a:r>
            <a:endParaRPr lang="en-US" sz="1350" dirty="0"/>
          </a:p>
        </p:txBody>
      </p:sp>
      <p:sp>
        <p:nvSpPr>
          <p:cNvPr id="13" name="Text 11"/>
          <p:cNvSpPr txBox="1"/>
          <p:nvPr/>
        </p:nvSpPr>
        <p:spPr>
          <a:xfrm>
            <a:off x="621792"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WHY THIS HELPS</a:t>
            </a:r>
            <a:endParaRPr lang="en-US" sz="950" dirty="0"/>
          </a:p>
        </p:txBody>
      </p:sp>
      <p:sp>
        <p:nvSpPr>
          <p:cNvPr id="14" name="Text 12"/>
          <p:cNvSpPr txBox="1"/>
          <p:nvPr/>
        </p:nvSpPr>
        <p:spPr>
          <a:xfrm>
            <a:off x="621792" y="3163824"/>
            <a:ext cx="2322576" cy="109728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Hundreds of projects each year require the same reviews and similar documents. The team can reuse a review solution across projects and apply the same approach at other companies.</a:t>
            </a:r>
            <a:endParaRPr lang="en-US" sz="1020" dirty="0"/>
          </a:p>
        </p:txBody>
      </p:sp>
      <p:sp>
        <p:nvSpPr>
          <p:cNvPr id="15" name="Text 13"/>
          <p:cNvSpPr txBox="1"/>
          <p:nvPr/>
        </p:nvSpPr>
        <p:spPr>
          <a:xfrm>
            <a:off x="621792" y="4279392"/>
            <a:ext cx="2322576" cy="201168"/>
          </a:xfrm>
          <a:prstGeom prst="rect">
            <a:avLst/>
          </a:prstGeom>
          <a:noFill/>
          <a:ln/>
        </p:spPr>
        <p:txBody>
          <a:bodyPr wrap="square" lIns="0" tIns="0" rIns="0" bIns="0" rtlCol="0" anchor="t"/>
          <a:lstStyle/>
          <a:p>
            <a:pPr indent="0" marL="0">
              <a:lnSpc>
                <a:spcPct val="105000"/>
              </a:lnSpc>
              <a:buNone/>
            </a:pPr>
            <a:r>
              <a:rPr lang="en-US" sz="910" b="1" spc="50" kern="0" dirty="0">
                <a:solidFill>
                  <a:srgbClr val="C8283E"/>
                </a:solidFill>
                <a:latin typeface="Arial" pitchFamily="34" charset="0"/>
                <a:ea typeface="Arial" pitchFamily="34" charset="-122"/>
                <a:cs typeface="Arial" pitchFamily="34" charset="-120"/>
              </a:rPr>
              <a:t>WHAT CAN PREVENT AUTOMATION</a:t>
            </a:r>
            <a:endParaRPr lang="en-US" sz="950" dirty="0"/>
          </a:p>
        </p:txBody>
      </p:sp>
      <p:sp>
        <p:nvSpPr>
          <p:cNvPr id="16" name="Text 14"/>
          <p:cNvSpPr txBox="1"/>
          <p:nvPr/>
        </p:nvSpPr>
        <p:spPr>
          <a:xfrm>
            <a:off x="621792" y="4498848"/>
            <a:ext cx="2322576" cy="68580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Information needed for the review has not been written down, or the reviewer cannot access the files.</a:t>
            </a:r>
            <a:endParaRPr lang="en-US" sz="1020" dirty="0"/>
          </a:p>
        </p:txBody>
      </p:sp>
      <p:sp>
        <p:nvSpPr>
          <p:cNvPr id="17" name="Shape 15"/>
          <p:cNvSpPr/>
          <p:nvPr/>
        </p:nvSpPr>
        <p:spPr>
          <a:xfrm>
            <a:off x="3332988" y="1965960"/>
            <a:ext cx="2651760" cy="3246120"/>
          </a:xfrm>
          <a:prstGeom prst="roundRect">
            <a:avLst>
              <a:gd name="adj" fmla="val 3448"/>
            </a:avLst>
          </a:prstGeom>
          <a:solidFill>
            <a:srgbClr val="E5F6E9"/>
          </a:solidFill>
          <a:ln w="12700">
            <a:solidFill>
              <a:srgbClr val="E5F6E9"/>
            </a:solidFill>
            <a:prstDash val="solid"/>
          </a:ln>
        </p:spPr>
        <p:txBody>
          <a:bodyPr/>
          <a:p/>
        </p:txBody>
      </p:sp>
      <p:sp>
        <p:nvSpPr>
          <p:cNvPr id="18" name="Shape 16"/>
          <p:cNvSpPr/>
          <p:nvPr/>
        </p:nvSpPr>
        <p:spPr>
          <a:xfrm>
            <a:off x="3497580"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19" name="Text 17"/>
          <p:cNvSpPr txBox="1"/>
          <p:nvPr/>
        </p:nvSpPr>
        <p:spPr>
          <a:xfrm>
            <a:off x="3497580"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8"/>
          <p:cNvSpPr txBox="1"/>
          <p:nvPr/>
        </p:nvSpPr>
        <p:spPr>
          <a:xfrm>
            <a:off x="3497580" y="2542032"/>
            <a:ext cx="2322576" cy="320040"/>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The rules are already written down</a:t>
            </a:r>
            <a:endParaRPr lang="en-US" sz="1350" dirty="0"/>
          </a:p>
        </p:txBody>
      </p:sp>
      <p:sp>
        <p:nvSpPr>
          <p:cNvPr id="21" name="Text 19"/>
          <p:cNvSpPr txBox="1"/>
          <p:nvPr/>
        </p:nvSpPr>
        <p:spPr>
          <a:xfrm>
            <a:off x="3497580"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WHY THIS HELPS</a:t>
            </a:r>
            <a:endParaRPr lang="en-US" sz="950" dirty="0"/>
          </a:p>
        </p:txBody>
      </p:sp>
      <p:sp>
        <p:nvSpPr>
          <p:cNvPr id="22" name="Text 20"/>
          <p:cNvSpPr txBox="1"/>
          <p:nvPr/>
        </p:nvSpPr>
        <p:spPr>
          <a:xfrm>
            <a:off x="3497580" y="3163824"/>
            <a:ext cx="2322576" cy="109728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The company already has written policies, limits and rules about who can approve which decisions. The team can turn these rules into executable checks and prevent the AI agent from approving decisions outside its authorization.</a:t>
            </a:r>
            <a:endParaRPr lang="en-US" sz="1020" dirty="0"/>
          </a:p>
        </p:txBody>
      </p:sp>
      <p:sp>
        <p:nvSpPr>
          <p:cNvPr id="23" name="Text 21"/>
          <p:cNvSpPr txBox="1"/>
          <p:nvPr/>
        </p:nvSpPr>
        <p:spPr>
          <a:xfrm>
            <a:off x="3497580" y="4279392"/>
            <a:ext cx="2322576" cy="201168"/>
          </a:xfrm>
          <a:prstGeom prst="rect">
            <a:avLst/>
          </a:prstGeom>
          <a:noFill/>
          <a:ln/>
        </p:spPr>
        <p:txBody>
          <a:bodyPr wrap="square" lIns="0" tIns="0" rIns="0" bIns="0" rtlCol="0" anchor="t"/>
          <a:lstStyle/>
          <a:p>
            <a:pPr indent="0" marL="0">
              <a:lnSpc>
                <a:spcPct val="105000"/>
              </a:lnSpc>
              <a:buNone/>
            </a:pPr>
            <a:r>
              <a:rPr lang="en-US" sz="910" b="1" spc="50" kern="0" dirty="0">
                <a:solidFill>
                  <a:srgbClr val="C8283E"/>
                </a:solidFill>
                <a:latin typeface="Arial" pitchFamily="34" charset="0"/>
                <a:ea typeface="Arial" pitchFamily="34" charset="-122"/>
                <a:cs typeface="Arial" pitchFamily="34" charset="-120"/>
              </a:rPr>
              <a:t>WHAT CAN PREVENT AUTOMATION</a:t>
            </a:r>
            <a:endParaRPr lang="en-US" sz="950" dirty="0"/>
          </a:p>
        </p:txBody>
      </p:sp>
      <p:sp>
        <p:nvSpPr>
          <p:cNvPr id="24" name="Text 22"/>
          <p:cNvSpPr txBox="1"/>
          <p:nvPr/>
        </p:nvSpPr>
        <p:spPr>
          <a:xfrm>
            <a:off x="3497580" y="4498848"/>
            <a:ext cx="2322576" cy="68580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Rules contradict each other, or decisions depend on personal judgment rather than written criteria.</a:t>
            </a:r>
            <a:endParaRPr lang="en-US" sz="1020" dirty="0"/>
          </a:p>
        </p:txBody>
      </p:sp>
      <p:sp>
        <p:nvSpPr>
          <p:cNvPr id="25" name="Shape 23"/>
          <p:cNvSpPr/>
          <p:nvPr/>
        </p:nvSpPr>
        <p:spPr>
          <a:xfrm>
            <a:off x="6208776" y="1965960"/>
            <a:ext cx="2651760" cy="3246120"/>
          </a:xfrm>
          <a:prstGeom prst="roundRect">
            <a:avLst>
              <a:gd name="adj" fmla="val 3448"/>
            </a:avLst>
          </a:prstGeom>
          <a:solidFill>
            <a:srgbClr val="FFE4E6"/>
          </a:solidFill>
          <a:ln w="12700">
            <a:solidFill>
              <a:srgbClr val="FFE4E6"/>
            </a:solidFill>
            <a:prstDash val="solid"/>
          </a:ln>
        </p:spPr>
        <p:txBody>
          <a:bodyPr/>
          <a:p/>
        </p:txBody>
      </p:sp>
      <p:sp>
        <p:nvSpPr>
          <p:cNvPr id="26" name="Shape 24"/>
          <p:cNvSpPr/>
          <p:nvPr/>
        </p:nvSpPr>
        <p:spPr>
          <a:xfrm>
            <a:off x="6373368"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27" name="Text 25"/>
          <p:cNvSpPr txBox="1"/>
          <p:nvPr/>
        </p:nvSpPr>
        <p:spPr>
          <a:xfrm>
            <a:off x="6373368"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6373368" y="2542032"/>
            <a:ext cx="2322576" cy="320040"/>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Review results are passed to the next reviewer</a:t>
            </a:r>
            <a:endParaRPr lang="en-US" sz="1350" dirty="0"/>
          </a:p>
        </p:txBody>
      </p:sp>
      <p:sp>
        <p:nvSpPr>
          <p:cNvPr id="29" name="Text 27"/>
          <p:cNvSpPr txBox="1"/>
          <p:nvPr/>
        </p:nvSpPr>
        <p:spPr>
          <a:xfrm>
            <a:off x="6373368"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WHY THIS HELPS</a:t>
            </a:r>
            <a:endParaRPr lang="en-US" sz="950" dirty="0"/>
          </a:p>
        </p:txBody>
      </p:sp>
      <p:sp>
        <p:nvSpPr>
          <p:cNvPr id="30" name="Text 28"/>
          <p:cNvSpPr txBox="1"/>
          <p:nvPr/>
        </p:nvSpPr>
        <p:spPr>
          <a:xfrm>
            <a:off x="6373368" y="3163824"/>
            <a:ext cx="2322576" cy="109728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Each reviewer passes their findings to the next reviewer. The team can create one shared project record that every reviewer consults and updates, rather than keeping eight copies that people must check separately.</a:t>
            </a:r>
            <a:endParaRPr lang="en-US" sz="1020" dirty="0"/>
          </a:p>
        </p:txBody>
      </p:sp>
      <p:sp>
        <p:nvSpPr>
          <p:cNvPr id="31" name="Text 29"/>
          <p:cNvSpPr txBox="1"/>
          <p:nvPr/>
        </p:nvSpPr>
        <p:spPr>
          <a:xfrm>
            <a:off x="6373368" y="4279392"/>
            <a:ext cx="2322576" cy="201168"/>
          </a:xfrm>
          <a:prstGeom prst="rect">
            <a:avLst/>
          </a:prstGeom>
          <a:noFill/>
          <a:ln/>
        </p:spPr>
        <p:txBody>
          <a:bodyPr wrap="square" lIns="0" tIns="0" rIns="0" bIns="0" rtlCol="0" anchor="t"/>
          <a:lstStyle/>
          <a:p>
            <a:pPr indent="0" marL="0">
              <a:lnSpc>
                <a:spcPct val="105000"/>
              </a:lnSpc>
              <a:buNone/>
            </a:pPr>
            <a:r>
              <a:rPr lang="en-US" sz="910" b="1" spc="50" kern="0" dirty="0">
                <a:solidFill>
                  <a:srgbClr val="C8283E"/>
                </a:solidFill>
                <a:latin typeface="Arial" pitchFamily="34" charset="0"/>
                <a:ea typeface="Arial" pitchFamily="34" charset="-122"/>
                <a:cs typeface="Arial" pitchFamily="34" charset="-120"/>
              </a:rPr>
              <a:t>WHAT CAN PREVENT AUTOMATION</a:t>
            </a:r>
            <a:endParaRPr lang="en-US" sz="950" dirty="0"/>
          </a:p>
        </p:txBody>
      </p:sp>
      <p:sp>
        <p:nvSpPr>
          <p:cNvPr id="32" name="Text 30"/>
          <p:cNvSpPr txBox="1"/>
          <p:nvPr/>
        </p:nvSpPr>
        <p:spPr>
          <a:xfrm>
            <a:off x="6373368" y="4498848"/>
            <a:ext cx="2322576" cy="68580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Information is lost between teams, or the same work is repeated.</a:t>
            </a:r>
            <a:endParaRPr lang="en-US" sz="1020" dirty="0"/>
          </a:p>
        </p:txBody>
      </p:sp>
      <p:sp>
        <p:nvSpPr>
          <p:cNvPr id="33" name="Shape 31"/>
          <p:cNvSpPr/>
          <p:nvPr/>
        </p:nvSpPr>
        <p:spPr>
          <a:xfrm>
            <a:off x="9084564" y="1965960"/>
            <a:ext cx="2651760" cy="3246120"/>
          </a:xfrm>
          <a:prstGeom prst="roundRect">
            <a:avLst>
              <a:gd name="adj" fmla="val 3448"/>
            </a:avLst>
          </a:prstGeom>
          <a:solidFill>
            <a:srgbClr val="FFF5BF"/>
          </a:solidFill>
          <a:ln w="12700">
            <a:solidFill>
              <a:srgbClr val="FFF5BF"/>
            </a:solidFill>
            <a:prstDash val="solid"/>
          </a:ln>
        </p:spPr>
        <p:txBody>
          <a:bodyPr/>
          <a:p/>
        </p:txBody>
      </p:sp>
      <p:sp>
        <p:nvSpPr>
          <p:cNvPr id="34" name="Shape 32"/>
          <p:cNvSpPr/>
          <p:nvPr/>
        </p:nvSpPr>
        <p:spPr>
          <a:xfrm>
            <a:off x="9249156" y="21305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35" name="Text 33"/>
          <p:cNvSpPr txBox="1"/>
          <p:nvPr/>
        </p:nvSpPr>
        <p:spPr>
          <a:xfrm>
            <a:off x="9249156" y="21305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36" name="Text 34"/>
          <p:cNvSpPr txBox="1"/>
          <p:nvPr/>
        </p:nvSpPr>
        <p:spPr>
          <a:xfrm>
            <a:off x="9249156" y="2542032"/>
            <a:ext cx="2322576" cy="320040"/>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The quality of the review can be checked</a:t>
            </a:r>
            <a:endParaRPr lang="en-US" sz="1350" dirty="0"/>
          </a:p>
        </p:txBody>
      </p:sp>
      <p:sp>
        <p:nvSpPr>
          <p:cNvPr id="37" name="Text 35"/>
          <p:cNvSpPr txBox="1"/>
          <p:nvPr/>
        </p:nvSpPr>
        <p:spPr>
          <a:xfrm>
            <a:off x="9249156" y="294436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WHY THIS HELPS</a:t>
            </a:r>
            <a:endParaRPr lang="en-US" sz="950" dirty="0"/>
          </a:p>
        </p:txBody>
      </p:sp>
      <p:sp>
        <p:nvSpPr>
          <p:cNvPr id="38" name="Text 36"/>
          <p:cNvSpPr txBox="1"/>
          <p:nvPr/>
        </p:nvSpPr>
        <p:spPr>
          <a:xfrm>
            <a:off x="9249156" y="3163824"/>
            <a:ext cx="2322576" cy="109728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The review can be checked against the known facts of the project. The team can prepare test cases with specialists and check the agent’s performance before relying on it.</a:t>
            </a:r>
            <a:endParaRPr lang="en-US" sz="1020" dirty="0"/>
          </a:p>
        </p:txBody>
      </p:sp>
      <p:sp>
        <p:nvSpPr>
          <p:cNvPr id="39" name="Text 37"/>
          <p:cNvSpPr txBox="1"/>
          <p:nvPr/>
        </p:nvSpPr>
        <p:spPr>
          <a:xfrm>
            <a:off x="9249156" y="4279392"/>
            <a:ext cx="2322576" cy="201168"/>
          </a:xfrm>
          <a:prstGeom prst="rect">
            <a:avLst/>
          </a:prstGeom>
          <a:noFill/>
          <a:ln/>
        </p:spPr>
        <p:txBody>
          <a:bodyPr wrap="square" lIns="0" tIns="0" rIns="0" bIns="0" rtlCol="0" anchor="t"/>
          <a:lstStyle/>
          <a:p>
            <a:pPr indent="0" marL="0">
              <a:lnSpc>
                <a:spcPct val="105000"/>
              </a:lnSpc>
              <a:buNone/>
            </a:pPr>
            <a:r>
              <a:rPr lang="en-US" sz="910" b="1" spc="50" kern="0" dirty="0">
                <a:solidFill>
                  <a:srgbClr val="C8283E"/>
                </a:solidFill>
                <a:latin typeface="Arial" pitchFamily="34" charset="0"/>
                <a:ea typeface="Arial" pitchFamily="34" charset="-122"/>
                <a:cs typeface="Arial" pitchFamily="34" charset="-120"/>
              </a:rPr>
              <a:t>WHAT CAN PREVENT AUTOMATION</a:t>
            </a:r>
            <a:endParaRPr lang="en-US" sz="950" dirty="0"/>
          </a:p>
        </p:txBody>
      </p:sp>
      <p:sp>
        <p:nvSpPr>
          <p:cNvPr id="40" name="Text 38"/>
          <p:cNvSpPr txBox="1"/>
          <p:nvPr/>
        </p:nvSpPr>
        <p:spPr>
          <a:xfrm>
            <a:off x="9249156" y="4498848"/>
            <a:ext cx="2322576" cy="68580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Scoring rewards a well-formatted response instead of checking whether the decision is correct.</a:t>
            </a:r>
            <a:endParaRPr lang="en-US" sz="1020" dirty="0"/>
          </a:p>
        </p:txBody>
      </p:sp>
      <p:sp>
        <p:nvSpPr>
          <p:cNvPr id="41" name="Shape 39"/>
          <p:cNvSpPr/>
          <p:nvPr/>
        </p:nvSpPr>
        <p:spPr>
          <a:xfrm>
            <a:off x="457200" y="5413248"/>
            <a:ext cx="11274552" cy="1005840"/>
          </a:xfrm>
          <a:prstGeom prst="roundRect">
            <a:avLst>
              <a:gd name="adj" fmla="val 9091"/>
            </a:avLst>
          </a:prstGeom>
          <a:solidFill>
            <a:srgbClr val="FFF5BF"/>
          </a:solidFill>
          <a:ln w="12700">
            <a:solidFill>
              <a:srgbClr val="FFF5BF"/>
            </a:solidFill>
            <a:prstDash val="solid"/>
          </a:ln>
        </p:spPr>
        <p:txBody>
          <a:bodyPr/>
          <a:p/>
        </p:txBody>
      </p:sp>
      <p:pic>
        <p:nvPicPr>
          <p:cNvPr id="42" name="Image 0" descr="preencoded.png">    </p:cNvPr>
          <p:cNvPicPr>
            <a:picLocks noChangeAspect="1"/>
          </p:cNvPicPr>
          <p:nvPr/>
        </p:nvPicPr>
        <p:blipFill>
          <a:blip r:embed="rId1"/>
          <a:stretch>
            <a:fillRect/>
          </a:stretch>
        </p:blipFill>
        <p:spPr>
          <a:xfrm>
            <a:off x="621792" y="5760720"/>
            <a:ext cx="310896" cy="310896"/>
          </a:xfrm>
          <a:prstGeom prst="rect">
            <a:avLst/>
          </a:prstGeom>
        </p:spPr>
      </p:pic>
      <p:sp>
        <p:nvSpPr>
          <p:cNvPr id="43" name="Text 40"/>
          <p:cNvSpPr txBox="1"/>
          <p:nvPr/>
        </p:nvSpPr>
        <p:spPr>
          <a:xfrm>
            <a:off x="1051560" y="5413248"/>
            <a:ext cx="10469880" cy="100584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FDEs must also put their own AI projects through these reviews before deployment. </a:t>
            </a:r>
            <a:r>
              <a:rPr lang="en-US" sz="1150" dirty="0">
                <a:solidFill>
                  <a:srgbClr val="252A3D"/>
                </a:solidFill>
                <a:latin typeface="Arial" pitchFamily="34" charset="0"/>
                <a:ea typeface="Arial" pitchFamily="34" charset="-122"/>
                <a:cs typeface="Arial" pitchFamily="34" charset="-120"/>
              </a:rPr>
              <a:t>Automating the reviews would help their later projects move through the process faster. This requires someone responsible for the entire process, not just one department, and the FDEs’ own working hours must be included in the cost. This is a hypothesis about where companies will adopt AI first, not an order established by observation.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IDEA · WHAT THE PAPER INVESTIGATES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170" b="1" dirty="0">
                <a:solidFill>
                  <a:srgbClr val="252A3D"/>
                </a:solidFill>
                <a:latin typeface="Arial" pitchFamily="34" charset="0"/>
                <a:ea typeface="Arial" pitchFamily="34" charset="-122"/>
                <a:cs typeface="Arial" pitchFamily="34" charset="-120"/>
              </a:rPr>
              <a:t>The project review remains mandatory. A specialist or an AI agent can carry it out.</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A job title tells us who currently does the work, not whether the work must be done by a person. An AI agent must meet three conditions before it can take over a review.</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IDEA</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08 / 30</a:t>
            </a:r>
            <a:endParaRPr lang="en-US" sz="1000" dirty="0"/>
          </a:p>
        </p:txBody>
      </p:sp>
      <p:sp>
        <p:nvSpPr>
          <p:cNvPr id="9" name="Shape 7"/>
          <p:cNvSpPr/>
          <p:nvPr/>
        </p:nvSpPr>
        <p:spPr>
          <a:xfrm>
            <a:off x="457200" y="1965960"/>
            <a:ext cx="3557016" cy="3063240"/>
          </a:xfrm>
          <a:prstGeom prst="roundRect">
            <a:avLst>
              <a:gd name="adj" fmla="val 2985"/>
            </a:avLst>
          </a:prstGeom>
          <a:solidFill>
            <a:srgbClr val="DDF5FC"/>
          </a:solidFill>
          <a:ln w="12700">
            <a:solidFill>
              <a:srgbClr val="DDF5FC"/>
            </a:solidFill>
            <a:prstDash val="solid"/>
          </a:ln>
        </p:spPr>
        <p:txBody>
          <a:bodyPr/>
          <a:p/>
        </p:txBody>
      </p:sp>
      <p:sp>
        <p:nvSpPr>
          <p:cNvPr id="10" name="Shape 8"/>
          <p:cNvSpPr/>
          <p:nvPr/>
        </p:nvSpPr>
        <p:spPr>
          <a:xfrm>
            <a:off x="658368" y="214884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1" name="Text 9"/>
          <p:cNvSpPr txBox="1"/>
          <p:nvPr/>
        </p:nvSpPr>
        <p:spPr>
          <a:xfrm>
            <a:off x="658368" y="214884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667512" y="2560320"/>
            <a:ext cx="3154680" cy="347472"/>
          </a:xfrm>
          <a:prstGeom prst="rect">
            <a:avLst/>
          </a:prstGeom>
          <a:noFill/>
          <a:ln/>
        </p:spPr>
        <p:txBody>
          <a:bodyPr wrap="square" lIns="0" tIns="0" rIns="0" bIns="0" rtlCol="0" anchor="t"/>
          <a:lstStyle/>
          <a:p>
            <a:pPr indent="0" marL="0">
              <a:lnSpc>
                <a:spcPct val="105000"/>
              </a:lnSpc>
              <a:buNone/>
            </a:pPr>
            <a:r>
              <a:rPr lang="en-US" sz="1080" b="1" dirty="0">
                <a:solidFill>
                  <a:srgbClr val="252A3D"/>
                </a:solidFill>
                <a:latin typeface="Arial" pitchFamily="34" charset="0"/>
                <a:ea typeface="Arial" pitchFamily="34" charset="-122"/>
                <a:cs typeface="Arial" pitchFamily="34" charset="-120"/>
              </a:rPr>
              <a:t>The agent can access the information it needs</a:t>
            </a:r>
            <a:endParaRPr lang="en-US" sz="1500" dirty="0"/>
          </a:p>
        </p:txBody>
      </p:sp>
      <p:sp>
        <p:nvSpPr>
          <p:cNvPr id="13" name="Text 11"/>
          <p:cNvSpPr txBox="1"/>
          <p:nvPr/>
        </p:nvSpPr>
        <p:spPr>
          <a:xfrm>
            <a:off x="667512" y="2971800"/>
            <a:ext cx="3154680" cy="1463040"/>
          </a:xfrm>
          <a:prstGeom prst="rect">
            <a:avLst/>
          </a:prstGeom>
          <a:noFill/>
          <a:ln/>
        </p:spPr>
        <p:txBody>
          <a:bodyPr wrap="square" lIns="0" tIns="0" rIns="0" bIns="0" rtlCol="0" anchor="t"/>
          <a:lstStyle/>
          <a:p>
            <a:pPr indent="0" marL="0">
              <a:lnSpc>
                <a:spcPct val="105000"/>
              </a:lnSpc>
              <a:buNone/>
            </a:pPr>
            <a:r>
              <a:rPr lang="en-US" sz="1080" dirty="0">
                <a:solidFill>
                  <a:srgbClr val="252A3D"/>
                </a:solidFill>
                <a:latin typeface="Arial" pitchFamily="34" charset="0"/>
                <a:ea typeface="Arial" pitchFamily="34" charset="-122"/>
                <a:cs typeface="Arial" pitchFamily="34" charset="-120"/>
              </a:rPr>
              <a:t>The AI agent must be able to access the information required for the review or request it when it is missing. The agent must not assume that a backup has been tested. It must check the test record or ask to see it. A file is useful only if the agent has permission to open it.</a:t>
            </a:r>
            <a:endParaRPr lang="en-US" sz="1080" dirty="0"/>
          </a:p>
        </p:txBody>
      </p:sp>
      <p:sp>
        <p:nvSpPr>
          <p:cNvPr id="14" name="Shape 12"/>
          <p:cNvSpPr/>
          <p:nvPr/>
        </p:nvSpPr>
        <p:spPr>
          <a:xfrm>
            <a:off x="3337560" y="4352544"/>
            <a:ext cx="493776" cy="493776"/>
          </a:xfrm>
          <a:prstGeom prst="ellipse">
            <a:avLst/>
          </a:prstGeom>
          <a:solidFill>
            <a:srgbClr val="FFFFFF"/>
          </a:solidFill>
          <a:ln w="12700">
            <a:solidFill>
              <a:srgbClr val="FFFFFF"/>
            </a:solidFill>
            <a:prstDash val="solid"/>
          </a:ln>
        </p:spPr>
        <p:txBody>
          <a:bodyPr/>
          <a:p/>
        </p:txBody>
      </p:sp>
      <p:pic>
        <p:nvPicPr>
          <p:cNvPr id="15" name="Image 0" descr="preencoded.png">    </p:cNvPr>
          <p:cNvPicPr>
            <a:picLocks noChangeAspect="1"/>
          </p:cNvPicPr>
          <p:nvPr/>
        </p:nvPicPr>
        <p:blipFill>
          <a:blip r:embed="rId1"/>
          <a:stretch>
            <a:fillRect/>
          </a:stretch>
        </p:blipFill>
        <p:spPr>
          <a:xfrm>
            <a:off x="3447288" y="4462272"/>
            <a:ext cx="274320" cy="274320"/>
          </a:xfrm>
          <a:prstGeom prst="rect">
            <a:avLst/>
          </a:prstGeom>
        </p:spPr>
      </p:pic>
      <p:sp>
        <p:nvSpPr>
          <p:cNvPr id="16" name="Shape 13"/>
          <p:cNvSpPr/>
          <p:nvPr/>
        </p:nvSpPr>
        <p:spPr>
          <a:xfrm>
            <a:off x="4315968" y="1965960"/>
            <a:ext cx="3557016" cy="3063240"/>
          </a:xfrm>
          <a:prstGeom prst="roundRect">
            <a:avLst>
              <a:gd name="adj" fmla="val 2985"/>
            </a:avLst>
          </a:prstGeom>
          <a:solidFill>
            <a:srgbClr val="FFE4E6"/>
          </a:solidFill>
          <a:ln w="12700">
            <a:solidFill>
              <a:srgbClr val="FFE4E6"/>
            </a:solidFill>
            <a:prstDash val="solid"/>
          </a:ln>
        </p:spPr>
        <p:txBody>
          <a:bodyPr/>
          <a:p/>
        </p:txBody>
      </p:sp>
      <p:sp>
        <p:nvSpPr>
          <p:cNvPr id="17" name="Shape 14"/>
          <p:cNvSpPr/>
          <p:nvPr/>
        </p:nvSpPr>
        <p:spPr>
          <a:xfrm>
            <a:off x="4517136" y="214884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8" name="Text 15"/>
          <p:cNvSpPr txBox="1"/>
          <p:nvPr/>
        </p:nvSpPr>
        <p:spPr>
          <a:xfrm>
            <a:off x="4517136" y="214884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19" name="Text 16"/>
          <p:cNvSpPr txBox="1"/>
          <p:nvPr/>
        </p:nvSpPr>
        <p:spPr>
          <a:xfrm>
            <a:off x="4526280" y="2560320"/>
            <a:ext cx="3154680" cy="347472"/>
          </a:xfrm>
          <a:prstGeom prst="rect">
            <a:avLst/>
          </a:prstGeom>
          <a:noFill/>
          <a:ln/>
        </p:spPr>
        <p:txBody>
          <a:bodyPr wrap="square" lIns="0" tIns="0" rIns="0" bIns="0" rtlCol="0" anchor="t"/>
          <a:lstStyle/>
          <a:p>
            <a:pPr indent="0" marL="0">
              <a:lnSpc>
                <a:spcPct val="105000"/>
              </a:lnSpc>
              <a:buNone/>
            </a:pPr>
            <a:r>
              <a:rPr lang="en-US" sz="1290" b="1" dirty="0">
                <a:solidFill>
                  <a:srgbClr val="252A3D"/>
                </a:solidFill>
                <a:latin typeface="Arial" pitchFamily="34" charset="0"/>
                <a:ea typeface="Arial" pitchFamily="34" charset="-122"/>
                <a:cs typeface="Arial" pitchFamily="34" charset="-120"/>
              </a:rPr>
              <a:t>The agent performs the review reliably</a:t>
            </a:r>
            <a:endParaRPr lang="en-US" sz="1500" dirty="0"/>
          </a:p>
        </p:txBody>
      </p:sp>
      <p:sp>
        <p:nvSpPr>
          <p:cNvPr id="20" name="Text 17"/>
          <p:cNvSpPr txBox="1"/>
          <p:nvPr/>
        </p:nvSpPr>
        <p:spPr>
          <a:xfrm>
            <a:off x="4526280" y="2971800"/>
            <a:ext cx="3154680" cy="1463040"/>
          </a:xfrm>
          <a:prstGeom prst="rect">
            <a:avLst/>
          </a:prstGeom>
          <a:noFill/>
          <a:ln/>
        </p:spPr>
        <p:txBody>
          <a:bodyPr wrap="square" lIns="0" tIns="0" rIns="0" bIns="0" rtlCol="0" anchor="t"/>
          <a:lstStyle/>
          <a:p>
            <a:pPr indent="0" marL="0">
              <a:lnSpc>
                <a:spcPct val="105000"/>
              </a:lnSpc>
              <a:buNone/>
            </a:pPr>
            <a:r>
              <a:rPr lang="en-US" sz="1080" dirty="0">
                <a:solidFill>
                  <a:srgbClr val="252A3D"/>
                </a:solidFill>
                <a:latin typeface="Arial" pitchFamily="34" charset="0"/>
                <a:ea typeface="Arial" pitchFamily="34" charset="-122"/>
                <a:cs typeface="Arial" pitchFamily="34" charset="-120"/>
              </a:rPr>
              <a:t>It must handle difficult cases, incomplete files and projects that should be rejected, not just straightforward cases. The agent must also cite its sources and acknowledge uncertainty. Completing a form correctly does not mean the decision itself is correct.</a:t>
            </a:r>
            <a:endParaRPr lang="en-US" sz="1080" dirty="0"/>
          </a:p>
        </p:txBody>
      </p:sp>
      <p:sp>
        <p:nvSpPr>
          <p:cNvPr id="21" name="Shape 18"/>
          <p:cNvSpPr/>
          <p:nvPr/>
        </p:nvSpPr>
        <p:spPr>
          <a:xfrm>
            <a:off x="7196328" y="4352544"/>
            <a:ext cx="493776" cy="493776"/>
          </a:xfrm>
          <a:prstGeom prst="ellipse">
            <a:avLst/>
          </a:prstGeom>
          <a:solidFill>
            <a:srgbClr val="FFFFFF"/>
          </a:solidFill>
          <a:ln w="12700">
            <a:solidFill>
              <a:srgbClr val="FFFFFF"/>
            </a:solidFill>
            <a:prstDash val="solid"/>
          </a:ln>
        </p:spPr>
        <p:txBody>
          <a:bodyPr/>
          <a:p/>
        </p:txBody>
      </p:sp>
      <p:pic>
        <p:nvPicPr>
          <p:cNvPr id="22" name="Image 1" descr="preencoded.png">    </p:cNvPr>
          <p:cNvPicPr>
            <a:picLocks noChangeAspect="1"/>
          </p:cNvPicPr>
          <p:nvPr/>
        </p:nvPicPr>
        <p:blipFill>
          <a:blip r:embed="rId2"/>
          <a:stretch>
            <a:fillRect/>
          </a:stretch>
        </p:blipFill>
        <p:spPr>
          <a:xfrm>
            <a:off x="7306056" y="4462272"/>
            <a:ext cx="274320" cy="274320"/>
          </a:xfrm>
          <a:prstGeom prst="rect">
            <a:avLst/>
          </a:prstGeom>
        </p:spPr>
      </p:pic>
      <p:sp>
        <p:nvSpPr>
          <p:cNvPr id="23" name="Shape 19"/>
          <p:cNvSpPr/>
          <p:nvPr/>
        </p:nvSpPr>
        <p:spPr>
          <a:xfrm>
            <a:off x="8174736" y="1965960"/>
            <a:ext cx="3557016" cy="3063240"/>
          </a:xfrm>
          <a:prstGeom prst="roundRect">
            <a:avLst>
              <a:gd name="adj" fmla="val 2985"/>
            </a:avLst>
          </a:prstGeom>
          <a:solidFill>
            <a:srgbClr val="FFF5BF"/>
          </a:solidFill>
          <a:ln w="12700">
            <a:solidFill>
              <a:srgbClr val="FFF5BF"/>
            </a:solidFill>
            <a:prstDash val="solid"/>
          </a:ln>
        </p:spPr>
        <p:txBody>
          <a:bodyPr/>
          <a:p/>
        </p:txBody>
      </p:sp>
      <p:sp>
        <p:nvSpPr>
          <p:cNvPr id="24" name="Shape 20"/>
          <p:cNvSpPr/>
          <p:nvPr/>
        </p:nvSpPr>
        <p:spPr>
          <a:xfrm>
            <a:off x="8375904" y="2148840"/>
            <a:ext cx="384048" cy="274320"/>
          </a:xfrm>
          <a:prstGeom prst="roundRect">
            <a:avLst>
              <a:gd name="adj" fmla="val 16667"/>
            </a:avLst>
          </a:prstGeom>
          <a:solidFill>
            <a:srgbClr val="FFFFFF"/>
          </a:solidFill>
          <a:ln w="12700">
            <a:solidFill>
              <a:srgbClr val="FFFFFF"/>
            </a:solidFill>
            <a:prstDash val="solid"/>
          </a:ln>
        </p:spPr>
        <p:txBody>
          <a:bodyPr/>
          <a:p/>
        </p:txBody>
      </p:sp>
      <p:sp>
        <p:nvSpPr>
          <p:cNvPr id="25" name="Text 21"/>
          <p:cNvSpPr txBox="1"/>
          <p:nvPr/>
        </p:nvSpPr>
        <p:spPr>
          <a:xfrm>
            <a:off x="8375904" y="214884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6" name="Text 22"/>
          <p:cNvSpPr txBox="1"/>
          <p:nvPr/>
        </p:nvSpPr>
        <p:spPr>
          <a:xfrm>
            <a:off x="8385048" y="2560320"/>
            <a:ext cx="3154680" cy="347472"/>
          </a:xfrm>
          <a:prstGeom prst="rect">
            <a:avLst/>
          </a:prstGeom>
          <a:noFill/>
          <a:ln/>
        </p:spPr>
        <p:txBody>
          <a:bodyPr wrap="square" lIns="0" tIns="0" rIns="0" bIns="0" rtlCol="0" anchor="t"/>
          <a:lstStyle/>
          <a:p>
            <a:pPr indent="0" marL="0">
              <a:lnSpc>
                <a:spcPct val="105000"/>
              </a:lnSpc>
              <a:buNone/>
            </a:pPr>
            <a:r>
              <a:rPr lang="en-US" sz="1080" b="1" dirty="0">
                <a:solidFill>
                  <a:srgbClr val="252A3D"/>
                </a:solidFill>
                <a:latin typeface="Arial" pitchFamily="34" charset="0"/>
                <a:ea typeface="Arial" pitchFamily="34" charset="-122"/>
                <a:cs typeface="Arial" pitchFamily="34" charset="-120"/>
              </a:rPr>
              <a:t>The agent makes only decisions it is authorized to make</a:t>
            </a:r>
            <a:endParaRPr lang="en-US" sz="1500" dirty="0"/>
          </a:p>
        </p:txBody>
      </p:sp>
      <p:sp>
        <p:nvSpPr>
          <p:cNvPr id="27" name="Text 23"/>
          <p:cNvSpPr txBox="1"/>
          <p:nvPr/>
        </p:nvSpPr>
        <p:spPr>
          <a:xfrm>
            <a:off x="8385048" y="2971800"/>
            <a:ext cx="3154680" cy="1463040"/>
          </a:xfrm>
          <a:prstGeom prst="rect">
            <a:avLst/>
          </a:prstGeom>
          <a:noFill/>
          <a:ln/>
        </p:spPr>
        <p:txBody>
          <a:bodyPr wrap="square" lIns="0" tIns="0" rIns="0" bIns="0" rtlCol="0" anchor="t"/>
          <a:lstStyle/>
          <a:p>
            <a:pPr indent="0" marL="0">
              <a:lnSpc>
                <a:spcPct val="105000"/>
              </a:lnSpc>
              <a:buNone/>
            </a:pPr>
            <a:r>
              <a:rPr lang="en-US" sz="1080" dirty="0">
                <a:solidFill>
                  <a:srgbClr val="252A3D"/>
                </a:solidFill>
                <a:latin typeface="Arial" pitchFamily="34" charset="0"/>
                <a:ea typeface="Arial" pitchFamily="34" charset="-122"/>
                <a:cs typeface="Arial" pitchFamily="34" charset="-120"/>
              </a:rPr>
              <a:t>The agent proposes a decision. A separate authorization check allows it only if the agent has the required authorization. A designated person remains accountable for the decision. The agent can request approval, but that does not mean the request will be authorized.</a:t>
            </a:r>
            <a:endParaRPr lang="en-US" sz="1080" dirty="0"/>
          </a:p>
        </p:txBody>
      </p:sp>
      <p:sp>
        <p:nvSpPr>
          <p:cNvPr id="28" name="Shape 24"/>
          <p:cNvSpPr/>
          <p:nvPr/>
        </p:nvSpPr>
        <p:spPr>
          <a:xfrm>
            <a:off x="11055096" y="4352544"/>
            <a:ext cx="493776" cy="493776"/>
          </a:xfrm>
          <a:prstGeom prst="ellipse">
            <a:avLst/>
          </a:prstGeom>
          <a:solidFill>
            <a:srgbClr val="FFFFFF"/>
          </a:solidFill>
          <a:ln w="12700">
            <a:solidFill>
              <a:srgbClr val="FFFFFF"/>
            </a:solidFill>
            <a:prstDash val="solid"/>
          </a:ln>
        </p:spPr>
        <p:txBody>
          <a:bodyPr/>
          <a:p/>
        </p:txBody>
      </p:sp>
      <p:pic>
        <p:nvPicPr>
          <p:cNvPr id="29" name="Image 2" descr="preencoded.png">    </p:cNvPr>
          <p:cNvPicPr>
            <a:picLocks noChangeAspect="1"/>
          </p:cNvPicPr>
          <p:nvPr/>
        </p:nvPicPr>
        <p:blipFill>
          <a:blip r:embed="rId3"/>
          <a:stretch>
            <a:fillRect/>
          </a:stretch>
        </p:blipFill>
        <p:spPr>
          <a:xfrm>
            <a:off x="11164824" y="4462272"/>
            <a:ext cx="274320" cy="274320"/>
          </a:xfrm>
          <a:prstGeom prst="rect">
            <a:avLst/>
          </a:prstGeom>
        </p:spPr>
      </p:pic>
      <p:sp>
        <p:nvSpPr>
          <p:cNvPr id="30" name="Shape 25"/>
          <p:cNvSpPr/>
          <p:nvPr/>
        </p:nvSpPr>
        <p:spPr>
          <a:xfrm>
            <a:off x="457200" y="5193792"/>
            <a:ext cx="11274552" cy="658368"/>
          </a:xfrm>
          <a:prstGeom prst="roundRect">
            <a:avLst>
              <a:gd name="adj" fmla="val 13889"/>
            </a:avLst>
          </a:prstGeom>
          <a:solidFill>
            <a:srgbClr val="E5F6E9"/>
          </a:solidFill>
          <a:ln w="12700">
            <a:solidFill>
              <a:srgbClr val="E5F6E9"/>
            </a:solidFill>
            <a:prstDash val="solid"/>
          </a:ln>
        </p:spPr>
        <p:txBody>
          <a:bodyPr/>
          <a:p/>
        </p:txBody>
      </p:sp>
      <p:sp>
        <p:nvSpPr>
          <p:cNvPr id="31" name="Text 26"/>
          <p:cNvSpPr txBox="1"/>
          <p:nvPr/>
        </p:nvSpPr>
        <p:spPr>
          <a:xfrm>
            <a:off x="658368" y="5193792"/>
            <a:ext cx="10872216" cy="658368"/>
          </a:xfrm>
          <a:prstGeom prst="rect">
            <a:avLst/>
          </a:prstGeom>
          <a:noFill/>
          <a:ln/>
        </p:spPr>
        <p:txBody>
          <a:bodyPr wrap="square" lIns="0" tIns="0" rIns="0" bIns="0" rtlCol="0" anchor="ctr"/>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To reduce staffing needs, a fourth condition must be met: </a:t>
            </a:r>
            <a:r>
              <a:rPr lang="en-US" sz="1100" dirty="0">
                <a:solidFill>
                  <a:srgbClr val="252A3D"/>
                </a:solidFill>
                <a:latin typeface="Arial" pitchFamily="34" charset="0"/>
                <a:ea typeface="Arial" pitchFamily="34" charset="-122"/>
                <a:cs typeface="Arial" pitchFamily="34" charset="-120"/>
              </a:rPr>
              <a:t>the total amount of human work must decrease. Removing a reviewer does not save work if the project team, suppliers or another review team spend the same number of hours doing it instead.</a:t>
            </a:r>
            <a:endParaRPr lang="en-US" sz="1100" dirty="0"/>
          </a:p>
        </p:txBody>
      </p:sp>
      <p:sp>
        <p:nvSpPr>
          <p:cNvPr id="32" name="Shape 27"/>
          <p:cNvSpPr/>
          <p:nvPr/>
        </p:nvSpPr>
        <p:spPr>
          <a:xfrm>
            <a:off x="457200" y="5989320"/>
            <a:ext cx="11274552" cy="548640"/>
          </a:xfrm>
          <a:prstGeom prst="roundRect">
            <a:avLst>
              <a:gd name="adj" fmla="val 16667"/>
            </a:avLst>
          </a:prstGeom>
          <a:solidFill>
            <a:srgbClr val="FFF5BF"/>
          </a:solidFill>
          <a:ln w="12700">
            <a:solidFill>
              <a:srgbClr val="FFF5BF"/>
            </a:solidFill>
            <a:prstDash val="solid"/>
          </a:ln>
        </p:spPr>
        <p:txBody>
          <a:bodyPr/>
          <a:p/>
        </p:txBody>
      </p:sp>
      <p:pic>
        <p:nvPicPr>
          <p:cNvPr id="33" name="Image 3" descr="preencoded.png">    </p:cNvPr>
          <p:cNvPicPr>
            <a:picLocks noChangeAspect="1"/>
          </p:cNvPicPr>
          <p:nvPr/>
        </p:nvPicPr>
        <p:blipFill>
          <a:blip r:embed="rId4"/>
          <a:stretch>
            <a:fillRect/>
          </a:stretch>
        </p:blipFill>
        <p:spPr>
          <a:xfrm>
            <a:off x="621792" y="6108192"/>
            <a:ext cx="310896" cy="310896"/>
          </a:xfrm>
          <a:prstGeom prst="rect">
            <a:avLst/>
          </a:prstGeom>
        </p:spPr>
      </p:pic>
      <p:sp>
        <p:nvSpPr>
          <p:cNvPr id="34" name="Text 28"/>
          <p:cNvSpPr txBox="1"/>
          <p:nvPr/>
        </p:nvSpPr>
        <p:spPr>
          <a:xfrm>
            <a:off x="1051560" y="5989320"/>
            <a:ext cx="10469880" cy="54864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A draft that a person must redo assists the reviewer. </a:t>
            </a:r>
            <a:r>
              <a:rPr lang="en-US" sz="1150" dirty="0">
                <a:solidFill>
                  <a:srgbClr val="252A3D"/>
                </a:solidFill>
                <a:latin typeface="Arial" pitchFamily="34" charset="0"/>
                <a:ea typeface="Arial" pitchFamily="34" charset="-122"/>
                <a:cs typeface="Arial" pitchFamily="34" charset="-120"/>
              </a:rPr>
              <a:t>An AI review accepted as the final result replaces the reviewer’s task.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HOW THE TEST IS RUN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Fictional projects, automatically scored reviews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A program creates each test project. The AI agent reviews it, and a scoring program compares its response with answers prepared in advance and kept hidden from the agent.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09 / 30</a:t>
            </a:r>
            <a:endParaRPr lang="en-US" sz="1000" dirty="0"/>
          </a:p>
        </p:txBody>
      </p:sp>
      <p:sp>
        <p:nvSpPr>
          <p:cNvPr id="9" name="Shape 7"/>
          <p:cNvSpPr/>
          <p:nvPr/>
        </p:nvSpPr>
        <p:spPr>
          <a:xfrm>
            <a:off x="457200" y="1965960"/>
            <a:ext cx="3566160" cy="1417320"/>
          </a:xfrm>
          <a:prstGeom prst="roundRect">
            <a:avLst>
              <a:gd name="adj" fmla="val 6452"/>
            </a:avLst>
          </a:prstGeom>
          <a:solidFill>
            <a:srgbClr val="DDF5FC"/>
          </a:solidFill>
          <a:ln w="12700">
            <a:solidFill>
              <a:srgbClr val="DDF5FC"/>
            </a:solidFill>
            <a:prstDash val="solid"/>
          </a:ln>
        </p:spPr>
        <p:txBody>
          <a:bodyPr/>
          <a:p/>
        </p:txBody>
      </p:sp>
      <p:sp>
        <p:nvSpPr>
          <p:cNvPr id="10" name="Text 8"/>
          <p:cNvSpPr txBox="1"/>
          <p:nvPr/>
        </p:nvSpPr>
        <p:spPr>
          <a:xfrm>
            <a:off x="640080" y="2093976"/>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01 / THE PROJECT</a:t>
            </a:r>
            <a:endParaRPr lang="en-US" sz="850" dirty="0"/>
          </a:p>
        </p:txBody>
      </p:sp>
      <p:sp>
        <p:nvSpPr>
          <p:cNvPr id="11" name="Text 9"/>
          <p:cNvSpPr txBox="1"/>
          <p:nvPr/>
        </p:nvSpPr>
        <p:spPr>
          <a:xfrm>
            <a:off x="640080" y="2295144"/>
            <a:ext cx="3200400" cy="274320"/>
          </a:xfrm>
          <a:prstGeom prst="rect">
            <a:avLst/>
          </a:prstGeom>
          <a:noFill/>
          <a:ln/>
        </p:spPr>
        <p:txBody>
          <a:bodyPr wrap="square" lIns="0" tIns="0" rIns="0" bIns="0" rtlCol="0" anchor="t"/>
          <a:lstStyle/>
          <a:p>
            <a:pPr indent="0" marL="0">
              <a:lnSpc>
                <a:spcPct val="105000"/>
              </a:lnSpc>
              <a:buNone/>
            </a:pPr>
            <a:r>
              <a:rPr lang="en-US" sz="1090" b="1" dirty="0">
                <a:solidFill>
                  <a:srgbClr val="252A3D"/>
                </a:solidFill>
                <a:latin typeface="Arial" pitchFamily="34" charset="0"/>
                <a:ea typeface="Arial" pitchFamily="34" charset="-122"/>
                <a:cs typeface="Arial" pitchFamily="34" charset="-120"/>
              </a:rPr>
              <a:t>A program creates a fictional company project</a:t>
            </a:r>
            <a:endParaRPr lang="en-US" sz="1300" dirty="0"/>
          </a:p>
        </p:txBody>
      </p:sp>
      <p:sp>
        <p:nvSpPr>
          <p:cNvPr id="12" name="Text 10"/>
          <p:cNvSpPr txBox="1"/>
          <p:nvPr/>
        </p:nvSpPr>
        <p:spPr>
          <a:xfrm>
            <a:off x="640080" y="2624328"/>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buy a solution, connect systems or build an application</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users, budget, project owners and deadlines</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the sensitivity of the project’s data</a:t>
            </a:r>
            <a:endParaRPr lang="en-US" sz="980" dirty="0"/>
          </a:p>
        </p:txBody>
      </p:sp>
      <p:sp>
        <p:nvSpPr>
          <p:cNvPr id="13" name="Shape 11"/>
          <p:cNvSpPr/>
          <p:nvPr/>
        </p:nvSpPr>
        <p:spPr>
          <a:xfrm>
            <a:off x="4069080" y="2674620"/>
            <a:ext cx="196596" cy="0"/>
          </a:xfrm>
          <a:prstGeom prst="line">
            <a:avLst/>
          </a:prstGeom>
          <a:noFill/>
          <a:ln w="15875">
            <a:solidFill>
              <a:srgbClr val="252A3D"/>
            </a:solidFill>
            <a:prstDash val="solid"/>
            <a:tailEnd type="triangle"/>
          </a:ln>
        </p:spPr>
        <p:txBody>
          <a:bodyPr/>
          <a:p/>
        </p:txBody>
      </p:sp>
      <p:sp>
        <p:nvSpPr>
          <p:cNvPr id="14" name="Shape 12"/>
          <p:cNvSpPr/>
          <p:nvPr/>
        </p:nvSpPr>
        <p:spPr>
          <a:xfrm>
            <a:off x="4311396" y="1965960"/>
            <a:ext cx="3566160" cy="1417320"/>
          </a:xfrm>
          <a:prstGeom prst="roundRect">
            <a:avLst>
              <a:gd name="adj" fmla="val 6452"/>
            </a:avLst>
          </a:prstGeom>
          <a:solidFill>
            <a:srgbClr val="DDF5FC"/>
          </a:solidFill>
          <a:ln w="12700">
            <a:solidFill>
              <a:srgbClr val="DDF5FC"/>
            </a:solidFill>
            <a:prstDash val="solid"/>
          </a:ln>
        </p:spPr>
        <p:txBody>
          <a:bodyPr/>
          <a:p/>
        </p:txBody>
      </p:sp>
      <p:sp>
        <p:nvSpPr>
          <p:cNvPr id="15" name="Text 13"/>
          <p:cNvSpPr txBox="1"/>
          <p:nvPr/>
        </p:nvSpPr>
        <p:spPr>
          <a:xfrm>
            <a:off x="4494276" y="2093976"/>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02 / THE TECHNICAL DESIGN</a:t>
            </a:r>
            <a:endParaRPr lang="en-US" sz="850" dirty="0"/>
          </a:p>
        </p:txBody>
      </p:sp>
      <p:sp>
        <p:nvSpPr>
          <p:cNvPr id="16" name="Text 14"/>
          <p:cNvSpPr txBox="1"/>
          <p:nvPr/>
        </p:nvSpPr>
        <p:spPr>
          <a:xfrm>
            <a:off x="4494276" y="2295144"/>
            <a:ext cx="3200400" cy="274320"/>
          </a:xfrm>
          <a:prstGeom prst="rect">
            <a:avLst/>
          </a:prstGeom>
          <a:noFill/>
          <a:ln/>
        </p:spPr>
        <p:txBody>
          <a:bodyPr wrap="square" lIns="0" tIns="0" rIns="0" bIns="0" rtlCol="0" anchor="t"/>
          <a:lstStyle/>
          <a:p>
            <a:pPr indent="0" marL="0">
              <a:lnSpc>
                <a:spcPct val="105000"/>
              </a:lnSpc>
              <a:buNone/>
            </a:pPr>
            <a:r>
              <a:rPr lang="en-US" sz="1120" b="1" dirty="0">
                <a:solidFill>
                  <a:srgbClr val="252A3D"/>
                </a:solidFill>
                <a:latin typeface="Arial" pitchFamily="34" charset="0"/>
                <a:ea typeface="Arial" pitchFamily="34" charset="-122"/>
                <a:cs typeface="Arial" pitchFamily="34" charset="-120"/>
              </a:rPr>
              <a:t>It creates the project’s technical architecture</a:t>
            </a:r>
            <a:endParaRPr lang="en-US" sz="1300" dirty="0"/>
          </a:p>
        </p:txBody>
      </p:sp>
      <p:sp>
        <p:nvSpPr>
          <p:cNvPr id="17" name="Text 15"/>
          <p:cNvSpPr txBox="1"/>
          <p:nvPr/>
        </p:nvSpPr>
        <p:spPr>
          <a:xfrm>
            <a:off x="4494276" y="2624328"/>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applications, networks and user or service identities</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data storage locations and data flows</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backup and recovery arrangements</a:t>
            </a:r>
            <a:endParaRPr lang="en-US" sz="980" dirty="0"/>
          </a:p>
        </p:txBody>
      </p:sp>
      <p:sp>
        <p:nvSpPr>
          <p:cNvPr id="18" name="Shape 16"/>
          <p:cNvSpPr/>
          <p:nvPr/>
        </p:nvSpPr>
        <p:spPr>
          <a:xfrm>
            <a:off x="7923276" y="2674620"/>
            <a:ext cx="196596" cy="0"/>
          </a:xfrm>
          <a:prstGeom prst="line">
            <a:avLst/>
          </a:prstGeom>
          <a:noFill/>
          <a:ln w="15875">
            <a:solidFill>
              <a:srgbClr val="252A3D"/>
            </a:solidFill>
            <a:prstDash val="solid"/>
            <a:tailEnd type="triangle"/>
          </a:ln>
        </p:spPr>
        <p:txBody>
          <a:bodyPr/>
          <a:p/>
        </p:txBody>
      </p:sp>
      <p:sp>
        <p:nvSpPr>
          <p:cNvPr id="19" name="Shape 17"/>
          <p:cNvSpPr/>
          <p:nvPr/>
        </p:nvSpPr>
        <p:spPr>
          <a:xfrm>
            <a:off x="8165592" y="1965960"/>
            <a:ext cx="3566160" cy="1417320"/>
          </a:xfrm>
          <a:prstGeom prst="roundRect">
            <a:avLst>
              <a:gd name="adj" fmla="val 6452"/>
            </a:avLst>
          </a:prstGeom>
          <a:solidFill>
            <a:srgbClr val="DDF5FC"/>
          </a:solidFill>
          <a:ln w="12700">
            <a:solidFill>
              <a:srgbClr val="DDF5FC"/>
            </a:solidFill>
            <a:prstDash val="solid"/>
          </a:ln>
        </p:spPr>
        <p:txBody>
          <a:bodyPr/>
          <a:p/>
        </p:txBody>
      </p:sp>
      <p:sp>
        <p:nvSpPr>
          <p:cNvPr id="20" name="Text 18"/>
          <p:cNvSpPr txBox="1"/>
          <p:nvPr/>
        </p:nvSpPr>
        <p:spPr>
          <a:xfrm>
            <a:off x="8348472" y="2093976"/>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03 / THE PROJECT DOCUMENTS</a:t>
            </a:r>
            <a:endParaRPr lang="en-US" sz="850" dirty="0"/>
          </a:p>
        </p:txBody>
      </p:sp>
      <p:sp>
        <p:nvSpPr>
          <p:cNvPr id="21" name="Text 19"/>
          <p:cNvSpPr txBox="1"/>
          <p:nvPr/>
        </p:nvSpPr>
        <p:spPr>
          <a:xfrm>
            <a:off x="8348472" y="2295144"/>
            <a:ext cx="3200400" cy="274320"/>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It generates the project documents</a:t>
            </a:r>
            <a:endParaRPr lang="en-US" sz="1300" dirty="0"/>
          </a:p>
        </p:txBody>
      </p:sp>
      <p:sp>
        <p:nvSpPr>
          <p:cNvPr id="22" name="Text 20"/>
          <p:cNvSpPr txBox="1"/>
          <p:nvPr/>
        </p:nvSpPr>
        <p:spPr>
          <a:xfrm>
            <a:off x="8348472" y="2624328"/>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project charter, contracts, test reports and diagrams</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some documents deliberately missing or outdated</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official records containing facts needed to verify the documents</a:t>
            </a:r>
            <a:endParaRPr lang="en-US" sz="980" dirty="0"/>
          </a:p>
        </p:txBody>
      </p:sp>
      <p:sp>
        <p:nvSpPr>
          <p:cNvPr id="23" name="Shape 21"/>
          <p:cNvSpPr/>
          <p:nvPr/>
        </p:nvSpPr>
        <p:spPr>
          <a:xfrm>
            <a:off x="457200" y="3593592"/>
            <a:ext cx="3566160" cy="1417320"/>
          </a:xfrm>
          <a:prstGeom prst="roundRect">
            <a:avLst>
              <a:gd name="adj" fmla="val 6452"/>
            </a:avLst>
          </a:prstGeom>
          <a:solidFill>
            <a:srgbClr val="FFF5BF"/>
          </a:solidFill>
          <a:ln w="12700">
            <a:solidFill>
              <a:srgbClr val="FFF5BF"/>
            </a:solidFill>
            <a:prstDash val="solid"/>
          </a:ln>
        </p:spPr>
        <p:txBody>
          <a:bodyPr/>
          <a:p/>
        </p:txBody>
      </p:sp>
      <p:sp>
        <p:nvSpPr>
          <p:cNvPr id="24" name="Text 22"/>
          <p:cNvSpPr txBox="1"/>
          <p:nvPr/>
        </p:nvSpPr>
        <p:spPr>
          <a:xfrm>
            <a:off x="640080" y="3721608"/>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04 / THE AGENT REVIEWS</a:t>
            </a:r>
            <a:endParaRPr lang="en-US" sz="850" dirty="0"/>
          </a:p>
        </p:txBody>
      </p:sp>
      <p:sp>
        <p:nvSpPr>
          <p:cNvPr id="25" name="Text 23"/>
          <p:cNvSpPr txBox="1"/>
          <p:nvPr/>
        </p:nvSpPr>
        <p:spPr>
          <a:xfrm>
            <a:off x="640080" y="3922776"/>
            <a:ext cx="3200400" cy="274320"/>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The AI agent examines the project</a:t>
            </a:r>
            <a:endParaRPr lang="en-US" sz="1300" dirty="0"/>
          </a:p>
        </p:txBody>
      </p:sp>
      <p:sp>
        <p:nvSpPr>
          <p:cNvPr id="26" name="Text 24"/>
          <p:cNvSpPr txBox="1"/>
          <p:nvPr/>
        </p:nvSpPr>
        <p:spPr>
          <a:xfrm>
            <a:off x="640080" y="4251960"/>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opens the documents and architecture diagrams</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checks official records and requests missing information</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identifies missing or conflicting information</a:t>
            </a:r>
            <a:endParaRPr lang="en-US" sz="980" dirty="0"/>
          </a:p>
        </p:txBody>
      </p:sp>
      <p:sp>
        <p:nvSpPr>
          <p:cNvPr id="27" name="Shape 25"/>
          <p:cNvSpPr/>
          <p:nvPr/>
        </p:nvSpPr>
        <p:spPr>
          <a:xfrm>
            <a:off x="4069080" y="4302252"/>
            <a:ext cx="196596" cy="0"/>
          </a:xfrm>
          <a:prstGeom prst="line">
            <a:avLst/>
          </a:prstGeom>
          <a:noFill/>
          <a:ln w="15875">
            <a:solidFill>
              <a:srgbClr val="252A3D"/>
            </a:solidFill>
            <a:prstDash val="solid"/>
            <a:tailEnd type="triangle"/>
          </a:ln>
        </p:spPr>
        <p:txBody>
          <a:bodyPr/>
          <a:p/>
        </p:txBody>
      </p:sp>
      <p:sp>
        <p:nvSpPr>
          <p:cNvPr id="28" name="Shape 26"/>
          <p:cNvSpPr/>
          <p:nvPr/>
        </p:nvSpPr>
        <p:spPr>
          <a:xfrm>
            <a:off x="4311396" y="3593592"/>
            <a:ext cx="3566160" cy="1417320"/>
          </a:xfrm>
          <a:prstGeom prst="roundRect">
            <a:avLst>
              <a:gd name="adj" fmla="val 6452"/>
            </a:avLst>
          </a:prstGeom>
          <a:solidFill>
            <a:srgbClr val="FFF5BF"/>
          </a:solidFill>
          <a:ln w="12700">
            <a:solidFill>
              <a:srgbClr val="FFF5BF"/>
            </a:solidFill>
            <a:prstDash val="solid"/>
          </a:ln>
        </p:spPr>
        <p:txBody>
          <a:bodyPr/>
          <a:p/>
        </p:txBody>
      </p:sp>
      <p:sp>
        <p:nvSpPr>
          <p:cNvPr id="29" name="Text 27"/>
          <p:cNvSpPr txBox="1"/>
          <p:nvPr/>
        </p:nvSpPr>
        <p:spPr>
          <a:xfrm>
            <a:off x="4494276" y="3721608"/>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05 / THE AGENT DECIDES</a:t>
            </a:r>
            <a:endParaRPr lang="en-US" sz="850" dirty="0"/>
          </a:p>
        </p:txBody>
      </p:sp>
      <p:sp>
        <p:nvSpPr>
          <p:cNvPr id="30" name="Text 28"/>
          <p:cNvSpPr txBox="1"/>
          <p:nvPr/>
        </p:nvSpPr>
        <p:spPr>
          <a:xfrm>
            <a:off x="4494276" y="3922776"/>
            <a:ext cx="3200400" cy="274320"/>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It makes a decision</a:t>
            </a:r>
            <a:endParaRPr lang="en-US" sz="1300" dirty="0"/>
          </a:p>
        </p:txBody>
      </p:sp>
      <p:sp>
        <p:nvSpPr>
          <p:cNvPr id="31" name="Text 29"/>
          <p:cNvSpPr txBox="1"/>
          <p:nvPr/>
        </p:nvSpPr>
        <p:spPr>
          <a:xfrm>
            <a:off x="4494276" y="4251960"/>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lists problems, required actions and supporting sources</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checks whether it is authorized to make the decision</a:t>
            </a:r>
            <a:endParaRPr lang="en-US" sz="980" dirty="0"/>
          </a:p>
          <a:p>
            <a:pPr marL="127000" indent="-127000">
              <a:lnSpc>
                <a:spcPct val="105000"/>
              </a:lnSpc>
              <a:spcAft>
                <a:spcPts val="200"/>
              </a:spcAft>
              <a:buSzPct val="100000"/>
              <a:buChar char="•"/>
            </a:pPr>
            <a:r>
              <a:rPr lang="en-US" sz="980" dirty="0">
                <a:solidFill>
                  <a:srgbClr val="252A3D"/>
                </a:solidFill>
                <a:latin typeface="Arial" pitchFamily="34" charset="0"/>
                <a:ea typeface="Arial" pitchFamily="34" charset="-122"/>
                <a:cs typeface="Arial" pitchFamily="34" charset="-120"/>
              </a:rPr>
              <a:t>passes its findings to the next reviewer</a:t>
            </a:r>
            <a:endParaRPr lang="en-US" sz="980" dirty="0"/>
          </a:p>
        </p:txBody>
      </p:sp>
      <p:sp>
        <p:nvSpPr>
          <p:cNvPr id="32" name="Shape 30"/>
          <p:cNvSpPr/>
          <p:nvPr/>
        </p:nvSpPr>
        <p:spPr>
          <a:xfrm>
            <a:off x="7923276" y="4302252"/>
            <a:ext cx="196596" cy="0"/>
          </a:xfrm>
          <a:prstGeom prst="line">
            <a:avLst/>
          </a:prstGeom>
          <a:noFill/>
          <a:ln w="15875">
            <a:solidFill>
              <a:srgbClr val="252A3D"/>
            </a:solidFill>
            <a:prstDash val="solid"/>
            <a:tailEnd type="triangle"/>
          </a:ln>
        </p:spPr>
        <p:txBody>
          <a:bodyPr/>
          <a:p/>
        </p:txBody>
      </p:sp>
      <p:sp>
        <p:nvSpPr>
          <p:cNvPr id="33" name="Shape 31"/>
          <p:cNvSpPr/>
          <p:nvPr/>
        </p:nvSpPr>
        <p:spPr>
          <a:xfrm>
            <a:off x="8165592" y="3593592"/>
            <a:ext cx="3566160" cy="1417320"/>
          </a:xfrm>
          <a:prstGeom prst="roundRect">
            <a:avLst>
              <a:gd name="adj" fmla="val 6452"/>
            </a:avLst>
          </a:prstGeom>
          <a:solidFill>
            <a:srgbClr val="E5F6E9"/>
          </a:solidFill>
          <a:ln w="12700">
            <a:solidFill>
              <a:srgbClr val="E5F6E9"/>
            </a:solidFill>
            <a:prstDash val="solid"/>
          </a:ln>
        </p:spPr>
        <p:txBody>
          <a:bodyPr/>
          <a:p/>
        </p:txBody>
      </p:sp>
      <p:sp>
        <p:nvSpPr>
          <p:cNvPr id="34" name="Text 32"/>
          <p:cNvSpPr txBox="1"/>
          <p:nvPr/>
        </p:nvSpPr>
        <p:spPr>
          <a:xfrm>
            <a:off x="8348472" y="3721608"/>
            <a:ext cx="3200400" cy="182880"/>
          </a:xfrm>
          <a:prstGeom prst="rect">
            <a:avLst/>
          </a:prstGeom>
          <a:noFill/>
          <a:ln/>
        </p:spPr>
        <p:txBody>
          <a:bodyPr wrap="square" lIns="0" tIns="0" rIns="0" bIns="0" rtlCol="0" anchor="t"/>
          <a:lstStyle/>
          <a:p>
            <a:pPr indent="0" marL="0">
              <a:lnSpc>
                <a:spcPct val="105000"/>
              </a:lnSpc>
              <a:buNone/>
            </a:pPr>
            <a:r>
              <a:rPr lang="en-US" sz="850" b="1" spc="50" kern="0" dirty="0">
                <a:solidFill>
                  <a:srgbClr val="5B6575"/>
                </a:solidFill>
                <a:latin typeface="Arial" pitchFamily="34" charset="0"/>
                <a:ea typeface="Arial" pitchFamily="34" charset="-122"/>
                <a:cs typeface="Arial" pitchFamily="34" charset="-120"/>
              </a:rPr>
              <a:t>06 / THE RESULTS ARE SCORED</a:t>
            </a:r>
            <a:endParaRPr lang="en-US" sz="850" dirty="0"/>
          </a:p>
        </p:txBody>
      </p:sp>
      <p:sp>
        <p:nvSpPr>
          <p:cNvPr id="35" name="Text 33"/>
          <p:cNvSpPr txBox="1"/>
          <p:nvPr/>
        </p:nvSpPr>
        <p:spPr>
          <a:xfrm>
            <a:off x="8348472" y="3922776"/>
            <a:ext cx="3200400" cy="274320"/>
          </a:xfrm>
          <a:prstGeom prst="rect">
            <a:avLst/>
          </a:prstGeom>
          <a:noFill/>
          <a:ln/>
        </p:spPr>
        <p:txBody>
          <a:bodyPr wrap="square" lIns="0" tIns="0" rIns="0" bIns="0" rtlCol="0" anchor="t"/>
          <a:lstStyle/>
          <a:p>
            <a:pPr indent="0" marL="0">
              <a:lnSpc>
                <a:spcPct val="105000"/>
              </a:lnSpc>
              <a:buNone/>
            </a:pPr>
            <a:r>
              <a:rPr lang="en-US" sz="1250" b="1" dirty="0">
                <a:solidFill>
                  <a:srgbClr val="252A3D"/>
                </a:solidFill>
                <a:latin typeface="Arial" pitchFamily="34" charset="0"/>
                <a:ea typeface="Arial" pitchFamily="34" charset="-122"/>
                <a:cs typeface="Arial" pitchFamily="34" charset="-120"/>
              </a:rPr>
              <a:t>A program scores the agent’s responses</a:t>
            </a:r>
            <a:endParaRPr lang="en-US" sz="1300" dirty="0"/>
          </a:p>
        </p:txBody>
      </p:sp>
      <p:sp>
        <p:nvSpPr>
          <p:cNvPr id="36" name="Text 34"/>
          <p:cNvSpPr txBox="1"/>
          <p:nvPr/>
        </p:nvSpPr>
        <p:spPr>
          <a:xfrm>
            <a:off x="8348472" y="4251960"/>
            <a:ext cx="3200400" cy="731520"/>
          </a:xfrm>
          <a:prstGeom prst="rect">
            <a:avLst/>
          </a:prstGeom>
          <a:noFill/>
          <a:ln/>
        </p:spPr>
        <p:txBody>
          <a:bodyPr wrap="square" lIns="0" tIns="0" rIns="0" bIns="0" rtlCol="0" anchor="t"/>
          <a:lstStyle/>
          <a:p>
            <a:pPr marL="127000" indent="-127000">
              <a:lnSpc>
                <a:spcPct val="105000"/>
              </a:lnSpc>
              <a:spcAft>
                <a:spcPts val="200"/>
              </a:spcAft>
              <a:buSzPct val="100000"/>
              <a:buChar char="•"/>
            </a:pPr>
            <a:r>
              <a:rPr lang="en-US" sz="920" dirty="0">
                <a:solidFill>
                  <a:srgbClr val="252A3D"/>
                </a:solidFill>
                <a:latin typeface="Arial" pitchFamily="34" charset="0"/>
                <a:ea typeface="Arial" pitchFamily="34" charset="-122"/>
                <a:cs typeface="Arial" pitchFamily="34" charset="-120"/>
              </a:rPr>
              <a:t>compares them with answers the agent could not access</a:t>
            </a:r>
            <a:endParaRPr lang="en-US" sz="980" dirty="0"/>
          </a:p>
          <a:p>
            <a:pPr marL="127000" indent="-127000">
              <a:lnSpc>
                <a:spcPct val="105000"/>
              </a:lnSpc>
              <a:spcAft>
                <a:spcPts val="200"/>
              </a:spcAft>
              <a:buSzPct val="100000"/>
              <a:buChar char="•"/>
            </a:pPr>
            <a:r>
              <a:rPr lang="en-US" sz="920" dirty="0">
                <a:solidFill>
                  <a:srgbClr val="252A3D"/>
                </a:solidFill>
                <a:latin typeface="Arial" pitchFamily="34" charset="0"/>
                <a:ea typeface="Arial" pitchFamily="34" charset="-122"/>
                <a:cs typeface="Arial" pitchFamily="34" charset="-120"/>
              </a:rPr>
              <a:t>checks the decision, problems, actions, source citations and authorization</a:t>
            </a:r>
            <a:endParaRPr lang="en-US" sz="980" dirty="0"/>
          </a:p>
          <a:p>
            <a:pPr marL="127000" indent="-127000">
              <a:lnSpc>
                <a:spcPct val="105000"/>
              </a:lnSpc>
              <a:spcAft>
                <a:spcPts val="200"/>
              </a:spcAft>
              <a:buSzPct val="100000"/>
              <a:buChar char="•"/>
            </a:pPr>
            <a:r>
              <a:rPr lang="en-US" sz="920" dirty="0">
                <a:solidFill>
                  <a:srgbClr val="252A3D"/>
                </a:solidFill>
                <a:latin typeface="Arial" pitchFamily="34" charset="0"/>
                <a:ea typeface="Arial" pitchFamily="34" charset="-122"/>
                <a:cs typeface="Arial" pitchFamily="34" charset="-120"/>
              </a:rPr>
              <a:t>records costs and failures</a:t>
            </a:r>
            <a:endParaRPr lang="en-US" sz="980" dirty="0"/>
          </a:p>
        </p:txBody>
      </p:sp>
      <p:sp>
        <p:nvSpPr>
          <p:cNvPr id="37" name="Shape 35"/>
          <p:cNvSpPr/>
          <p:nvPr/>
        </p:nvSpPr>
        <p:spPr>
          <a:xfrm>
            <a:off x="11338560" y="3383280"/>
            <a:ext cx="0" cy="100584"/>
          </a:xfrm>
          <a:prstGeom prst="line">
            <a:avLst/>
          </a:prstGeom>
          <a:noFill/>
          <a:ln w="15875">
            <a:solidFill>
              <a:srgbClr val="252A3D"/>
            </a:solidFill>
            <a:prstDash val="solid"/>
          </a:ln>
        </p:spPr>
        <p:txBody>
          <a:bodyPr/>
          <a:p/>
        </p:txBody>
      </p:sp>
      <p:sp>
        <p:nvSpPr>
          <p:cNvPr id="38" name="Shape 36"/>
          <p:cNvSpPr/>
          <p:nvPr/>
        </p:nvSpPr>
        <p:spPr>
          <a:xfrm>
            <a:off x="2240280" y="3483864"/>
            <a:ext cx="9098280" cy="0"/>
          </a:xfrm>
          <a:prstGeom prst="line">
            <a:avLst/>
          </a:prstGeom>
          <a:noFill/>
          <a:ln w="15875">
            <a:solidFill>
              <a:srgbClr val="252A3D"/>
            </a:solidFill>
            <a:prstDash val="solid"/>
          </a:ln>
        </p:spPr>
        <p:txBody>
          <a:bodyPr/>
          <a:p/>
        </p:txBody>
      </p:sp>
      <p:sp>
        <p:nvSpPr>
          <p:cNvPr id="39" name="Shape 37"/>
          <p:cNvSpPr/>
          <p:nvPr/>
        </p:nvSpPr>
        <p:spPr>
          <a:xfrm>
            <a:off x="2240280" y="3483864"/>
            <a:ext cx="0" cy="82296"/>
          </a:xfrm>
          <a:prstGeom prst="line">
            <a:avLst/>
          </a:prstGeom>
          <a:noFill/>
          <a:ln w="15875">
            <a:solidFill>
              <a:srgbClr val="252A3D"/>
            </a:solidFill>
            <a:prstDash val="solid"/>
            <a:tailEnd type="triangle"/>
          </a:ln>
        </p:spPr>
        <p:txBody>
          <a:bodyPr/>
          <a:p/>
        </p:txBody>
      </p:sp>
      <p:sp>
        <p:nvSpPr>
          <p:cNvPr id="40" name="Shape 38"/>
          <p:cNvSpPr/>
          <p:nvPr/>
        </p:nvSpPr>
        <p:spPr>
          <a:xfrm>
            <a:off x="457200" y="5349240"/>
            <a:ext cx="11274552" cy="1143000"/>
          </a:xfrm>
          <a:prstGeom prst="roundRect">
            <a:avLst>
              <a:gd name="adj" fmla="val 8000"/>
            </a:avLst>
          </a:prstGeom>
          <a:solidFill>
            <a:srgbClr val="FFF5BF"/>
          </a:solidFill>
          <a:ln w="12700">
            <a:solidFill>
              <a:srgbClr val="FFF5BF"/>
            </a:solidFill>
            <a:prstDash val="solid"/>
          </a:ln>
        </p:spPr>
        <p:txBody>
          <a:bodyPr/>
          <a:p/>
        </p:txBody>
      </p:sp>
      <p:pic>
        <p:nvPicPr>
          <p:cNvPr id="41" name="Image 0" descr="preencoded.png">    </p:cNvPr>
          <p:cNvPicPr>
            <a:picLocks noChangeAspect="1"/>
          </p:cNvPicPr>
          <p:nvPr/>
        </p:nvPicPr>
        <p:blipFill>
          <a:blip r:embed="rId1"/>
          <a:stretch>
            <a:fillRect/>
          </a:stretch>
        </p:blipFill>
        <p:spPr>
          <a:xfrm>
            <a:off x="621792" y="5765292"/>
            <a:ext cx="310896" cy="310896"/>
          </a:xfrm>
          <a:prstGeom prst="rect">
            <a:avLst/>
          </a:prstGeom>
        </p:spPr>
      </p:pic>
      <p:sp>
        <p:nvSpPr>
          <p:cNvPr id="42" name="Text 39"/>
          <p:cNvSpPr txBox="1"/>
          <p:nvPr/>
        </p:nvSpPr>
        <p:spPr>
          <a:xfrm>
            <a:off x="1051560" y="5349240"/>
            <a:ext cx="10469880" cy="114300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Why use fictional projects? </a:t>
            </a:r>
            <a:r>
              <a:rPr lang="en-US" sz="1150" dirty="0">
                <a:solidFill>
                  <a:srgbClr val="252A3D"/>
                </a:solidFill>
                <a:latin typeface="Arial" pitchFamily="34" charset="0"/>
                <a:ea typeface="Arial" pitchFamily="34" charset="-122"/>
                <a:cs typeface="Arial" pitchFamily="34" charset="-120"/>
              </a:rPr>
              <a:t>They contain no confidential company data. The correct answers are known in advance, so every response can be scored against the same rules. The AI agent only reviews the project; it does not create the project it is reviewing. A conventional program, not another AI model, scores the responses using the same rules for every model.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HOW REVIEWS ARE CHECKED</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What the agent does after reading the project documents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Requests are checked during each review. Responses are scored after all the project’s reviews are complete.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10 / 30</a:t>
            </a:r>
            <a:endParaRPr lang="en-US" sz="1000" dirty="0"/>
          </a:p>
        </p:txBody>
      </p:sp>
      <p:sp>
        <p:nvSpPr>
          <p:cNvPr id="9" name="Shape 7"/>
          <p:cNvSpPr/>
          <p:nvPr/>
        </p:nvSpPr>
        <p:spPr>
          <a:xfrm>
            <a:off x="457200" y="1965960"/>
            <a:ext cx="7498080" cy="640080"/>
          </a:xfrm>
          <a:prstGeom prst="roundRect">
            <a:avLst>
              <a:gd name="adj" fmla="val 14286"/>
            </a:avLst>
          </a:prstGeom>
          <a:solidFill>
            <a:srgbClr val="DDF5FC"/>
          </a:solidFill>
          <a:ln w="12700">
            <a:solidFill>
              <a:srgbClr val="DDF5FC"/>
            </a:solidFill>
            <a:prstDash val="solid"/>
          </a:ln>
        </p:spPr>
        <p:txBody>
          <a:bodyPr/>
          <a:p/>
        </p:txBody>
      </p:sp>
      <p:sp>
        <p:nvSpPr>
          <p:cNvPr id="10" name="Shape 8"/>
          <p:cNvSpPr/>
          <p:nvPr/>
        </p:nvSpPr>
        <p:spPr>
          <a:xfrm>
            <a:off x="603504" y="2075688"/>
            <a:ext cx="384048" cy="274320"/>
          </a:xfrm>
          <a:prstGeom prst="roundRect">
            <a:avLst>
              <a:gd name="adj" fmla="val 16667"/>
            </a:avLst>
          </a:prstGeom>
          <a:solidFill>
            <a:srgbClr val="FFFFFF"/>
          </a:solidFill>
          <a:ln w="12700">
            <a:solidFill>
              <a:srgbClr val="FFFFFF"/>
            </a:solidFill>
            <a:prstDash val="solid"/>
          </a:ln>
        </p:spPr>
        <p:txBody>
          <a:bodyPr/>
          <a:p/>
        </p:txBody>
      </p:sp>
      <p:sp>
        <p:nvSpPr>
          <p:cNvPr id="11" name="Text 9"/>
          <p:cNvSpPr txBox="1"/>
          <p:nvPr/>
        </p:nvSpPr>
        <p:spPr>
          <a:xfrm>
            <a:off x="603504" y="207568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2" name="Text 10"/>
          <p:cNvSpPr txBox="1"/>
          <p:nvPr/>
        </p:nvSpPr>
        <p:spPr>
          <a:xfrm>
            <a:off x="1115568" y="2029968"/>
            <a:ext cx="6720840"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The agent lists the problems it identifies</a:t>
            </a:r>
            <a:endParaRPr lang="en-US" sz="1100" dirty="0"/>
          </a:p>
        </p:txBody>
      </p:sp>
      <p:sp>
        <p:nvSpPr>
          <p:cNvPr id="13" name="Text 11"/>
          <p:cNvSpPr txBox="1"/>
          <p:nvPr/>
        </p:nvSpPr>
        <p:spPr>
          <a:xfrm>
            <a:off x="1115568" y="2240280"/>
            <a:ext cx="6720840" cy="36576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It cites the documents or records that support each finding and states what needs to be done. For example: “There is no record of a successful restore test. The test must be carried out.”</a:t>
            </a:r>
            <a:endParaRPr lang="en-US" sz="880" dirty="0"/>
          </a:p>
        </p:txBody>
      </p:sp>
      <p:sp>
        <p:nvSpPr>
          <p:cNvPr id="14" name="Shape 12"/>
          <p:cNvSpPr/>
          <p:nvPr/>
        </p:nvSpPr>
        <p:spPr>
          <a:xfrm>
            <a:off x="457200" y="2697480"/>
            <a:ext cx="7498080" cy="640080"/>
          </a:xfrm>
          <a:prstGeom prst="roundRect">
            <a:avLst>
              <a:gd name="adj" fmla="val 14286"/>
            </a:avLst>
          </a:prstGeom>
          <a:solidFill>
            <a:srgbClr val="FFF5BF"/>
          </a:solidFill>
          <a:ln w="12700">
            <a:solidFill>
              <a:srgbClr val="FFF5BF"/>
            </a:solidFill>
            <a:prstDash val="solid"/>
          </a:ln>
        </p:spPr>
        <p:txBody>
          <a:bodyPr/>
          <a:p/>
        </p:txBody>
      </p:sp>
      <p:sp>
        <p:nvSpPr>
          <p:cNvPr id="15" name="Shape 13"/>
          <p:cNvSpPr/>
          <p:nvPr/>
        </p:nvSpPr>
        <p:spPr>
          <a:xfrm>
            <a:off x="603504" y="2807208"/>
            <a:ext cx="384048" cy="274320"/>
          </a:xfrm>
          <a:prstGeom prst="roundRect">
            <a:avLst>
              <a:gd name="adj" fmla="val 16667"/>
            </a:avLst>
          </a:prstGeom>
          <a:solidFill>
            <a:srgbClr val="FFFFFF"/>
          </a:solidFill>
          <a:ln w="12700">
            <a:solidFill>
              <a:srgbClr val="FFFFFF"/>
            </a:solidFill>
            <a:prstDash val="solid"/>
          </a:ln>
        </p:spPr>
        <p:txBody>
          <a:bodyPr/>
          <a:p/>
        </p:txBody>
      </p:sp>
      <p:sp>
        <p:nvSpPr>
          <p:cNvPr id="16" name="Text 14"/>
          <p:cNvSpPr txBox="1"/>
          <p:nvPr/>
        </p:nvSpPr>
        <p:spPr>
          <a:xfrm>
            <a:off x="603504" y="280720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17" name="Text 15"/>
          <p:cNvSpPr txBox="1"/>
          <p:nvPr/>
        </p:nvSpPr>
        <p:spPr>
          <a:xfrm>
            <a:off x="1115568" y="2761488"/>
            <a:ext cx="6720840"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The agent makes its decision</a:t>
            </a:r>
            <a:endParaRPr lang="en-US" sz="1100" dirty="0"/>
          </a:p>
        </p:txBody>
      </p:sp>
      <p:sp>
        <p:nvSpPr>
          <p:cNvPr id="18" name="Text 16"/>
          <p:cNvSpPr txBox="1"/>
          <p:nvPr/>
        </p:nvSpPr>
        <p:spPr>
          <a:xfrm>
            <a:off x="1115568" y="2971800"/>
            <a:ext cx="6720840" cy="36576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It can approve, approve with conditions, request corrections, put the project on hold or reject it. In this example, it asks for corrections (REWORK).</a:t>
            </a:r>
            <a:endParaRPr lang="en-US" sz="880" dirty="0"/>
          </a:p>
        </p:txBody>
      </p:sp>
      <p:sp>
        <p:nvSpPr>
          <p:cNvPr id="19" name="Shape 17"/>
          <p:cNvSpPr/>
          <p:nvPr/>
        </p:nvSpPr>
        <p:spPr>
          <a:xfrm>
            <a:off x="457200" y="3429000"/>
            <a:ext cx="7498080" cy="640080"/>
          </a:xfrm>
          <a:prstGeom prst="roundRect">
            <a:avLst>
              <a:gd name="adj" fmla="val 14286"/>
            </a:avLst>
          </a:prstGeom>
          <a:solidFill>
            <a:srgbClr val="FFE4E6"/>
          </a:solidFill>
          <a:ln w="12700">
            <a:solidFill>
              <a:srgbClr val="FFE4E6"/>
            </a:solidFill>
            <a:prstDash val="solid"/>
          </a:ln>
        </p:spPr>
        <p:txBody>
          <a:bodyPr/>
          <a:p/>
        </p:txBody>
      </p:sp>
      <p:sp>
        <p:nvSpPr>
          <p:cNvPr id="20" name="Shape 18"/>
          <p:cNvSpPr/>
          <p:nvPr/>
        </p:nvSpPr>
        <p:spPr>
          <a:xfrm>
            <a:off x="603504" y="3538728"/>
            <a:ext cx="384048" cy="274320"/>
          </a:xfrm>
          <a:prstGeom prst="roundRect">
            <a:avLst>
              <a:gd name="adj" fmla="val 16667"/>
            </a:avLst>
          </a:prstGeom>
          <a:solidFill>
            <a:srgbClr val="FFFFFF"/>
          </a:solidFill>
          <a:ln w="12700">
            <a:solidFill>
              <a:srgbClr val="FFFFFF"/>
            </a:solidFill>
            <a:prstDash val="solid"/>
          </a:ln>
        </p:spPr>
        <p:txBody>
          <a:bodyPr/>
          <a:p/>
        </p:txBody>
      </p:sp>
      <p:sp>
        <p:nvSpPr>
          <p:cNvPr id="21" name="Text 19"/>
          <p:cNvSpPr txBox="1"/>
          <p:nvPr/>
        </p:nvSpPr>
        <p:spPr>
          <a:xfrm>
            <a:off x="603504" y="353872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2" name="Text 20"/>
          <p:cNvSpPr txBox="1"/>
          <p:nvPr/>
        </p:nvSpPr>
        <p:spPr>
          <a:xfrm>
            <a:off x="1115568" y="3493008"/>
            <a:ext cx="6720840"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A request to approve with conditions is checked immediately</a:t>
            </a:r>
            <a:endParaRPr lang="en-US" sz="1100" dirty="0"/>
          </a:p>
        </p:txBody>
      </p:sp>
      <p:sp>
        <p:nvSpPr>
          <p:cNvPr id="23" name="Text 21"/>
          <p:cNvSpPr txBox="1"/>
          <p:nvPr/>
        </p:nvSpPr>
        <p:spPr>
          <a:xfrm>
            <a:off x="1115568" y="3703320"/>
            <a:ext cx="6720840" cy="36576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The authorization control checks that the agent has the required authorization and that the outstanding risks are eligible for conditional approval. The tool then accepts or rejects the request.</a:t>
            </a:r>
            <a:endParaRPr lang="en-US" sz="880" dirty="0"/>
          </a:p>
        </p:txBody>
      </p:sp>
      <p:sp>
        <p:nvSpPr>
          <p:cNvPr id="24" name="Shape 22"/>
          <p:cNvSpPr/>
          <p:nvPr/>
        </p:nvSpPr>
        <p:spPr>
          <a:xfrm>
            <a:off x="457200" y="4160520"/>
            <a:ext cx="7498080" cy="640080"/>
          </a:xfrm>
          <a:prstGeom prst="roundRect">
            <a:avLst>
              <a:gd name="adj" fmla="val 14286"/>
            </a:avLst>
          </a:prstGeom>
          <a:solidFill>
            <a:srgbClr val="E5F6E9"/>
          </a:solidFill>
          <a:ln w="12700">
            <a:solidFill>
              <a:srgbClr val="E5F6E9"/>
            </a:solidFill>
            <a:prstDash val="solid"/>
          </a:ln>
        </p:spPr>
        <p:txBody>
          <a:bodyPr/>
          <a:p/>
        </p:txBody>
      </p:sp>
      <p:sp>
        <p:nvSpPr>
          <p:cNvPr id="25" name="Shape 23"/>
          <p:cNvSpPr/>
          <p:nvPr/>
        </p:nvSpPr>
        <p:spPr>
          <a:xfrm>
            <a:off x="603504" y="4270248"/>
            <a:ext cx="384048" cy="274320"/>
          </a:xfrm>
          <a:prstGeom prst="roundRect">
            <a:avLst>
              <a:gd name="adj" fmla="val 16667"/>
            </a:avLst>
          </a:prstGeom>
          <a:solidFill>
            <a:srgbClr val="FFFFFF"/>
          </a:solidFill>
          <a:ln w="12700">
            <a:solidFill>
              <a:srgbClr val="FFFFFF"/>
            </a:solidFill>
            <a:prstDash val="solid"/>
          </a:ln>
        </p:spPr>
        <p:txBody>
          <a:bodyPr/>
          <a:p/>
        </p:txBody>
      </p:sp>
      <p:sp>
        <p:nvSpPr>
          <p:cNvPr id="26" name="Text 24"/>
          <p:cNvSpPr txBox="1"/>
          <p:nvPr/>
        </p:nvSpPr>
        <p:spPr>
          <a:xfrm>
            <a:off x="603504" y="427024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27" name="Text 25"/>
          <p:cNvSpPr txBox="1"/>
          <p:nvPr/>
        </p:nvSpPr>
        <p:spPr>
          <a:xfrm>
            <a:off x="1115568" y="4224528"/>
            <a:ext cx="6720840"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The next reviewer receives the earlier findings</a:t>
            </a:r>
            <a:endParaRPr lang="en-US" sz="1100" dirty="0"/>
          </a:p>
        </p:txBody>
      </p:sp>
      <p:sp>
        <p:nvSpPr>
          <p:cNvPr id="28" name="Text 26"/>
          <p:cNvSpPr txBox="1"/>
          <p:nvPr/>
        </p:nvSpPr>
        <p:spPr>
          <a:xfrm>
            <a:off x="1115568" y="4434840"/>
            <a:ext cx="6720840" cy="365760"/>
          </a:xfrm>
          <a:prstGeom prst="rect">
            <a:avLst/>
          </a:prstGeom>
          <a:noFill/>
          <a:ln/>
        </p:spPr>
        <p:txBody>
          <a:bodyPr wrap="square" lIns="0" tIns="0" rIns="0" bIns="0" rtlCol="0" anchor="t"/>
          <a:lstStyle/>
          <a:p>
            <a:pPr indent="0" marL="0">
              <a:lnSpc>
                <a:spcPct val="105000"/>
              </a:lnSpc>
              <a:buNone/>
            </a:pPr>
            <a:r>
              <a:rPr lang="en-US" sz="830" dirty="0">
                <a:solidFill>
                  <a:srgbClr val="252A3D"/>
                </a:solidFill>
                <a:latin typeface="Arial" pitchFamily="34" charset="0"/>
                <a:ea typeface="Arial" pitchFamily="34" charset="-122"/>
                <a:cs typeface="Arial" pitchFamily="34" charset="-120"/>
              </a:rPr>
              <a:t>The next reviewer carries out a separate review using the previous conclusions exactly as written, including any errors. In the experiment, every scheduled review takes place, even if the project has already been rejected. The General gate then brings all the results together.</a:t>
            </a:r>
            <a:endParaRPr lang="en-US" sz="880" dirty="0"/>
          </a:p>
        </p:txBody>
      </p:sp>
      <p:sp>
        <p:nvSpPr>
          <p:cNvPr id="29" name="Shape 27"/>
          <p:cNvSpPr/>
          <p:nvPr/>
        </p:nvSpPr>
        <p:spPr>
          <a:xfrm>
            <a:off x="457200" y="4892040"/>
            <a:ext cx="7498080" cy="640080"/>
          </a:xfrm>
          <a:prstGeom prst="roundRect">
            <a:avLst>
              <a:gd name="adj" fmla="val 14286"/>
            </a:avLst>
          </a:prstGeom>
          <a:solidFill>
            <a:srgbClr val="EFE8FA"/>
          </a:solidFill>
          <a:ln w="12700">
            <a:solidFill>
              <a:srgbClr val="EFE8FA"/>
            </a:solidFill>
            <a:prstDash val="solid"/>
          </a:ln>
        </p:spPr>
        <p:txBody>
          <a:bodyPr/>
          <a:p/>
        </p:txBody>
      </p:sp>
      <p:sp>
        <p:nvSpPr>
          <p:cNvPr id="30" name="Shape 28"/>
          <p:cNvSpPr/>
          <p:nvPr/>
        </p:nvSpPr>
        <p:spPr>
          <a:xfrm>
            <a:off x="603504" y="5001768"/>
            <a:ext cx="384048" cy="274320"/>
          </a:xfrm>
          <a:prstGeom prst="roundRect">
            <a:avLst>
              <a:gd name="adj" fmla="val 16667"/>
            </a:avLst>
          </a:prstGeom>
          <a:solidFill>
            <a:srgbClr val="FFFFFF"/>
          </a:solidFill>
          <a:ln w="12700">
            <a:solidFill>
              <a:srgbClr val="FFFFFF"/>
            </a:solidFill>
            <a:prstDash val="solid"/>
          </a:ln>
        </p:spPr>
        <p:txBody>
          <a:bodyPr/>
          <a:p/>
        </p:txBody>
      </p:sp>
      <p:sp>
        <p:nvSpPr>
          <p:cNvPr id="31" name="Text 29"/>
          <p:cNvSpPr txBox="1"/>
          <p:nvPr/>
        </p:nvSpPr>
        <p:spPr>
          <a:xfrm>
            <a:off x="603504" y="500176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5</a:t>
            </a:r>
            <a:endParaRPr lang="en-US" sz="1000" dirty="0"/>
          </a:p>
        </p:txBody>
      </p:sp>
      <p:sp>
        <p:nvSpPr>
          <p:cNvPr id="32" name="Text 30"/>
          <p:cNvSpPr txBox="1"/>
          <p:nvPr/>
        </p:nvSpPr>
        <p:spPr>
          <a:xfrm>
            <a:off x="1115568" y="4956048"/>
            <a:ext cx="6720840"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A Python program scores every review once the project’s reviews are complete</a:t>
            </a:r>
            <a:endParaRPr lang="en-US" sz="1100" dirty="0"/>
          </a:p>
        </p:txBody>
      </p:sp>
      <p:sp>
        <p:nvSpPr>
          <p:cNvPr id="33" name="Text 31"/>
          <p:cNvSpPr txBox="1"/>
          <p:nvPr/>
        </p:nvSpPr>
        <p:spPr>
          <a:xfrm>
            <a:off x="1115568" y="5166360"/>
            <a:ext cx="6720840" cy="365760"/>
          </a:xfrm>
          <a:prstGeom prst="rect">
            <a:avLst/>
          </a:prstGeom>
          <a:noFill/>
          <a:ln/>
        </p:spPr>
        <p:txBody>
          <a:bodyPr wrap="square" lIns="0" tIns="0" rIns="0" bIns="0" rtlCol="0" anchor="t"/>
          <a:lstStyle/>
          <a:p>
            <a:pPr indent="0" marL="0">
              <a:lnSpc>
                <a:spcPct val="105000"/>
              </a:lnSpc>
              <a:buNone/>
            </a:pPr>
            <a:r>
              <a:rPr lang="en-US" sz="880" dirty="0">
                <a:solidFill>
                  <a:srgbClr val="252A3D"/>
                </a:solidFill>
                <a:latin typeface="Arial" pitchFamily="34" charset="0"/>
                <a:ea typeface="Arial" pitchFamily="34" charset="-122"/>
                <a:cs typeface="Arial" pitchFamily="34" charset="-120"/>
              </a:rPr>
              <a:t>It compares five items with the answers prepared for the test project: the decision, the problems reported, the actions requested, the supporting sources and the authorization.</a:t>
            </a:r>
            <a:endParaRPr lang="en-US" sz="880" dirty="0"/>
          </a:p>
        </p:txBody>
      </p:sp>
      <p:sp>
        <p:nvSpPr>
          <p:cNvPr id="34" name="Shape 32"/>
          <p:cNvSpPr/>
          <p:nvPr/>
        </p:nvSpPr>
        <p:spPr>
          <a:xfrm>
            <a:off x="8138160" y="1965960"/>
            <a:ext cx="3593592" cy="3566160"/>
          </a:xfrm>
          <a:prstGeom prst="roundRect">
            <a:avLst>
              <a:gd name="adj" fmla="val 2564"/>
            </a:avLst>
          </a:prstGeom>
          <a:solidFill>
            <a:srgbClr val="F3F5F8"/>
          </a:solidFill>
          <a:ln w="12700">
            <a:solidFill>
              <a:srgbClr val="F3F5F8"/>
            </a:solidFill>
            <a:prstDash val="solid"/>
          </a:ln>
        </p:spPr>
        <p:txBody>
          <a:bodyPr/>
          <a:p/>
        </p:txBody>
      </p:sp>
      <p:pic>
        <p:nvPicPr>
          <p:cNvPr id="35" name="Image 0" descr="preencoded.png">    </p:cNvPr>
          <p:cNvPicPr>
            <a:picLocks noChangeAspect="1"/>
          </p:cNvPicPr>
          <p:nvPr/>
        </p:nvPicPr>
        <p:blipFill>
          <a:blip r:embed="rId1"/>
          <a:stretch>
            <a:fillRect/>
          </a:stretch>
        </p:blipFill>
        <p:spPr>
          <a:xfrm>
            <a:off x="11338560" y="2084832"/>
            <a:ext cx="292608" cy="292608"/>
          </a:xfrm>
          <a:prstGeom prst="rect">
            <a:avLst/>
          </a:prstGeom>
        </p:spPr>
      </p:pic>
      <p:sp>
        <p:nvSpPr>
          <p:cNvPr id="36" name="Text 33"/>
          <p:cNvSpPr txBox="1"/>
          <p:nvPr/>
        </p:nvSpPr>
        <p:spPr>
          <a:xfrm>
            <a:off x="8302752" y="2103120"/>
            <a:ext cx="2926080" cy="201168"/>
          </a:xfrm>
          <a:prstGeom prst="rect">
            <a:avLst/>
          </a:prstGeom>
          <a:noFill/>
          <a:ln/>
        </p:spPr>
        <p:txBody>
          <a:bodyPr wrap="square" lIns="0" tIns="0" rIns="0" bIns="0" rtlCol="0" anchor="t"/>
          <a:lstStyle/>
          <a:p>
            <a:pPr indent="0" marL="0">
              <a:lnSpc>
                <a:spcPct val="105000"/>
              </a:lnSpc>
              <a:buNone/>
            </a:pPr>
            <a:r>
              <a:rPr lang="en-US" sz="870" b="1" spc="50" kern="0" dirty="0">
                <a:solidFill>
                  <a:srgbClr val="C8283E"/>
                </a:solidFill>
                <a:latin typeface="Arial" pitchFamily="34" charset="0"/>
                <a:ea typeface="Arial" pitchFamily="34" charset="-122"/>
                <a:cs typeface="Arial" pitchFamily="34" charset="-120"/>
              </a:rPr>
              <a:t>WHAT THE EXPERIMENT DOES NOT MEASURE</a:t>
            </a:r>
            <a:endParaRPr lang="en-US" sz="950" dirty="0"/>
          </a:p>
        </p:txBody>
      </p:sp>
      <p:sp>
        <p:nvSpPr>
          <p:cNvPr id="37" name="Text 34"/>
          <p:cNvSpPr txBox="1"/>
          <p:nvPr/>
        </p:nvSpPr>
        <p:spPr>
          <a:xfrm>
            <a:off x="8302752" y="2432304"/>
            <a:ext cx="3291840" cy="3017520"/>
          </a:xfrm>
          <a:prstGeom prst="rect">
            <a:avLst/>
          </a:prstGeom>
          <a:noFill/>
          <a:ln/>
        </p:spPr>
        <p:txBody>
          <a:bodyPr wrap="square" lIns="0" tIns="0" rIns="0" bIns="0" rtlCol="0" anchor="t"/>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Asking for a problem to be fixed does not fix it. </a:t>
            </a:r>
            <a:r>
              <a:rPr lang="en-US" sz="940" dirty="0">
                <a:solidFill>
                  <a:srgbClr val="252A3D"/>
                </a:solidFill>
                <a:latin typeface="Arial" pitchFamily="34" charset="0"/>
                <a:ea typeface="Arial" pitchFamily="34" charset="-122"/>
                <a:cs typeface="Arial" pitchFamily="34" charset="-120"/>
              </a:rPr>
              <a:t>The agent may request a restore test, but the experiment does not run that test on a real system.</a:t>
            </a:r>
            <a:endParaRPr lang="en-US" sz="94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40" dirty="0"/>
          </a:p>
          <a:p>
            <a:pPr indent="0" marL="0">
              <a:lnSpc>
                <a:spcPct val="105000"/>
              </a:lnSpc>
              <a:buNone/>
            </a:pPr>
            <a:r>
              <a:rPr lang="en-US" sz="940" dirty="0">
                <a:solidFill>
                  <a:srgbClr val="252A3D"/>
                </a:solidFill>
                <a:latin typeface="Arial" pitchFamily="34" charset="0"/>
                <a:ea typeface="Arial" pitchFamily="34" charset="-122"/>
                <a:cs typeface="Arial" pitchFamily="34" charset="-120"/>
              </a:rPr>
              <a:t>The experiment checks whether the agent reviews the project correctly and makes the right decision.</a:t>
            </a:r>
            <a:endParaRPr lang="en-US" sz="94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40" dirty="0"/>
          </a:p>
          <a:p>
            <a:pPr indent="0" marL="0">
              <a:lnSpc>
                <a:spcPct val="105000"/>
              </a:lnSpc>
              <a:buNone/>
            </a:pPr>
            <a:r>
              <a:rPr lang="en-US" sz="940" dirty="0">
                <a:solidFill>
                  <a:srgbClr val="252A3D"/>
                </a:solidFill>
                <a:latin typeface="Arial" pitchFamily="34" charset="0"/>
                <a:ea typeface="Arial" pitchFamily="34" charset="-122"/>
                <a:cs typeface="Arial" pitchFamily="34" charset="-120"/>
              </a:rPr>
              <a:t>To automate the correction as well, the AI agent would have to carry out the authorized action, record the result and review the project again.</a:t>
            </a:r>
            <a:endParaRPr lang="en-US" sz="940" dirty="0"/>
          </a:p>
        </p:txBody>
      </p:sp>
      <p:sp>
        <p:nvSpPr>
          <p:cNvPr id="38" name="Shape 35"/>
          <p:cNvSpPr/>
          <p:nvPr/>
        </p:nvSpPr>
        <p:spPr>
          <a:xfrm>
            <a:off x="457200" y="5687568"/>
            <a:ext cx="11274552" cy="731520"/>
          </a:xfrm>
          <a:prstGeom prst="roundRect">
            <a:avLst>
              <a:gd name="adj" fmla="val 12500"/>
            </a:avLst>
          </a:prstGeom>
          <a:solidFill>
            <a:srgbClr val="FFF5BF"/>
          </a:solidFill>
          <a:ln w="12700">
            <a:solidFill>
              <a:srgbClr val="FFF5BF"/>
            </a:solidFill>
            <a:prstDash val="solid"/>
          </a:ln>
        </p:spPr>
        <p:txBody>
          <a:bodyPr/>
          <a:p/>
        </p:txBody>
      </p:sp>
      <p:pic>
        <p:nvPicPr>
          <p:cNvPr id="39" name="Image 1" descr="preencoded.png">    </p:cNvPr>
          <p:cNvPicPr>
            <a:picLocks noChangeAspect="1"/>
          </p:cNvPicPr>
          <p:nvPr/>
        </p:nvPicPr>
        <p:blipFill>
          <a:blip r:embed="rId2"/>
          <a:stretch>
            <a:fillRect/>
          </a:stretch>
        </p:blipFill>
        <p:spPr>
          <a:xfrm>
            <a:off x="621792" y="5897880"/>
            <a:ext cx="310896" cy="310896"/>
          </a:xfrm>
          <a:prstGeom prst="rect">
            <a:avLst/>
          </a:prstGeom>
        </p:spPr>
      </p:pic>
      <p:sp>
        <p:nvSpPr>
          <p:cNvPr id="40" name="Text 36"/>
          <p:cNvSpPr txBox="1"/>
          <p:nvPr/>
        </p:nvSpPr>
        <p:spPr>
          <a:xfrm>
            <a:off x="1051560" y="5687568"/>
            <a:ext cx="10469880" cy="73152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During each review, control tools check the agent's requests. </a:t>
            </a:r>
            <a:r>
              <a:rPr lang="en-US" sz="1150" dirty="0">
                <a:solidFill>
                  <a:srgbClr val="252A3D"/>
                </a:solidFill>
                <a:latin typeface="Arial" pitchFamily="34" charset="0"/>
                <a:ea typeface="Arial" pitchFamily="34" charset="-122"/>
                <a:cs typeface="Arial" pitchFamily="34" charset="-120"/>
              </a:rPr>
              <a:t>After all the project’s reviews are finished, the scoring program evaluates its responses. No one manually corrects the agent’s work between these checks.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HOW ANSWERS ARE SCORED</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How the program decides whether a review passes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program creates an answer file with each test project. The agent cannot read it. The scoring program uses it later to check the agent’s work.</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11 / 30</a:t>
            </a:r>
            <a:endParaRPr lang="en-US" sz="1000" dirty="0"/>
          </a:p>
        </p:txBody>
      </p:sp>
      <p:sp>
        <p:nvSpPr>
          <p:cNvPr id="9" name="Shape 7"/>
          <p:cNvSpPr/>
          <p:nvPr/>
        </p:nvSpPr>
        <p:spPr>
          <a:xfrm>
            <a:off x="457200" y="1965960"/>
            <a:ext cx="3703320" cy="3611880"/>
          </a:xfrm>
          <a:prstGeom prst="roundRect">
            <a:avLst>
              <a:gd name="adj" fmla="val 2532"/>
            </a:avLst>
          </a:prstGeom>
          <a:solidFill>
            <a:srgbClr val="DDF5FC"/>
          </a:solidFill>
          <a:ln w="12700">
            <a:solidFill>
              <a:srgbClr val="DDF5FC"/>
            </a:solidFill>
            <a:prstDash val="solid"/>
          </a:ln>
        </p:spPr>
        <p:txBody>
          <a:bodyPr/>
          <a:p/>
        </p:txBody>
      </p:sp>
      <p:sp>
        <p:nvSpPr>
          <p:cNvPr id="10" name="Text 8"/>
          <p:cNvSpPr txBox="1"/>
          <p:nvPr/>
        </p:nvSpPr>
        <p:spPr>
          <a:xfrm>
            <a:off x="621792" y="2103120"/>
            <a:ext cx="3383280" cy="201168"/>
          </a:xfrm>
          <a:prstGeom prst="rect">
            <a:avLst/>
          </a:prstGeom>
          <a:noFill/>
          <a:ln/>
        </p:spPr>
        <p:txBody>
          <a:bodyPr wrap="square" lIns="0" tIns="0" rIns="0" bIns="0" rtlCol="0" anchor="t"/>
          <a:lstStyle/>
          <a:p>
            <a:pPr indent="0" marL="0">
              <a:lnSpc>
                <a:spcPct val="105000"/>
              </a:lnSpc>
              <a:buNone/>
            </a:pPr>
            <a:r>
              <a:rPr lang="en-US" sz="740" b="1" spc="50" kern="0" dirty="0">
                <a:solidFill>
                  <a:srgbClr val="1B6E93"/>
                </a:solidFill>
                <a:latin typeface="Arial" pitchFamily="34" charset="0"/>
                <a:ea typeface="Arial" pitchFamily="34" charset="-122"/>
                <a:cs typeface="Arial" pitchFamily="34" charset="-120"/>
              </a:rPr>
              <a:t>ANSWERS USED FOR SCORING · 99_hidden_ground_truth.json</a:t>
            </a:r>
            <a:endParaRPr lang="en-US" sz="950" dirty="0"/>
          </a:p>
        </p:txBody>
      </p:sp>
      <p:sp>
        <p:nvSpPr>
          <p:cNvPr id="11" name="Text 9"/>
          <p:cNvSpPr txBox="1"/>
          <p:nvPr/>
        </p:nvSpPr>
        <p:spPr>
          <a:xfrm>
            <a:off x="621792" y="2395728"/>
            <a:ext cx="3383280" cy="310896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Each test project has a file containing the answers used to score the agent.</a:t>
            </a:r>
            <a:endParaRPr lang="en-US" sz="920" dirty="0"/>
          </a:p>
          <a:p>
            <a:pPr marL="127000" indent="-127000">
              <a:lnSpc>
                <a:spcPct val="105000"/>
              </a:lnSpc>
              <a:spcAft>
                <a:spcPts val="400"/>
              </a:spcAft>
              <a:buSzPct val="100000"/>
              <a:buChar char="•"/>
            </a:pPr>
            <a:r>
              <a:rPr lang="en-US" sz="920" b="1" dirty="0">
                <a:solidFill>
                  <a:srgbClr val="252A3D"/>
                </a:solidFill>
                <a:latin typeface="Arial" pitchFamily="34" charset="0"/>
                <a:ea typeface="Arial" pitchFamily="34" charset="-122"/>
                <a:cs typeface="Arial" pitchFamily="34" charset="-120"/>
              </a:rPr>
              <a:t>canonical_truth: </a:t>
            </a:r>
            <a:r>
              <a:rPr lang="en-US" sz="920" dirty="0">
                <a:solidFill>
                  <a:srgbClr val="252A3D"/>
                </a:solidFill>
                <a:latin typeface="Arial" pitchFamily="34" charset="0"/>
                <a:ea typeface="Arial" pitchFamily="34" charset="-122"/>
                <a:cs typeface="Arial" pitchFamily="34" charset="-120"/>
              </a:rPr>
              <a:t>the facts that the program has defined for the fictional project.</a:t>
            </a:r>
            <a:endParaRPr lang="en-US" sz="920" dirty="0"/>
          </a:p>
          <a:p>
            <a:pPr marL="127000" indent="-127000">
              <a:lnSpc>
                <a:spcPct val="105000"/>
              </a:lnSpc>
              <a:spcAft>
                <a:spcPts val="400"/>
              </a:spcAft>
              <a:buSzPct val="100000"/>
              <a:buChar char="•"/>
            </a:pPr>
            <a:r>
              <a:rPr lang="en-US" sz="920" b="1" dirty="0">
                <a:solidFill>
                  <a:srgbClr val="252A3D"/>
                </a:solidFill>
                <a:latin typeface="Arial" pitchFamily="34" charset="0"/>
                <a:ea typeface="Arial" pitchFamily="34" charset="-122"/>
                <a:cs typeface="Arial" pitchFamily="34" charset="-120"/>
              </a:rPr>
              <a:t>reference_decisions: </a:t>
            </a:r>
            <a:r>
              <a:rPr lang="en-US" sz="920" dirty="0">
                <a:solidFill>
                  <a:srgbClr val="252A3D"/>
                </a:solidFill>
                <a:latin typeface="Arial" pitchFamily="34" charset="0"/>
                <a:ea typeface="Arial" pitchFamily="34" charset="-122"/>
                <a:cs typeface="Arial" pitchFamily="34" charset="-120"/>
              </a:rPr>
              <a:t>for each review, the decision to make, the problems to report, the actions to request and whether authorization is required.</a:t>
            </a:r>
            <a:endParaRPr lang="en-US" sz="920" dirty="0"/>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When it creates a test project, the program uses the project’s facts and its programmed rules to determine the decision to make and the problems to report. It saves these answers for scoring. The program generates these answers automatically; no human reviewer writes them.</a:t>
            </a:r>
            <a:endParaRPr lang="en-US" sz="920" dirty="0"/>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The agent can read the project documents, the information made available to it and the review rules. It cannot open the file containing the answers used to score it. After the reviews, the scoring program reads the answer file. It also takes account of conditional approvals that were properly authorized during the run.</a:t>
            </a:r>
            <a:endParaRPr lang="en-US" sz="920" dirty="0"/>
          </a:p>
        </p:txBody>
      </p:sp>
      <p:sp>
        <p:nvSpPr>
          <p:cNvPr id="12" name="Shape 10"/>
          <p:cNvSpPr/>
          <p:nvPr/>
        </p:nvSpPr>
        <p:spPr>
          <a:xfrm>
            <a:off x="4315968" y="1965960"/>
            <a:ext cx="3703320" cy="3611880"/>
          </a:xfrm>
          <a:prstGeom prst="roundRect">
            <a:avLst>
              <a:gd name="adj" fmla="val 2532"/>
            </a:avLst>
          </a:prstGeom>
          <a:solidFill>
            <a:srgbClr val="E5F6E9"/>
          </a:solidFill>
          <a:ln w="12700">
            <a:solidFill>
              <a:srgbClr val="E5F6E9"/>
            </a:solidFill>
            <a:prstDash val="solid"/>
          </a:ln>
        </p:spPr>
        <p:txBody>
          <a:bodyPr/>
          <a:p/>
        </p:txBody>
      </p:sp>
      <p:sp>
        <p:nvSpPr>
          <p:cNvPr id="13" name="Text 11"/>
          <p:cNvSpPr txBox="1"/>
          <p:nvPr/>
        </p:nvSpPr>
        <p:spPr>
          <a:xfrm>
            <a:off x="4480560" y="2103120"/>
            <a:ext cx="33832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FIVE REQUIREMENTS FOR A REVIEW TO PASS</a:t>
            </a:r>
            <a:endParaRPr lang="en-US" sz="950" dirty="0"/>
          </a:p>
        </p:txBody>
      </p:sp>
      <p:sp>
        <p:nvSpPr>
          <p:cNvPr id="14" name="Text 12"/>
          <p:cNvSpPr txBox="1"/>
          <p:nvPr/>
        </p:nvSpPr>
        <p:spPr>
          <a:xfrm>
            <a:off x="4480560" y="2395728"/>
            <a:ext cx="3383280" cy="310896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The decision alone is not enough. The reported problems, requested actions, source citations and authorization must also meet the scoring requirements.</a:t>
            </a:r>
            <a:endParaRPr lang="en-US" sz="920" dirty="0"/>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A review can pass the test by correctly rejecting the project.</a:t>
            </a:r>
            <a:endParaRPr lang="en-US" sz="920" dirty="0"/>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The scoring program checks the tool-use logs to confirm that the agent opened the sources it cites. It also checks that the required excerpts are quoted correctly.</a:t>
            </a:r>
            <a:endParaRPr lang="en-US" sz="920" dirty="0"/>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A project’s full set of reviews passes only if every individual review passes.</a:t>
            </a:r>
            <a:endParaRPr lang="en-US" sz="920" dirty="0"/>
          </a:p>
          <a:p>
            <a:pPr marL="127000" indent="-127000">
              <a:lnSpc>
                <a:spcPct val="105000"/>
              </a:lnSpc>
              <a:spcAft>
                <a:spcPts val="400"/>
              </a:spcAft>
              <a:buSzPct val="100000"/>
              <a:buChar char="•"/>
            </a:pPr>
            <a:r>
              <a:rPr lang="en-US" sz="920" dirty="0">
                <a:solidFill>
                  <a:srgbClr val="252A3D"/>
                </a:solidFill>
                <a:latin typeface="Arial" pitchFamily="34" charset="0"/>
                <a:ea typeface="Arial" pitchFamily="34" charset="-122"/>
                <a:cs typeface="Arial" pitchFamily="34" charset="-120"/>
              </a:rPr>
              <a:t>For conditional approval, the tool checks that the authorization covers the review and project phase, that every unresolved problem is included and eligible, and that conditions have been stated. It checks that conditions are present, not that they will work in practice.</a:t>
            </a:r>
            <a:endParaRPr lang="en-US" sz="920" dirty="0"/>
          </a:p>
        </p:txBody>
      </p:sp>
      <p:sp>
        <p:nvSpPr>
          <p:cNvPr id="15" name="Shape 13"/>
          <p:cNvSpPr/>
          <p:nvPr/>
        </p:nvSpPr>
        <p:spPr>
          <a:xfrm>
            <a:off x="8174736" y="1965960"/>
            <a:ext cx="3557016" cy="3611880"/>
          </a:xfrm>
          <a:prstGeom prst="roundRect">
            <a:avLst>
              <a:gd name="adj" fmla="val 2571"/>
            </a:avLst>
          </a:prstGeom>
          <a:solidFill>
            <a:srgbClr val="FFF5BF"/>
          </a:solidFill>
          <a:ln w="12700">
            <a:solidFill>
              <a:srgbClr val="FFF5BF"/>
            </a:solidFill>
            <a:prstDash val="solid"/>
          </a:ln>
        </p:spPr>
        <p:txBody>
          <a:bodyPr/>
          <a:p/>
        </p:txBody>
      </p:sp>
      <p:sp>
        <p:nvSpPr>
          <p:cNvPr id="16" name="Text 14"/>
          <p:cNvSpPr txBox="1"/>
          <p:nvPr/>
        </p:nvSpPr>
        <p:spPr>
          <a:xfrm>
            <a:off x="8339328" y="2103120"/>
            <a:ext cx="3200400" cy="201168"/>
          </a:xfrm>
          <a:prstGeom prst="rect">
            <a:avLst/>
          </a:prstGeom>
          <a:noFill/>
          <a:ln/>
        </p:spPr>
        <p:txBody>
          <a:bodyPr wrap="square" lIns="0" tIns="0" rIns="0" bIns="0" rtlCol="0" anchor="t"/>
          <a:lstStyle/>
          <a:p>
            <a:pPr indent="0" marL="0">
              <a:lnSpc>
                <a:spcPct val="105000"/>
              </a:lnSpc>
              <a:buNone/>
            </a:pPr>
            <a:r>
              <a:rPr lang="en-US" sz="840" b="1" spc="50" kern="0" dirty="0">
                <a:solidFill>
                  <a:srgbClr val="8A6D00"/>
                </a:solidFill>
                <a:latin typeface="Arial" pitchFamily="34" charset="0"/>
                <a:ea typeface="Arial" pitchFamily="34" charset="-122"/>
                <a:cs typeface="Arial" pitchFamily="34" charset="-120"/>
              </a:rPr>
              <a:t>EXAMPLE FROM THE TEST DATA · PROJECT FALCON</a:t>
            </a:r>
            <a:endParaRPr lang="en-US" sz="950" dirty="0"/>
          </a:p>
        </p:txBody>
      </p:sp>
      <p:sp>
        <p:nvSpPr>
          <p:cNvPr id="17" name="Text 15"/>
          <p:cNvSpPr txBox="1"/>
          <p:nvPr/>
        </p:nvSpPr>
        <p:spPr>
          <a:xfrm>
            <a:off x="8339328" y="2395728"/>
            <a:ext cx="3246120" cy="310896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Project DGF-BLD-035200_build, operational readiness review (BUILD-04-TECH_READINESS-1). The answers prepared for scoring are:</a:t>
            </a:r>
            <a:endParaRPr lang="en-US" sz="920" dirty="0"/>
          </a:p>
          <a:p>
            <a:pPr indent="0" marL="0">
              <a:lnSpc>
                <a:spcPct val="105000"/>
              </a:lnSpc>
              <a:buNone/>
            </a:pPr>
            <a:r>
              <a:rPr lang="en-US" sz="400" dirty="0">
                <a:solidFill>
                  <a:srgbClr val="252A3D"/>
                </a:solidFill>
                <a:latin typeface="Arial" pitchFamily="34" charset="0"/>
                <a:ea typeface="Arial" pitchFamily="34" charset="-122"/>
                <a:cs typeface="Arial" pitchFamily="34" charset="-120"/>
              </a:rPr>
              <a:t> </a:t>
            </a:r>
            <a:endParaRPr lang="en-US" sz="920" dirty="0"/>
          </a:p>
          <a:p>
            <a:pPr indent="0" marL="0">
              <a:lnSpc>
                <a:spcPct val="105000"/>
              </a:lnSpc>
              <a:buNone/>
            </a:pPr>
            <a:r>
              <a:rPr lang="en-US" sz="920" b="1" dirty="0">
                <a:solidFill>
                  <a:srgbClr val="252A3D"/>
                </a:solidFill>
                <a:latin typeface="Arial" pitchFamily="34" charset="0"/>
                <a:ea typeface="Arial" pitchFamily="34" charset="-122"/>
                <a:cs typeface="Arial" pitchFamily="34" charset="-120"/>
              </a:rPr>
              <a:t>Problem to report: </a:t>
            </a:r>
            <a:r>
              <a:rPr lang="en-US" sz="920" dirty="0">
                <a:solidFill>
                  <a:srgbClr val="252A3D"/>
                </a:solidFill>
                <a:latin typeface="Arial" pitchFamily="34" charset="0"/>
                <a:ea typeface="Arial" pitchFamily="34" charset="-122"/>
                <a:cs typeface="Arial" pitchFamily="34" charset="-120"/>
              </a:rPr>
              <a:t>the documents needed for handover to the operations team are incomplete (TR-OPS-001).</a:t>
            </a:r>
            <a:endParaRPr lang="en-US" sz="920" dirty="0"/>
          </a:p>
          <a:p>
            <a:pPr indent="0" marL="0">
              <a:lnSpc>
                <a:spcPct val="105000"/>
              </a:lnSpc>
              <a:buNone/>
            </a:pPr>
            <a:r>
              <a:rPr lang="en-US" sz="920" b="1" dirty="0">
                <a:solidFill>
                  <a:srgbClr val="252A3D"/>
                </a:solidFill>
                <a:latin typeface="Arial" pitchFamily="34" charset="0"/>
                <a:ea typeface="Arial" pitchFamily="34" charset="-122"/>
                <a:cs typeface="Arial" pitchFamily="34" charset="-120"/>
              </a:rPr>
              <a:t>Action to request: </a:t>
            </a:r>
            <a:r>
              <a:rPr lang="en-US" sz="920" dirty="0">
                <a:solidFill>
                  <a:srgbClr val="252A3D"/>
                </a:solidFill>
                <a:latin typeface="Arial" pitchFamily="34" charset="0"/>
                <a:ea typeface="Arial" pitchFamily="34" charset="-122"/>
                <a:cs typeface="Arial" pitchFamily="34" charset="-120"/>
              </a:rPr>
              <a:t>complete the handover to the operations team (COMPLETE_OPERATIONAL_HANDOVER).</a:t>
            </a:r>
            <a:endParaRPr lang="en-US" sz="920" dirty="0"/>
          </a:p>
          <a:p>
            <a:pPr indent="0" marL="0">
              <a:lnSpc>
                <a:spcPct val="105000"/>
              </a:lnSpc>
              <a:buNone/>
            </a:pPr>
            <a:r>
              <a:rPr lang="en-US" sz="920" b="1" dirty="0">
                <a:solidFill>
                  <a:srgbClr val="252A3D"/>
                </a:solidFill>
                <a:latin typeface="Arial" pitchFamily="34" charset="0"/>
                <a:ea typeface="Arial" pitchFamily="34" charset="-122"/>
                <a:cs typeface="Arial" pitchFamily="34" charset="-120"/>
              </a:rPr>
              <a:t>Decision to make: </a:t>
            </a:r>
            <a:r>
              <a:rPr lang="en-US" sz="920" dirty="0">
                <a:solidFill>
                  <a:srgbClr val="252A3D"/>
                </a:solidFill>
                <a:latin typeface="Arial" pitchFamily="34" charset="0"/>
                <a:ea typeface="Arial" pitchFamily="34" charset="-122"/>
                <a:cs typeface="Arial" pitchFamily="34" charset="-120"/>
              </a:rPr>
              <a:t>approve with conditions (GO_WITH_RESERVATIONS).</a:t>
            </a:r>
            <a:endParaRPr lang="en-US" sz="920" dirty="0"/>
          </a:p>
          <a:p>
            <a:pPr indent="0" marL="0">
              <a:lnSpc>
                <a:spcPct val="105000"/>
              </a:lnSpc>
              <a:buNone/>
            </a:pPr>
            <a:r>
              <a:rPr lang="en-US" sz="920" b="1" dirty="0">
                <a:solidFill>
                  <a:srgbClr val="252A3D"/>
                </a:solidFill>
                <a:latin typeface="Arial" pitchFamily="34" charset="0"/>
                <a:ea typeface="Arial" pitchFamily="34" charset="-122"/>
                <a:cs typeface="Arial" pitchFamily="34" charset="-120"/>
              </a:rPr>
              <a:t>Authorization required: </a:t>
            </a:r>
            <a:r>
              <a:rPr lang="en-US" sz="920" dirty="0">
                <a:solidFill>
                  <a:srgbClr val="252A3D"/>
                </a:solidFill>
                <a:latin typeface="Arial" pitchFamily="34" charset="0"/>
                <a:ea typeface="Arial" pitchFamily="34" charset="-122"/>
                <a:cs typeface="Arial" pitchFamily="34" charset="-120"/>
              </a:rPr>
              <a:t>yes.</a:t>
            </a:r>
            <a:endParaRPr lang="en-US" sz="920" dirty="0"/>
          </a:p>
          <a:p>
            <a:pPr indent="0" marL="0">
              <a:lnSpc>
                <a:spcPct val="105000"/>
              </a:lnSpc>
              <a:buNone/>
            </a:pPr>
            <a:r>
              <a:rPr lang="en-US" sz="400" dirty="0">
                <a:solidFill>
                  <a:srgbClr val="252A3D"/>
                </a:solidFill>
                <a:latin typeface="Arial" pitchFamily="34" charset="0"/>
                <a:ea typeface="Arial" pitchFamily="34" charset="-122"/>
                <a:cs typeface="Arial" pitchFamily="34" charset="-120"/>
              </a:rPr>
              <a:t> </a:t>
            </a:r>
            <a:endParaRPr lang="en-US" sz="920" dirty="0"/>
          </a:p>
          <a:p>
            <a:pPr indent="0" marL="0">
              <a:lnSpc>
                <a:spcPct val="105000"/>
              </a:lnSpc>
              <a:buNone/>
            </a:pPr>
            <a:r>
              <a:rPr lang="en-US" sz="700" dirty="0">
                <a:solidFill>
                  <a:srgbClr val="5B6575"/>
                </a:solidFill>
                <a:latin typeface="Courier New" pitchFamily="34" charset="0"/>
                <a:ea typeface="Courier New" pitchFamily="34" charset="-122"/>
                <a:cs typeface="Courier New" pitchFamily="34" charset="-120"/>
              </a:rPr>
              <a:t>experiments/preflight_balanced_300_20260922/dataset/DGF-BLD-035200_build/99_hidden_ground_truth.json</a:t>
            </a:r>
            <a:endParaRPr lang="en-US" sz="920" dirty="0"/>
          </a:p>
          <a:p>
            <a:pPr indent="0" marL="0">
              <a:lnSpc>
                <a:spcPct val="105000"/>
              </a:lnSpc>
              <a:buNone/>
            </a:pPr>
            <a:r>
              <a:rPr lang="en-US" sz="740" dirty="0">
                <a:solidFill>
                  <a:srgbClr val="5B6575"/>
                </a:solidFill>
                <a:latin typeface="Arial" pitchFamily="34" charset="0"/>
                <a:ea typeface="Arial" pitchFamily="34" charset="-122"/>
                <a:cs typeface="Arial" pitchFamily="34" charset="-120"/>
              </a:rPr>
              <a:t>score_submission.py calculates the scores · synthetic_environment.py checks action requests · openrouter_eval/benchmark_runner.py runs the reviews in order</a:t>
            </a:r>
            <a:endParaRPr lang="en-US" sz="920" dirty="0"/>
          </a:p>
        </p:txBody>
      </p:sp>
      <p:sp>
        <p:nvSpPr>
          <p:cNvPr id="18" name="Shape 16"/>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19"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0" name="Text 17"/>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The same program creates the test project and its answer file. </a:t>
            </a:r>
            <a:r>
              <a:rPr lang="en-US" sz="1150" dirty="0">
                <a:solidFill>
                  <a:srgbClr val="252A3D"/>
                </a:solidFill>
                <a:latin typeface="Arial" pitchFamily="34" charset="0"/>
                <a:ea typeface="Arial" pitchFamily="34" charset="-122"/>
                <a:cs typeface="Arial" pitchFamily="34" charset="-120"/>
              </a:rPr>
              <a:t>A review passes by meeting the programmed scoring rules, not by persuading a human evaluator.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HOW THE TEST PROJECTS ARE CREATED</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Realistic project documents, entirely generated</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60" dirty="0">
                <a:solidFill>
                  <a:srgbClr val="5B6575"/>
                </a:solidFill>
                <a:latin typeface="Arial" pitchFamily="34" charset="0"/>
                <a:ea typeface="Arial" pitchFamily="34" charset="-122"/>
                <a:cs typeface="Arial" pitchFamily="34" charset="-120"/>
              </a:rPr>
              <a:t>A program generates the project charters, cloud architecture diagrams, penetration test reports, contracts and backup test results.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12 / 30</a:t>
            </a:r>
            <a:endParaRPr lang="en-US" sz="1000" dirty="0"/>
          </a:p>
        </p:txBody>
      </p:sp>
      <p:sp>
        <p:nvSpPr>
          <p:cNvPr id="9" name="Shape 7"/>
          <p:cNvSpPr/>
          <p:nvPr/>
        </p:nvSpPr>
        <p:spPr>
          <a:xfrm>
            <a:off x="457200" y="1965960"/>
            <a:ext cx="4343400" cy="3246120"/>
          </a:xfrm>
          <a:prstGeom prst="roundRect">
            <a:avLst>
              <a:gd name="adj" fmla="val 2817"/>
            </a:avLst>
          </a:prstGeom>
          <a:solidFill>
            <a:srgbClr val="FFFFFF"/>
          </a:solidFill>
          <a:ln w="12700">
            <a:solidFill>
              <a:srgbClr val="D4DAE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48640" y="2057400"/>
            <a:ext cx="4160520" cy="2770632"/>
          </a:xfrm>
          <a:prstGeom prst="rect">
            <a:avLst/>
          </a:prstGeom>
        </p:spPr>
      </p:pic>
      <p:sp>
        <p:nvSpPr>
          <p:cNvPr id="11" name="Text 8"/>
          <p:cNvSpPr txBox="1"/>
          <p:nvPr/>
        </p:nvSpPr>
        <p:spPr>
          <a:xfrm>
            <a:off x="594360" y="4846320"/>
            <a:ext cx="4069080" cy="378333"/>
          </a:xfrm>
          <a:prstGeom prst="rect">
            <a:avLst/>
          </a:prstGeom>
          <a:noFill/>
          <a:ln/>
        </p:spPr>
        <p:txBody>
          <a:bodyPr wrap="square" lIns="0" tIns="0" rIns="0" bIns="0" rtlCol="0" anchor="t"/>
          <a:lstStyle/>
          <a:p>
            <a:pPr indent="0" marL="0">
              <a:lnSpc>
                <a:spcPct val="105000"/>
              </a:lnSpc>
              <a:buNone/>
            </a:pPr>
            <a:r>
              <a:rPr lang="en-US" sz="750" b="1" dirty="0">
                <a:solidFill>
                  <a:srgbClr val="5B6575"/>
                </a:solidFill>
                <a:latin typeface="Arial" pitchFamily="34" charset="0"/>
                <a:ea typeface="Arial" pitchFamily="34" charset="-122"/>
                <a:cs typeface="Arial" pitchFamily="34" charset="-120"/>
              </a:rPr>
              <a:t>This architecture diagram comes from the test data: </a:t>
            </a:r>
            <a:r>
              <a:rPr lang="en-US" sz="750" dirty="0">
                <a:solidFill>
                  <a:srgbClr val="5B6575"/>
                </a:solidFill>
                <a:latin typeface="Arial" pitchFamily="34" charset="0"/>
                <a:ea typeface="Arial" pitchFamily="34" charset="-122"/>
                <a:cs typeface="Arial" pitchFamily="34" charset="-120"/>
              </a:rPr>
              <a:t>Project Falcon, a fictional HR portal. The reviewer must verify what the diagram says. The diagram is not proof that the design is valid.</a:t>
            </a:r>
            <a:endParaRPr lang="en-US" sz="780" dirty="0"/>
          </a:p>
        </p:txBody>
      </p:sp>
      <p:sp>
        <p:nvSpPr>
          <p:cNvPr id="12" name="Shape 9"/>
          <p:cNvSpPr/>
          <p:nvPr/>
        </p:nvSpPr>
        <p:spPr>
          <a:xfrm>
            <a:off x="4983480" y="1965960"/>
            <a:ext cx="6748272" cy="731520"/>
          </a:xfrm>
          <a:prstGeom prst="roundRect">
            <a:avLst>
              <a:gd name="adj" fmla="val 12500"/>
            </a:avLst>
          </a:prstGeom>
          <a:solidFill>
            <a:srgbClr val="DDF5FC"/>
          </a:solidFill>
          <a:ln w="12700">
            <a:solidFill>
              <a:srgbClr val="DDF5FC"/>
            </a:solidFill>
            <a:prstDash val="solid"/>
          </a:ln>
        </p:spPr>
        <p:txBody>
          <a:bodyPr/>
          <a:p/>
        </p:txBody>
      </p:sp>
      <p:sp>
        <p:nvSpPr>
          <p:cNvPr id="13" name="Shape 10"/>
          <p:cNvSpPr/>
          <p:nvPr/>
        </p:nvSpPr>
        <p:spPr>
          <a:xfrm>
            <a:off x="5111496" y="2075688"/>
            <a:ext cx="384048" cy="274320"/>
          </a:xfrm>
          <a:prstGeom prst="roundRect">
            <a:avLst>
              <a:gd name="adj" fmla="val 16667"/>
            </a:avLst>
          </a:prstGeom>
          <a:solidFill>
            <a:srgbClr val="FFFFFF"/>
          </a:solidFill>
          <a:ln w="12700">
            <a:solidFill>
              <a:srgbClr val="FFFFFF"/>
            </a:solidFill>
            <a:prstDash val="solid"/>
          </a:ln>
        </p:spPr>
        <p:txBody>
          <a:bodyPr/>
          <a:p/>
        </p:txBody>
      </p:sp>
      <p:sp>
        <p:nvSpPr>
          <p:cNvPr id="14" name="Text 11"/>
          <p:cNvSpPr txBox="1"/>
          <p:nvPr/>
        </p:nvSpPr>
        <p:spPr>
          <a:xfrm>
            <a:off x="5111496" y="2075688"/>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1</a:t>
            </a:r>
            <a:endParaRPr lang="en-US" sz="1000" dirty="0"/>
          </a:p>
        </p:txBody>
      </p:sp>
      <p:sp>
        <p:nvSpPr>
          <p:cNvPr id="15" name="Text 12"/>
          <p:cNvSpPr txBox="1"/>
          <p:nvPr/>
        </p:nvSpPr>
        <p:spPr>
          <a:xfrm>
            <a:off x="5623560" y="2020824"/>
            <a:ext cx="5971032"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First, define the project’s facts</a:t>
            </a:r>
            <a:endParaRPr lang="en-US" sz="1100" dirty="0"/>
          </a:p>
        </p:txBody>
      </p:sp>
      <p:sp>
        <p:nvSpPr>
          <p:cNvPr id="16" name="Text 13"/>
          <p:cNvSpPr txBox="1"/>
          <p:nvPr/>
        </p:nvSpPr>
        <p:spPr>
          <a:xfrm>
            <a:off x="5623560" y="2231136"/>
            <a:ext cx="5971032" cy="45720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The program sets the project’s budget and owner, whether a backup has been restored, the age of the security test, whether the supplier passed its background check and whether the contract is signed. It deliberately creates a mix of projects that meet the requirements and projects that do not.</a:t>
            </a:r>
            <a:endParaRPr lang="en-US" sz="860" dirty="0"/>
          </a:p>
        </p:txBody>
      </p:sp>
      <p:sp>
        <p:nvSpPr>
          <p:cNvPr id="17" name="Shape 14"/>
          <p:cNvSpPr/>
          <p:nvPr/>
        </p:nvSpPr>
        <p:spPr>
          <a:xfrm>
            <a:off x="4983480" y="2793492"/>
            <a:ext cx="6748272" cy="731520"/>
          </a:xfrm>
          <a:prstGeom prst="roundRect">
            <a:avLst>
              <a:gd name="adj" fmla="val 12500"/>
            </a:avLst>
          </a:prstGeom>
          <a:solidFill>
            <a:srgbClr val="FFF5BF"/>
          </a:solidFill>
          <a:ln w="12700">
            <a:solidFill>
              <a:srgbClr val="FFF5BF"/>
            </a:solidFill>
            <a:prstDash val="solid"/>
          </a:ln>
        </p:spPr>
        <p:txBody>
          <a:bodyPr/>
          <a:p/>
        </p:txBody>
      </p:sp>
      <p:sp>
        <p:nvSpPr>
          <p:cNvPr id="18" name="Shape 15"/>
          <p:cNvSpPr/>
          <p:nvPr/>
        </p:nvSpPr>
        <p:spPr>
          <a:xfrm>
            <a:off x="5111496" y="2903220"/>
            <a:ext cx="384048" cy="274320"/>
          </a:xfrm>
          <a:prstGeom prst="roundRect">
            <a:avLst>
              <a:gd name="adj" fmla="val 16667"/>
            </a:avLst>
          </a:prstGeom>
          <a:solidFill>
            <a:srgbClr val="FFFFFF"/>
          </a:solidFill>
          <a:ln w="12700">
            <a:solidFill>
              <a:srgbClr val="FFFFFF"/>
            </a:solidFill>
            <a:prstDash val="solid"/>
          </a:ln>
        </p:spPr>
        <p:txBody>
          <a:bodyPr/>
          <a:p/>
        </p:txBody>
      </p:sp>
      <p:sp>
        <p:nvSpPr>
          <p:cNvPr id="19" name="Text 16"/>
          <p:cNvSpPr txBox="1"/>
          <p:nvPr/>
        </p:nvSpPr>
        <p:spPr>
          <a:xfrm>
            <a:off x="5111496" y="2903220"/>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2</a:t>
            </a:r>
            <a:endParaRPr lang="en-US" sz="1000" dirty="0"/>
          </a:p>
        </p:txBody>
      </p:sp>
      <p:sp>
        <p:nvSpPr>
          <p:cNvPr id="20" name="Text 17"/>
          <p:cNvSpPr txBox="1"/>
          <p:nvPr/>
        </p:nvSpPr>
        <p:spPr>
          <a:xfrm>
            <a:off x="5623560" y="2848356"/>
            <a:ext cx="5971032"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Next, create the architecture diagram</a:t>
            </a:r>
            <a:endParaRPr lang="en-US" sz="1100" dirty="0"/>
          </a:p>
        </p:txBody>
      </p:sp>
      <p:sp>
        <p:nvSpPr>
          <p:cNvPr id="21" name="Text 18"/>
          <p:cNvSpPr txBox="1"/>
          <p:nvPr/>
        </p:nvSpPr>
        <p:spPr>
          <a:xfrm>
            <a:off x="5623560" y="3058668"/>
            <a:ext cx="5971032" cy="45720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Using those facts, the program draws a realistic cloud architecture with official Azure icons. It sometimes adds a deliberate flaw, such as an internet-exposed database, a missing firewall or an untested disaster-recovery site. The dataset contains 300 distinct architecture diagrams.</a:t>
            </a:r>
            <a:endParaRPr lang="en-US" sz="860" dirty="0"/>
          </a:p>
        </p:txBody>
      </p:sp>
      <p:sp>
        <p:nvSpPr>
          <p:cNvPr id="22" name="Shape 19"/>
          <p:cNvSpPr/>
          <p:nvPr/>
        </p:nvSpPr>
        <p:spPr>
          <a:xfrm>
            <a:off x="4983480" y="3621024"/>
            <a:ext cx="6748272" cy="731520"/>
          </a:xfrm>
          <a:prstGeom prst="roundRect">
            <a:avLst>
              <a:gd name="adj" fmla="val 12500"/>
            </a:avLst>
          </a:prstGeom>
          <a:solidFill>
            <a:srgbClr val="E5F6E9"/>
          </a:solidFill>
          <a:ln w="12700">
            <a:solidFill>
              <a:srgbClr val="E5F6E9"/>
            </a:solidFill>
            <a:prstDash val="solid"/>
          </a:ln>
        </p:spPr>
        <p:txBody>
          <a:bodyPr/>
          <a:p/>
        </p:txBody>
      </p:sp>
      <p:sp>
        <p:nvSpPr>
          <p:cNvPr id="23" name="Shape 20"/>
          <p:cNvSpPr/>
          <p:nvPr/>
        </p:nvSpPr>
        <p:spPr>
          <a:xfrm>
            <a:off x="5111496" y="3730752"/>
            <a:ext cx="384048" cy="274320"/>
          </a:xfrm>
          <a:prstGeom prst="roundRect">
            <a:avLst>
              <a:gd name="adj" fmla="val 16667"/>
            </a:avLst>
          </a:prstGeom>
          <a:solidFill>
            <a:srgbClr val="FFFFFF"/>
          </a:solidFill>
          <a:ln w="12700">
            <a:solidFill>
              <a:srgbClr val="FFFFFF"/>
            </a:solidFill>
            <a:prstDash val="solid"/>
          </a:ln>
        </p:spPr>
        <p:txBody>
          <a:bodyPr/>
          <a:p/>
        </p:txBody>
      </p:sp>
      <p:sp>
        <p:nvSpPr>
          <p:cNvPr id="24" name="Text 21"/>
          <p:cNvSpPr txBox="1"/>
          <p:nvPr/>
        </p:nvSpPr>
        <p:spPr>
          <a:xfrm>
            <a:off x="5111496" y="3730752"/>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3</a:t>
            </a:r>
            <a:endParaRPr lang="en-US" sz="1000" dirty="0"/>
          </a:p>
        </p:txBody>
      </p:sp>
      <p:sp>
        <p:nvSpPr>
          <p:cNvPr id="25" name="Text 22"/>
          <p:cNvSpPr txBox="1"/>
          <p:nvPr/>
        </p:nvSpPr>
        <p:spPr>
          <a:xfrm>
            <a:off x="5623560" y="3675888"/>
            <a:ext cx="5971032"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Then, generate the documents</a:t>
            </a:r>
            <a:endParaRPr lang="en-US" sz="1100" dirty="0"/>
          </a:p>
        </p:txBody>
      </p:sp>
      <p:sp>
        <p:nvSpPr>
          <p:cNvPr id="26" name="Text 23"/>
          <p:cNvSpPr txBox="1"/>
          <p:nvPr/>
        </p:nvSpPr>
        <p:spPr>
          <a:xfrm>
            <a:off x="5623560" y="3886200"/>
            <a:ext cx="5971032" cy="45720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Each project has about 26 Word documents, plus tables: a project charter, a request for each review, tender documents, a contract, a penetration test report, a threat model, operating instructions and backup, restore, failover and load test results.</a:t>
            </a:r>
            <a:endParaRPr lang="en-US" sz="860" dirty="0"/>
          </a:p>
        </p:txBody>
      </p:sp>
      <p:sp>
        <p:nvSpPr>
          <p:cNvPr id="27" name="Shape 24"/>
          <p:cNvSpPr/>
          <p:nvPr/>
        </p:nvSpPr>
        <p:spPr>
          <a:xfrm>
            <a:off x="4983480" y="4448556"/>
            <a:ext cx="6748272" cy="731520"/>
          </a:xfrm>
          <a:prstGeom prst="roundRect">
            <a:avLst>
              <a:gd name="adj" fmla="val 12500"/>
            </a:avLst>
          </a:prstGeom>
          <a:solidFill>
            <a:srgbClr val="FFE4E6"/>
          </a:solidFill>
          <a:ln w="12700">
            <a:solidFill>
              <a:srgbClr val="FFE4E6"/>
            </a:solidFill>
            <a:prstDash val="solid"/>
          </a:ln>
        </p:spPr>
        <p:txBody>
          <a:bodyPr/>
          <a:p/>
        </p:txBody>
      </p:sp>
      <p:sp>
        <p:nvSpPr>
          <p:cNvPr id="28" name="Shape 25"/>
          <p:cNvSpPr/>
          <p:nvPr/>
        </p:nvSpPr>
        <p:spPr>
          <a:xfrm>
            <a:off x="5111496" y="4558284"/>
            <a:ext cx="384048" cy="274320"/>
          </a:xfrm>
          <a:prstGeom prst="roundRect">
            <a:avLst>
              <a:gd name="adj" fmla="val 16667"/>
            </a:avLst>
          </a:prstGeom>
          <a:solidFill>
            <a:srgbClr val="FFFFFF"/>
          </a:solidFill>
          <a:ln w="12700">
            <a:solidFill>
              <a:srgbClr val="FFFFFF"/>
            </a:solidFill>
            <a:prstDash val="solid"/>
          </a:ln>
        </p:spPr>
        <p:txBody>
          <a:bodyPr/>
          <a:p/>
        </p:txBody>
      </p:sp>
      <p:sp>
        <p:nvSpPr>
          <p:cNvPr id="29" name="Text 26"/>
          <p:cNvSpPr txBox="1"/>
          <p:nvPr/>
        </p:nvSpPr>
        <p:spPr>
          <a:xfrm>
            <a:off x="5111496" y="4558284"/>
            <a:ext cx="384048" cy="274320"/>
          </a:xfrm>
          <a:prstGeom prst="rect">
            <a:avLst/>
          </a:prstGeom>
          <a:noFill/>
          <a:ln/>
        </p:spPr>
        <p:txBody>
          <a:bodyPr wrap="square" lIns="0" tIns="0" rIns="0" bIns="0" rtlCol="0" anchor="ctr"/>
          <a:lstStyle/>
          <a:p>
            <a:pPr algn="ctr" indent="0" marL="0">
              <a:lnSpc>
                <a:spcPct val="105000"/>
              </a:lnSpc>
              <a:buNone/>
            </a:pPr>
            <a:r>
              <a:rPr lang="en-US" sz="1000" b="1" dirty="0">
                <a:solidFill>
                  <a:srgbClr val="252A3D"/>
                </a:solidFill>
                <a:latin typeface="Arial" pitchFamily="34" charset="0"/>
                <a:ea typeface="Arial" pitchFamily="34" charset="-122"/>
                <a:cs typeface="Arial" pitchFamily="34" charset="-120"/>
              </a:rPr>
              <a:t>4</a:t>
            </a:r>
            <a:endParaRPr lang="en-US" sz="1000" dirty="0"/>
          </a:p>
        </p:txBody>
      </p:sp>
      <p:sp>
        <p:nvSpPr>
          <p:cNvPr id="30" name="Text 27"/>
          <p:cNvSpPr txBox="1"/>
          <p:nvPr/>
        </p:nvSpPr>
        <p:spPr>
          <a:xfrm>
            <a:off x="5623560" y="4503420"/>
            <a:ext cx="5971032" cy="201168"/>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Finally, introduce conflicting information</a:t>
            </a:r>
            <a:endParaRPr lang="en-US" sz="1100" dirty="0"/>
          </a:p>
        </p:txBody>
      </p:sp>
      <p:sp>
        <p:nvSpPr>
          <p:cNvPr id="31" name="Text 28"/>
          <p:cNvSpPr txBox="1"/>
          <p:nvPr/>
        </p:nvSpPr>
        <p:spPr>
          <a:xfrm>
            <a:off x="5623560" y="4713732"/>
            <a:ext cx="5971032" cy="45720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Some documents are deliberately outdated or conflict with official records. For example, a contract summary says “signed” while the official record says “draft.” The reviewer must check the official record and request missing information rather than guess.</a:t>
            </a:r>
            <a:endParaRPr lang="en-US" sz="860" dirty="0"/>
          </a:p>
        </p:txBody>
      </p:sp>
      <p:sp>
        <p:nvSpPr>
          <p:cNvPr id="32" name="Shape 29"/>
          <p:cNvSpPr/>
          <p:nvPr/>
        </p:nvSpPr>
        <p:spPr>
          <a:xfrm>
            <a:off x="457200" y="5376672"/>
            <a:ext cx="11274552" cy="1051560"/>
          </a:xfrm>
          <a:prstGeom prst="roundRect">
            <a:avLst>
              <a:gd name="adj" fmla="val 8696"/>
            </a:avLst>
          </a:prstGeom>
          <a:solidFill>
            <a:srgbClr val="FFF5BF"/>
          </a:solidFill>
          <a:ln w="12700">
            <a:solidFill>
              <a:srgbClr val="FFF5BF"/>
            </a:solidFill>
            <a:prstDash val="solid"/>
          </a:ln>
        </p:spPr>
        <p:txBody>
          <a:bodyPr/>
          <a:p/>
        </p:txBody>
      </p:sp>
      <p:pic>
        <p:nvPicPr>
          <p:cNvPr id="33" name="Image 1" descr="preencoded.png">    </p:cNvPr>
          <p:cNvPicPr>
            <a:picLocks noChangeAspect="1"/>
          </p:cNvPicPr>
          <p:nvPr/>
        </p:nvPicPr>
        <p:blipFill>
          <a:blip r:embed="rId2"/>
          <a:stretch>
            <a:fillRect/>
          </a:stretch>
        </p:blipFill>
        <p:spPr>
          <a:xfrm>
            <a:off x="621792" y="5747004"/>
            <a:ext cx="310896" cy="310896"/>
          </a:xfrm>
          <a:prstGeom prst="rect">
            <a:avLst/>
          </a:prstGeom>
        </p:spPr>
      </p:pic>
      <p:sp>
        <p:nvSpPr>
          <p:cNvPr id="34" name="Text 30"/>
          <p:cNvSpPr txBox="1"/>
          <p:nvPr/>
        </p:nvSpPr>
        <p:spPr>
          <a:xfrm>
            <a:off x="1051560" y="5425821"/>
            <a:ext cx="10469880" cy="100241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Each reviewer uses different documents. Security: </a:t>
            </a:r>
            <a:r>
              <a:rPr lang="en-US" sz="1150" dirty="0">
                <a:solidFill>
                  <a:srgbClr val="252A3D"/>
                </a:solidFill>
                <a:latin typeface="Arial" pitchFamily="34" charset="0"/>
                <a:ea typeface="Arial" pitchFamily="34" charset="-122"/>
                <a:cs typeface="Arial" pitchFamily="34" charset="-120"/>
              </a:rPr>
              <a:t>penetration test report, vulnerabilities, firewall and identity settings. Tech Readiness: backup, restore, failover, rollback and load test results, plus operating instructions. Procurement: tender documents, proposals and background checks. Legal: contract, data-protection agreement and insurance certificate. Compliance: privacy assessment and applicable regulations. IT: inventory and capacity records. Architecture: diagram, network flows and IP address plan. General: business case and budget approval.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KEY NUMBERS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The experiment in numbers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The same agent is tested with three AI models, using the same 300 projects, review rules and scoring program.</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13 / 30</a:t>
            </a:r>
            <a:endParaRPr lang="en-US" sz="1000" dirty="0"/>
          </a:p>
        </p:txBody>
      </p:sp>
      <p:sp>
        <p:nvSpPr>
          <p:cNvPr id="9" name="Shape 7"/>
          <p:cNvSpPr/>
          <p:nvPr/>
        </p:nvSpPr>
        <p:spPr>
          <a:xfrm>
            <a:off x="457200" y="1965960"/>
            <a:ext cx="2743200" cy="1097280"/>
          </a:xfrm>
          <a:prstGeom prst="roundRect">
            <a:avLst>
              <a:gd name="adj" fmla="val 8333"/>
            </a:avLst>
          </a:prstGeom>
          <a:solidFill>
            <a:srgbClr val="FFF5BF"/>
          </a:solidFill>
          <a:ln w="12700">
            <a:solidFill>
              <a:srgbClr val="FFF5BF"/>
            </a:solidFill>
            <a:prstDash val="solid"/>
          </a:ln>
        </p:spPr>
        <p:txBody>
          <a:bodyPr/>
          <a:p/>
        </p:txBody>
      </p:sp>
      <p:sp>
        <p:nvSpPr>
          <p:cNvPr id="10" name="Text 8"/>
          <p:cNvSpPr txBox="1"/>
          <p:nvPr/>
        </p:nvSpPr>
        <p:spPr>
          <a:xfrm>
            <a:off x="640080" y="207568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300</a:t>
            </a:r>
            <a:endParaRPr lang="en-US" sz="2800" dirty="0"/>
          </a:p>
        </p:txBody>
      </p:sp>
      <p:sp>
        <p:nvSpPr>
          <p:cNvPr id="11" name="Text 9"/>
          <p:cNvSpPr txBox="1"/>
          <p:nvPr/>
        </p:nvSpPr>
        <p:spPr>
          <a:xfrm>
            <a:off x="640080" y="2587752"/>
            <a:ext cx="2377440" cy="45720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fictional projects: 100 purchases, 100 system integrations and 100 application developments</a:t>
            </a:r>
            <a:endParaRPr lang="en-US" sz="980" dirty="0"/>
          </a:p>
        </p:txBody>
      </p:sp>
      <p:sp>
        <p:nvSpPr>
          <p:cNvPr id="12" name="Shape 10"/>
          <p:cNvSpPr/>
          <p:nvPr/>
        </p:nvSpPr>
        <p:spPr>
          <a:xfrm>
            <a:off x="3337560" y="1965960"/>
            <a:ext cx="2743200" cy="1097280"/>
          </a:xfrm>
          <a:prstGeom prst="roundRect">
            <a:avLst>
              <a:gd name="adj" fmla="val 8333"/>
            </a:avLst>
          </a:prstGeom>
          <a:solidFill>
            <a:srgbClr val="E5F6E9"/>
          </a:solidFill>
          <a:ln w="12700">
            <a:solidFill>
              <a:srgbClr val="E5F6E9"/>
            </a:solidFill>
            <a:prstDash val="solid"/>
          </a:ln>
        </p:spPr>
        <p:txBody>
          <a:bodyPr/>
          <a:p/>
        </p:txBody>
      </p:sp>
      <p:sp>
        <p:nvSpPr>
          <p:cNvPr id="13" name="Text 11"/>
          <p:cNvSpPr txBox="1"/>
          <p:nvPr/>
        </p:nvSpPr>
        <p:spPr>
          <a:xfrm>
            <a:off x="3520440" y="207568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1,700</a:t>
            </a:r>
            <a:endParaRPr lang="en-US" sz="2800" dirty="0"/>
          </a:p>
        </p:txBody>
      </p:sp>
      <p:sp>
        <p:nvSpPr>
          <p:cNvPr id="14" name="Text 12"/>
          <p:cNvSpPr txBox="1"/>
          <p:nvPr/>
        </p:nvSpPr>
        <p:spPr>
          <a:xfrm>
            <a:off x="3520440" y="2587752"/>
            <a:ext cx="2377440" cy="45720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reviews planned per model, with five or six per project</a:t>
            </a:r>
            <a:endParaRPr lang="en-US" sz="980" dirty="0"/>
          </a:p>
        </p:txBody>
      </p:sp>
      <p:sp>
        <p:nvSpPr>
          <p:cNvPr id="15" name="Shape 13"/>
          <p:cNvSpPr/>
          <p:nvPr/>
        </p:nvSpPr>
        <p:spPr>
          <a:xfrm>
            <a:off x="457200" y="3200400"/>
            <a:ext cx="2743200" cy="1097280"/>
          </a:xfrm>
          <a:prstGeom prst="roundRect">
            <a:avLst>
              <a:gd name="adj" fmla="val 8333"/>
            </a:avLst>
          </a:prstGeom>
          <a:solidFill>
            <a:srgbClr val="EFE8FA"/>
          </a:solidFill>
          <a:ln w="12700">
            <a:solidFill>
              <a:srgbClr val="EFE8FA"/>
            </a:solidFill>
            <a:prstDash val="solid"/>
          </a:ln>
        </p:spPr>
        <p:txBody>
          <a:bodyPr/>
          <a:p/>
        </p:txBody>
      </p:sp>
      <p:sp>
        <p:nvSpPr>
          <p:cNvPr id="16" name="Text 14"/>
          <p:cNvSpPr txBox="1"/>
          <p:nvPr/>
        </p:nvSpPr>
        <p:spPr>
          <a:xfrm>
            <a:off x="640080" y="331012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3</a:t>
            </a:r>
            <a:endParaRPr lang="en-US" sz="2800" dirty="0"/>
          </a:p>
        </p:txBody>
      </p:sp>
      <p:sp>
        <p:nvSpPr>
          <p:cNvPr id="17" name="Text 15"/>
          <p:cNvSpPr txBox="1"/>
          <p:nvPr/>
        </p:nvSpPr>
        <p:spPr>
          <a:xfrm>
            <a:off x="640080" y="3822192"/>
            <a:ext cx="2377440" cy="45720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models tested: Gemini 3.8 Flash, GPT-5.6 Luna and DeepSeek v4.1 Flash</a:t>
            </a:r>
            <a:endParaRPr lang="en-US" sz="980" dirty="0"/>
          </a:p>
        </p:txBody>
      </p:sp>
      <p:sp>
        <p:nvSpPr>
          <p:cNvPr id="18" name="Shape 16"/>
          <p:cNvSpPr/>
          <p:nvPr/>
        </p:nvSpPr>
        <p:spPr>
          <a:xfrm>
            <a:off x="3337560" y="3200400"/>
            <a:ext cx="2743200" cy="1097280"/>
          </a:xfrm>
          <a:prstGeom prst="roundRect">
            <a:avLst>
              <a:gd name="adj" fmla="val 8333"/>
            </a:avLst>
          </a:prstGeom>
          <a:solidFill>
            <a:srgbClr val="FFE4E6"/>
          </a:solidFill>
          <a:ln w="12700">
            <a:solidFill>
              <a:srgbClr val="FFE4E6"/>
            </a:solidFill>
            <a:prstDash val="solid"/>
          </a:ln>
        </p:spPr>
        <p:txBody>
          <a:bodyPr/>
          <a:p/>
        </p:txBody>
      </p:sp>
      <p:sp>
        <p:nvSpPr>
          <p:cNvPr id="19" name="Text 17"/>
          <p:cNvSpPr txBox="1"/>
          <p:nvPr/>
        </p:nvSpPr>
        <p:spPr>
          <a:xfrm>
            <a:off x="3520440" y="3310128"/>
            <a:ext cx="2377440" cy="502920"/>
          </a:xfrm>
          <a:prstGeom prst="rect">
            <a:avLst/>
          </a:prstGeom>
          <a:noFill/>
          <a:ln/>
        </p:spPr>
        <p:txBody>
          <a:bodyPr wrap="square" lIns="0" tIns="0" rIns="0" bIns="0" rtlCol="0" anchor="t"/>
          <a:lstStyle/>
          <a:p>
            <a:pPr indent="0" marL="0">
              <a:lnSpc>
                <a:spcPct val="105000"/>
              </a:lnSpc>
              <a:buNone/>
            </a:pPr>
            <a:r>
              <a:rPr lang="en-US" sz="2800" b="1" dirty="0">
                <a:solidFill>
                  <a:srgbClr val="252A3D"/>
                </a:solidFill>
                <a:latin typeface="Arial" pitchFamily="34" charset="0"/>
                <a:ea typeface="Arial" pitchFamily="34" charset="-122"/>
                <a:cs typeface="Arial" pitchFamily="34" charset="-120"/>
              </a:rPr>
              <a:t>$99.58</a:t>
            </a:r>
            <a:endParaRPr lang="en-US" sz="2800" dirty="0"/>
          </a:p>
        </p:txBody>
      </p:sp>
      <p:sp>
        <p:nvSpPr>
          <p:cNvPr id="20" name="Text 18"/>
          <p:cNvSpPr txBox="1"/>
          <p:nvPr/>
        </p:nvSpPr>
        <p:spPr>
          <a:xfrm>
            <a:off x="3520440" y="3822192"/>
            <a:ext cx="2377440" cy="45720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total cost of AI model calls for the study, including failed attempts</a:t>
            </a:r>
            <a:endParaRPr lang="en-US" sz="980" dirty="0"/>
          </a:p>
        </p:txBody>
      </p:sp>
      <p:sp>
        <p:nvSpPr>
          <p:cNvPr id="21" name="Shape 19"/>
          <p:cNvSpPr/>
          <p:nvPr/>
        </p:nvSpPr>
        <p:spPr>
          <a:xfrm>
            <a:off x="6355080" y="1965960"/>
            <a:ext cx="5376672" cy="2331720"/>
          </a:xfrm>
          <a:prstGeom prst="roundRect">
            <a:avLst>
              <a:gd name="adj" fmla="val 3922"/>
            </a:avLst>
          </a:prstGeom>
          <a:solidFill>
            <a:srgbClr val="DDF5FC"/>
          </a:solidFill>
          <a:ln w="12700">
            <a:solidFill>
              <a:srgbClr val="DDF5FC"/>
            </a:solidFill>
            <a:prstDash val="solid"/>
          </a:ln>
        </p:spPr>
        <p:txBody>
          <a:bodyPr/>
          <a:p/>
        </p:txBody>
      </p:sp>
      <p:pic>
        <p:nvPicPr>
          <p:cNvPr id="22" name="Image 0" descr="preencoded.png">    </p:cNvPr>
          <p:cNvPicPr>
            <a:picLocks noChangeAspect="1"/>
          </p:cNvPicPr>
          <p:nvPr/>
        </p:nvPicPr>
        <p:blipFill>
          <a:blip r:embed="rId1"/>
          <a:stretch>
            <a:fillRect/>
          </a:stretch>
        </p:blipFill>
        <p:spPr>
          <a:xfrm>
            <a:off x="11274552" y="2084832"/>
            <a:ext cx="329184" cy="329184"/>
          </a:xfrm>
          <a:prstGeom prst="rect">
            <a:avLst/>
          </a:prstGeom>
        </p:spPr>
      </p:pic>
      <p:sp>
        <p:nvSpPr>
          <p:cNvPr id="23" name="Text 20"/>
          <p:cNvSpPr txBox="1"/>
          <p:nvPr/>
        </p:nvSpPr>
        <p:spPr>
          <a:xfrm>
            <a:off x="6537960" y="2103120"/>
            <a:ext cx="45720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A REVIEW MUST MEET ALL FIVE CRITERIA TO PASS</a:t>
            </a:r>
            <a:endParaRPr lang="en-US" sz="950" dirty="0"/>
          </a:p>
        </p:txBody>
      </p:sp>
      <p:sp>
        <p:nvSpPr>
          <p:cNvPr id="24" name="Text 21"/>
          <p:cNvSpPr txBox="1"/>
          <p:nvPr/>
        </p:nvSpPr>
        <p:spPr>
          <a:xfrm>
            <a:off x="6537960" y="2432304"/>
            <a:ext cx="5029200" cy="182880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80" b="1" dirty="0">
                <a:solidFill>
                  <a:srgbClr val="252A3D"/>
                </a:solidFill>
                <a:latin typeface="Arial" pitchFamily="34" charset="0"/>
                <a:ea typeface="Arial" pitchFamily="34" charset="-122"/>
                <a:cs typeface="Arial" pitchFamily="34" charset="-120"/>
              </a:rPr>
              <a:t>The correct decision: </a:t>
            </a:r>
            <a:r>
              <a:rPr lang="en-US" sz="1080" dirty="0">
                <a:solidFill>
                  <a:srgbClr val="252A3D"/>
                </a:solidFill>
                <a:latin typeface="Arial" pitchFamily="34" charset="0"/>
                <a:ea typeface="Arial" pitchFamily="34" charset="-122"/>
                <a:cs typeface="Arial" pitchFamily="34" charset="-120"/>
              </a:rPr>
              <a:t>GO, GO WITH CONDITIONS, REWORK, WAIT or NO</a:t>
            </a:r>
            <a:endParaRPr lang="en-US" sz="1080" dirty="0"/>
          </a:p>
          <a:p>
            <a:pPr marL="127000" indent="-127000">
              <a:lnSpc>
                <a:spcPct val="105000"/>
              </a:lnSpc>
              <a:spcAft>
                <a:spcPts val="500"/>
              </a:spcAft>
              <a:buSzPct val="100000"/>
              <a:buChar char="•"/>
            </a:pPr>
            <a:r>
              <a:rPr lang="en-US" sz="1080" dirty="0">
                <a:solidFill>
                  <a:srgbClr val="252A3D"/>
                </a:solidFill>
                <a:latin typeface="Arial" pitchFamily="34" charset="0"/>
                <a:ea typeface="Arial" pitchFamily="34" charset="-122"/>
                <a:cs typeface="Arial" pitchFamily="34" charset="-120"/>
              </a:rPr>
              <a:t>All required problems are identified, with none added or missed</a:t>
            </a:r>
            <a:endParaRPr lang="en-US" sz="1080" dirty="0"/>
          </a:p>
          <a:p>
            <a:pPr marL="127000" indent="-127000">
              <a:lnSpc>
                <a:spcPct val="105000"/>
              </a:lnSpc>
              <a:spcAft>
                <a:spcPts val="500"/>
              </a:spcAft>
              <a:buSzPct val="100000"/>
              <a:buChar char="•"/>
            </a:pPr>
            <a:r>
              <a:rPr lang="en-US" sz="1080" b="1" dirty="0">
                <a:solidFill>
                  <a:srgbClr val="252A3D"/>
                </a:solidFill>
                <a:latin typeface="Arial" pitchFamily="34" charset="0"/>
                <a:ea typeface="Arial" pitchFamily="34" charset="-122"/>
                <a:cs typeface="Arial" pitchFamily="34" charset="-120"/>
              </a:rPr>
              <a:t>The correct actions are requested</a:t>
            </a:r>
            <a:endParaRPr lang="en-US" sz="1080" dirty="0"/>
          </a:p>
          <a:p>
            <a:pPr marL="127000" indent="-127000">
              <a:lnSpc>
                <a:spcPct val="105000"/>
              </a:lnSpc>
              <a:spcAft>
                <a:spcPts val="500"/>
              </a:spcAft>
              <a:buSzPct val="100000"/>
              <a:buChar char="•"/>
            </a:pPr>
            <a:r>
              <a:rPr lang="en-US" sz="1080" dirty="0">
                <a:solidFill>
                  <a:srgbClr val="252A3D"/>
                </a:solidFill>
                <a:latin typeface="Arial" pitchFamily="34" charset="0"/>
                <a:ea typeface="Arial" pitchFamily="34" charset="-122"/>
                <a:cs typeface="Arial" pitchFamily="34" charset="-120"/>
              </a:rPr>
              <a:t>The required sources are cited, with the relevant text quoted exactly</a:t>
            </a:r>
            <a:endParaRPr lang="en-US" sz="1080" dirty="0"/>
          </a:p>
          <a:p>
            <a:pPr marL="127000" indent="-127000">
              <a:lnSpc>
                <a:spcPct val="105000"/>
              </a:lnSpc>
              <a:spcAft>
                <a:spcPts val="500"/>
              </a:spcAft>
              <a:buSzPct val="100000"/>
              <a:buChar char="•"/>
            </a:pPr>
            <a:r>
              <a:rPr lang="en-US" sz="1080" dirty="0">
                <a:solidFill>
                  <a:srgbClr val="252A3D"/>
                </a:solidFill>
                <a:latin typeface="Arial" pitchFamily="34" charset="0"/>
                <a:ea typeface="Arial" pitchFamily="34" charset="-122"/>
                <a:cs typeface="Arial" pitchFamily="34" charset="-120"/>
              </a:rPr>
              <a:t>The decision stays within what the reviewer is authorized to approve</a:t>
            </a:r>
            <a:endParaRPr lang="en-US" sz="1080" dirty="0"/>
          </a:p>
        </p:txBody>
      </p:sp>
      <p:sp>
        <p:nvSpPr>
          <p:cNvPr id="25" name="Shape 22"/>
          <p:cNvSpPr/>
          <p:nvPr/>
        </p:nvSpPr>
        <p:spPr>
          <a:xfrm>
            <a:off x="457200" y="4480560"/>
            <a:ext cx="11274552" cy="960120"/>
          </a:xfrm>
          <a:prstGeom prst="roundRect">
            <a:avLst>
              <a:gd name="adj" fmla="val 9524"/>
            </a:avLst>
          </a:prstGeom>
          <a:solidFill>
            <a:srgbClr val="F3F5F8"/>
          </a:solidFill>
          <a:ln w="12700">
            <a:solidFill>
              <a:srgbClr val="F3F5F8"/>
            </a:solidFill>
            <a:prstDash val="solid"/>
          </a:ln>
        </p:spPr>
        <p:txBody>
          <a:bodyPr/>
          <a:p/>
        </p:txBody>
      </p:sp>
      <p:sp>
        <p:nvSpPr>
          <p:cNvPr id="26" name="Text 23"/>
          <p:cNvSpPr txBox="1"/>
          <p:nvPr/>
        </p:nvSpPr>
        <p:spPr>
          <a:xfrm>
            <a:off x="658368" y="4480560"/>
            <a:ext cx="10881360" cy="960120"/>
          </a:xfrm>
          <a:prstGeom prst="rect">
            <a:avLst/>
          </a:prstGeom>
          <a:noFill/>
          <a:ln/>
        </p:spPr>
        <p:txBody>
          <a:bodyPr wrap="square" lIns="0" tIns="0" rIns="0" bIns="0" rtlCol="0" anchor="ctr"/>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The review pass rate counts reviews that meet all five criteria. </a:t>
            </a:r>
            <a:r>
              <a:rPr lang="en-US" sz="1100" dirty="0">
                <a:solidFill>
                  <a:srgbClr val="252A3D"/>
                </a:solidFill>
                <a:latin typeface="Arial" pitchFamily="34" charset="0"/>
                <a:ea typeface="Arial" pitchFamily="34" charset="-122"/>
                <a:cs typeface="Arial" pitchFamily="34" charset="-120"/>
              </a:rPr>
              <a:t>A review fails if any one criterion is not met. The complete-project pass rate counts projects whose reviews all pass. If four of a project’s five reviews pass, its review pass rate is 80%, but it does not count as a complete-project pass.</a:t>
            </a:r>
            <a:endParaRPr lang="en-US" sz="1100" dirty="0"/>
          </a:p>
        </p:txBody>
      </p:sp>
      <p:sp>
        <p:nvSpPr>
          <p:cNvPr id="27" name="Shape 24"/>
          <p:cNvSpPr/>
          <p:nvPr/>
        </p:nvSpPr>
        <p:spPr>
          <a:xfrm>
            <a:off x="457200" y="5596128"/>
            <a:ext cx="11274552" cy="868680"/>
          </a:xfrm>
          <a:prstGeom prst="roundRect">
            <a:avLst>
              <a:gd name="adj" fmla="val 10526"/>
            </a:avLst>
          </a:prstGeom>
          <a:solidFill>
            <a:srgbClr val="FFF5BF"/>
          </a:solidFill>
          <a:ln w="12700">
            <a:solidFill>
              <a:srgbClr val="FFF5BF"/>
            </a:solidFill>
            <a:prstDash val="solid"/>
          </a:ln>
        </p:spPr>
        <p:txBody>
          <a:bodyPr/>
          <a:p/>
        </p:txBody>
      </p:sp>
      <p:pic>
        <p:nvPicPr>
          <p:cNvPr id="28" name="Image 1" descr="preencoded.png">    </p:cNvPr>
          <p:cNvPicPr>
            <a:picLocks noChangeAspect="1"/>
          </p:cNvPicPr>
          <p:nvPr/>
        </p:nvPicPr>
        <p:blipFill>
          <a:blip r:embed="rId2"/>
          <a:stretch>
            <a:fillRect/>
          </a:stretch>
        </p:blipFill>
        <p:spPr>
          <a:xfrm>
            <a:off x="621792" y="5875020"/>
            <a:ext cx="310896" cy="310896"/>
          </a:xfrm>
          <a:prstGeom prst="rect">
            <a:avLst/>
          </a:prstGeom>
        </p:spPr>
      </p:pic>
      <p:sp>
        <p:nvSpPr>
          <p:cNvPr id="29" name="Text 25"/>
          <p:cNvSpPr txBox="1"/>
          <p:nvPr/>
        </p:nvSpPr>
        <p:spPr>
          <a:xfrm>
            <a:off x="1051560" y="5596128"/>
            <a:ext cx="10469880" cy="868680"/>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All three models use the same agent and settings: </a:t>
            </a:r>
            <a:r>
              <a:rPr lang="en-US" sz="1150" dirty="0">
                <a:solidFill>
                  <a:srgbClr val="252A3D"/>
                </a:solidFill>
                <a:latin typeface="Arial" pitchFamily="34" charset="0"/>
                <a:ea typeface="Arial" pitchFamily="34" charset="-122"/>
                <a:cs typeface="Arial" pitchFamily="34" charset="-120"/>
              </a:rPr>
              <a:t>temperature 0 to minimize randomness, no more than 20 reasoning turns and 40 tool calls per review. The runs took place on 22–23 September 2026. One of the 900 project runs was excluded after a technical failure at the model provider. The scoring covered 899 runs and 5,094 reviews.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THE BENCHMARK IN ACTION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AI agents carrying out project reviews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The screenshot shows the benchmark console. Each review line records one gate review carried out by an AI agent.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14 / 30</a:t>
            </a:r>
            <a:endParaRPr lang="en-US" sz="1000" dirty="0"/>
          </a:p>
        </p:txBody>
      </p:sp>
      <p:sp>
        <p:nvSpPr>
          <p:cNvPr id="9" name="Shape 7"/>
          <p:cNvSpPr/>
          <p:nvPr/>
        </p:nvSpPr>
        <p:spPr>
          <a:xfrm>
            <a:off x="457200" y="1965960"/>
            <a:ext cx="11274552" cy="4178808"/>
          </a:xfrm>
          <a:prstGeom prst="roundRect">
            <a:avLst>
              <a:gd name="adj" fmla="val 2188"/>
            </a:avLst>
          </a:prstGeom>
          <a:solidFill>
            <a:srgbClr val="FFFFFF"/>
          </a:solidFill>
          <a:ln w="12700">
            <a:solidFill>
              <a:srgbClr val="D4DAE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978408" y="2057400"/>
            <a:ext cx="10241280" cy="3758184"/>
          </a:xfrm>
          <a:prstGeom prst="rect">
            <a:avLst/>
          </a:prstGeom>
        </p:spPr>
      </p:pic>
      <p:sp>
        <p:nvSpPr>
          <p:cNvPr id="11" name="Text 8"/>
          <p:cNvSpPr txBox="1"/>
          <p:nvPr/>
        </p:nvSpPr>
        <p:spPr>
          <a:xfrm>
            <a:off x="658368" y="5852160"/>
            <a:ext cx="10881360" cy="256032"/>
          </a:xfrm>
          <a:prstGeom prst="rect">
            <a:avLst/>
          </a:prstGeom>
          <a:noFill/>
          <a:ln/>
        </p:spPr>
        <p:txBody>
          <a:bodyPr wrap="square" lIns="0" tIns="0" rIns="0" bIns="0" rtlCol="0" anchor="t"/>
          <a:lstStyle/>
          <a:p>
            <a:pPr indent="0" marL="0">
              <a:lnSpc>
                <a:spcPct val="105000"/>
              </a:lnSpc>
              <a:buNone/>
            </a:pPr>
            <a:r>
              <a:rPr lang="en-US" sz="740" b="1" dirty="0">
                <a:solidFill>
                  <a:srgbClr val="5B6575"/>
                </a:solidFill>
                <a:latin typeface="Arial" pitchFamily="34" charset="0"/>
                <a:ea typeface="Arial" pitchFamily="34" charset="-122"/>
                <a:cs typeface="Arial" pitchFamily="34" charset="-120"/>
              </a:rPr>
              <a:t>How to read a review line: </a:t>
            </a:r>
            <a:r>
              <a:rPr lang="en-US" sz="740" dirty="0">
                <a:solidFill>
                  <a:srgbClr val="5B6575"/>
                </a:solidFill>
                <a:latin typeface="Arial" pitchFamily="34" charset="0"/>
                <a:ea typeface="Arial" pitchFamily="34" charset="-122"/>
                <a:cs typeface="Arial" pitchFamily="34" charset="-120"/>
              </a:rPr>
              <a:t>[job number out of 45 | AI model | project] review number → decision. “turns” counts reasoning steps; “tools” counts calls to simulated company systems; “cost” is the cost of calls to the AI model. These repeat tests were run on 24 September 2026 using 15 projects and three AI models. The execution logs are published in the repository.</a:t>
            </a:r>
            <a:endParaRPr lang="en-US" sz="740" dirty="0"/>
          </a:p>
        </p:txBody>
      </p:sp>
      <p:sp>
        <p:nvSpPr>
          <p:cNvPr id="12" name="Shape 9"/>
          <p:cNvSpPr/>
          <p:nvPr/>
        </p:nvSpPr>
        <p:spPr>
          <a:xfrm>
            <a:off x="457200" y="6217920"/>
            <a:ext cx="11274552" cy="384048"/>
          </a:xfrm>
          <a:prstGeom prst="roundRect">
            <a:avLst>
              <a:gd name="adj" fmla="val 23810"/>
            </a:avLst>
          </a:prstGeom>
          <a:solidFill>
            <a:srgbClr val="FFF5BF"/>
          </a:solidFill>
          <a:ln w="12700">
            <a:solidFill>
              <a:srgbClr val="FFF5BF"/>
            </a:solidFill>
            <a:prstDash val="solid"/>
          </a:ln>
        </p:spPr>
        <p:txBody>
          <a:bodyPr/>
          <a:p/>
        </p:txBody>
      </p:sp>
      <p:pic>
        <p:nvPicPr>
          <p:cNvPr id="13" name="Image 1" descr="preencoded.png">    </p:cNvPr>
          <p:cNvPicPr>
            <a:picLocks noChangeAspect="1"/>
          </p:cNvPicPr>
          <p:nvPr/>
        </p:nvPicPr>
        <p:blipFill>
          <a:blip r:embed="rId2"/>
          <a:stretch>
            <a:fillRect/>
          </a:stretch>
        </p:blipFill>
        <p:spPr>
          <a:xfrm>
            <a:off x="621792" y="6291072"/>
            <a:ext cx="237744" cy="237744"/>
          </a:xfrm>
          <a:prstGeom prst="rect">
            <a:avLst/>
          </a:prstGeom>
        </p:spPr>
      </p:pic>
      <p:sp>
        <p:nvSpPr>
          <p:cNvPr id="14" name="Text 10"/>
          <p:cNvSpPr txBox="1"/>
          <p:nvPr/>
        </p:nvSpPr>
        <p:spPr>
          <a:xfrm>
            <a:off x="987552" y="6217920"/>
            <a:ext cx="10561320" cy="384048"/>
          </a:xfrm>
          <a:prstGeom prst="rect">
            <a:avLst/>
          </a:prstGeom>
          <a:noFill/>
          <a:ln/>
        </p:spPr>
        <p:txBody>
          <a:bodyPr wrap="square" lIns="0" tIns="0" rIns="0" bIns="0" rtlCol="0" anchor="ctr"/>
          <a:lstStyle/>
          <a:p>
            <a:pPr indent="0" marL="0">
              <a:lnSpc>
                <a:spcPct val="105000"/>
              </a:lnSpc>
              <a:buNone/>
            </a:pPr>
            <a:r>
              <a:rPr lang="en-US" sz="940" b="1" dirty="0">
                <a:solidFill>
                  <a:srgbClr val="252A3D"/>
                </a:solidFill>
                <a:latin typeface="Arial" pitchFamily="34" charset="0"/>
                <a:ea typeface="Arial" pitchFamily="34" charset="-122"/>
                <a:cs typeface="Arial" pitchFamily="34" charset="-120"/>
              </a:rPr>
              <a:t>These are actual execution logs, not a mock-up. </a:t>
            </a:r>
            <a:r>
              <a:rPr lang="en-US" sz="940" dirty="0">
                <a:solidFill>
                  <a:srgbClr val="252A3D"/>
                </a:solidFill>
                <a:latin typeface="Arial" pitchFamily="34" charset="0"/>
                <a:ea typeface="Arial" pitchFamily="34" charset="-122"/>
                <a:cs typeface="Arial" pitchFamily="34" charset="-120"/>
              </a:rPr>
              <a:t>They show agents using Gemini, Luna and DeepSeek to carry out the reviews normally assigned to specialists. Example: reviewing a complete Build project with Gemini cost USD 0.25 and received a score of 1.0.</a:t>
            </a:r>
            <a:endParaRPr lang="en-US" sz="9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RESULTS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340" b="1" dirty="0">
                <a:solidFill>
                  <a:srgbClr val="252A3D"/>
                </a:solidFill>
                <a:latin typeface="Arial" pitchFamily="34" charset="0"/>
                <a:ea typeface="Arial" pitchFamily="34" charset="-122"/>
                <a:cs typeface="Arial" pitchFamily="34" charset="-120"/>
              </a:rPr>
              <a:t>With Gemini, every decision was correct; exact source citations were harder</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Left: reviews that met all five criteria. Right: projects whose reviews all passed. Results cover 899 scored project runs.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15 / 30</a:t>
            </a:r>
            <a:endParaRPr lang="en-US" sz="1000" dirty="0"/>
          </a:p>
        </p:txBody>
      </p:sp>
      <p:sp>
        <p:nvSpPr>
          <p:cNvPr id="9" name="Shape 7"/>
          <p:cNvSpPr/>
          <p:nvPr/>
        </p:nvSpPr>
        <p:spPr>
          <a:xfrm>
            <a:off x="457200" y="1965960"/>
            <a:ext cx="5532120" cy="3246120"/>
          </a:xfrm>
          <a:prstGeom prst="roundRect">
            <a:avLst>
              <a:gd name="adj" fmla="val 2817"/>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57400"/>
          <a:ext cx="5349240" cy="306324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199632" y="1965960"/>
            <a:ext cx="5532120" cy="3246120"/>
          </a:xfrm>
          <a:prstGeom prst="roundRect">
            <a:avLst>
              <a:gd name="adj" fmla="val 2817"/>
            </a:avLst>
          </a:prstGeom>
          <a:solidFill>
            <a:srgbClr val="FFFFFF"/>
          </a:solidFill>
          <a:ln w="12700">
            <a:solidFill>
              <a:srgbClr val="D4DAE3"/>
            </a:solidFill>
            <a:prstDash val="solid"/>
          </a:ln>
        </p:spPr>
        <p:txBody>
          <a:bodyPr/>
          <a:p/>
        </p:txBody>
      </p:sp>
      <p:graphicFrame>
        <p:nvGraphicFramePr>
          <p:cNvPr id="12" name="Chart 1" descr=""/>
          <p:cNvGraphicFramePr/>
          <p:nvPr/>
        </p:nvGraphicFramePr>
        <p:xfrm>
          <a:off x="6291072" y="2057400"/>
          <a:ext cx="5349240" cy="306324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457200" y="5349240"/>
            <a:ext cx="3657600" cy="1115568"/>
          </a:xfrm>
          <a:prstGeom prst="roundRect">
            <a:avLst>
              <a:gd name="adj" fmla="val 8197"/>
            </a:avLst>
          </a:prstGeom>
          <a:solidFill>
            <a:srgbClr val="E5F6E9"/>
          </a:solidFill>
          <a:ln w="12700">
            <a:solidFill>
              <a:srgbClr val="E5F6E9"/>
            </a:solidFill>
            <a:prstDash val="solid"/>
          </a:ln>
        </p:spPr>
        <p:txBody>
          <a:bodyPr/>
          <a:p/>
        </p:txBody>
      </p:sp>
      <p:sp>
        <p:nvSpPr>
          <p:cNvPr id="14" name="Text 10"/>
          <p:cNvSpPr txBox="1"/>
          <p:nvPr/>
        </p:nvSpPr>
        <p:spPr>
          <a:xfrm>
            <a:off x="621792" y="5440680"/>
            <a:ext cx="3337560" cy="219456"/>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Gemini: every decision was correct</a:t>
            </a:r>
            <a:endParaRPr lang="en-US" sz="1100" dirty="0"/>
          </a:p>
        </p:txBody>
      </p:sp>
      <p:sp>
        <p:nvSpPr>
          <p:cNvPr id="15" name="Text 11"/>
          <p:cNvSpPr txBox="1"/>
          <p:nvPr/>
        </p:nvSpPr>
        <p:spPr>
          <a:xfrm>
            <a:off x="621792" y="5678424"/>
            <a:ext cx="3337560" cy="777240"/>
          </a:xfrm>
          <a:prstGeom prst="rect">
            <a:avLst/>
          </a:prstGeom>
          <a:noFill/>
          <a:ln/>
        </p:spPr>
        <p:txBody>
          <a:bodyPr wrap="square" lIns="0" tIns="0" rIns="0" bIns="0" rtlCol="0" anchor="t"/>
          <a:lstStyle/>
          <a:p>
            <a:pPr indent="0" marL="0">
              <a:lnSpc>
                <a:spcPct val="105000"/>
              </a:lnSpc>
              <a:buNone/>
            </a:pPr>
            <a:r>
              <a:rPr lang="en-US" sz="950" dirty="0">
                <a:solidFill>
                  <a:srgbClr val="252A3D"/>
                </a:solidFill>
                <a:latin typeface="Arial" pitchFamily="34" charset="0"/>
                <a:ea typeface="Arial" pitchFamily="34" charset="-122"/>
                <a:cs typeface="Arial" pitchFamily="34" charset="-120"/>
              </a:rPr>
              <a:t>With Gemini, the agent made the correct decision in all 1,694 reviews evaluated. The other two models made the correct decision in 98% and 95% of reviews.</a:t>
            </a:r>
            <a:endParaRPr lang="en-US" sz="950" dirty="0"/>
          </a:p>
        </p:txBody>
      </p:sp>
      <p:sp>
        <p:nvSpPr>
          <p:cNvPr id="16" name="Shape 12"/>
          <p:cNvSpPr/>
          <p:nvPr/>
        </p:nvSpPr>
        <p:spPr>
          <a:xfrm>
            <a:off x="4265676" y="5349240"/>
            <a:ext cx="3657600" cy="1115568"/>
          </a:xfrm>
          <a:prstGeom prst="roundRect">
            <a:avLst>
              <a:gd name="adj" fmla="val 8197"/>
            </a:avLst>
          </a:prstGeom>
          <a:solidFill>
            <a:srgbClr val="FFF5BF"/>
          </a:solidFill>
          <a:ln w="12700">
            <a:solidFill>
              <a:srgbClr val="FFF5BF"/>
            </a:solidFill>
            <a:prstDash val="solid"/>
          </a:ln>
        </p:spPr>
        <p:txBody>
          <a:bodyPr/>
          <a:p/>
        </p:txBody>
      </p:sp>
      <p:sp>
        <p:nvSpPr>
          <p:cNvPr id="17" name="Text 13"/>
          <p:cNvSpPr txBox="1"/>
          <p:nvPr/>
        </p:nvSpPr>
        <p:spPr>
          <a:xfrm>
            <a:off x="4430268" y="5440680"/>
            <a:ext cx="3337560" cy="219456"/>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Source citations caused most failures</a:t>
            </a:r>
            <a:endParaRPr lang="en-US" sz="1100" dirty="0"/>
          </a:p>
        </p:txBody>
      </p:sp>
      <p:sp>
        <p:nvSpPr>
          <p:cNvPr id="18" name="Text 14"/>
          <p:cNvSpPr txBox="1"/>
          <p:nvPr/>
        </p:nvSpPr>
        <p:spPr>
          <a:xfrm>
            <a:off x="4430268" y="5678424"/>
            <a:ext cx="3337560" cy="777240"/>
          </a:xfrm>
          <a:prstGeom prst="rect">
            <a:avLst/>
          </a:prstGeom>
          <a:noFill/>
          <a:ln/>
        </p:spPr>
        <p:txBody>
          <a:bodyPr wrap="square" lIns="0" tIns="0" rIns="0" bIns="0" rtlCol="0" anchor="t"/>
          <a:lstStyle/>
          <a:p>
            <a:pPr indent="0" marL="0">
              <a:lnSpc>
                <a:spcPct val="105000"/>
              </a:lnSpc>
              <a:buNone/>
            </a:pPr>
            <a:r>
              <a:rPr lang="en-US" sz="950" dirty="0">
                <a:solidFill>
                  <a:srgbClr val="252A3D"/>
                </a:solidFill>
                <a:latin typeface="Arial" pitchFamily="34" charset="0"/>
                <a:ea typeface="Arial" pitchFamily="34" charset="-122"/>
                <a:cs typeface="Arial" pitchFamily="34" charset="-120"/>
              </a:rPr>
              <a:t>With Gemini, 85 reviews failed solely because the agent did not cite a source or quote its content exactly as required. These citation errors caused 23% of project runs to fail the complete-project score: every review had to pass.</a:t>
            </a:r>
            <a:endParaRPr lang="en-US" sz="950" dirty="0"/>
          </a:p>
        </p:txBody>
      </p:sp>
      <p:sp>
        <p:nvSpPr>
          <p:cNvPr id="19" name="Shape 15"/>
          <p:cNvSpPr/>
          <p:nvPr/>
        </p:nvSpPr>
        <p:spPr>
          <a:xfrm>
            <a:off x="8074152" y="5349240"/>
            <a:ext cx="3657600" cy="1115568"/>
          </a:xfrm>
          <a:prstGeom prst="roundRect">
            <a:avLst>
              <a:gd name="adj" fmla="val 8197"/>
            </a:avLst>
          </a:prstGeom>
          <a:solidFill>
            <a:srgbClr val="F3F5F8"/>
          </a:solidFill>
          <a:ln w="12700">
            <a:solidFill>
              <a:srgbClr val="F3F5F8"/>
            </a:solidFill>
            <a:prstDash val="solid"/>
          </a:ln>
        </p:spPr>
        <p:txBody>
          <a:bodyPr/>
          <a:p/>
        </p:txBody>
      </p:sp>
      <p:sp>
        <p:nvSpPr>
          <p:cNvPr id="20" name="Text 16"/>
          <p:cNvSpPr txBox="1"/>
          <p:nvPr/>
        </p:nvSpPr>
        <p:spPr>
          <a:xfrm>
            <a:off x="8238744" y="5440680"/>
            <a:ext cx="3337560" cy="219456"/>
          </a:xfrm>
          <a:prstGeom prst="rect">
            <a:avLst/>
          </a:prstGeom>
          <a:noFill/>
          <a:ln/>
        </p:spPr>
        <p:txBody>
          <a:bodyPr wrap="square" lIns="0" tIns="0" rIns="0" bIns="0" rtlCol="0" anchor="t"/>
          <a:lstStyle/>
          <a:p>
            <a:pPr indent="0" marL="0">
              <a:lnSpc>
                <a:spcPct val="105000"/>
              </a:lnSpc>
              <a:buNone/>
            </a:pPr>
            <a:r>
              <a:rPr lang="en-US" sz="1100" b="1" dirty="0">
                <a:solidFill>
                  <a:srgbClr val="252A3D"/>
                </a:solidFill>
                <a:latin typeface="Arial" pitchFamily="34" charset="0"/>
                <a:ea typeface="Arial" pitchFamily="34" charset="-122"/>
                <a:cs typeface="Arial" pitchFamily="34" charset="-120"/>
              </a:rPr>
              <a:t>Fixed-rule program without AI (gray bar)</a:t>
            </a:r>
            <a:endParaRPr lang="en-US" sz="1100" dirty="0"/>
          </a:p>
        </p:txBody>
      </p:sp>
      <p:sp>
        <p:nvSpPr>
          <p:cNvPr id="21" name="Text 17"/>
          <p:cNvSpPr txBox="1"/>
          <p:nvPr/>
        </p:nvSpPr>
        <p:spPr>
          <a:xfrm>
            <a:off x="8238744" y="5678424"/>
            <a:ext cx="3337560" cy="777240"/>
          </a:xfrm>
          <a:prstGeom prst="rect">
            <a:avLst/>
          </a:prstGeom>
          <a:noFill/>
          <a:ln/>
        </p:spPr>
        <p:txBody>
          <a:bodyPr wrap="square" lIns="0" tIns="0" rIns="0" bIns="0" rtlCol="0" anchor="t"/>
          <a:lstStyle/>
          <a:p>
            <a:pPr indent="0" marL="0">
              <a:lnSpc>
                <a:spcPct val="105000"/>
              </a:lnSpc>
              <a:buNone/>
            </a:pPr>
            <a:r>
              <a:rPr lang="en-US" sz="950" dirty="0">
                <a:solidFill>
                  <a:srgbClr val="252A3D"/>
                </a:solidFill>
                <a:latin typeface="Arial" pitchFamily="34" charset="0"/>
                <a:ea typeface="Arial" pitchFamily="34" charset="-122"/>
                <a:cs typeface="Arial" pitchFamily="34" charset="-120"/>
              </a:rPr>
              <a:t>A conventional program applying fixed rules scored 100%, without using AI. When all the facts are already clearly organized, a fixed-rule program can do the job. The question is what an AI agent adds when information is harder to find, incomplete or inconsistent.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WHERE THE AGENT STILL FAILS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510" b="1" dirty="0">
                <a:solidFill>
                  <a:srgbClr val="252A3D"/>
                </a:solidFill>
                <a:latin typeface="Arial" pitchFamily="34" charset="0"/>
                <a:ea typeface="Arial" pitchFamily="34" charset="-122"/>
                <a:cs typeface="Arial" pitchFamily="34" charset="-120"/>
              </a:rPr>
              <a:t>The main difficulty is rarely the decision. It is citing the sources exactly.</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Percentage of reviews meeting all five criteria, by review type and model. No model performs best on every type of review.</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16 / 30</a:t>
            </a:r>
            <a:endParaRPr lang="en-US" sz="1000" dirty="0"/>
          </a:p>
        </p:txBody>
      </p:sp>
      <p:sp>
        <p:nvSpPr>
          <p:cNvPr id="9" name="Shape 7"/>
          <p:cNvSpPr/>
          <p:nvPr/>
        </p:nvSpPr>
        <p:spPr>
          <a:xfrm>
            <a:off x="457200" y="1965960"/>
            <a:ext cx="6675120" cy="3611880"/>
          </a:xfrm>
          <a:prstGeom prst="roundRect">
            <a:avLst>
              <a:gd name="adj" fmla="val 2532"/>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29968"/>
          <a:ext cx="6492240" cy="347472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360920" y="1965960"/>
            <a:ext cx="4370832" cy="1143000"/>
          </a:xfrm>
          <a:prstGeom prst="roundRect">
            <a:avLst>
              <a:gd name="adj" fmla="val 8000"/>
            </a:avLst>
          </a:prstGeom>
          <a:solidFill>
            <a:srgbClr val="FFF5BF"/>
          </a:solidFill>
          <a:ln w="12700">
            <a:solidFill>
              <a:srgbClr val="FFF5BF"/>
            </a:solidFill>
            <a:prstDash val="solid"/>
          </a:ln>
        </p:spPr>
        <p:txBody>
          <a:bodyPr/>
          <a:p/>
        </p:txBody>
      </p:sp>
      <p:sp>
        <p:nvSpPr>
          <p:cNvPr id="12" name="Text 9"/>
          <p:cNvSpPr txBox="1"/>
          <p:nvPr/>
        </p:nvSpPr>
        <p:spPr>
          <a:xfrm>
            <a:off x="7543800" y="2075688"/>
            <a:ext cx="402336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WHY PROCUREMENT REVIEWS SCORE LOWER</a:t>
            </a:r>
            <a:endParaRPr lang="en-US" sz="950" dirty="0"/>
          </a:p>
        </p:txBody>
      </p:sp>
      <p:sp>
        <p:nvSpPr>
          <p:cNvPr id="13" name="Text 10"/>
          <p:cNvSpPr txBox="1"/>
          <p:nvPr/>
        </p:nvSpPr>
        <p:spPr>
          <a:xfrm>
            <a:off x="7543800" y="2295144"/>
            <a:ext cx="4023360" cy="7772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In Procurement reviews, agents using two of the models made the correct decision in 96–97% of cases, but met all five criteria in only 33–43%. They cited the correct supplier information, but used a spreadsheet that the scoring program did not accept as a source. The decision was correct; the cited source did not meet the scoring rules.</a:t>
            </a:r>
            <a:endParaRPr lang="en-US" sz="920" dirty="0"/>
          </a:p>
        </p:txBody>
      </p:sp>
      <p:sp>
        <p:nvSpPr>
          <p:cNvPr id="14" name="Shape 11"/>
          <p:cNvSpPr/>
          <p:nvPr/>
        </p:nvSpPr>
        <p:spPr>
          <a:xfrm>
            <a:off x="7360920" y="3223260"/>
            <a:ext cx="4370832" cy="1143000"/>
          </a:xfrm>
          <a:prstGeom prst="roundRect">
            <a:avLst>
              <a:gd name="adj" fmla="val 8000"/>
            </a:avLst>
          </a:prstGeom>
          <a:solidFill>
            <a:srgbClr val="FFE4E6"/>
          </a:solidFill>
          <a:ln w="12700">
            <a:solidFill>
              <a:srgbClr val="FFE4E6"/>
            </a:solidFill>
            <a:prstDash val="solid"/>
          </a:ln>
        </p:spPr>
        <p:txBody>
          <a:bodyPr/>
          <a:p/>
        </p:txBody>
      </p:sp>
      <p:sp>
        <p:nvSpPr>
          <p:cNvPr id="15" name="Text 12"/>
          <p:cNvSpPr txBox="1"/>
          <p:nvPr/>
        </p:nvSpPr>
        <p:spPr>
          <a:xfrm>
            <a:off x="7543800" y="3332988"/>
            <a:ext cx="402336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VERY FEW SERIOUS ERRORS IN THE TESTS</a:t>
            </a:r>
            <a:endParaRPr lang="en-US" sz="950" dirty="0"/>
          </a:p>
        </p:txBody>
      </p:sp>
      <p:sp>
        <p:nvSpPr>
          <p:cNvPr id="16" name="Text 13"/>
          <p:cNvSpPr txBox="1"/>
          <p:nvPr/>
        </p:nvSpPr>
        <p:spPr>
          <a:xfrm>
            <a:off x="7543800" y="3552444"/>
            <a:ext cx="4023360" cy="7772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Across about 5,100 reviews, the number of incorrect project approvals was 0 for Gemini, 1 for Luna and 1 for DeepSeek. The number of serious problems missed was 0 for Gemini, 3 for Luna and 1 for DeepSeek. Neither type of error occurred in the 135 repeat runs.</a:t>
            </a:r>
            <a:endParaRPr lang="en-US" sz="920" dirty="0"/>
          </a:p>
        </p:txBody>
      </p:sp>
      <p:sp>
        <p:nvSpPr>
          <p:cNvPr id="17" name="Shape 14"/>
          <p:cNvSpPr/>
          <p:nvPr/>
        </p:nvSpPr>
        <p:spPr>
          <a:xfrm>
            <a:off x="7360920" y="4480560"/>
            <a:ext cx="4370832" cy="1143000"/>
          </a:xfrm>
          <a:prstGeom prst="roundRect">
            <a:avLst>
              <a:gd name="adj" fmla="val 8000"/>
            </a:avLst>
          </a:prstGeom>
          <a:solidFill>
            <a:srgbClr val="E5F6E9"/>
          </a:solidFill>
          <a:ln w="12700">
            <a:solidFill>
              <a:srgbClr val="E5F6E9"/>
            </a:solidFill>
            <a:prstDash val="solid"/>
          </a:ln>
        </p:spPr>
        <p:txBody>
          <a:bodyPr/>
          <a:p/>
        </p:txBody>
      </p:sp>
      <p:sp>
        <p:nvSpPr>
          <p:cNvPr id="18" name="Text 15"/>
          <p:cNvSpPr txBox="1"/>
          <p:nvPr/>
        </p:nvSpPr>
        <p:spPr>
          <a:xfrm>
            <a:off x="7543800" y="4590288"/>
            <a:ext cx="402336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PERFORMANCE DEPENDS ON THE TYPE OF REVIEW</a:t>
            </a:r>
            <a:endParaRPr lang="en-US" sz="950" dirty="0"/>
          </a:p>
        </p:txBody>
      </p:sp>
      <p:sp>
        <p:nvSpPr>
          <p:cNvPr id="19" name="Text 16"/>
          <p:cNvSpPr txBox="1"/>
          <p:nvPr/>
        </p:nvSpPr>
        <p:spPr>
          <a:xfrm>
            <a:off x="7543800" y="4809744"/>
            <a:ext cx="4023360" cy="7772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The agent performed better with Luna than with Gemini on Architecture and Tech Readiness reviews, but much worse on Procurement and the final General review, where earlier errors affect the result.</a:t>
            </a:r>
            <a:endParaRPr lang="en-US" sz="920" dirty="0"/>
          </a:p>
        </p:txBody>
      </p:sp>
      <p:sp>
        <p:nvSpPr>
          <p:cNvPr id="20" name="Shape 1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1" name="Image 0"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2" name="Text 1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In this experiment, the agent usually made the correct decision. Its main difficulty was meeting the strict requirement to identify the correct sources and quote them exactly, as an auditor would expect. The proposed solution is better tools for retrieving and quoting sources. This is different from improving the agent’s judgment.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TWO EXAMPLES FROM THE EXECUTION LOGS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Two reviews from the experiment</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One example shows the agent completing the required review correctly. The other shows a correct decision failing the full evaluation because of a citation error.</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17 / 30</a:t>
            </a:r>
            <a:endParaRPr lang="en-US" sz="1000" dirty="0"/>
          </a:p>
        </p:txBody>
      </p:sp>
      <p:sp>
        <p:nvSpPr>
          <p:cNvPr id="9" name="Shape 7"/>
          <p:cNvSpPr/>
          <p:nvPr/>
        </p:nvSpPr>
        <p:spPr>
          <a:xfrm>
            <a:off x="457200" y="1965960"/>
            <a:ext cx="5532120" cy="3611880"/>
          </a:xfrm>
          <a:prstGeom prst="roundRect">
            <a:avLst>
              <a:gd name="adj" fmla="val 2532"/>
            </a:avLst>
          </a:prstGeom>
          <a:solidFill>
            <a:srgbClr val="E5F6E9"/>
          </a:solidFill>
          <a:ln w="12700">
            <a:solidFill>
              <a:srgbClr val="E5F6E9"/>
            </a:solidFill>
            <a:prstDash val="solid"/>
          </a:ln>
        </p:spPr>
        <p:txBody>
          <a:bodyPr/>
          <a:p/>
        </p:txBody>
      </p:sp>
      <p:sp>
        <p:nvSpPr>
          <p:cNvPr id="10" name="Text 8"/>
          <p:cNvSpPr txBox="1"/>
          <p:nvPr/>
        </p:nvSpPr>
        <p:spPr>
          <a:xfrm>
            <a:off x="658368"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PROJECT FALCON · A NEW HR PORTAL FOR 1,000 EMPLOYEES</a:t>
            </a:r>
            <a:endParaRPr lang="en-US" sz="950" dirty="0"/>
          </a:p>
        </p:txBody>
      </p:sp>
      <p:sp>
        <p:nvSpPr>
          <p:cNvPr id="11" name="Text 9"/>
          <p:cNvSpPr txBox="1"/>
          <p:nvPr/>
        </p:nvSpPr>
        <p:spPr>
          <a:xfrm>
            <a:off x="658368" y="2395728"/>
            <a:ext cx="5120640" cy="219456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During the Tech Readiness review, the agent reads the operating documents and finds that the runbook—the instructions for running the application—is still a draft.</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It reports the problem, asks for the runbook to be completed and handed over, and quotes the line showing that it is still a draft.</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The agent checks its authorization and requests permission to approve with a condition. The authorization tool grants the request.</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Decision: GO WITH CONDITIONS. The runbook must be completed before the application goes live. The condition remains unresolved, and a named person is responsible for meeting it.</a:t>
            </a:r>
            <a:endParaRPr lang="en-US" sz="1050" dirty="0"/>
          </a:p>
        </p:txBody>
      </p:sp>
      <p:sp>
        <p:nvSpPr>
          <p:cNvPr id="12" name="Shape 10"/>
          <p:cNvSpPr/>
          <p:nvPr/>
        </p:nvSpPr>
        <p:spPr>
          <a:xfrm>
            <a:off x="658368" y="4663440"/>
            <a:ext cx="5129784" cy="777240"/>
          </a:xfrm>
          <a:prstGeom prst="roundRect">
            <a:avLst>
              <a:gd name="adj" fmla="val 11765"/>
            </a:avLst>
          </a:prstGeom>
          <a:solidFill>
            <a:srgbClr val="FFFFFF"/>
          </a:solidFill>
          <a:ln w="12700">
            <a:solidFill>
              <a:srgbClr val="FFFFFF"/>
            </a:solidFill>
            <a:prstDash val="solid"/>
          </a:ln>
        </p:spPr>
        <p:txBody>
          <a:bodyPr/>
          <a:p/>
        </p:txBody>
      </p:sp>
      <p:sp>
        <p:nvSpPr>
          <p:cNvPr id="13" name="Text 11"/>
          <p:cNvSpPr txBox="1"/>
          <p:nvPr/>
        </p:nvSpPr>
        <p:spPr>
          <a:xfrm>
            <a:off x="804672" y="4663440"/>
            <a:ext cx="4846320" cy="777240"/>
          </a:xfrm>
          <a:prstGeom prst="rect">
            <a:avLst/>
          </a:prstGeom>
          <a:noFill/>
          <a:ln/>
        </p:spPr>
        <p:txBody>
          <a:bodyPr wrap="square" lIns="0" tIns="0" rIns="0" bIns="0" rtlCol="0" anchor="ctr"/>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This illustrates the work expected of a human reviewer. </a:t>
            </a:r>
            <a:r>
              <a:rPr lang="en-US" sz="1050" dirty="0">
                <a:solidFill>
                  <a:srgbClr val="252A3D"/>
                </a:solidFill>
                <a:latin typeface="Arial" pitchFamily="34" charset="0"/>
                <a:ea typeface="Arial" pitchFamily="34" charset="-122"/>
                <a:cs typeface="Arial" pitchFamily="34" charset="-120"/>
              </a:rPr>
              <a:t>With each of the three models, the agent passed all five Falcon reviews.</a:t>
            </a:r>
            <a:endParaRPr lang="en-US" sz="1050" dirty="0"/>
          </a:p>
        </p:txBody>
      </p:sp>
      <p:sp>
        <p:nvSpPr>
          <p:cNvPr id="14" name="Shape 12"/>
          <p:cNvSpPr/>
          <p:nvPr/>
        </p:nvSpPr>
        <p:spPr>
          <a:xfrm>
            <a:off x="6199632" y="1965960"/>
            <a:ext cx="5532120" cy="3611880"/>
          </a:xfrm>
          <a:prstGeom prst="roundRect">
            <a:avLst>
              <a:gd name="adj" fmla="val 2532"/>
            </a:avLst>
          </a:prstGeom>
          <a:solidFill>
            <a:srgbClr val="FFE4E6"/>
          </a:solidFill>
          <a:ln w="12700">
            <a:solidFill>
              <a:srgbClr val="FFE4E6"/>
            </a:solidFill>
            <a:prstDash val="solid"/>
          </a:ln>
        </p:spPr>
        <p:txBody>
          <a:bodyPr/>
          <a:p/>
        </p:txBody>
      </p:sp>
      <p:sp>
        <p:nvSpPr>
          <p:cNvPr id="15" name="Text 13"/>
          <p:cNvSpPr txBox="1"/>
          <p:nvPr/>
        </p:nvSpPr>
        <p:spPr>
          <a:xfrm>
            <a:off x="6400800"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PROJECT MERIDIAN · AN APPLICATION WITH DESIGN PROBLEMS</a:t>
            </a:r>
            <a:endParaRPr lang="en-US" sz="950" dirty="0"/>
          </a:p>
        </p:txBody>
      </p:sp>
      <p:sp>
        <p:nvSpPr>
          <p:cNvPr id="16" name="Text 14"/>
          <p:cNvSpPr txBox="1"/>
          <p:nvPr/>
        </p:nvSpPr>
        <p:spPr>
          <a:xfrm>
            <a:off x="6400800" y="2395728"/>
            <a:ext cx="5120640" cy="219456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The agent finds that a required API gateway is missing and that the application’s response time is 55 ms rather than the required 20 ms.</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It reports both problems, asks for the gateway to be added and the response time reduced, and returns the project for corrections: REWORK. That is the correct decision for this case.</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The agent also makes two attempts to approve with conditions. The authorization tool rejects both requests because these problems must be fixed.</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However, one source quotation lists two facts in the reverse order from the original record. The scoring program requires an exact quotation, so the review fails.</a:t>
            </a:r>
            <a:endParaRPr lang="en-US" sz="1050" dirty="0"/>
          </a:p>
        </p:txBody>
      </p:sp>
      <p:sp>
        <p:nvSpPr>
          <p:cNvPr id="17" name="Shape 15"/>
          <p:cNvSpPr/>
          <p:nvPr/>
        </p:nvSpPr>
        <p:spPr>
          <a:xfrm>
            <a:off x="6400800" y="4663440"/>
            <a:ext cx="5129784" cy="777240"/>
          </a:xfrm>
          <a:prstGeom prst="roundRect">
            <a:avLst>
              <a:gd name="adj" fmla="val 11765"/>
            </a:avLst>
          </a:prstGeom>
          <a:solidFill>
            <a:srgbClr val="FFFFFF"/>
          </a:solidFill>
          <a:ln w="12700">
            <a:solidFill>
              <a:srgbClr val="FFFFFF"/>
            </a:solidFill>
            <a:prstDash val="solid"/>
          </a:ln>
        </p:spPr>
        <p:txBody>
          <a:bodyPr/>
          <a:p/>
        </p:txBody>
      </p:sp>
      <p:sp>
        <p:nvSpPr>
          <p:cNvPr id="18" name="Text 16"/>
          <p:cNvSpPr txBox="1"/>
          <p:nvPr/>
        </p:nvSpPr>
        <p:spPr>
          <a:xfrm>
            <a:off x="6547104" y="4663440"/>
            <a:ext cx="4846320" cy="777240"/>
          </a:xfrm>
          <a:prstGeom prst="rect">
            <a:avLst/>
          </a:prstGeom>
          <a:noFill/>
          <a:ln/>
        </p:spPr>
        <p:txBody>
          <a:bodyPr wrap="square" lIns="0" tIns="0" rIns="0" bIns="0" rtlCol="0" anchor="ctr"/>
          <a:lstStyle/>
          <a:p>
            <a:pPr indent="0" marL="0">
              <a:lnSpc>
                <a:spcPct val="105000"/>
              </a:lnSpc>
              <a:buNone/>
            </a:pPr>
            <a:r>
              <a:rPr lang="en-US" sz="1050" dirty="0">
                <a:solidFill>
                  <a:srgbClr val="252A3D"/>
                </a:solidFill>
                <a:latin typeface="Arial" pitchFamily="34" charset="0"/>
                <a:ea typeface="Arial" pitchFamily="34" charset="-122"/>
                <a:cs typeface="Arial" pitchFamily="34" charset="-120"/>
              </a:rPr>
              <a:t>The decision, reported problems and requested actions are correct, but one quotation is not an exact match. The review scores 0 under the all-or-nothing method and 0.95 under the weighted method.</a:t>
            </a:r>
            <a:endParaRPr lang="en-US" sz="1050" dirty="0"/>
          </a:p>
        </p:txBody>
      </p:sp>
      <p:sp>
        <p:nvSpPr>
          <p:cNvPr id="19" name="Shape 1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0"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1" name="Text 1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Why include a failed review? </a:t>
            </a:r>
            <a:r>
              <a:rPr lang="en-US" sz="1150" dirty="0">
                <a:solidFill>
                  <a:srgbClr val="252A3D"/>
                </a:solidFill>
                <a:latin typeface="Arial" pitchFamily="34" charset="0"/>
                <a:ea typeface="Arial" pitchFamily="34" charset="-122"/>
                <a:cs typeface="Arial" pitchFamily="34" charset="-120"/>
              </a:rPr>
              <a:t>It shows which part of the agent's tooling needs improvement. The scoring rules require exact citations. The proposed fix is a tool that attaches the correct source record to each finding, rather than a more capable AI model.</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DO THE RESULTS HOLD UP ON REPEAT TESTS?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620" b="1" dirty="0">
                <a:solidFill>
                  <a:srgbClr val="252A3D"/>
                </a:solidFill>
                <a:latin typeface="Arial" pitchFamily="34" charset="0"/>
                <a:ea typeface="Arial" pitchFamily="34" charset="-122"/>
                <a:cs typeface="Arial" pitchFamily="34" charset="-120"/>
              </a:rPr>
              <a:t>The same project can produce different results on different attempts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Each of the 15 projects was reviewed three more times with each AI model. A project’s reviews could all pass once and still fail on a later attempt.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18 / 30</a:t>
            </a:r>
            <a:endParaRPr lang="en-US" sz="1000" dirty="0"/>
          </a:p>
        </p:txBody>
      </p:sp>
      <p:sp>
        <p:nvSpPr>
          <p:cNvPr id="9" name="Shape 7"/>
          <p:cNvSpPr/>
          <p:nvPr/>
        </p:nvSpPr>
        <p:spPr>
          <a:xfrm>
            <a:off x="457200" y="1965960"/>
            <a:ext cx="2084832" cy="3611880"/>
          </a:xfrm>
          <a:prstGeom prst="roundRect">
            <a:avLst>
              <a:gd name="adj" fmla="val 4386"/>
            </a:avLst>
          </a:prstGeom>
          <a:solidFill>
            <a:srgbClr val="DDF5FC"/>
          </a:solidFill>
          <a:ln w="12700">
            <a:solidFill>
              <a:srgbClr val="DDF5FC"/>
            </a:solidFill>
            <a:prstDash val="solid"/>
          </a:ln>
        </p:spPr>
        <p:txBody>
          <a:bodyPr/>
          <a:p/>
        </p:txBody>
      </p:sp>
      <p:sp>
        <p:nvSpPr>
          <p:cNvPr id="10" name="Text 8"/>
          <p:cNvSpPr txBox="1"/>
          <p:nvPr/>
        </p:nvSpPr>
        <p:spPr>
          <a:xfrm>
            <a:off x="603504" y="2112264"/>
            <a:ext cx="1792224" cy="256032"/>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Gemini 3.8 Flash</a:t>
            </a:r>
            <a:endParaRPr lang="en-US" sz="1150" dirty="0"/>
          </a:p>
        </p:txBody>
      </p:sp>
      <p:sp>
        <p:nvSpPr>
          <p:cNvPr id="11" name="Text 9"/>
          <p:cNvSpPr txBox="1"/>
          <p:nvPr/>
        </p:nvSpPr>
        <p:spPr>
          <a:xfrm>
            <a:off x="603504" y="2468880"/>
            <a:ext cx="1792224" cy="457200"/>
          </a:xfrm>
          <a:prstGeom prst="rect">
            <a:avLst/>
          </a:prstGeom>
          <a:noFill/>
          <a:ln/>
        </p:spPr>
        <p:txBody>
          <a:bodyPr wrap="square" lIns="0" tIns="0" rIns="0" bIns="0" rtlCol="0" anchor="t"/>
          <a:lstStyle/>
          <a:p>
            <a:pPr indent="0" marL="0">
              <a:lnSpc>
                <a:spcPct val="105000"/>
              </a:lnSpc>
              <a:buNone/>
            </a:pPr>
            <a:r>
              <a:rPr lang="en-US" sz="2600" b="1" dirty="0">
                <a:solidFill>
                  <a:srgbClr val="252A3D"/>
                </a:solidFill>
                <a:latin typeface="Arial" pitchFamily="34" charset="0"/>
                <a:ea typeface="Arial" pitchFamily="34" charset="-122"/>
                <a:cs typeface="Arial" pitchFamily="34" charset="-120"/>
              </a:rPr>
              <a:t>9 of 15</a:t>
            </a:r>
            <a:endParaRPr lang="en-US" sz="2600" dirty="0"/>
          </a:p>
        </p:txBody>
      </p:sp>
      <p:sp>
        <p:nvSpPr>
          <p:cNvPr id="12" name="Text 10"/>
          <p:cNvSpPr txBox="1"/>
          <p:nvPr/>
        </p:nvSpPr>
        <p:spPr>
          <a:xfrm>
            <a:off x="603504" y="2944368"/>
            <a:ext cx="1792224" cy="365760"/>
          </a:xfrm>
          <a:prstGeom prst="rect">
            <a:avLst/>
          </a:prstGeom>
          <a:noFill/>
          <a:ln/>
        </p:spPr>
        <p:txBody>
          <a:bodyPr wrap="square" lIns="0" tIns="0" rIns="0" bIns="0" rtlCol="0" anchor="t"/>
          <a:lstStyle/>
          <a:p>
            <a:pPr indent="0" marL="0">
              <a:lnSpc>
                <a:spcPct val="105000"/>
              </a:lnSpc>
              <a:buNone/>
            </a:pPr>
            <a:r>
              <a:rPr lang="en-US" sz="880" dirty="0">
                <a:solidFill>
                  <a:srgbClr val="5B6575"/>
                </a:solidFill>
                <a:latin typeface="Arial" pitchFamily="34" charset="0"/>
                <a:ea typeface="Arial" pitchFamily="34" charset="-122"/>
                <a:cs typeface="Arial" pitchFamily="34" charset="-120"/>
              </a:rPr>
              <a:t>projects whose reviews all passed on each of the three attempts</a:t>
            </a:r>
            <a:endParaRPr lang="en-US" sz="900" dirty="0"/>
          </a:p>
        </p:txBody>
      </p:sp>
      <p:sp>
        <p:nvSpPr>
          <p:cNvPr id="13" name="Text 11"/>
          <p:cNvSpPr txBox="1"/>
          <p:nvPr/>
        </p:nvSpPr>
        <p:spPr>
          <a:xfrm>
            <a:off x="603504" y="3429000"/>
            <a:ext cx="1792224" cy="457200"/>
          </a:xfrm>
          <a:prstGeom prst="rect">
            <a:avLst/>
          </a:prstGeom>
          <a:noFill/>
          <a:ln/>
        </p:spPr>
        <p:txBody>
          <a:bodyPr wrap="square" lIns="0" tIns="0" rIns="0" bIns="0" rtlCol="0" anchor="t"/>
          <a:lstStyle/>
          <a:p>
            <a:pPr indent="0" marL="0">
              <a:lnSpc>
                <a:spcPct val="105000"/>
              </a:lnSpc>
              <a:buNone/>
            </a:pPr>
            <a:r>
              <a:rPr lang="en-US" sz="2600" b="1" dirty="0">
                <a:solidFill>
                  <a:srgbClr val="252A3D"/>
                </a:solidFill>
                <a:latin typeface="Arial" pitchFamily="34" charset="0"/>
                <a:ea typeface="Arial" pitchFamily="34" charset="-122"/>
                <a:cs typeface="Arial" pitchFamily="34" charset="-120"/>
              </a:rPr>
              <a:t>35 of 45</a:t>
            </a:r>
            <a:endParaRPr lang="en-US" sz="2600" dirty="0"/>
          </a:p>
        </p:txBody>
      </p:sp>
      <p:sp>
        <p:nvSpPr>
          <p:cNvPr id="14" name="Text 12"/>
          <p:cNvSpPr txBox="1"/>
          <p:nvPr/>
        </p:nvSpPr>
        <p:spPr>
          <a:xfrm>
            <a:off x="603504" y="3904488"/>
            <a:ext cx="1792224" cy="365760"/>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project runs in which every review passed</a:t>
            </a:r>
            <a:endParaRPr lang="en-US" sz="900" dirty="0"/>
          </a:p>
        </p:txBody>
      </p:sp>
      <p:sp>
        <p:nvSpPr>
          <p:cNvPr id="15" name="Text 13"/>
          <p:cNvSpPr txBox="1"/>
          <p:nvPr/>
        </p:nvSpPr>
        <p:spPr>
          <a:xfrm>
            <a:off x="603504" y="4389120"/>
            <a:ext cx="1792224" cy="365760"/>
          </a:xfrm>
          <a:prstGeom prst="rect">
            <a:avLst/>
          </a:prstGeom>
          <a:noFill/>
          <a:ln/>
        </p:spPr>
        <p:txBody>
          <a:bodyPr wrap="square" lIns="0" tIns="0" rIns="0" bIns="0" rtlCol="0" anchor="t"/>
          <a:lstStyle/>
          <a:p>
            <a:pPr indent="0" marL="0">
              <a:lnSpc>
                <a:spcPct val="105000"/>
              </a:lnSpc>
              <a:buNone/>
            </a:pPr>
            <a:r>
              <a:rPr lang="en-US" sz="1800" b="1" dirty="0">
                <a:solidFill>
                  <a:srgbClr val="252A3D"/>
                </a:solidFill>
                <a:latin typeface="Arial" pitchFamily="34" charset="0"/>
                <a:ea typeface="Arial" pitchFamily="34" charset="-122"/>
                <a:cs typeface="Arial" pitchFamily="34" charset="-120"/>
              </a:rPr>
              <a:t>96%</a:t>
            </a:r>
            <a:endParaRPr lang="en-US" sz="1800" dirty="0"/>
          </a:p>
        </p:txBody>
      </p:sp>
      <p:sp>
        <p:nvSpPr>
          <p:cNvPr id="16" name="Text 14"/>
          <p:cNvSpPr txBox="1"/>
          <p:nvPr/>
        </p:nvSpPr>
        <p:spPr>
          <a:xfrm>
            <a:off x="603504" y="4764024"/>
            <a:ext cx="1792224" cy="365760"/>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of reviews met all five criteria across the repeat runs</a:t>
            </a:r>
            <a:endParaRPr lang="en-US" sz="900" dirty="0"/>
          </a:p>
        </p:txBody>
      </p:sp>
      <p:sp>
        <p:nvSpPr>
          <p:cNvPr id="17" name="Shape 15"/>
          <p:cNvSpPr/>
          <p:nvPr/>
        </p:nvSpPr>
        <p:spPr>
          <a:xfrm>
            <a:off x="2688336" y="1965960"/>
            <a:ext cx="2084832" cy="3611880"/>
          </a:xfrm>
          <a:prstGeom prst="roundRect">
            <a:avLst>
              <a:gd name="adj" fmla="val 4386"/>
            </a:avLst>
          </a:prstGeom>
          <a:solidFill>
            <a:srgbClr val="EFE8FA"/>
          </a:solidFill>
          <a:ln w="12700">
            <a:solidFill>
              <a:srgbClr val="EFE8FA"/>
            </a:solidFill>
            <a:prstDash val="solid"/>
          </a:ln>
        </p:spPr>
        <p:txBody>
          <a:bodyPr/>
          <a:p/>
        </p:txBody>
      </p:sp>
      <p:sp>
        <p:nvSpPr>
          <p:cNvPr id="18" name="Text 16"/>
          <p:cNvSpPr txBox="1"/>
          <p:nvPr/>
        </p:nvSpPr>
        <p:spPr>
          <a:xfrm>
            <a:off x="2834640" y="2112264"/>
            <a:ext cx="1792224" cy="256032"/>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GPT-5.6 Luna</a:t>
            </a:r>
            <a:endParaRPr lang="en-US" sz="1150" dirty="0"/>
          </a:p>
        </p:txBody>
      </p:sp>
      <p:sp>
        <p:nvSpPr>
          <p:cNvPr id="19" name="Text 17"/>
          <p:cNvSpPr txBox="1"/>
          <p:nvPr/>
        </p:nvSpPr>
        <p:spPr>
          <a:xfrm>
            <a:off x="2834640" y="2468880"/>
            <a:ext cx="1792224" cy="457200"/>
          </a:xfrm>
          <a:prstGeom prst="rect">
            <a:avLst/>
          </a:prstGeom>
          <a:noFill/>
          <a:ln/>
        </p:spPr>
        <p:txBody>
          <a:bodyPr wrap="square" lIns="0" tIns="0" rIns="0" bIns="0" rtlCol="0" anchor="t"/>
          <a:lstStyle/>
          <a:p>
            <a:pPr indent="0" marL="0">
              <a:lnSpc>
                <a:spcPct val="105000"/>
              </a:lnSpc>
              <a:buNone/>
            </a:pPr>
            <a:r>
              <a:rPr lang="en-US" sz="2600" b="1" dirty="0">
                <a:solidFill>
                  <a:srgbClr val="252A3D"/>
                </a:solidFill>
                <a:latin typeface="Arial" pitchFamily="34" charset="0"/>
                <a:ea typeface="Arial" pitchFamily="34" charset="-122"/>
                <a:cs typeface="Arial" pitchFamily="34" charset="-120"/>
              </a:rPr>
              <a:t>3 of 15</a:t>
            </a:r>
            <a:endParaRPr lang="en-US" sz="2600" dirty="0"/>
          </a:p>
        </p:txBody>
      </p:sp>
      <p:sp>
        <p:nvSpPr>
          <p:cNvPr id="20" name="Text 18"/>
          <p:cNvSpPr txBox="1"/>
          <p:nvPr/>
        </p:nvSpPr>
        <p:spPr>
          <a:xfrm>
            <a:off x="2834640" y="2944368"/>
            <a:ext cx="1792224" cy="365760"/>
          </a:xfrm>
          <a:prstGeom prst="rect">
            <a:avLst/>
          </a:prstGeom>
          <a:noFill/>
          <a:ln/>
        </p:spPr>
        <p:txBody>
          <a:bodyPr wrap="square" lIns="0" tIns="0" rIns="0" bIns="0" rtlCol="0" anchor="t"/>
          <a:lstStyle/>
          <a:p>
            <a:pPr indent="0" marL="0">
              <a:lnSpc>
                <a:spcPct val="105000"/>
              </a:lnSpc>
              <a:buNone/>
            </a:pPr>
            <a:r>
              <a:rPr lang="en-US" sz="880" dirty="0">
                <a:solidFill>
                  <a:srgbClr val="5B6575"/>
                </a:solidFill>
                <a:latin typeface="Arial" pitchFamily="34" charset="0"/>
                <a:ea typeface="Arial" pitchFamily="34" charset="-122"/>
                <a:cs typeface="Arial" pitchFamily="34" charset="-120"/>
              </a:rPr>
              <a:t>projects whose reviews all passed on each of the three attempts</a:t>
            </a:r>
            <a:endParaRPr lang="en-US" sz="900" dirty="0"/>
          </a:p>
        </p:txBody>
      </p:sp>
      <p:sp>
        <p:nvSpPr>
          <p:cNvPr id="21" name="Text 19"/>
          <p:cNvSpPr txBox="1"/>
          <p:nvPr/>
        </p:nvSpPr>
        <p:spPr>
          <a:xfrm>
            <a:off x="2834640" y="3429000"/>
            <a:ext cx="1792224" cy="457200"/>
          </a:xfrm>
          <a:prstGeom prst="rect">
            <a:avLst/>
          </a:prstGeom>
          <a:noFill/>
          <a:ln/>
        </p:spPr>
        <p:txBody>
          <a:bodyPr wrap="square" lIns="0" tIns="0" rIns="0" bIns="0" rtlCol="0" anchor="t"/>
          <a:lstStyle/>
          <a:p>
            <a:pPr indent="0" marL="0">
              <a:lnSpc>
                <a:spcPct val="105000"/>
              </a:lnSpc>
              <a:buNone/>
            </a:pPr>
            <a:r>
              <a:rPr lang="en-US" sz="2600" b="1" dirty="0">
                <a:solidFill>
                  <a:srgbClr val="252A3D"/>
                </a:solidFill>
                <a:latin typeface="Arial" pitchFamily="34" charset="0"/>
                <a:ea typeface="Arial" pitchFamily="34" charset="-122"/>
                <a:cs typeface="Arial" pitchFamily="34" charset="-120"/>
              </a:rPr>
              <a:t>19 of 45</a:t>
            </a:r>
            <a:endParaRPr lang="en-US" sz="2600" dirty="0"/>
          </a:p>
        </p:txBody>
      </p:sp>
      <p:sp>
        <p:nvSpPr>
          <p:cNvPr id="22" name="Text 20"/>
          <p:cNvSpPr txBox="1"/>
          <p:nvPr/>
        </p:nvSpPr>
        <p:spPr>
          <a:xfrm>
            <a:off x="2834640" y="3904488"/>
            <a:ext cx="1792224" cy="365760"/>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project runs in which every review passed</a:t>
            </a:r>
            <a:endParaRPr lang="en-US" sz="900" dirty="0"/>
          </a:p>
        </p:txBody>
      </p:sp>
      <p:sp>
        <p:nvSpPr>
          <p:cNvPr id="23" name="Text 21"/>
          <p:cNvSpPr txBox="1"/>
          <p:nvPr/>
        </p:nvSpPr>
        <p:spPr>
          <a:xfrm>
            <a:off x="2834640" y="4389120"/>
            <a:ext cx="1792224" cy="365760"/>
          </a:xfrm>
          <a:prstGeom prst="rect">
            <a:avLst/>
          </a:prstGeom>
          <a:noFill/>
          <a:ln/>
        </p:spPr>
        <p:txBody>
          <a:bodyPr wrap="square" lIns="0" tIns="0" rIns="0" bIns="0" rtlCol="0" anchor="t"/>
          <a:lstStyle/>
          <a:p>
            <a:pPr indent="0" marL="0">
              <a:lnSpc>
                <a:spcPct val="105000"/>
              </a:lnSpc>
              <a:buNone/>
            </a:pPr>
            <a:r>
              <a:rPr lang="en-US" sz="1800" b="1" dirty="0">
                <a:solidFill>
                  <a:srgbClr val="252A3D"/>
                </a:solidFill>
                <a:latin typeface="Arial" pitchFamily="34" charset="0"/>
                <a:ea typeface="Arial" pitchFamily="34" charset="-122"/>
                <a:cs typeface="Arial" pitchFamily="34" charset="-120"/>
              </a:rPr>
              <a:t>83%</a:t>
            </a:r>
            <a:endParaRPr lang="en-US" sz="1800" dirty="0"/>
          </a:p>
        </p:txBody>
      </p:sp>
      <p:sp>
        <p:nvSpPr>
          <p:cNvPr id="24" name="Text 22"/>
          <p:cNvSpPr txBox="1"/>
          <p:nvPr/>
        </p:nvSpPr>
        <p:spPr>
          <a:xfrm>
            <a:off x="2834640" y="4764024"/>
            <a:ext cx="1792224" cy="365760"/>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of reviews met all five criteria across the repeat runs</a:t>
            </a:r>
            <a:endParaRPr lang="en-US" sz="900" dirty="0"/>
          </a:p>
        </p:txBody>
      </p:sp>
      <p:sp>
        <p:nvSpPr>
          <p:cNvPr id="25" name="Shape 23"/>
          <p:cNvSpPr/>
          <p:nvPr/>
        </p:nvSpPr>
        <p:spPr>
          <a:xfrm>
            <a:off x="4919472" y="1965960"/>
            <a:ext cx="2084832" cy="3611880"/>
          </a:xfrm>
          <a:prstGeom prst="roundRect">
            <a:avLst>
              <a:gd name="adj" fmla="val 4386"/>
            </a:avLst>
          </a:prstGeom>
          <a:solidFill>
            <a:srgbClr val="FFF5BF"/>
          </a:solidFill>
          <a:ln w="12700">
            <a:solidFill>
              <a:srgbClr val="FFF5BF"/>
            </a:solidFill>
            <a:prstDash val="solid"/>
          </a:ln>
        </p:spPr>
        <p:txBody>
          <a:bodyPr/>
          <a:p/>
        </p:txBody>
      </p:sp>
      <p:sp>
        <p:nvSpPr>
          <p:cNvPr id="26" name="Text 24"/>
          <p:cNvSpPr txBox="1"/>
          <p:nvPr/>
        </p:nvSpPr>
        <p:spPr>
          <a:xfrm>
            <a:off x="5065776" y="2112264"/>
            <a:ext cx="1792224" cy="256032"/>
          </a:xfrm>
          <a:prstGeom prst="rect">
            <a:avLst/>
          </a:prstGeom>
          <a:noFill/>
          <a:ln/>
        </p:spPr>
        <p:txBody>
          <a:bodyPr wrap="square" lIns="0" tIns="0" rIns="0" bIns="0" rtlCol="0" anchor="t"/>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DeepSeek v4.1 Flash</a:t>
            </a:r>
            <a:endParaRPr lang="en-US" sz="1150" dirty="0"/>
          </a:p>
        </p:txBody>
      </p:sp>
      <p:sp>
        <p:nvSpPr>
          <p:cNvPr id="27" name="Text 25"/>
          <p:cNvSpPr txBox="1"/>
          <p:nvPr/>
        </p:nvSpPr>
        <p:spPr>
          <a:xfrm>
            <a:off x="5065776" y="2468880"/>
            <a:ext cx="1792224" cy="457200"/>
          </a:xfrm>
          <a:prstGeom prst="rect">
            <a:avLst/>
          </a:prstGeom>
          <a:noFill/>
          <a:ln/>
        </p:spPr>
        <p:txBody>
          <a:bodyPr wrap="square" lIns="0" tIns="0" rIns="0" bIns="0" rtlCol="0" anchor="t"/>
          <a:lstStyle/>
          <a:p>
            <a:pPr indent="0" marL="0">
              <a:lnSpc>
                <a:spcPct val="105000"/>
              </a:lnSpc>
              <a:buNone/>
            </a:pPr>
            <a:r>
              <a:rPr lang="en-US" sz="2600" b="1" dirty="0">
                <a:solidFill>
                  <a:srgbClr val="C8283E"/>
                </a:solidFill>
                <a:latin typeface="Arial" pitchFamily="34" charset="0"/>
                <a:ea typeface="Arial" pitchFamily="34" charset="-122"/>
                <a:cs typeface="Arial" pitchFamily="34" charset="-120"/>
              </a:rPr>
              <a:t>0 of 15</a:t>
            </a:r>
            <a:endParaRPr lang="en-US" sz="2600" dirty="0"/>
          </a:p>
        </p:txBody>
      </p:sp>
      <p:sp>
        <p:nvSpPr>
          <p:cNvPr id="28" name="Text 26"/>
          <p:cNvSpPr txBox="1"/>
          <p:nvPr/>
        </p:nvSpPr>
        <p:spPr>
          <a:xfrm>
            <a:off x="5065776" y="2944368"/>
            <a:ext cx="1792224" cy="365760"/>
          </a:xfrm>
          <a:prstGeom prst="rect">
            <a:avLst/>
          </a:prstGeom>
          <a:noFill/>
          <a:ln/>
        </p:spPr>
        <p:txBody>
          <a:bodyPr wrap="square" lIns="0" tIns="0" rIns="0" bIns="0" rtlCol="0" anchor="t"/>
          <a:lstStyle/>
          <a:p>
            <a:pPr indent="0" marL="0">
              <a:lnSpc>
                <a:spcPct val="105000"/>
              </a:lnSpc>
              <a:buNone/>
            </a:pPr>
            <a:r>
              <a:rPr lang="en-US" sz="880" dirty="0">
                <a:solidFill>
                  <a:srgbClr val="5B6575"/>
                </a:solidFill>
                <a:latin typeface="Arial" pitchFamily="34" charset="0"/>
                <a:ea typeface="Arial" pitchFamily="34" charset="-122"/>
                <a:cs typeface="Arial" pitchFamily="34" charset="-120"/>
              </a:rPr>
              <a:t>projects whose reviews all passed on each of the three attempts</a:t>
            </a:r>
            <a:endParaRPr lang="en-US" sz="900" dirty="0"/>
          </a:p>
        </p:txBody>
      </p:sp>
      <p:sp>
        <p:nvSpPr>
          <p:cNvPr id="29" name="Text 27"/>
          <p:cNvSpPr txBox="1"/>
          <p:nvPr/>
        </p:nvSpPr>
        <p:spPr>
          <a:xfrm>
            <a:off x="5065776" y="3429000"/>
            <a:ext cx="1792224" cy="457200"/>
          </a:xfrm>
          <a:prstGeom prst="rect">
            <a:avLst/>
          </a:prstGeom>
          <a:noFill/>
          <a:ln/>
        </p:spPr>
        <p:txBody>
          <a:bodyPr wrap="square" lIns="0" tIns="0" rIns="0" bIns="0" rtlCol="0" anchor="t"/>
          <a:lstStyle/>
          <a:p>
            <a:pPr indent="0" marL="0">
              <a:lnSpc>
                <a:spcPct val="105000"/>
              </a:lnSpc>
              <a:buNone/>
            </a:pPr>
            <a:r>
              <a:rPr lang="en-US" sz="2600" b="1" dirty="0">
                <a:solidFill>
                  <a:srgbClr val="252A3D"/>
                </a:solidFill>
                <a:latin typeface="Arial" pitchFamily="34" charset="0"/>
                <a:ea typeface="Arial" pitchFamily="34" charset="-122"/>
                <a:cs typeface="Arial" pitchFamily="34" charset="-120"/>
              </a:rPr>
              <a:t>11 of 45</a:t>
            </a:r>
            <a:endParaRPr lang="en-US" sz="2600" dirty="0"/>
          </a:p>
        </p:txBody>
      </p:sp>
      <p:sp>
        <p:nvSpPr>
          <p:cNvPr id="30" name="Text 28"/>
          <p:cNvSpPr txBox="1"/>
          <p:nvPr/>
        </p:nvSpPr>
        <p:spPr>
          <a:xfrm>
            <a:off x="5065776" y="3904488"/>
            <a:ext cx="1792224" cy="365760"/>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project runs in which every review passed</a:t>
            </a:r>
            <a:endParaRPr lang="en-US" sz="900" dirty="0"/>
          </a:p>
        </p:txBody>
      </p:sp>
      <p:sp>
        <p:nvSpPr>
          <p:cNvPr id="31" name="Text 29"/>
          <p:cNvSpPr txBox="1"/>
          <p:nvPr/>
        </p:nvSpPr>
        <p:spPr>
          <a:xfrm>
            <a:off x="5065776" y="4389120"/>
            <a:ext cx="1792224" cy="365760"/>
          </a:xfrm>
          <a:prstGeom prst="rect">
            <a:avLst/>
          </a:prstGeom>
          <a:noFill/>
          <a:ln/>
        </p:spPr>
        <p:txBody>
          <a:bodyPr wrap="square" lIns="0" tIns="0" rIns="0" bIns="0" rtlCol="0" anchor="t"/>
          <a:lstStyle/>
          <a:p>
            <a:pPr indent="0" marL="0">
              <a:lnSpc>
                <a:spcPct val="105000"/>
              </a:lnSpc>
              <a:buNone/>
            </a:pPr>
            <a:r>
              <a:rPr lang="en-US" sz="1800" b="1" dirty="0">
                <a:solidFill>
                  <a:srgbClr val="252A3D"/>
                </a:solidFill>
                <a:latin typeface="Arial" pitchFamily="34" charset="0"/>
                <a:ea typeface="Arial" pitchFamily="34" charset="-122"/>
                <a:cs typeface="Arial" pitchFamily="34" charset="-120"/>
              </a:rPr>
              <a:t>73%</a:t>
            </a:r>
            <a:endParaRPr lang="en-US" sz="1800" dirty="0"/>
          </a:p>
        </p:txBody>
      </p:sp>
      <p:sp>
        <p:nvSpPr>
          <p:cNvPr id="32" name="Text 30"/>
          <p:cNvSpPr txBox="1"/>
          <p:nvPr/>
        </p:nvSpPr>
        <p:spPr>
          <a:xfrm>
            <a:off x="5065776" y="4764024"/>
            <a:ext cx="1792224" cy="365760"/>
          </a:xfrm>
          <a:prstGeom prst="rect">
            <a:avLst/>
          </a:prstGeom>
          <a:noFill/>
          <a:ln/>
        </p:spPr>
        <p:txBody>
          <a:bodyPr wrap="square" lIns="0" tIns="0" rIns="0" bIns="0" rtlCol="0" anchor="t"/>
          <a:lstStyle/>
          <a:p>
            <a:pPr indent="0" marL="0">
              <a:lnSpc>
                <a:spcPct val="105000"/>
              </a:lnSpc>
              <a:buNone/>
            </a:pPr>
            <a:r>
              <a:rPr lang="en-US" sz="900" dirty="0">
                <a:solidFill>
                  <a:srgbClr val="5B6575"/>
                </a:solidFill>
                <a:latin typeface="Arial" pitchFamily="34" charset="0"/>
                <a:ea typeface="Arial" pitchFamily="34" charset="-122"/>
                <a:cs typeface="Arial" pitchFamily="34" charset="-120"/>
              </a:rPr>
              <a:t>of reviews met all five criteria across the repeat runs</a:t>
            </a:r>
            <a:endParaRPr lang="en-US" sz="900" dirty="0"/>
          </a:p>
        </p:txBody>
      </p:sp>
      <p:sp>
        <p:nvSpPr>
          <p:cNvPr id="33" name="Shape 31"/>
          <p:cNvSpPr/>
          <p:nvPr/>
        </p:nvSpPr>
        <p:spPr>
          <a:xfrm>
            <a:off x="7269480" y="1965960"/>
            <a:ext cx="4462272" cy="3611880"/>
          </a:xfrm>
          <a:prstGeom prst="roundRect">
            <a:avLst>
              <a:gd name="adj" fmla="val 2532"/>
            </a:avLst>
          </a:prstGeom>
          <a:solidFill>
            <a:srgbClr val="F3F5F8"/>
          </a:solidFill>
          <a:ln w="12700">
            <a:solidFill>
              <a:srgbClr val="F3F5F8"/>
            </a:solidFill>
            <a:prstDash val="solid"/>
          </a:ln>
        </p:spPr>
        <p:txBody>
          <a:bodyPr/>
          <a:p/>
        </p:txBody>
      </p:sp>
      <p:pic>
        <p:nvPicPr>
          <p:cNvPr id="34" name="Image 0" descr="preencoded.png">    </p:cNvPr>
          <p:cNvPicPr>
            <a:picLocks noChangeAspect="1"/>
          </p:cNvPicPr>
          <p:nvPr/>
        </p:nvPicPr>
        <p:blipFill>
          <a:blip r:embed="rId1"/>
          <a:stretch>
            <a:fillRect/>
          </a:stretch>
        </p:blipFill>
        <p:spPr>
          <a:xfrm>
            <a:off x="11247120" y="2084832"/>
            <a:ext cx="310896" cy="310896"/>
          </a:xfrm>
          <a:prstGeom prst="rect">
            <a:avLst/>
          </a:prstGeom>
        </p:spPr>
      </p:pic>
      <p:sp>
        <p:nvSpPr>
          <p:cNvPr id="35" name="Text 32"/>
          <p:cNvSpPr txBox="1"/>
          <p:nvPr/>
        </p:nvSpPr>
        <p:spPr>
          <a:xfrm>
            <a:off x="7452360" y="2103120"/>
            <a:ext cx="3931920" cy="201168"/>
          </a:xfrm>
          <a:prstGeom prst="rect">
            <a:avLst/>
          </a:prstGeom>
          <a:noFill/>
          <a:ln/>
        </p:spPr>
        <p:txBody>
          <a:bodyPr wrap="square" lIns="0" tIns="0" rIns="0" bIns="0" rtlCol="0" anchor="t"/>
          <a:lstStyle/>
          <a:p>
            <a:pPr indent="0" marL="0">
              <a:lnSpc>
                <a:spcPct val="105000"/>
              </a:lnSpc>
              <a:buNone/>
            </a:pPr>
            <a:r>
              <a:rPr lang="en-US" sz="870" b="1" spc="50" kern="0" dirty="0">
                <a:solidFill>
                  <a:srgbClr val="5B3F9E"/>
                </a:solidFill>
                <a:latin typeface="Arial" pitchFamily="34" charset="0"/>
                <a:ea typeface="Arial" pitchFamily="34" charset="-122"/>
                <a:cs typeface="Arial" pitchFamily="34" charset="-120"/>
              </a:rPr>
              <a:t>REQUESTS FOR PERMISSION TO APPROVE WITH CONDITIONS</a:t>
            </a:r>
            <a:endParaRPr lang="en-US" sz="950" dirty="0"/>
          </a:p>
        </p:txBody>
      </p:sp>
      <p:sp>
        <p:nvSpPr>
          <p:cNvPr id="36" name="Text 33"/>
          <p:cNvSpPr txBox="1"/>
          <p:nvPr/>
        </p:nvSpPr>
        <p:spPr>
          <a:xfrm>
            <a:off x="7452360" y="2377440"/>
            <a:ext cx="4114800" cy="685800"/>
          </a:xfrm>
          <a:prstGeom prst="rect">
            <a:avLst/>
          </a:prstGeom>
          <a:noFill/>
          <a:ln/>
        </p:spPr>
        <p:txBody>
          <a:bodyPr wrap="square" lIns="0" tIns="0" rIns="0" bIns="0" rtlCol="0" anchor="t"/>
          <a:lstStyle/>
          <a:p>
            <a:pPr indent="0" marL="0">
              <a:lnSpc>
                <a:spcPct val="105000"/>
              </a:lnSpc>
              <a:buNone/>
            </a:pPr>
            <a:r>
              <a:rPr lang="en-US" sz="1020" dirty="0">
                <a:solidFill>
                  <a:srgbClr val="252A3D"/>
                </a:solidFill>
                <a:latin typeface="Arial" pitchFamily="34" charset="0"/>
                <a:ea typeface="Arial" pitchFamily="34" charset="-122"/>
                <a:cs typeface="Arial" pitchFamily="34" charset="-120"/>
              </a:rPr>
              <a:t>When the rules allow a project to proceed with a known unresolved risk, the agent can request conditional approval. A separate authorization check accepts the request only if it is authorized.</a:t>
            </a:r>
            <a:endParaRPr lang="en-US" sz="102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452360" y="3127248"/>
          <a:ext cx="4096512" cy="914400"/>
        </p:xfrm>
        <a:graphic>
          <a:graphicData uri="http://schemas.openxmlformats.org/drawingml/2006/table">
            <a:tbl>
              <a:tblPr/>
              <a:tblGrid>
                <a:gridCol w="1993392"/>
                <a:gridCol w="694944"/>
                <a:gridCol w="658368"/>
                <a:gridCol w="749808"/>
              </a:tblGrid>
              <a:tr h="274320">
                <a:tc>
                  <a:txBody>
                    <a:bodyPr/>
                    <a:lstStyle/>
                    <a:p>
                      <a:pPr algn="l" indent="0" marL="0">
                        <a:buNone/>
                      </a:pP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5B6575"/>
                          </a:solidFill>
                          <a:latin typeface="Arial" pitchFamily="34" charset="0"/>
                          <a:ea typeface="Arial" pitchFamily="34" charset="-122"/>
                          <a:cs typeface="Arial" pitchFamily="34" charset="-120"/>
                        </a:rPr>
                        <a:t>Gemini</a:t>
                      </a: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5B6575"/>
                          </a:solidFill>
                          <a:latin typeface="Arial" pitchFamily="34" charset="0"/>
                          <a:ea typeface="Arial" pitchFamily="34" charset="-122"/>
                          <a:cs typeface="Arial" pitchFamily="34" charset="-120"/>
                        </a:rPr>
                        <a:t>Luna</a:t>
                      </a: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5B6575"/>
                          </a:solidFill>
                          <a:latin typeface="Arial" pitchFamily="34" charset="0"/>
                          <a:ea typeface="Arial" pitchFamily="34" charset="-122"/>
                          <a:cs typeface="Arial" pitchFamily="34" charset="-120"/>
                        </a:rPr>
                        <a:t>DeepSeek</a:t>
                      </a:r>
                      <a:endParaRPr lang="en-US" sz="8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950" dirty="0">
                          <a:solidFill>
                            <a:srgbClr val="000000"/>
                          </a:solidFill>
                          <a:latin typeface="Arial" pitchFamily="34" charset="0"/>
                          <a:ea typeface="Arial" pitchFamily="34" charset="-122"/>
                          <a:cs typeface="Arial" pitchFamily="34" charset="-120"/>
                        </a:rPr>
                        <a:t>Requests for conditional approval</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864</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394</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216</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950" dirty="0">
                          <a:solidFill>
                            <a:srgbClr val="000000"/>
                          </a:solidFill>
                          <a:latin typeface="Arial" pitchFamily="34" charset="0"/>
                          <a:ea typeface="Arial" pitchFamily="34" charset="-122"/>
                          <a:cs typeface="Arial" pitchFamily="34" charset="-120"/>
                        </a:rPr>
                        <a:t>Requests rejected by the authorization check</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466</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40</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14</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3F5F8"/>
                    </a:solidFill>
                  </a:tcPr>
                </a:tc>
              </a:tr>
              <a:tr h="274320">
                <a:tc>
                  <a:txBody>
                    <a:bodyPr/>
                    <a:lstStyle/>
                    <a:p>
                      <a:pPr algn="l" indent="0" marL="0">
                        <a:buNone/>
                      </a:pPr>
                      <a:r>
                        <a:rPr lang="en-US" sz="950" dirty="0">
                          <a:solidFill>
                            <a:srgbClr val="000000"/>
                          </a:solidFill>
                          <a:latin typeface="Arial" pitchFamily="34" charset="0"/>
                          <a:ea typeface="Arial" pitchFamily="34" charset="-122"/>
                          <a:cs typeface="Arial" pitchFamily="34" charset="-120"/>
                        </a:rPr>
                        <a:t>Conditional approvals used in the final decisions</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398</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353</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950" b="1" dirty="0">
                          <a:solidFill>
                            <a:srgbClr val="000000"/>
                          </a:solidFill>
                          <a:latin typeface="Arial" pitchFamily="34" charset="0"/>
                          <a:ea typeface="Arial" pitchFamily="34" charset="-122"/>
                          <a:cs typeface="Arial" pitchFamily="34" charset="-120"/>
                        </a:rPr>
                        <a:t>202</a:t>
                      </a:r>
                      <a:endParaRPr lang="en-US" sz="950" dirty="0">
                        <a:latin typeface="Arial" charset="0"/>
                        <a:ea typeface="Arial" charset="0"/>
                        <a:cs typeface="Arial"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8" name="Text 34"/>
          <p:cNvSpPr txBox="1"/>
          <p:nvPr/>
        </p:nvSpPr>
        <p:spPr>
          <a:xfrm>
            <a:off x="7452360" y="4343400"/>
            <a:ext cx="4096512" cy="114300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With Gemini, the agent made the most approval requests and had the most requests rejected. The authorization check prevented the agent from using approvals it was not allowed to grant. Without that check, those approval requests would not have been blocked.</a:t>
            </a:r>
            <a:endParaRPr lang="en-US" sz="980" dirty="0"/>
          </a:p>
        </p:txBody>
      </p:sp>
      <p:sp>
        <p:nvSpPr>
          <p:cNvPr id="39" name="Shape 35"/>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40" name="Image 1"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41" name="Text 36"/>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One successful run does not establish reliability. Before an agent takes over a review, repeated tests must show consistent quality, and a separate check must block decisions it is not authorized to make.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THE EXPERIMENT · WHEN NECESSARY INFORMATION IS MISSING</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510" b="1" dirty="0">
                <a:solidFill>
                  <a:srgbClr val="252A3D"/>
                </a:solidFill>
                <a:latin typeface="Arial" pitchFamily="34" charset="0"/>
                <a:ea typeface="Arial" pitchFamily="34" charset="-122"/>
                <a:cs typeface="Arial" pitchFamily="34" charset="-120"/>
              </a:rPr>
              <a:t>Project documents do not always contain enough information to decide</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Two projects have identical documents but require different decisions. The documents alone do not give a human or an AI agent enough information to distinguish them.</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THE EXPERIMENT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19 / 30</a:t>
            </a:r>
            <a:endParaRPr lang="en-US" sz="1000" dirty="0"/>
          </a:p>
        </p:txBody>
      </p:sp>
      <p:sp>
        <p:nvSpPr>
          <p:cNvPr id="9" name="Shape 7"/>
          <p:cNvSpPr/>
          <p:nvPr/>
        </p:nvSpPr>
        <p:spPr>
          <a:xfrm>
            <a:off x="457200" y="1965960"/>
            <a:ext cx="4572000" cy="3063240"/>
          </a:xfrm>
          <a:prstGeom prst="roundRect">
            <a:avLst>
              <a:gd name="adj" fmla="val 2985"/>
            </a:avLst>
          </a:prstGeom>
          <a:solidFill>
            <a:srgbClr val="DDF5FC"/>
          </a:solidFill>
          <a:ln w="12700">
            <a:solidFill>
              <a:srgbClr val="DDF5FC"/>
            </a:solidFill>
            <a:prstDash val="solid"/>
          </a:ln>
        </p:spPr>
        <p:txBody>
          <a:bodyPr/>
          <a:p/>
        </p:txBody>
      </p:sp>
      <p:sp>
        <p:nvSpPr>
          <p:cNvPr id="10" name="Text 8"/>
          <p:cNvSpPr txBox="1"/>
          <p:nvPr/>
        </p:nvSpPr>
        <p:spPr>
          <a:xfrm>
            <a:off x="658368" y="2103120"/>
            <a:ext cx="2743200" cy="256032"/>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PROJECT A</a:t>
            </a:r>
            <a:endParaRPr lang="en-US" sz="1300" dirty="0"/>
          </a:p>
        </p:txBody>
      </p:sp>
      <p:sp>
        <p:nvSpPr>
          <p:cNvPr id="11" name="Shape 9"/>
          <p:cNvSpPr/>
          <p:nvPr/>
        </p:nvSpPr>
        <p:spPr>
          <a:xfrm>
            <a:off x="658368" y="246888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12" name="Image 0" descr="preencoded.png">    </p:cNvPr>
          <p:cNvPicPr>
            <a:picLocks noChangeAspect="1"/>
          </p:cNvPicPr>
          <p:nvPr/>
        </p:nvPicPr>
        <p:blipFill>
          <a:blip r:embed="rId1"/>
          <a:stretch>
            <a:fillRect/>
          </a:stretch>
        </p:blipFill>
        <p:spPr>
          <a:xfrm>
            <a:off x="804672" y="2670048"/>
            <a:ext cx="310896" cy="310896"/>
          </a:xfrm>
          <a:prstGeom prst="rect">
            <a:avLst/>
          </a:prstGeom>
        </p:spPr>
      </p:pic>
      <p:sp>
        <p:nvSpPr>
          <p:cNvPr id="13" name="Text 10"/>
          <p:cNvSpPr txBox="1"/>
          <p:nvPr/>
        </p:nvSpPr>
        <p:spPr>
          <a:xfrm>
            <a:off x="1261872" y="2468880"/>
            <a:ext cx="3474720" cy="713232"/>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26 Word documents</a:t>
            </a:r>
            <a:endParaRPr lang="en-US" sz="1000" dirty="0"/>
          </a:p>
          <a:p>
            <a:pPr indent="0" marL="0">
              <a:lnSpc>
                <a:spcPct val="105000"/>
              </a:lnSpc>
              <a:buNone/>
            </a:pPr>
            <a:r>
              <a:rPr lang="en-US" sz="1000" dirty="0">
                <a:solidFill>
                  <a:srgbClr val="252A3D"/>
                </a:solidFill>
                <a:latin typeface="Arial" pitchFamily="34" charset="0"/>
                <a:ea typeface="Arial" pitchFamily="34" charset="-122"/>
                <a:cs typeface="Arial" pitchFamily="34" charset="-120"/>
              </a:rPr>
              <a:t>identical in both projects</a:t>
            </a:r>
            <a:endParaRPr lang="en-US" sz="1000" dirty="0"/>
          </a:p>
        </p:txBody>
      </p:sp>
      <p:sp>
        <p:nvSpPr>
          <p:cNvPr id="14" name="Shape 11"/>
          <p:cNvSpPr/>
          <p:nvPr/>
        </p:nvSpPr>
        <p:spPr>
          <a:xfrm>
            <a:off x="658368" y="329184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804672" y="3493008"/>
            <a:ext cx="310896" cy="310896"/>
          </a:xfrm>
          <a:prstGeom prst="rect">
            <a:avLst/>
          </a:prstGeom>
        </p:spPr>
      </p:pic>
      <p:sp>
        <p:nvSpPr>
          <p:cNvPr id="16" name="Text 12"/>
          <p:cNvSpPr txBox="1"/>
          <p:nvPr/>
        </p:nvSpPr>
        <p:spPr>
          <a:xfrm>
            <a:off x="1261872" y="3291840"/>
            <a:ext cx="3474720" cy="713232"/>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A separate spreadsheet record</a:t>
            </a:r>
            <a:endParaRPr lang="en-US" sz="1000" dirty="0"/>
          </a:p>
          <a:p>
            <a:pPr indent="0" marL="0">
              <a:lnSpc>
                <a:spcPct val="105000"/>
              </a:lnSpc>
              <a:buNone/>
            </a:pPr>
            <a:r>
              <a:rPr lang="en-US" sz="1000" b="1" dirty="0">
                <a:solidFill>
                  <a:srgbClr val="1E7A3C"/>
                </a:solidFill>
                <a:latin typeface="Arial" pitchFamily="34" charset="0"/>
                <a:ea typeface="Arial" pitchFamily="34" charset="-122"/>
                <a:cs typeface="Arial" pitchFamily="34" charset="-120"/>
              </a:rPr>
              <a:t>supplier background check: completed</a:t>
            </a:r>
            <a:endParaRPr lang="en-US" sz="1000" dirty="0"/>
          </a:p>
        </p:txBody>
      </p:sp>
      <p:sp>
        <p:nvSpPr>
          <p:cNvPr id="17" name="Shape 13"/>
          <p:cNvSpPr/>
          <p:nvPr/>
        </p:nvSpPr>
        <p:spPr>
          <a:xfrm>
            <a:off x="658368" y="4114800"/>
            <a:ext cx="4169664" cy="749808"/>
          </a:xfrm>
          <a:prstGeom prst="roundRect">
            <a:avLst>
              <a:gd name="adj" fmla="val 12195"/>
            </a:avLst>
          </a:prstGeom>
          <a:solidFill>
            <a:srgbClr val="FFFFFF"/>
          </a:solidFill>
          <a:ln w="19050">
            <a:solidFill>
              <a:srgbClr val="1E7A3C"/>
            </a:solidFill>
            <a:prstDash val="solid"/>
          </a:ln>
        </p:spPr>
        <p:txBody>
          <a:bodyPr/>
          <a:p/>
        </p:txBody>
      </p:sp>
      <p:sp>
        <p:nvSpPr>
          <p:cNvPr id="18" name="Text 14"/>
          <p:cNvSpPr txBox="1"/>
          <p:nvPr/>
        </p:nvSpPr>
        <p:spPr>
          <a:xfrm>
            <a:off x="822960" y="4187952"/>
            <a:ext cx="237744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DECISION REQUIRED</a:t>
            </a:r>
            <a:endParaRPr lang="en-US" sz="850" dirty="0"/>
          </a:p>
        </p:txBody>
      </p:sp>
      <p:sp>
        <p:nvSpPr>
          <p:cNvPr id="19" name="Text 15"/>
          <p:cNvSpPr txBox="1"/>
          <p:nvPr/>
        </p:nvSpPr>
        <p:spPr>
          <a:xfrm>
            <a:off x="822960" y="4370832"/>
            <a:ext cx="2377440" cy="457200"/>
          </a:xfrm>
          <a:prstGeom prst="rect">
            <a:avLst/>
          </a:prstGeom>
          <a:noFill/>
          <a:ln/>
        </p:spPr>
        <p:txBody>
          <a:bodyPr wrap="square" lIns="0" tIns="0" rIns="0" bIns="0" rtlCol="0" anchor="t"/>
          <a:lstStyle/>
          <a:p>
            <a:pPr indent="0" marL="0">
              <a:lnSpc>
                <a:spcPct val="105000"/>
              </a:lnSpc>
              <a:buNone/>
            </a:pPr>
            <a:r>
              <a:rPr lang="en-US" sz="2200" b="1" dirty="0">
                <a:solidFill>
                  <a:srgbClr val="1E7A3C"/>
                </a:solidFill>
                <a:latin typeface="Arial" pitchFamily="34" charset="0"/>
                <a:ea typeface="Arial" pitchFamily="34" charset="-122"/>
                <a:cs typeface="Arial" pitchFamily="34" charset="-120"/>
              </a:rPr>
              <a:t>GO</a:t>
            </a:r>
            <a:endParaRPr lang="en-US" sz="2200" dirty="0"/>
          </a:p>
        </p:txBody>
      </p:sp>
      <p:sp>
        <p:nvSpPr>
          <p:cNvPr id="20" name="Shape 16"/>
          <p:cNvSpPr/>
          <p:nvPr/>
        </p:nvSpPr>
        <p:spPr>
          <a:xfrm>
            <a:off x="7159752" y="1965960"/>
            <a:ext cx="4572000" cy="3063240"/>
          </a:xfrm>
          <a:prstGeom prst="roundRect">
            <a:avLst>
              <a:gd name="adj" fmla="val 2985"/>
            </a:avLst>
          </a:prstGeom>
          <a:solidFill>
            <a:srgbClr val="FFE4E6"/>
          </a:solidFill>
          <a:ln w="12700">
            <a:solidFill>
              <a:srgbClr val="FFE4E6"/>
            </a:solidFill>
            <a:prstDash val="solid"/>
          </a:ln>
        </p:spPr>
        <p:txBody>
          <a:bodyPr/>
          <a:p/>
        </p:txBody>
      </p:sp>
      <p:sp>
        <p:nvSpPr>
          <p:cNvPr id="21" name="Text 17"/>
          <p:cNvSpPr txBox="1"/>
          <p:nvPr/>
        </p:nvSpPr>
        <p:spPr>
          <a:xfrm>
            <a:off x="7360920" y="2103120"/>
            <a:ext cx="2743200" cy="256032"/>
          </a:xfrm>
          <a:prstGeom prst="rect">
            <a:avLst/>
          </a:prstGeom>
          <a:noFill/>
          <a:ln/>
        </p:spPr>
        <p:txBody>
          <a:bodyPr wrap="square" lIns="0" tIns="0" rIns="0" bIns="0" rtlCol="0" anchor="t"/>
          <a:lstStyle/>
          <a:p>
            <a:pPr indent="0" marL="0">
              <a:lnSpc>
                <a:spcPct val="105000"/>
              </a:lnSpc>
              <a:buNone/>
            </a:pPr>
            <a:r>
              <a:rPr lang="en-US" sz="1300" b="1" dirty="0">
                <a:solidFill>
                  <a:srgbClr val="252A3D"/>
                </a:solidFill>
                <a:latin typeface="Arial" pitchFamily="34" charset="0"/>
                <a:ea typeface="Arial" pitchFamily="34" charset="-122"/>
                <a:cs typeface="Arial" pitchFamily="34" charset="-120"/>
              </a:rPr>
              <a:t>PROJECT B</a:t>
            </a:r>
            <a:endParaRPr lang="en-US" sz="1300" dirty="0"/>
          </a:p>
        </p:txBody>
      </p:sp>
      <p:sp>
        <p:nvSpPr>
          <p:cNvPr id="22" name="Shape 18"/>
          <p:cNvSpPr/>
          <p:nvPr/>
        </p:nvSpPr>
        <p:spPr>
          <a:xfrm>
            <a:off x="7360920" y="246888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7507224" y="2670048"/>
            <a:ext cx="310896" cy="310896"/>
          </a:xfrm>
          <a:prstGeom prst="rect">
            <a:avLst/>
          </a:prstGeom>
        </p:spPr>
      </p:pic>
      <p:sp>
        <p:nvSpPr>
          <p:cNvPr id="24" name="Text 19"/>
          <p:cNvSpPr txBox="1"/>
          <p:nvPr/>
        </p:nvSpPr>
        <p:spPr>
          <a:xfrm>
            <a:off x="7964424" y="2468880"/>
            <a:ext cx="3474720" cy="713232"/>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26 Word documents</a:t>
            </a:r>
            <a:endParaRPr lang="en-US" sz="1000" dirty="0"/>
          </a:p>
          <a:p>
            <a:pPr indent="0" marL="0">
              <a:lnSpc>
                <a:spcPct val="105000"/>
              </a:lnSpc>
              <a:buNone/>
            </a:pPr>
            <a:r>
              <a:rPr lang="en-US" sz="1000" dirty="0">
                <a:solidFill>
                  <a:srgbClr val="252A3D"/>
                </a:solidFill>
                <a:latin typeface="Arial" pitchFamily="34" charset="0"/>
                <a:ea typeface="Arial" pitchFamily="34" charset="-122"/>
                <a:cs typeface="Arial" pitchFamily="34" charset="-120"/>
              </a:rPr>
              <a:t>identical in both projects</a:t>
            </a:r>
            <a:endParaRPr lang="en-US" sz="1000" dirty="0"/>
          </a:p>
        </p:txBody>
      </p:sp>
      <p:sp>
        <p:nvSpPr>
          <p:cNvPr id="25" name="Shape 20"/>
          <p:cNvSpPr/>
          <p:nvPr/>
        </p:nvSpPr>
        <p:spPr>
          <a:xfrm>
            <a:off x="7360920" y="3291840"/>
            <a:ext cx="4169664" cy="713232"/>
          </a:xfrm>
          <a:prstGeom prst="roundRect">
            <a:avLst>
              <a:gd name="adj" fmla="val 12821"/>
            </a:avLst>
          </a:prstGeom>
          <a:solidFill>
            <a:srgbClr val="FFFFFF"/>
          </a:solidFill>
          <a:ln w="12700">
            <a:solidFill>
              <a:srgbClr val="D4DAE3"/>
            </a:solidFill>
            <a:prstDash val="solid"/>
          </a:ln>
        </p:spPr>
        <p:txBody>
          <a:bodyPr/>
          <a:p/>
        </p:txBody>
      </p:sp>
      <p:pic>
        <p:nvPicPr>
          <p:cNvPr id="26" name="Image 3" descr="preencoded.png">    </p:cNvPr>
          <p:cNvPicPr>
            <a:picLocks noChangeAspect="1"/>
          </p:cNvPicPr>
          <p:nvPr/>
        </p:nvPicPr>
        <p:blipFill>
          <a:blip r:embed="rId4"/>
          <a:stretch>
            <a:fillRect/>
          </a:stretch>
        </p:blipFill>
        <p:spPr>
          <a:xfrm>
            <a:off x="7507224" y="3493008"/>
            <a:ext cx="310896" cy="310896"/>
          </a:xfrm>
          <a:prstGeom prst="rect">
            <a:avLst/>
          </a:prstGeom>
        </p:spPr>
      </p:pic>
      <p:sp>
        <p:nvSpPr>
          <p:cNvPr id="27" name="Text 21"/>
          <p:cNvSpPr txBox="1"/>
          <p:nvPr/>
        </p:nvSpPr>
        <p:spPr>
          <a:xfrm>
            <a:off x="7964424" y="3291840"/>
            <a:ext cx="3474720" cy="713232"/>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A separate spreadsheet record</a:t>
            </a:r>
            <a:endParaRPr lang="en-US" sz="1000" dirty="0"/>
          </a:p>
          <a:p>
            <a:pPr indent="0" marL="0">
              <a:lnSpc>
                <a:spcPct val="105000"/>
              </a:lnSpc>
              <a:buNone/>
            </a:pPr>
            <a:r>
              <a:rPr lang="en-US" sz="1000" b="1" dirty="0">
                <a:solidFill>
                  <a:srgbClr val="C8283E"/>
                </a:solidFill>
                <a:latin typeface="Arial" pitchFamily="34" charset="0"/>
                <a:ea typeface="Arial" pitchFamily="34" charset="-122"/>
                <a:cs typeface="Arial" pitchFamily="34" charset="-120"/>
              </a:rPr>
              <a:t>supplier background check: not completed</a:t>
            </a:r>
            <a:endParaRPr lang="en-US" sz="1000" dirty="0"/>
          </a:p>
        </p:txBody>
      </p:sp>
      <p:sp>
        <p:nvSpPr>
          <p:cNvPr id="28" name="Shape 22"/>
          <p:cNvSpPr/>
          <p:nvPr/>
        </p:nvSpPr>
        <p:spPr>
          <a:xfrm>
            <a:off x="7360920" y="4114800"/>
            <a:ext cx="4169664" cy="749808"/>
          </a:xfrm>
          <a:prstGeom prst="roundRect">
            <a:avLst>
              <a:gd name="adj" fmla="val 12195"/>
            </a:avLst>
          </a:prstGeom>
          <a:solidFill>
            <a:srgbClr val="FFFFFF"/>
          </a:solidFill>
          <a:ln w="19050">
            <a:solidFill>
              <a:srgbClr val="C8283E"/>
            </a:solidFill>
            <a:prstDash val="solid"/>
          </a:ln>
        </p:spPr>
        <p:txBody>
          <a:bodyPr/>
          <a:p/>
        </p:txBody>
      </p:sp>
      <p:sp>
        <p:nvSpPr>
          <p:cNvPr id="29" name="Text 23"/>
          <p:cNvSpPr txBox="1"/>
          <p:nvPr/>
        </p:nvSpPr>
        <p:spPr>
          <a:xfrm>
            <a:off x="7525512" y="4187952"/>
            <a:ext cx="2377440" cy="182880"/>
          </a:xfrm>
          <a:prstGeom prst="rect">
            <a:avLst/>
          </a:prstGeom>
          <a:noFill/>
          <a:ln/>
        </p:spPr>
        <p:txBody>
          <a:bodyPr wrap="square" lIns="0" tIns="0" rIns="0" bIns="0" rtlCol="0" anchor="t"/>
          <a:lstStyle/>
          <a:p>
            <a:pPr indent="0" marL="0">
              <a:lnSpc>
                <a:spcPct val="105000"/>
              </a:lnSpc>
              <a:buNone/>
            </a:pPr>
            <a:r>
              <a:rPr lang="en-US" sz="850" b="1" dirty="0">
                <a:solidFill>
                  <a:srgbClr val="5B6575"/>
                </a:solidFill>
                <a:latin typeface="Arial" pitchFamily="34" charset="0"/>
                <a:ea typeface="Arial" pitchFamily="34" charset="-122"/>
                <a:cs typeface="Arial" pitchFamily="34" charset="-120"/>
              </a:rPr>
              <a:t>DECISION REQUIRED</a:t>
            </a:r>
            <a:endParaRPr lang="en-US" sz="850" dirty="0"/>
          </a:p>
        </p:txBody>
      </p:sp>
      <p:sp>
        <p:nvSpPr>
          <p:cNvPr id="30" name="Text 24"/>
          <p:cNvSpPr txBox="1"/>
          <p:nvPr/>
        </p:nvSpPr>
        <p:spPr>
          <a:xfrm>
            <a:off x="7525512" y="4370832"/>
            <a:ext cx="2377440" cy="457200"/>
          </a:xfrm>
          <a:prstGeom prst="rect">
            <a:avLst/>
          </a:prstGeom>
          <a:noFill/>
          <a:ln/>
        </p:spPr>
        <p:txBody>
          <a:bodyPr wrap="square" lIns="0" tIns="0" rIns="0" bIns="0" rtlCol="0" anchor="t"/>
          <a:lstStyle/>
          <a:p>
            <a:pPr indent="0" marL="0">
              <a:lnSpc>
                <a:spcPct val="105000"/>
              </a:lnSpc>
              <a:buNone/>
            </a:pPr>
            <a:r>
              <a:rPr lang="en-US" sz="2200" b="1" dirty="0">
                <a:solidFill>
                  <a:srgbClr val="C8283E"/>
                </a:solidFill>
                <a:latin typeface="Arial" pitchFamily="34" charset="0"/>
                <a:ea typeface="Arial" pitchFamily="34" charset="-122"/>
                <a:cs typeface="Arial" pitchFamily="34" charset="-120"/>
              </a:rPr>
              <a:t>REWORK</a:t>
            </a:r>
            <a:endParaRPr lang="en-US" sz="2200" dirty="0"/>
          </a:p>
        </p:txBody>
      </p:sp>
      <p:sp>
        <p:nvSpPr>
          <p:cNvPr id="31" name="Text 25"/>
          <p:cNvSpPr txBox="1"/>
          <p:nvPr/>
        </p:nvSpPr>
        <p:spPr>
          <a:xfrm>
            <a:off x="5074920" y="2468880"/>
            <a:ext cx="2084832" cy="713232"/>
          </a:xfrm>
          <a:prstGeom prst="rect">
            <a:avLst/>
          </a:prstGeom>
          <a:noFill/>
          <a:ln/>
        </p:spPr>
        <p:txBody>
          <a:bodyPr wrap="square" lIns="0" tIns="0" rIns="0" bIns="0" rtlCol="0" anchor="ctr"/>
          <a:lstStyle/>
          <a:p>
            <a:pPr algn="ctr" indent="0" marL="0">
              <a:lnSpc>
                <a:spcPct val="105000"/>
              </a:lnSpc>
              <a:buNone/>
            </a:pPr>
            <a:r>
              <a:rPr lang="en-US" sz="3000" b="1" dirty="0">
                <a:solidFill>
                  <a:srgbClr val="5B6575"/>
                </a:solidFill>
                <a:latin typeface="Arial" pitchFamily="34" charset="0"/>
                <a:ea typeface="Arial" pitchFamily="34" charset="-122"/>
                <a:cs typeface="Arial" pitchFamily="34" charset="-120"/>
              </a:rPr>
              <a:t>=</a:t>
            </a:r>
            <a:endParaRPr lang="en-US" sz="3000" dirty="0"/>
          </a:p>
        </p:txBody>
      </p:sp>
      <p:sp>
        <p:nvSpPr>
          <p:cNvPr id="32" name="Text 26"/>
          <p:cNvSpPr txBox="1"/>
          <p:nvPr/>
        </p:nvSpPr>
        <p:spPr>
          <a:xfrm>
            <a:off x="5074920" y="3072384"/>
            <a:ext cx="2084832" cy="182880"/>
          </a:xfrm>
          <a:prstGeom prst="rect">
            <a:avLst/>
          </a:prstGeom>
          <a:noFill/>
          <a:ln/>
        </p:spPr>
        <p:txBody>
          <a:bodyPr wrap="square" lIns="0" tIns="0" rIns="0" bIns="0" rtlCol="0" anchor="t"/>
          <a:lstStyle/>
          <a:p>
            <a:pPr algn="ctr" indent="0" marL="0">
              <a:lnSpc>
                <a:spcPct val="105000"/>
              </a:lnSpc>
              <a:buNone/>
            </a:pPr>
            <a:r>
              <a:rPr lang="en-US" sz="850" dirty="0">
                <a:solidFill>
                  <a:srgbClr val="5B6575"/>
                </a:solidFill>
                <a:latin typeface="Arial" pitchFamily="34" charset="0"/>
                <a:ea typeface="Arial" pitchFamily="34" charset="-122"/>
                <a:cs typeface="Arial" pitchFamily="34" charset="-120"/>
              </a:rPr>
              <a:t>identical documents</a:t>
            </a:r>
            <a:endParaRPr lang="en-US" sz="850" dirty="0"/>
          </a:p>
        </p:txBody>
      </p:sp>
      <p:sp>
        <p:nvSpPr>
          <p:cNvPr id="33" name="Text 27"/>
          <p:cNvSpPr txBox="1"/>
          <p:nvPr/>
        </p:nvSpPr>
        <p:spPr>
          <a:xfrm>
            <a:off x="5074920" y="3291840"/>
            <a:ext cx="2084832" cy="713232"/>
          </a:xfrm>
          <a:prstGeom prst="rect">
            <a:avLst/>
          </a:prstGeom>
          <a:noFill/>
          <a:ln/>
        </p:spPr>
        <p:txBody>
          <a:bodyPr wrap="square" lIns="0" tIns="0" rIns="0" bIns="0" rtlCol="0" anchor="ctr"/>
          <a:lstStyle/>
          <a:p>
            <a:pPr algn="ctr" indent="0" marL="0">
              <a:lnSpc>
                <a:spcPct val="105000"/>
              </a:lnSpc>
              <a:buNone/>
            </a:pPr>
            <a:r>
              <a:rPr lang="en-US" sz="3000" b="1" dirty="0">
                <a:solidFill>
                  <a:srgbClr val="C8283E"/>
                </a:solidFill>
                <a:latin typeface="Arial" pitchFamily="34" charset="0"/>
                <a:ea typeface="Arial" pitchFamily="34" charset="-122"/>
                <a:cs typeface="Arial" pitchFamily="34" charset="-120"/>
              </a:rPr>
              <a:t>≠</a:t>
            </a:r>
            <a:endParaRPr lang="en-US" sz="3000" dirty="0"/>
          </a:p>
        </p:txBody>
      </p:sp>
      <p:sp>
        <p:nvSpPr>
          <p:cNvPr id="34" name="Text 28"/>
          <p:cNvSpPr txBox="1"/>
          <p:nvPr/>
        </p:nvSpPr>
        <p:spPr>
          <a:xfrm>
            <a:off x="5074920" y="3895344"/>
            <a:ext cx="2084832" cy="182880"/>
          </a:xfrm>
          <a:prstGeom prst="rect">
            <a:avLst/>
          </a:prstGeom>
          <a:noFill/>
          <a:ln/>
        </p:spPr>
        <p:txBody>
          <a:bodyPr wrap="square" lIns="0" tIns="0" rIns="0" bIns="0" rtlCol="0" anchor="t"/>
          <a:lstStyle/>
          <a:p>
            <a:pPr algn="ctr" indent="0" marL="0">
              <a:lnSpc>
                <a:spcPct val="105000"/>
              </a:lnSpc>
              <a:buNone/>
            </a:pPr>
            <a:r>
              <a:rPr lang="en-US" sz="850" dirty="0">
                <a:solidFill>
                  <a:srgbClr val="5B6575"/>
                </a:solidFill>
                <a:latin typeface="Arial" pitchFamily="34" charset="0"/>
                <a:ea typeface="Arial" pitchFamily="34" charset="-122"/>
                <a:cs typeface="Arial" pitchFamily="34" charset="-120"/>
              </a:rPr>
              <a:t>one fact differs</a:t>
            </a:r>
            <a:endParaRPr lang="en-US" sz="850" dirty="0"/>
          </a:p>
        </p:txBody>
      </p:sp>
      <p:sp>
        <p:nvSpPr>
          <p:cNvPr id="35" name="Text 29"/>
          <p:cNvSpPr txBox="1"/>
          <p:nvPr/>
        </p:nvSpPr>
        <p:spPr>
          <a:xfrm>
            <a:off x="5074920" y="4114800"/>
            <a:ext cx="2084832" cy="749808"/>
          </a:xfrm>
          <a:prstGeom prst="rect">
            <a:avLst/>
          </a:prstGeom>
          <a:noFill/>
          <a:ln/>
        </p:spPr>
        <p:txBody>
          <a:bodyPr wrap="square" lIns="0" tIns="0" rIns="0" bIns="0" rtlCol="0" anchor="ctr"/>
          <a:lstStyle/>
          <a:p>
            <a:pPr algn="ctr" indent="0" marL="0">
              <a:lnSpc>
                <a:spcPct val="105000"/>
              </a:lnSpc>
              <a:buNone/>
            </a:pPr>
            <a:r>
              <a:rPr lang="en-US" sz="3000" b="1" dirty="0">
                <a:solidFill>
                  <a:srgbClr val="C8283E"/>
                </a:solidFill>
                <a:latin typeface="Arial" pitchFamily="34" charset="0"/>
                <a:ea typeface="Arial" pitchFamily="34" charset="-122"/>
                <a:cs typeface="Arial" pitchFamily="34" charset="-120"/>
              </a:rPr>
              <a:t>≠</a:t>
            </a:r>
            <a:endParaRPr lang="en-US" sz="3000" dirty="0"/>
          </a:p>
        </p:txBody>
      </p:sp>
      <p:sp>
        <p:nvSpPr>
          <p:cNvPr id="36" name="Text 30"/>
          <p:cNvSpPr txBox="1"/>
          <p:nvPr/>
        </p:nvSpPr>
        <p:spPr>
          <a:xfrm>
            <a:off x="5074920" y="4754880"/>
            <a:ext cx="2084832" cy="182880"/>
          </a:xfrm>
          <a:prstGeom prst="rect">
            <a:avLst/>
          </a:prstGeom>
          <a:noFill/>
          <a:ln/>
        </p:spPr>
        <p:txBody>
          <a:bodyPr wrap="square" lIns="0" tIns="0" rIns="0" bIns="0" rtlCol="0" anchor="t"/>
          <a:lstStyle/>
          <a:p>
            <a:pPr algn="ctr" indent="0" marL="0">
              <a:lnSpc>
                <a:spcPct val="105000"/>
              </a:lnSpc>
              <a:buNone/>
            </a:pPr>
            <a:r>
              <a:rPr lang="en-US" sz="850" dirty="0">
                <a:solidFill>
                  <a:srgbClr val="5B6575"/>
                </a:solidFill>
                <a:latin typeface="Arial" pitchFamily="34" charset="0"/>
                <a:ea typeface="Arial" pitchFamily="34" charset="-122"/>
                <a:cs typeface="Arial" pitchFamily="34" charset="-120"/>
              </a:rPr>
              <a:t>different decisions required</a:t>
            </a:r>
            <a:endParaRPr lang="en-US" sz="850" dirty="0"/>
          </a:p>
        </p:txBody>
      </p:sp>
      <p:sp>
        <p:nvSpPr>
          <p:cNvPr id="37" name="Shape 31"/>
          <p:cNvSpPr/>
          <p:nvPr/>
        </p:nvSpPr>
        <p:spPr>
          <a:xfrm>
            <a:off x="457200" y="5166360"/>
            <a:ext cx="11274552" cy="566928"/>
          </a:xfrm>
          <a:prstGeom prst="roundRect">
            <a:avLst>
              <a:gd name="adj" fmla="val 16129"/>
            </a:avLst>
          </a:prstGeom>
          <a:solidFill>
            <a:srgbClr val="F3F5F8"/>
          </a:solidFill>
          <a:ln w="12700">
            <a:solidFill>
              <a:srgbClr val="F3F5F8"/>
            </a:solidFill>
            <a:prstDash val="solid"/>
          </a:ln>
        </p:spPr>
        <p:txBody>
          <a:bodyPr/>
          <a:p/>
        </p:txBody>
      </p:sp>
      <p:sp>
        <p:nvSpPr>
          <p:cNvPr id="38" name="Text 32"/>
          <p:cNvSpPr txBox="1"/>
          <p:nvPr/>
        </p:nvSpPr>
        <p:spPr>
          <a:xfrm>
            <a:off x="658368" y="5166360"/>
            <a:ext cx="10872216" cy="566928"/>
          </a:xfrm>
          <a:prstGeom prst="rect">
            <a:avLst/>
          </a:prstGeom>
          <a:noFill/>
          <a:ln/>
        </p:spPr>
        <p:txBody>
          <a:bodyPr wrap="square" lIns="0" tIns="0" rIns="0" bIns="0" rtlCol="0" anchor="ctr"/>
          <a:lstStyle/>
          <a:p>
            <a:pPr indent="0" marL="0">
              <a:lnSpc>
                <a:spcPct val="105000"/>
              </a:lnSpc>
              <a:buNone/>
            </a:pPr>
            <a:r>
              <a:rPr lang="en-US" sz="1080" dirty="0">
                <a:solidFill>
                  <a:srgbClr val="252A3D"/>
                </a:solidFill>
                <a:latin typeface="Arial" pitchFamily="34" charset="0"/>
                <a:ea typeface="Arial" pitchFamily="34" charset="-122"/>
                <a:cs typeface="Arial" pitchFamily="34" charset="-120"/>
              </a:rPr>
              <a:t>A reviewer limited to the documents cannot reliably make the correct decision for both projects, regardless of their reasoning ability. The limitation is missing information, not a lack of reasoning ability.</a:t>
            </a:r>
            <a:endParaRPr lang="en-US" sz="1080" dirty="0"/>
          </a:p>
        </p:txBody>
      </p:sp>
      <p:sp>
        <p:nvSpPr>
          <p:cNvPr id="39" name="Shape 33"/>
          <p:cNvSpPr/>
          <p:nvPr/>
        </p:nvSpPr>
        <p:spPr>
          <a:xfrm>
            <a:off x="457200" y="5870448"/>
            <a:ext cx="11274552" cy="603504"/>
          </a:xfrm>
          <a:prstGeom prst="roundRect">
            <a:avLst>
              <a:gd name="adj" fmla="val 15152"/>
            </a:avLst>
          </a:prstGeom>
          <a:solidFill>
            <a:srgbClr val="FFF5BF"/>
          </a:solidFill>
          <a:ln w="12700">
            <a:solidFill>
              <a:srgbClr val="FFF5BF"/>
            </a:solidFill>
            <a:prstDash val="solid"/>
          </a:ln>
        </p:spPr>
        <p:txBody>
          <a:bodyPr/>
          <a:p/>
        </p:txBody>
      </p:sp>
      <p:pic>
        <p:nvPicPr>
          <p:cNvPr id="40" name="Image 4" descr="preencoded.png">    </p:cNvPr>
          <p:cNvPicPr>
            <a:picLocks noChangeAspect="1"/>
          </p:cNvPicPr>
          <p:nvPr/>
        </p:nvPicPr>
        <p:blipFill>
          <a:blip r:embed="rId5"/>
          <a:stretch>
            <a:fillRect/>
          </a:stretch>
        </p:blipFill>
        <p:spPr>
          <a:xfrm>
            <a:off x="621792" y="6016752"/>
            <a:ext cx="310896" cy="310896"/>
          </a:xfrm>
          <a:prstGeom prst="rect">
            <a:avLst/>
          </a:prstGeom>
        </p:spPr>
      </p:pic>
      <p:sp>
        <p:nvSpPr>
          <p:cNvPr id="41" name="Text 34"/>
          <p:cNvSpPr txBox="1"/>
          <p:nvPr/>
        </p:nvSpPr>
        <p:spPr>
          <a:xfrm>
            <a:off x="1051560" y="5870448"/>
            <a:ext cx="10469880" cy="603504"/>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The agent needs access to the relevant company records or permission to request a record it cannot access. Providing only the PDFs leaves out information needed for a fair test or a safe deployment.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COUNTING ALL THE HUMAN WORK</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740" b="1" dirty="0">
                <a:solidFill>
                  <a:srgbClr val="252A3D"/>
                </a:solidFill>
                <a:latin typeface="Arial" pitchFamily="34" charset="0"/>
                <a:ea typeface="Arial" pitchFamily="34" charset="-122"/>
                <a:cs typeface="Arial" pitchFamily="34" charset="-120"/>
              </a:rPr>
              <a:t>Automating 80% of cases does not mean needing 80% fewer staff</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paper’s method counts all human working hours before and after automation, not just the time spent by the reviewer being replaced.</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20 / 30</a:t>
            </a:r>
            <a:endParaRPr lang="en-US" sz="1000" dirty="0"/>
          </a:p>
        </p:txBody>
      </p:sp>
      <p:sp>
        <p:nvSpPr>
          <p:cNvPr id="9" name="Shape 7"/>
          <p:cNvSpPr/>
          <p:nvPr/>
        </p:nvSpPr>
        <p:spPr>
          <a:xfrm>
            <a:off x="457200" y="1965960"/>
            <a:ext cx="5074920" cy="3611880"/>
          </a:xfrm>
          <a:prstGeom prst="roundRect">
            <a:avLst>
              <a:gd name="adj" fmla="val 2532"/>
            </a:avLst>
          </a:prstGeom>
          <a:solidFill>
            <a:srgbClr val="F3F5F8"/>
          </a:solidFill>
          <a:ln w="12700">
            <a:solidFill>
              <a:srgbClr val="F3F5F8"/>
            </a:solidFill>
            <a:prstDash val="solid"/>
          </a:ln>
        </p:spPr>
        <p:txBody>
          <a:bodyPr/>
          <a:p/>
        </p:txBody>
      </p:sp>
      <p:sp>
        <p:nvSpPr>
          <p:cNvPr id="10" name="Text 8"/>
          <p:cNvSpPr txBox="1"/>
          <p:nvPr/>
        </p:nvSpPr>
        <p:spPr>
          <a:xfrm>
            <a:off x="658368" y="2103120"/>
            <a:ext cx="47548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HUMAN WORK THAT REMAINS AFTER AUTOMATION</a:t>
            </a:r>
            <a:endParaRPr lang="en-US" sz="950" dirty="0"/>
          </a:p>
        </p:txBody>
      </p:sp>
      <p:sp>
        <p:nvSpPr>
          <p:cNvPr id="11" name="Shape 9"/>
          <p:cNvSpPr/>
          <p:nvPr/>
        </p:nvSpPr>
        <p:spPr>
          <a:xfrm>
            <a:off x="658368" y="2395728"/>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2" name="Text 10"/>
          <p:cNvSpPr txBox="1"/>
          <p:nvPr/>
        </p:nvSpPr>
        <p:spPr>
          <a:xfrm>
            <a:off x="804672" y="2395728"/>
            <a:ext cx="4389120" cy="658368"/>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Complex cases: </a:t>
            </a:r>
            <a:r>
              <a:rPr lang="en-US" sz="1000" dirty="0">
                <a:solidFill>
                  <a:srgbClr val="252A3D"/>
                </a:solidFill>
                <a:latin typeface="Arial" pitchFamily="34" charset="0"/>
                <a:ea typeface="Arial" pitchFamily="34" charset="-122"/>
                <a:cs typeface="Arial" pitchFamily="34" charset="-120"/>
              </a:rPr>
              <a:t>the proportion still handled by people, multiplied by the time needed for each case. These cases can take longer than before.</a:t>
            </a:r>
            <a:endParaRPr lang="en-US" sz="1000" dirty="0"/>
          </a:p>
        </p:txBody>
      </p:sp>
      <p:sp>
        <p:nvSpPr>
          <p:cNvPr id="13" name="Shape 11"/>
          <p:cNvSpPr/>
          <p:nvPr/>
        </p:nvSpPr>
        <p:spPr>
          <a:xfrm>
            <a:off x="658368" y="3145536"/>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4" name="Text 12"/>
          <p:cNvSpPr txBox="1"/>
          <p:nvPr/>
        </p:nvSpPr>
        <p:spPr>
          <a:xfrm>
            <a:off x="804672" y="3145536"/>
            <a:ext cx="4389120" cy="658368"/>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 Routine checks: </a:t>
            </a:r>
            <a:r>
              <a:rPr lang="en-US" sz="1000" dirty="0">
                <a:solidFill>
                  <a:srgbClr val="252A3D"/>
                </a:solidFill>
                <a:latin typeface="Arial" pitchFamily="34" charset="0"/>
                <a:ea typeface="Arial" pitchFamily="34" charset="-122"/>
                <a:cs typeface="Arial" pitchFamily="34" charset="-120"/>
              </a:rPr>
              <a:t>signatures, spot checks and brief human reviews of straightforward cases.</a:t>
            </a:r>
            <a:endParaRPr lang="en-US" sz="1000" dirty="0"/>
          </a:p>
        </p:txBody>
      </p:sp>
      <p:sp>
        <p:nvSpPr>
          <p:cNvPr id="15" name="Shape 13"/>
          <p:cNvSpPr/>
          <p:nvPr/>
        </p:nvSpPr>
        <p:spPr>
          <a:xfrm>
            <a:off x="658368" y="3895344"/>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6" name="Text 14"/>
          <p:cNvSpPr txBox="1"/>
          <p:nvPr/>
        </p:nvSpPr>
        <p:spPr>
          <a:xfrm>
            <a:off x="804672" y="3895344"/>
            <a:ext cx="4389120" cy="658368"/>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 Error correction: </a:t>
            </a:r>
            <a:r>
              <a:rPr lang="en-US" sz="1000" dirty="0">
                <a:solidFill>
                  <a:srgbClr val="252A3D"/>
                </a:solidFill>
                <a:latin typeface="Arial" pitchFamily="34" charset="0"/>
                <a:ea typeface="Arial" pitchFamily="34" charset="-122"/>
                <a:cs typeface="Arial" pitchFamily="34" charset="-120"/>
              </a:rPr>
              <a:t>time spent finding and fixing the agent’s mistakes, including their effects on later work.</a:t>
            </a:r>
            <a:endParaRPr lang="en-US" sz="1000" dirty="0"/>
          </a:p>
        </p:txBody>
      </p:sp>
      <p:sp>
        <p:nvSpPr>
          <p:cNvPr id="17" name="Shape 15"/>
          <p:cNvSpPr/>
          <p:nvPr/>
        </p:nvSpPr>
        <p:spPr>
          <a:xfrm>
            <a:off x="658368" y="4645152"/>
            <a:ext cx="4663440" cy="658368"/>
          </a:xfrm>
          <a:prstGeom prst="roundRect">
            <a:avLst>
              <a:gd name="adj" fmla="val 13889"/>
            </a:avLst>
          </a:prstGeom>
          <a:solidFill>
            <a:srgbClr val="FFFFFF"/>
          </a:solidFill>
          <a:ln w="12700">
            <a:solidFill>
              <a:srgbClr val="FFFFFF"/>
            </a:solidFill>
            <a:prstDash val="solid"/>
          </a:ln>
        </p:spPr>
        <p:txBody>
          <a:bodyPr/>
          <a:p/>
        </p:txBody>
      </p:sp>
      <p:sp>
        <p:nvSpPr>
          <p:cNvPr id="18" name="Text 16"/>
          <p:cNvSpPr txBox="1"/>
          <p:nvPr/>
        </p:nvSpPr>
        <p:spPr>
          <a:xfrm>
            <a:off x="804672" y="4645152"/>
            <a:ext cx="4389120" cy="658368"/>
          </a:xfrm>
          <a:prstGeom prst="rect">
            <a:avLst/>
          </a:prstGeom>
          <a:noFill/>
          <a:ln/>
        </p:spPr>
        <p:txBody>
          <a:bodyPr wrap="square" lIns="0" tIns="0" rIns="0" bIns="0" rtlCol="0" anchor="ctr"/>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 Maintenance: </a:t>
            </a:r>
            <a:r>
              <a:rPr lang="en-US" sz="1000" dirty="0">
                <a:solidFill>
                  <a:srgbClr val="252A3D"/>
                </a:solidFill>
                <a:latin typeface="Arial" pitchFamily="34" charset="0"/>
                <a:ea typeface="Arial" pitchFamily="34" charset="-122"/>
                <a:cs typeface="Arial" pitchFamily="34" charset="-120"/>
              </a:rPr>
              <a:t>time spent maintaining integrations, rules and test cases, including work done by suppliers.</a:t>
            </a:r>
            <a:endParaRPr lang="en-US" sz="1000" dirty="0"/>
          </a:p>
        </p:txBody>
      </p:sp>
      <p:sp>
        <p:nvSpPr>
          <p:cNvPr id="19" name="Text 17"/>
          <p:cNvSpPr txBox="1"/>
          <p:nvPr/>
        </p:nvSpPr>
        <p:spPr>
          <a:xfrm>
            <a:off x="658368" y="5413248"/>
            <a:ext cx="4754880" cy="182880"/>
          </a:xfrm>
          <a:prstGeom prst="rect">
            <a:avLst/>
          </a:prstGeom>
          <a:noFill/>
          <a:ln/>
        </p:spPr>
        <p:txBody>
          <a:bodyPr wrap="square" lIns="0" tIns="0" rIns="0" bIns="0" rtlCol="0" anchor="t"/>
          <a:lstStyle/>
          <a:p>
            <a:pPr indent="0" marL="0">
              <a:lnSpc>
                <a:spcPct val="105000"/>
              </a:lnSpc>
              <a:buNone/>
            </a:pPr>
            <a:r>
              <a:rPr lang="en-US" sz="780" i="1" dirty="0">
                <a:solidFill>
                  <a:srgbClr val="5B6575"/>
                </a:solidFill>
                <a:latin typeface="Arial" pitchFamily="34" charset="0"/>
                <a:ea typeface="Arial" pitchFamily="34" charset="-122"/>
                <a:cs typeface="Arial" pitchFamily="34" charset="-120"/>
              </a:rPr>
              <a:t>An hour of work still counts when another department does it. Moving work is not the same as saving it.</a:t>
            </a:r>
            <a:endParaRPr lang="en-US" sz="850" dirty="0"/>
          </a:p>
        </p:txBody>
      </p:sp>
      <p:sp>
        <p:nvSpPr>
          <p:cNvPr id="20" name="Shape 18"/>
          <p:cNvSpPr/>
          <p:nvPr/>
        </p:nvSpPr>
        <p:spPr>
          <a:xfrm>
            <a:off x="5760720" y="1965960"/>
            <a:ext cx="5971032" cy="1115568"/>
          </a:xfrm>
          <a:prstGeom prst="roundRect">
            <a:avLst>
              <a:gd name="adj" fmla="val 8197"/>
            </a:avLst>
          </a:prstGeom>
          <a:solidFill>
            <a:srgbClr val="FFF5BF"/>
          </a:solidFill>
          <a:ln w="12700">
            <a:solidFill>
              <a:srgbClr val="FFF5BF"/>
            </a:solidFill>
            <a:prstDash val="solid"/>
          </a:ln>
        </p:spPr>
        <p:txBody>
          <a:bodyPr/>
          <a:p/>
        </p:txBody>
      </p:sp>
      <p:sp>
        <p:nvSpPr>
          <p:cNvPr id="21" name="Text 19"/>
          <p:cNvSpPr txBox="1"/>
          <p:nvPr/>
        </p:nvSpPr>
        <p:spPr>
          <a:xfrm>
            <a:off x="5943600" y="2075688"/>
            <a:ext cx="55778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THE REMAINING CASES TAKE THE MOST TIME</a:t>
            </a:r>
            <a:endParaRPr lang="en-US" sz="950" dirty="0"/>
          </a:p>
        </p:txBody>
      </p:sp>
      <p:sp>
        <p:nvSpPr>
          <p:cNvPr id="22" name="Text 20"/>
          <p:cNvSpPr txBox="1"/>
          <p:nvPr/>
        </p:nvSpPr>
        <p:spPr>
          <a:xfrm>
            <a:off x="5943600" y="2295144"/>
            <a:ext cx="5623560" cy="749808"/>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Suppose the agent handles the easy 80% of cases. If each remaining case takes twice the original average handling time, the remaining 20% represents 40% of the original workload. If splitting the work between AI and people makes these remaining cases take 50% longer, they alone represent 60% of the original workload.</a:t>
            </a:r>
            <a:endParaRPr lang="en-US" sz="980" dirty="0"/>
          </a:p>
        </p:txBody>
      </p:sp>
      <p:sp>
        <p:nvSpPr>
          <p:cNvPr id="23" name="Shape 21"/>
          <p:cNvSpPr/>
          <p:nvPr/>
        </p:nvSpPr>
        <p:spPr>
          <a:xfrm>
            <a:off x="5760720" y="3214116"/>
            <a:ext cx="5971032" cy="1115568"/>
          </a:xfrm>
          <a:prstGeom prst="roundRect">
            <a:avLst>
              <a:gd name="adj" fmla="val 8197"/>
            </a:avLst>
          </a:prstGeom>
          <a:solidFill>
            <a:srgbClr val="FFE4E6"/>
          </a:solidFill>
          <a:ln w="12700">
            <a:solidFill>
              <a:srgbClr val="FFE4E6"/>
            </a:solidFill>
            <a:prstDash val="solid"/>
          </a:ln>
        </p:spPr>
        <p:txBody>
          <a:bodyPr/>
          <a:p/>
        </p:txBody>
      </p:sp>
      <p:sp>
        <p:nvSpPr>
          <p:cNvPr id="24" name="Text 22"/>
          <p:cNvSpPr txBox="1"/>
          <p:nvPr/>
        </p:nvSpPr>
        <p:spPr>
          <a:xfrm>
            <a:off x="5943600" y="3323844"/>
            <a:ext cx="55778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ERRORS ALSO TAKE TIME TO FIX</a:t>
            </a:r>
            <a:endParaRPr lang="en-US" sz="950" dirty="0"/>
          </a:p>
        </p:txBody>
      </p:sp>
      <p:sp>
        <p:nvSpPr>
          <p:cNvPr id="25" name="Text 23"/>
          <p:cNvSpPr txBox="1"/>
          <p:nvPr/>
        </p:nvSpPr>
        <p:spPr>
          <a:xfrm>
            <a:off x="5943600" y="3543300"/>
            <a:ext cx="5623560" cy="749808"/>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Every incorrect answer that goes unnoticed at first creates work for someone who must later find and fix it. Even a minor error needs correction. A dangerous error that remains undetected is unacceptable, regardless of the cost savings.</a:t>
            </a:r>
            <a:endParaRPr lang="en-US" sz="980" dirty="0"/>
          </a:p>
        </p:txBody>
      </p:sp>
      <p:sp>
        <p:nvSpPr>
          <p:cNvPr id="26" name="Shape 24"/>
          <p:cNvSpPr/>
          <p:nvPr/>
        </p:nvSpPr>
        <p:spPr>
          <a:xfrm>
            <a:off x="5760720" y="4462272"/>
            <a:ext cx="5971032" cy="1115568"/>
          </a:xfrm>
          <a:prstGeom prst="roundRect">
            <a:avLst>
              <a:gd name="adj" fmla="val 8197"/>
            </a:avLst>
          </a:prstGeom>
          <a:solidFill>
            <a:srgbClr val="E5F6E9"/>
          </a:solidFill>
          <a:ln w="12700">
            <a:solidFill>
              <a:srgbClr val="E5F6E9"/>
            </a:solidFill>
            <a:prstDash val="solid"/>
          </a:ln>
        </p:spPr>
        <p:txBody>
          <a:bodyPr/>
          <a:p/>
        </p:txBody>
      </p:sp>
      <p:sp>
        <p:nvSpPr>
          <p:cNvPr id="27" name="Text 25"/>
          <p:cNvSpPr txBox="1"/>
          <p:nvPr/>
        </p:nvSpPr>
        <p:spPr>
          <a:xfrm>
            <a:off x="5943600" y="4572000"/>
            <a:ext cx="55778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WHAT NEEDS TO BE MEASURED</a:t>
            </a:r>
            <a:endParaRPr lang="en-US" sz="950" dirty="0"/>
          </a:p>
        </p:txBody>
      </p:sp>
      <p:sp>
        <p:nvSpPr>
          <p:cNvPr id="28" name="Text 26"/>
          <p:cNvSpPr txBox="1"/>
          <p:nvPr/>
        </p:nvSpPr>
        <p:spPr>
          <a:xfrm>
            <a:off x="5943600" y="4791456"/>
            <a:ext cx="5623560" cy="749808"/>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Measure case numbers, handling time before automation, which cases still go to people, how long those cases take before and after automation, the corrections needed and the maintenance work. Track cases using the same identifiers so that no work is counted twice or left out.</a:t>
            </a:r>
            <a:endParaRPr lang="en-US" sz="980" dirty="0"/>
          </a:p>
        </p:txBody>
      </p:sp>
      <p:sp>
        <p:nvSpPr>
          <p:cNvPr id="29" name="Shape 2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30"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31" name="Text 2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A high success rate does not tell you how many human working hours are saved. A small number of difficult cases can account for half the working time. Calling the remaining staff “supervisors” does not remove their working hours from the calculation.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THE SAME AUTOMATION, FOUR STAFFING SCENARIOS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620" b="1" dirty="0">
                <a:solidFill>
                  <a:srgbClr val="252A3D"/>
                </a:solidFill>
                <a:latin typeface="Arial" pitchFamily="34" charset="0"/>
                <a:ea typeface="Arial" pitchFamily="34" charset="-122"/>
                <a:cs typeface="Arial" pitchFamily="34" charset="-120"/>
              </a:rPr>
              <a:t>The same automation can require 44 or 169 full-time-equivalent staff</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Illustrative starting point: these reviews require 140 full-time-equivalent staff (FTE). The agents handle the same share of cases in all four scenarios.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21 / 30</a:t>
            </a:r>
            <a:endParaRPr lang="en-US" sz="1000" dirty="0"/>
          </a:p>
        </p:txBody>
      </p:sp>
      <p:sp>
        <p:nvSpPr>
          <p:cNvPr id="9" name="Shape 7"/>
          <p:cNvSpPr/>
          <p:nvPr/>
        </p:nvSpPr>
        <p:spPr>
          <a:xfrm>
            <a:off x="457200" y="1965960"/>
            <a:ext cx="6492240" cy="3611880"/>
          </a:xfrm>
          <a:prstGeom prst="roundRect">
            <a:avLst>
              <a:gd name="adj" fmla="val 2532"/>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29968"/>
          <a:ext cx="6309360" cy="349300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150608" y="1965960"/>
            <a:ext cx="4581144" cy="804672"/>
          </a:xfrm>
          <a:prstGeom prst="roundRect">
            <a:avLst>
              <a:gd name="adj" fmla="val 11364"/>
            </a:avLst>
          </a:prstGeom>
          <a:solidFill>
            <a:srgbClr val="E5F6E9"/>
          </a:solidFill>
          <a:ln w="12700">
            <a:solidFill>
              <a:srgbClr val="E5F6E9"/>
            </a:solidFill>
            <a:prstDash val="solid"/>
          </a:ln>
        </p:spPr>
        <p:txBody>
          <a:bodyPr/>
          <a:p/>
        </p:txBody>
      </p:sp>
      <p:sp>
        <p:nvSpPr>
          <p:cNvPr id="12" name="Text 9"/>
          <p:cNvSpPr txBox="1"/>
          <p:nvPr/>
        </p:nvSpPr>
        <p:spPr>
          <a:xfrm>
            <a:off x="7315200" y="2048256"/>
            <a:ext cx="2651760" cy="33832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S0 · AI also helps people with complex cases</a:t>
            </a:r>
            <a:endParaRPr lang="en-US" sz="1050" dirty="0"/>
          </a:p>
        </p:txBody>
      </p:sp>
      <p:sp>
        <p:nvSpPr>
          <p:cNvPr id="13" name="Text 10"/>
          <p:cNvSpPr txBox="1"/>
          <p:nvPr/>
        </p:nvSpPr>
        <p:spPr>
          <a:xfrm>
            <a:off x="9646920" y="2048256"/>
            <a:ext cx="1965960" cy="219456"/>
          </a:xfrm>
          <a:prstGeom prst="rect">
            <a:avLst/>
          </a:prstGeom>
          <a:noFill/>
          <a:ln/>
        </p:spPr>
        <p:txBody>
          <a:bodyPr wrap="square" lIns="0" tIns="0" rIns="0" bIns="0" rtlCol="0" anchor="t"/>
          <a:lstStyle/>
          <a:p>
            <a:pPr algn="r" indent="0" marL="0">
              <a:lnSpc>
                <a:spcPct val="105000"/>
              </a:lnSpc>
              <a:buNone/>
            </a:pPr>
            <a:r>
              <a:rPr lang="en-US" sz="1000" b="1" dirty="0">
                <a:solidFill>
                  <a:srgbClr val="1E7A3C"/>
                </a:solidFill>
                <a:latin typeface="Arial" pitchFamily="34" charset="0"/>
                <a:ea typeface="Arial" pitchFamily="34" charset="-122"/>
                <a:cs typeface="Arial" pitchFamily="34" charset="-120"/>
              </a:rPr>
              <a:t>44 FTE · −69%</a:t>
            </a:r>
            <a:endParaRPr lang="en-US" sz="1000" dirty="0"/>
          </a:p>
        </p:txBody>
      </p:sp>
      <p:sp>
        <p:nvSpPr>
          <p:cNvPr id="14" name="Text 11"/>
          <p:cNvSpPr txBox="1"/>
          <p:nvPr/>
        </p:nvSpPr>
        <p:spPr>
          <a:xfrm>
            <a:off x="7315200" y="2414016"/>
            <a:ext cx="4251960" cy="32004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The agent halves the human time needed for complex cases. Other cases receive brief checks. This optimistic scenario excludes maintenance time.</a:t>
            </a:r>
            <a:endParaRPr lang="en-US" sz="900" dirty="0"/>
          </a:p>
        </p:txBody>
      </p:sp>
      <p:sp>
        <p:nvSpPr>
          <p:cNvPr id="15" name="Shape 12"/>
          <p:cNvSpPr/>
          <p:nvPr/>
        </p:nvSpPr>
        <p:spPr>
          <a:xfrm>
            <a:off x="7150608" y="2880360"/>
            <a:ext cx="4581144" cy="804672"/>
          </a:xfrm>
          <a:prstGeom prst="roundRect">
            <a:avLst>
              <a:gd name="adj" fmla="val 11364"/>
            </a:avLst>
          </a:prstGeom>
          <a:solidFill>
            <a:srgbClr val="DDF5FC"/>
          </a:solidFill>
          <a:ln w="12700">
            <a:solidFill>
              <a:srgbClr val="DDF5FC"/>
            </a:solidFill>
            <a:prstDash val="solid"/>
          </a:ln>
        </p:spPr>
        <p:txBody>
          <a:bodyPr/>
          <a:p/>
        </p:txBody>
      </p:sp>
      <p:sp>
        <p:nvSpPr>
          <p:cNvPr id="16" name="Text 13"/>
          <p:cNvSpPr txBox="1"/>
          <p:nvPr/>
        </p:nvSpPr>
        <p:spPr>
          <a:xfrm>
            <a:off x="7315200" y="2962656"/>
            <a:ext cx="2651760" cy="33832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S1 · People handle complex cases without AI assistance</a:t>
            </a:r>
            <a:endParaRPr lang="en-US" sz="1050" dirty="0"/>
          </a:p>
        </p:txBody>
      </p:sp>
      <p:sp>
        <p:nvSpPr>
          <p:cNvPr id="17" name="Text 14"/>
          <p:cNvSpPr txBox="1"/>
          <p:nvPr/>
        </p:nvSpPr>
        <p:spPr>
          <a:xfrm>
            <a:off x="9646920" y="2962656"/>
            <a:ext cx="1965960" cy="219456"/>
          </a:xfrm>
          <a:prstGeom prst="rect">
            <a:avLst/>
          </a:prstGeom>
          <a:noFill/>
          <a:ln/>
        </p:spPr>
        <p:txBody>
          <a:bodyPr wrap="square" lIns="0" tIns="0" rIns="0" bIns="0" rtlCol="0" anchor="t"/>
          <a:lstStyle/>
          <a:p>
            <a:pPr algn="r" indent="0" marL="0">
              <a:lnSpc>
                <a:spcPct val="105000"/>
              </a:lnSpc>
              <a:buNone/>
            </a:pPr>
            <a:r>
              <a:rPr lang="en-US" sz="1000" b="1" dirty="0">
                <a:solidFill>
                  <a:srgbClr val="1E7A3C"/>
                </a:solidFill>
                <a:latin typeface="Arial" pitchFamily="34" charset="0"/>
                <a:ea typeface="Arial" pitchFamily="34" charset="-122"/>
                <a:cs typeface="Arial" pitchFamily="34" charset="-120"/>
              </a:rPr>
              <a:t>85 FTE · −39%</a:t>
            </a:r>
            <a:endParaRPr lang="en-US" sz="1000" dirty="0"/>
          </a:p>
        </p:txBody>
      </p:sp>
      <p:sp>
        <p:nvSpPr>
          <p:cNvPr id="18" name="Text 15"/>
          <p:cNvSpPr txBox="1"/>
          <p:nvPr/>
        </p:nvSpPr>
        <p:spPr>
          <a:xfrm>
            <a:off x="7315200" y="3328416"/>
            <a:ext cx="4251960" cy="320040"/>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Complex cases take as much human time as before. Other cases receive brief checks, and one person per team keeps the AI agents running.</a:t>
            </a:r>
            <a:endParaRPr lang="en-US" sz="900" dirty="0"/>
          </a:p>
        </p:txBody>
      </p:sp>
      <p:sp>
        <p:nvSpPr>
          <p:cNvPr id="19" name="Shape 16"/>
          <p:cNvSpPr/>
          <p:nvPr/>
        </p:nvSpPr>
        <p:spPr>
          <a:xfrm>
            <a:off x="7150608" y="3794760"/>
            <a:ext cx="4581144" cy="804672"/>
          </a:xfrm>
          <a:prstGeom prst="roundRect">
            <a:avLst>
              <a:gd name="adj" fmla="val 11364"/>
            </a:avLst>
          </a:prstGeom>
          <a:solidFill>
            <a:srgbClr val="EFE8FA"/>
          </a:solidFill>
          <a:ln w="12700">
            <a:solidFill>
              <a:srgbClr val="EFE8FA"/>
            </a:solidFill>
            <a:prstDash val="solid"/>
          </a:ln>
        </p:spPr>
        <p:txBody>
          <a:bodyPr/>
          <a:p/>
        </p:txBody>
      </p:sp>
      <p:sp>
        <p:nvSpPr>
          <p:cNvPr id="20" name="Text 17"/>
          <p:cNvSpPr txBox="1"/>
          <p:nvPr/>
        </p:nvSpPr>
        <p:spPr>
          <a:xfrm>
            <a:off x="7315200" y="3877056"/>
            <a:ext cx="2651760" cy="219456"/>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S2 · S1 plus time to correct errors</a:t>
            </a:r>
            <a:endParaRPr lang="en-US" sz="1050" dirty="0"/>
          </a:p>
        </p:txBody>
      </p:sp>
      <p:sp>
        <p:nvSpPr>
          <p:cNvPr id="21" name="Text 18"/>
          <p:cNvSpPr txBox="1"/>
          <p:nvPr/>
        </p:nvSpPr>
        <p:spPr>
          <a:xfrm>
            <a:off x="9646920" y="3877056"/>
            <a:ext cx="1965960" cy="219456"/>
          </a:xfrm>
          <a:prstGeom prst="rect">
            <a:avLst/>
          </a:prstGeom>
          <a:noFill/>
          <a:ln/>
        </p:spPr>
        <p:txBody>
          <a:bodyPr wrap="square" lIns="0" tIns="0" rIns="0" bIns="0" rtlCol="0" anchor="t"/>
          <a:lstStyle/>
          <a:p>
            <a:pPr algn="r" indent="0" marL="0">
              <a:lnSpc>
                <a:spcPct val="105000"/>
              </a:lnSpc>
              <a:buNone/>
            </a:pPr>
            <a:r>
              <a:rPr lang="en-US" sz="1000" b="1" dirty="0">
                <a:solidFill>
                  <a:srgbClr val="1E7A3C"/>
                </a:solidFill>
                <a:latin typeface="Arial" pitchFamily="34" charset="0"/>
                <a:ea typeface="Arial" pitchFamily="34" charset="-122"/>
                <a:cs typeface="Arial" pitchFamily="34" charset="-120"/>
              </a:rPr>
              <a:t>89 FTE · −36%</a:t>
            </a:r>
            <a:endParaRPr lang="en-US" sz="1000" dirty="0"/>
          </a:p>
        </p:txBody>
      </p:sp>
      <p:sp>
        <p:nvSpPr>
          <p:cNvPr id="22" name="Text 19"/>
          <p:cNvSpPr txBox="1"/>
          <p:nvPr/>
        </p:nvSpPr>
        <p:spPr>
          <a:xfrm>
            <a:off x="7315200" y="4123944"/>
            <a:ext cx="4251960" cy="438912"/>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The same assumptions as S1, plus 30 minutes of correction time per case.</a:t>
            </a:r>
            <a:endParaRPr lang="en-US" sz="900" dirty="0"/>
          </a:p>
        </p:txBody>
      </p:sp>
      <p:sp>
        <p:nvSpPr>
          <p:cNvPr id="23" name="Shape 20"/>
          <p:cNvSpPr/>
          <p:nvPr/>
        </p:nvSpPr>
        <p:spPr>
          <a:xfrm>
            <a:off x="7150608" y="4709160"/>
            <a:ext cx="4581144" cy="804672"/>
          </a:xfrm>
          <a:prstGeom prst="roundRect">
            <a:avLst>
              <a:gd name="adj" fmla="val 11364"/>
            </a:avLst>
          </a:prstGeom>
          <a:solidFill>
            <a:srgbClr val="FFE4E6"/>
          </a:solidFill>
          <a:ln w="12700">
            <a:solidFill>
              <a:srgbClr val="FFE4E6"/>
            </a:solidFill>
            <a:prstDash val="solid"/>
          </a:ln>
        </p:spPr>
        <p:txBody>
          <a:bodyPr/>
          <a:p/>
        </p:txBody>
      </p:sp>
      <p:sp>
        <p:nvSpPr>
          <p:cNvPr id="24" name="Text 21"/>
          <p:cNvSpPr txBox="1"/>
          <p:nvPr/>
        </p:nvSpPr>
        <p:spPr>
          <a:xfrm>
            <a:off x="7315200" y="4791456"/>
            <a:ext cx="2651760" cy="219456"/>
          </a:xfrm>
          <a:prstGeom prst="rect">
            <a:avLst/>
          </a:prstGeom>
          <a:noFill/>
          <a:ln/>
        </p:spPr>
        <p:txBody>
          <a:bodyPr wrap="square" lIns="0" tIns="0" rIns="0" bIns="0" rtlCol="0" anchor="t"/>
          <a:lstStyle/>
          <a:p>
            <a:pPr indent="0" marL="0">
              <a:lnSpc>
                <a:spcPct val="105000"/>
              </a:lnSpc>
              <a:buNone/>
            </a:pPr>
            <a:r>
              <a:rPr lang="en-US" sz="1050" b="1" dirty="0">
                <a:solidFill>
                  <a:srgbClr val="252A3D"/>
                </a:solidFill>
                <a:latin typeface="Arial" pitchFamily="34" charset="0"/>
                <a:ea typeface="Arial" pitchFamily="34" charset="-122"/>
                <a:cs typeface="Arial" pitchFamily="34" charset="-120"/>
              </a:rPr>
              <a:t>S3 · People recheck every decision</a:t>
            </a:r>
            <a:endParaRPr lang="en-US" sz="1050" dirty="0"/>
          </a:p>
        </p:txBody>
      </p:sp>
      <p:sp>
        <p:nvSpPr>
          <p:cNvPr id="25" name="Text 22"/>
          <p:cNvSpPr txBox="1"/>
          <p:nvPr/>
        </p:nvSpPr>
        <p:spPr>
          <a:xfrm>
            <a:off x="9646920" y="4791456"/>
            <a:ext cx="1965960" cy="219456"/>
          </a:xfrm>
          <a:prstGeom prst="rect">
            <a:avLst/>
          </a:prstGeom>
          <a:noFill/>
          <a:ln/>
        </p:spPr>
        <p:txBody>
          <a:bodyPr wrap="square" lIns="0" tIns="0" rIns="0" bIns="0" rtlCol="0" anchor="t"/>
          <a:lstStyle/>
          <a:p>
            <a:pPr algn="r" indent="0" marL="0">
              <a:lnSpc>
                <a:spcPct val="105000"/>
              </a:lnSpc>
              <a:buNone/>
            </a:pPr>
            <a:r>
              <a:rPr lang="en-US" sz="1000" b="1" dirty="0">
                <a:solidFill>
                  <a:srgbClr val="C8283E"/>
                </a:solidFill>
                <a:latin typeface="Arial" pitchFamily="34" charset="0"/>
                <a:ea typeface="Arial" pitchFamily="34" charset="-122"/>
                <a:cs typeface="Arial" pitchFamily="34" charset="-120"/>
              </a:rPr>
              <a:t>169 FTE · +21%</a:t>
            </a:r>
            <a:endParaRPr lang="en-US" sz="1000" dirty="0"/>
          </a:p>
        </p:txBody>
      </p:sp>
      <p:sp>
        <p:nvSpPr>
          <p:cNvPr id="26" name="Text 23"/>
          <p:cNvSpPr txBox="1"/>
          <p:nvPr/>
        </p:nvSpPr>
        <p:spPr>
          <a:xfrm>
            <a:off x="7315200" y="5038344"/>
            <a:ext cx="4251960" cy="438912"/>
          </a:xfrm>
          <a:prstGeom prst="rect">
            <a:avLst/>
          </a:prstGeom>
          <a:noFill/>
          <a:ln/>
        </p:spPr>
        <p:txBody>
          <a:bodyPr wrap="square" lIns="0" tIns="0" rIns="0" bIns="0" rtlCol="0" anchor="t"/>
          <a:lstStyle/>
          <a:p>
            <a:pPr indent="0" marL="0">
              <a:lnSpc>
                <a:spcPct val="105000"/>
              </a:lnSpc>
              <a:buNone/>
            </a:pPr>
            <a:r>
              <a:rPr lang="en-US" sz="900" dirty="0">
                <a:solidFill>
                  <a:srgbClr val="252A3D"/>
                </a:solidFill>
                <a:latin typeface="Arial" pitchFamily="34" charset="0"/>
                <a:ea typeface="Arial" pitchFamily="34" charset="-122"/>
                <a:cs typeface="Arial" pitchFamily="34" charset="-120"/>
              </a:rPr>
              <a:t>Complex cases take 50% longer, all decisions undergo extensive human checks, corrections take two hours per case, and two people per team maintain the AI agents. More staff are needed than before.</a:t>
            </a:r>
            <a:endParaRPr lang="en-US" sz="900" dirty="0"/>
          </a:p>
        </p:txBody>
      </p:sp>
      <p:sp>
        <p:nvSpPr>
          <p:cNvPr id="27" name="Shape 24"/>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8" name="Image 0"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9" name="Text 25"/>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All four scenarios use the same technology. The difference is how the company organizes the work: AI assistance on complex cases, the amount of human checking and the maintenance needed. None of these four scenarios reaches the author’s target of an 80% reduction in staffing needs.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LONG-TERM SCENARIOS FROM THE 66-PAGE THESIS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A theoretical path from 140 full-time-equivalent staff to none</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thesis calculates five levels of automation using the same starting point of 140 full-time-equivalent staff. These are levels of automation, not dates.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22 / 30</a:t>
            </a:r>
            <a:endParaRPr lang="en-US" sz="1000" dirty="0"/>
          </a:p>
        </p:txBody>
      </p:sp>
      <p:sp>
        <p:nvSpPr>
          <p:cNvPr id="9" name="Shape 7"/>
          <p:cNvSpPr/>
          <p:nvPr/>
        </p:nvSpPr>
        <p:spPr>
          <a:xfrm>
            <a:off x="457200" y="1965960"/>
            <a:ext cx="6492240" cy="3611880"/>
          </a:xfrm>
          <a:prstGeom prst="roundRect">
            <a:avLst>
              <a:gd name="adj" fmla="val 2532"/>
            </a:avLst>
          </a:prstGeom>
          <a:solidFill>
            <a:srgbClr val="FFFFFF"/>
          </a:solidFill>
          <a:ln w="12700">
            <a:solidFill>
              <a:srgbClr val="D4DAE3"/>
            </a:solidFill>
            <a:prstDash val="solid"/>
          </a:ln>
        </p:spPr>
        <p:txBody>
          <a:bodyPr/>
          <a:p/>
        </p:txBody>
      </p:sp>
      <p:graphicFrame>
        <p:nvGraphicFramePr>
          <p:cNvPr id="10" name="Chart 0" descr=""/>
          <p:cNvGraphicFramePr/>
          <p:nvPr/>
        </p:nvGraphicFramePr>
        <p:xfrm>
          <a:off x="548640" y="2029968"/>
          <a:ext cx="6309360" cy="349300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7150608" y="1965960"/>
            <a:ext cx="4581144" cy="1143000"/>
          </a:xfrm>
          <a:prstGeom prst="roundRect">
            <a:avLst>
              <a:gd name="adj" fmla="val 8000"/>
            </a:avLst>
          </a:prstGeom>
          <a:solidFill>
            <a:srgbClr val="DDF5FC"/>
          </a:solidFill>
          <a:ln w="12700">
            <a:solidFill>
              <a:srgbClr val="DDF5FC"/>
            </a:solidFill>
            <a:prstDash val="solid"/>
          </a:ln>
        </p:spPr>
        <p:txBody>
          <a:bodyPr/>
          <a:p/>
        </p:txBody>
      </p:sp>
      <p:sp>
        <p:nvSpPr>
          <p:cNvPr id="12" name="Text 9"/>
          <p:cNvSpPr txBox="1"/>
          <p:nvPr/>
        </p:nvSpPr>
        <p:spPr>
          <a:xfrm>
            <a:off x="7333488" y="2075688"/>
            <a:ext cx="42062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WHAT EACH LEVEL ASSUMES</a:t>
            </a:r>
            <a:endParaRPr lang="en-US" sz="950" dirty="0"/>
          </a:p>
        </p:txBody>
      </p:sp>
      <p:sp>
        <p:nvSpPr>
          <p:cNvPr id="13" name="Text 10"/>
          <p:cNvSpPr txBox="1"/>
          <p:nvPr/>
        </p:nvSpPr>
        <p:spPr>
          <a:xfrm>
            <a:off x="7333488" y="2295144"/>
            <a:ext cx="4224528" cy="777240"/>
          </a:xfrm>
          <a:prstGeom prst="rect">
            <a:avLst/>
          </a:prstGeom>
          <a:noFill/>
          <a:ln/>
        </p:spPr>
        <p:txBody>
          <a:bodyPr wrap="square" lIns="0" tIns="0" rIns="0" bIns="0" rtlCol="0" anchor="t"/>
          <a:lstStyle/>
          <a:p>
            <a:pPr indent="0" marL="0">
              <a:lnSpc>
                <a:spcPct val="105000"/>
              </a:lnSpc>
              <a:buNone/>
            </a:pPr>
            <a:r>
              <a:rPr lang="en-US" sz="790" dirty="0">
                <a:solidFill>
                  <a:srgbClr val="252A3D"/>
                </a:solidFill>
                <a:latin typeface="Arial" pitchFamily="34" charset="0"/>
                <a:ea typeface="Arial" pitchFamily="34" charset="-122"/>
                <a:cs typeface="Arial" pitchFamily="34" charset="-120"/>
              </a:rPr>
              <a:t>Partial automation leaves 30% of the human work on purchasing projects, 75% on integration projects and 25% on development projects, plus five staff to run the AI agents. Integration projects are assumed to be the hardest and least repetitive. With most reviews automated, the remaining human work is 5% for purchasing, 20% for integration and 3% for development projects. At the next level, only the five staff running the AI agents remain. Reaching zero assumes that their work is automated too.</a:t>
            </a:r>
            <a:endParaRPr lang="en-US" sz="920" dirty="0"/>
          </a:p>
        </p:txBody>
      </p:sp>
      <p:sp>
        <p:nvSpPr>
          <p:cNvPr id="14" name="Shape 11"/>
          <p:cNvSpPr/>
          <p:nvPr/>
        </p:nvSpPr>
        <p:spPr>
          <a:xfrm>
            <a:off x="7150608" y="3223260"/>
            <a:ext cx="4581144" cy="1143000"/>
          </a:xfrm>
          <a:prstGeom prst="roundRect">
            <a:avLst>
              <a:gd name="adj" fmla="val 8000"/>
            </a:avLst>
          </a:prstGeom>
          <a:solidFill>
            <a:srgbClr val="FFF5BF"/>
          </a:solidFill>
          <a:ln w="12700">
            <a:solidFill>
              <a:srgbClr val="FFF5BF"/>
            </a:solidFill>
            <a:prstDash val="solid"/>
          </a:ln>
        </p:spPr>
        <p:txBody>
          <a:bodyPr/>
          <a:p/>
        </p:txBody>
      </p:sp>
      <p:sp>
        <p:nvSpPr>
          <p:cNvPr id="15" name="Text 12"/>
          <p:cNvSpPr txBox="1"/>
          <p:nvPr/>
        </p:nvSpPr>
        <p:spPr>
          <a:xfrm>
            <a:off x="7333488" y="3332988"/>
            <a:ext cx="4206240" cy="201168"/>
          </a:xfrm>
          <a:prstGeom prst="rect">
            <a:avLst/>
          </a:prstGeom>
          <a:noFill/>
          <a:ln/>
        </p:spPr>
        <p:txBody>
          <a:bodyPr wrap="square" lIns="0" tIns="0" rIns="0" bIns="0" rtlCol="0" anchor="t"/>
          <a:lstStyle/>
          <a:p>
            <a:pPr indent="0" marL="0">
              <a:lnSpc>
                <a:spcPct val="105000"/>
              </a:lnSpc>
              <a:buNone/>
            </a:pPr>
            <a:r>
              <a:rPr lang="en-US" sz="930" b="1" spc="50" kern="0" dirty="0">
                <a:solidFill>
                  <a:srgbClr val="8A6D00"/>
                </a:solidFill>
                <a:latin typeface="Arial" pitchFamily="34" charset="0"/>
                <a:ea typeface="Arial" pitchFamily="34" charset="-122"/>
                <a:cs typeface="Arial" pitchFamily="34" charset="-120"/>
              </a:rPr>
              <a:t>SUPPORT WORK LIMITS THE POSSIBLE STAFFING REDUCTION</a:t>
            </a:r>
            <a:endParaRPr lang="en-US" sz="950" dirty="0"/>
          </a:p>
        </p:txBody>
      </p:sp>
      <p:sp>
        <p:nvSpPr>
          <p:cNvPr id="16" name="Text 13"/>
          <p:cNvSpPr txBox="1"/>
          <p:nvPr/>
        </p:nvSpPr>
        <p:spPr>
          <a:xfrm>
            <a:off x="7333488" y="3552444"/>
            <a:ext cx="4224528" cy="7772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If five full-time staff are still needed to run the AI agents, automating 80% of the review work leaves a total of 33 FTE, not 28. Reaching 28 FTE would require automating about 84% of the review work. With a 15-person support team, the required share rises to about 91%.</a:t>
            </a:r>
            <a:endParaRPr lang="en-US" sz="920" dirty="0"/>
          </a:p>
        </p:txBody>
      </p:sp>
      <p:sp>
        <p:nvSpPr>
          <p:cNvPr id="17" name="Shape 14"/>
          <p:cNvSpPr/>
          <p:nvPr/>
        </p:nvSpPr>
        <p:spPr>
          <a:xfrm>
            <a:off x="7150608" y="4480560"/>
            <a:ext cx="4581144" cy="1143000"/>
          </a:xfrm>
          <a:prstGeom prst="roundRect">
            <a:avLst>
              <a:gd name="adj" fmla="val 8000"/>
            </a:avLst>
          </a:prstGeom>
          <a:solidFill>
            <a:srgbClr val="FFE4E6"/>
          </a:solidFill>
          <a:ln w="12700">
            <a:solidFill>
              <a:srgbClr val="FFE4E6"/>
            </a:solidFill>
            <a:prstDash val="solid"/>
          </a:ln>
        </p:spPr>
        <p:txBody>
          <a:bodyPr/>
          <a:p/>
        </p:txBody>
      </p:sp>
      <p:sp>
        <p:nvSpPr>
          <p:cNvPr id="18" name="Text 15"/>
          <p:cNvSpPr txBox="1"/>
          <p:nvPr/>
        </p:nvSpPr>
        <p:spPr>
          <a:xfrm>
            <a:off x="7333488" y="4590288"/>
            <a:ext cx="42062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THE BARS DO NOT REPRESENT DATES</a:t>
            </a:r>
            <a:endParaRPr lang="en-US" sz="950" dirty="0"/>
          </a:p>
        </p:txBody>
      </p:sp>
      <p:sp>
        <p:nvSpPr>
          <p:cNvPr id="19" name="Text 16"/>
          <p:cNvSpPr txBox="1"/>
          <p:nvPr/>
        </p:nvSpPr>
        <p:spPr>
          <a:xfrm>
            <a:off x="7333488" y="4809744"/>
            <a:ext cx="4224528" cy="777240"/>
          </a:xfrm>
          <a:prstGeom prst="rect">
            <a:avLst/>
          </a:prstGeom>
          <a:noFill/>
          <a:ln/>
        </p:spPr>
        <p:txBody>
          <a:bodyPr wrap="square" lIns="0" tIns="0" rIns="0" bIns="0" rtlCol="0" anchor="t"/>
          <a:lstStyle/>
          <a:p>
            <a:pPr indent="0" marL="0">
              <a:lnSpc>
                <a:spcPct val="105000"/>
              </a:lnSpc>
              <a:buNone/>
            </a:pPr>
            <a:r>
              <a:rPr lang="en-US" sz="920" dirty="0">
                <a:solidFill>
                  <a:srgbClr val="252A3D"/>
                </a:solidFill>
                <a:latin typeface="Arial" pitchFamily="34" charset="0"/>
                <a:ea typeface="Arial" pitchFamily="34" charset="-122"/>
                <a:cs typeface="Arial" pitchFamily="34" charset="-120"/>
              </a:rPr>
              <a:t>The bars show calculated staffing needs at different assumed levels of automation. The last bar is not a forecast. It shows what the calculation gives when every task, including running the AI agents, is automated. The dashed line shows the author’s separate target for 2033.</a:t>
            </a:r>
            <a:endParaRPr lang="en-US" sz="920" dirty="0"/>
          </a:p>
        </p:txBody>
      </p:sp>
      <p:sp>
        <p:nvSpPr>
          <p:cNvPr id="20" name="Shape 17"/>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1" name="Image 0"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2" name="Text 18"/>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In these scenarios, the reviews remain mandatory, but progressively fewer staff are needed to perform them. </a:t>
            </a:r>
            <a:r>
              <a:rPr lang="en-US" sz="1150" dirty="0">
                <a:solidFill>
                  <a:srgbClr val="252A3D"/>
                </a:solidFill>
                <a:latin typeface="Arial" pitchFamily="34" charset="0"/>
                <a:ea typeface="Arial" pitchFamily="34" charset="-122"/>
                <a:cs typeface="Arial" pitchFamily="34" charset="-120"/>
              </a:rPr>
              <a:t>The last remaining team runs the AI agents. Whether that team’s work can eventually be automated remains an open hypothesis in the thesis.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WHEN COULD THIS HAPPEN? (FROM THE 66-PAGE THESIS)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050" b="1" dirty="0">
                <a:solidFill>
                  <a:srgbClr val="252A3D"/>
                </a:solidFill>
                <a:latin typeface="Arial" pitchFamily="34" charset="0"/>
                <a:ea typeface="Arial" pitchFamily="34" charset="-122"/>
                <a:cs typeface="Arial" pitchFamily="34" charset="-120"/>
              </a:rPr>
              <a:t>When could a review be fully automated? Four stages must be completed in sequence</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scenario adds the time needed for four stages and states the assumptions behind each. The resulting dates are illustrative scenarios, not forecasts.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23 / 30</a:t>
            </a:r>
            <a:endParaRPr lang="en-US" sz="1000" dirty="0"/>
          </a:p>
        </p:txBody>
      </p:sp>
      <p:sp>
        <p:nvSpPr>
          <p:cNvPr id="9" name="Shape 7"/>
          <p:cNvSpPr/>
          <p:nvPr/>
        </p:nvSpPr>
        <p:spPr>
          <a:xfrm>
            <a:off x="457200" y="1965960"/>
            <a:ext cx="2651760" cy="2103120"/>
          </a:xfrm>
          <a:prstGeom prst="roundRect">
            <a:avLst>
              <a:gd name="adj" fmla="val 4348"/>
            </a:avLst>
          </a:prstGeom>
          <a:solidFill>
            <a:srgbClr val="DDF5FC"/>
          </a:solidFill>
          <a:ln w="12700">
            <a:solidFill>
              <a:srgbClr val="DDF5FC"/>
            </a:solidFill>
            <a:prstDash val="solid"/>
          </a:ln>
        </p:spPr>
        <p:txBody>
          <a:bodyPr/>
          <a:p/>
        </p:txBody>
      </p:sp>
      <p:sp>
        <p:nvSpPr>
          <p:cNvPr id="10" name="Text 8"/>
          <p:cNvSpPr txBox="1"/>
          <p:nvPr/>
        </p:nvSpPr>
        <p:spPr>
          <a:xfrm>
            <a:off x="621792" y="2075688"/>
            <a:ext cx="2322576" cy="258317"/>
          </a:xfrm>
          <a:prstGeom prst="rect">
            <a:avLst/>
          </a:prstGeom>
          <a:noFill/>
          <a:ln/>
        </p:spPr>
        <p:txBody>
          <a:bodyPr wrap="square" lIns="0" tIns="0" rIns="0" bIns="0" rtlCol="0" anchor="t"/>
          <a:lstStyle/>
          <a:p>
            <a:pPr indent="0" marL="0">
              <a:lnSpc>
                <a:spcPct val="105000"/>
              </a:lnSpc>
              <a:buNone/>
            </a:pPr>
            <a:r>
              <a:rPr lang="en-US" sz="750" b="1" spc="50" kern="0" dirty="0">
                <a:solidFill>
                  <a:srgbClr val="1B6E93"/>
                </a:solidFill>
                <a:latin typeface="Arial" pitchFamily="34" charset="0"/>
                <a:ea typeface="Arial" pitchFamily="34" charset="-122"/>
                <a:cs typeface="Arial" pitchFamily="34" charset="-120"/>
              </a:rPr>
              <a:t>1 · HOW LONG A TASK THE AGENT CAN HANDLE</a:t>
            </a:r>
            <a:endParaRPr lang="en-US" sz="950" dirty="0"/>
          </a:p>
        </p:txBody>
      </p:sp>
      <p:sp>
        <p:nvSpPr>
          <p:cNvPr id="11" name="Text 9"/>
          <p:cNvSpPr txBox="1"/>
          <p:nvPr/>
        </p:nvSpPr>
        <p:spPr>
          <a:xfrm>
            <a:off x="621792" y="2388869"/>
            <a:ext cx="2322576" cy="1634490"/>
          </a:xfrm>
          <a:prstGeom prst="rect">
            <a:avLst/>
          </a:prstGeom>
          <a:noFill/>
          <a:ln/>
        </p:spPr>
        <p:txBody>
          <a:bodyPr wrap="square" lIns="0" tIns="0" rIns="0" bIns="0" rtlCol="0" anchor="t"/>
          <a:lstStyle/>
          <a:p>
            <a:pPr indent="0" marL="0">
              <a:lnSpc>
                <a:spcPct val="105000"/>
              </a:lnSpc>
              <a:buNone/>
            </a:pPr>
            <a:r>
              <a:rPr lang="en-US" sz="940" dirty="0">
                <a:solidFill>
                  <a:srgbClr val="252A3D"/>
                </a:solidFill>
                <a:latin typeface="Arial" pitchFamily="34" charset="0"/>
                <a:ea typeface="Arial" pitchFamily="34" charset="-122"/>
                <a:cs typeface="Arial" pitchFamily="34" charset="-120"/>
              </a:rPr>
              <a:t>The thesis uses a May 2026 estimate: the best agents could complete tasks equivalent to about 3 hours of human work with an 80% success rate. The cited trend shows this task duration doubling every 7 months. The thesis assumes a full review takes about 24 hours of human work. Reaching that level requires three doublings, which would put it in early 2028 if the trend continues.</a:t>
            </a:r>
            <a:endParaRPr lang="en-US" sz="980" dirty="0"/>
          </a:p>
        </p:txBody>
      </p:sp>
      <p:sp>
        <p:nvSpPr>
          <p:cNvPr id="12" name="Shape 10"/>
          <p:cNvSpPr/>
          <p:nvPr/>
        </p:nvSpPr>
        <p:spPr>
          <a:xfrm>
            <a:off x="3332988" y="1965960"/>
            <a:ext cx="2651760" cy="2103120"/>
          </a:xfrm>
          <a:prstGeom prst="roundRect">
            <a:avLst>
              <a:gd name="adj" fmla="val 4348"/>
            </a:avLst>
          </a:prstGeom>
          <a:solidFill>
            <a:srgbClr val="FFE4E6"/>
          </a:solidFill>
          <a:ln w="12700">
            <a:solidFill>
              <a:srgbClr val="FFE4E6"/>
            </a:solidFill>
            <a:prstDash val="solid"/>
          </a:ln>
        </p:spPr>
        <p:txBody>
          <a:bodyPr/>
          <a:p/>
        </p:txBody>
      </p:sp>
      <p:sp>
        <p:nvSpPr>
          <p:cNvPr id="13" name="Text 11"/>
          <p:cNvSpPr txBox="1"/>
          <p:nvPr/>
        </p:nvSpPr>
        <p:spPr>
          <a:xfrm>
            <a:off x="3497580" y="207568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2 · ERROR RATE</a:t>
            </a:r>
            <a:endParaRPr lang="en-US" sz="950" dirty="0"/>
          </a:p>
        </p:txBody>
      </p:sp>
      <p:sp>
        <p:nvSpPr>
          <p:cNvPr id="14" name="Text 12"/>
          <p:cNvSpPr txBox="1"/>
          <p:nvPr/>
        </p:nvSpPr>
        <p:spPr>
          <a:xfrm>
            <a:off x="3497580" y="2331720"/>
            <a:ext cx="2322576" cy="169164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Completing the task is not enough. In this scenario, the error rate must fall from 1 in 5 attempts to fewer than 1 in 1,000. Reducing the error rate by a factor of ten takes additional time and money. If each tenfold reduction takes 6 months, this adds about 14 months. At 24 months per reduction, it adds almost 5 years.</a:t>
            </a:r>
            <a:endParaRPr lang="en-US" sz="980" dirty="0"/>
          </a:p>
        </p:txBody>
      </p:sp>
      <p:sp>
        <p:nvSpPr>
          <p:cNvPr id="15" name="Shape 13"/>
          <p:cNvSpPr/>
          <p:nvPr/>
        </p:nvSpPr>
        <p:spPr>
          <a:xfrm>
            <a:off x="6208776" y="1965960"/>
            <a:ext cx="2651760" cy="2103120"/>
          </a:xfrm>
          <a:prstGeom prst="roundRect">
            <a:avLst>
              <a:gd name="adj" fmla="val 4348"/>
            </a:avLst>
          </a:prstGeom>
          <a:solidFill>
            <a:srgbClr val="FFF5BF"/>
          </a:solidFill>
          <a:ln w="12700">
            <a:solidFill>
              <a:srgbClr val="FFF5BF"/>
            </a:solidFill>
            <a:prstDash val="solid"/>
          </a:ln>
        </p:spPr>
        <p:txBody>
          <a:bodyPr/>
          <a:p/>
        </p:txBody>
      </p:sp>
      <p:sp>
        <p:nvSpPr>
          <p:cNvPr id="16" name="Text 14"/>
          <p:cNvSpPr txBox="1"/>
          <p:nvPr/>
        </p:nvSpPr>
        <p:spPr>
          <a:xfrm>
            <a:off x="6373368" y="2075688"/>
            <a:ext cx="2322576"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3 · TESTING WITH SPECIALISTS</a:t>
            </a:r>
            <a:endParaRPr lang="en-US" sz="950" dirty="0"/>
          </a:p>
        </p:txBody>
      </p:sp>
      <p:sp>
        <p:nvSpPr>
          <p:cNvPr id="17" name="Text 15"/>
          <p:cNvSpPr txBox="1"/>
          <p:nvPr/>
        </p:nvSpPr>
        <p:spPr>
          <a:xfrm>
            <a:off x="6373368" y="2331720"/>
            <a:ext cx="2322576" cy="169164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The scenario allows one year to build test cases with specialists and verify that the agent passes them. This is an illustrative assumption.</a:t>
            </a:r>
            <a:endParaRPr lang="en-US" sz="980" dirty="0"/>
          </a:p>
        </p:txBody>
      </p:sp>
      <p:sp>
        <p:nvSpPr>
          <p:cNvPr id="18" name="Shape 16"/>
          <p:cNvSpPr/>
          <p:nvPr/>
        </p:nvSpPr>
        <p:spPr>
          <a:xfrm>
            <a:off x="9084564" y="1965960"/>
            <a:ext cx="2651760" cy="2103120"/>
          </a:xfrm>
          <a:prstGeom prst="roundRect">
            <a:avLst>
              <a:gd name="adj" fmla="val 4348"/>
            </a:avLst>
          </a:prstGeom>
          <a:solidFill>
            <a:srgbClr val="E5F6E9"/>
          </a:solidFill>
          <a:ln w="12700">
            <a:solidFill>
              <a:srgbClr val="E5F6E9"/>
            </a:solidFill>
            <a:prstDash val="solid"/>
          </a:ln>
        </p:spPr>
        <p:txBody>
          <a:bodyPr/>
          <a:p/>
        </p:txBody>
      </p:sp>
      <p:sp>
        <p:nvSpPr>
          <p:cNvPr id="19" name="Text 17"/>
          <p:cNvSpPr txBox="1"/>
          <p:nvPr/>
        </p:nvSpPr>
        <p:spPr>
          <a:xfrm>
            <a:off x="9249156" y="2075688"/>
            <a:ext cx="2322576" cy="201168"/>
          </a:xfrm>
          <a:prstGeom prst="rect">
            <a:avLst/>
          </a:prstGeom>
          <a:noFill/>
          <a:ln/>
        </p:spPr>
        <p:txBody>
          <a:bodyPr wrap="square" lIns="0" tIns="0" rIns="0" bIns="0" rtlCol="0" anchor="t"/>
          <a:lstStyle/>
          <a:p>
            <a:pPr indent="0" marL="0">
              <a:lnSpc>
                <a:spcPct val="105000"/>
              </a:lnSpc>
              <a:buNone/>
            </a:pPr>
            <a:r>
              <a:rPr lang="en-US" sz="760" b="1" spc="50" kern="0" dirty="0">
                <a:solidFill>
                  <a:srgbClr val="1E7A3C"/>
                </a:solidFill>
                <a:latin typeface="Arial" pitchFamily="34" charset="0"/>
                <a:ea typeface="Arial" pitchFamily="34" charset="-122"/>
                <a:cs typeface="Arial" pitchFamily="34" charset="-120"/>
              </a:rPr>
              <a:t>4 · AUTHORIZATION TO MAKE DECISIONS</a:t>
            </a:r>
            <a:endParaRPr lang="en-US" sz="950" dirty="0"/>
          </a:p>
        </p:txBody>
      </p:sp>
      <p:sp>
        <p:nvSpPr>
          <p:cNvPr id="20" name="Text 18"/>
          <p:cNvSpPr txBox="1"/>
          <p:nvPr/>
        </p:nvSpPr>
        <p:spPr>
          <a:xfrm>
            <a:off x="9249156" y="2331720"/>
            <a:ext cx="2322576" cy="1691640"/>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The scenario allows another year to define the rules, delegate decision-making authority and obtain legal sign-off. Legal requirements or missing data could delay this indefinitely.</a:t>
            </a:r>
            <a:endParaRPr lang="en-US" sz="980" dirty="0"/>
          </a:p>
        </p:txBody>
      </p:sp>
      <p:sp>
        <p:nvSpPr>
          <p:cNvPr id="21" name="Shape 19"/>
          <p:cNvSpPr/>
          <p:nvPr/>
        </p:nvSpPr>
        <p:spPr>
          <a:xfrm>
            <a:off x="457200" y="4224528"/>
            <a:ext cx="11274552" cy="1481328"/>
          </a:xfrm>
          <a:prstGeom prst="roundRect">
            <a:avLst>
              <a:gd name="adj" fmla="val 6173"/>
            </a:avLst>
          </a:prstGeom>
          <a:solidFill>
            <a:srgbClr val="F5F7FA"/>
          </a:solidFill>
          <a:ln w="12700">
            <a:solidFill>
              <a:srgbClr val="F5F7FA"/>
            </a:solidFill>
            <a:prstDash val="solid"/>
          </a:ln>
        </p:spPr>
        <p:txBody>
          <a:bodyPr/>
          <a:p/>
        </p:txBody>
      </p:sp>
      <p:sp>
        <p:nvSpPr>
          <p:cNvPr id="22" name="Text 20"/>
          <p:cNvSpPr txBox="1"/>
          <p:nvPr/>
        </p:nvSpPr>
        <p:spPr>
          <a:xfrm>
            <a:off x="640080" y="4315968"/>
            <a:ext cx="73152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ILLUSTRATIVE DATES FOR AUTOMATING ONE TYPICAL REVIEW</a:t>
            </a:r>
            <a:endParaRPr lang="en-US" sz="950" dirty="0"/>
          </a:p>
        </p:txBody>
      </p:sp>
      <p:sp>
        <p:nvSpPr>
          <p:cNvPr id="23" name="Shape 21"/>
          <p:cNvSpPr/>
          <p:nvPr/>
        </p:nvSpPr>
        <p:spPr>
          <a:xfrm>
            <a:off x="868680" y="5020056"/>
            <a:ext cx="10424160" cy="0"/>
          </a:xfrm>
          <a:prstGeom prst="line">
            <a:avLst/>
          </a:prstGeom>
          <a:noFill/>
          <a:ln w="19050">
            <a:solidFill>
              <a:srgbClr val="5B6575"/>
            </a:solidFill>
            <a:prstDash val="solid"/>
          </a:ln>
        </p:spPr>
        <p:txBody>
          <a:bodyPr/>
          <a:p/>
        </p:txBody>
      </p:sp>
      <p:sp>
        <p:nvSpPr>
          <p:cNvPr id="24" name="Shape 22"/>
          <p:cNvSpPr/>
          <p:nvPr/>
        </p:nvSpPr>
        <p:spPr>
          <a:xfrm>
            <a:off x="804672" y="4956048"/>
            <a:ext cx="128016" cy="128016"/>
          </a:xfrm>
          <a:prstGeom prst="ellipse">
            <a:avLst/>
          </a:prstGeom>
          <a:solidFill>
            <a:srgbClr val="252A3D"/>
          </a:solidFill>
          <a:ln w="12700">
            <a:solidFill>
              <a:srgbClr val="FFFFFF"/>
            </a:solidFill>
            <a:prstDash val="solid"/>
          </a:ln>
        </p:spPr>
        <p:txBody>
          <a:bodyPr/>
          <a:p/>
        </p:txBody>
      </p:sp>
      <p:sp>
        <p:nvSpPr>
          <p:cNvPr id="25" name="Text 23"/>
          <p:cNvSpPr txBox="1"/>
          <p:nvPr/>
        </p:nvSpPr>
        <p:spPr>
          <a:xfrm>
            <a:off x="45720" y="4498848"/>
            <a:ext cx="1645920" cy="438912"/>
          </a:xfrm>
          <a:prstGeom prst="rect">
            <a:avLst/>
          </a:prstGeom>
          <a:noFill/>
          <a:ln/>
        </p:spPr>
        <p:txBody>
          <a:bodyPr wrap="square" lIns="0" tIns="0" rIns="0" bIns="0" rtlCol="0" anchor="b"/>
          <a:lstStyle/>
          <a:p>
            <a:pPr algn="ctr" indent="0" marL="0">
              <a:lnSpc>
                <a:spcPct val="105000"/>
              </a:lnSpc>
              <a:buNone/>
            </a:pPr>
            <a:r>
              <a:rPr lang="en-US" sz="850" b="1" dirty="0">
                <a:solidFill>
                  <a:srgbClr val="252A3D"/>
                </a:solidFill>
                <a:latin typeface="Arial" pitchFamily="34" charset="0"/>
                <a:ea typeface="Arial" pitchFamily="34" charset="-122"/>
                <a:cs typeface="Arial" pitchFamily="34" charset="-120"/>
              </a:rPr>
              <a:t>May 2026</a:t>
            </a:r>
            <a:endParaRPr lang="en-US" sz="850" dirty="0"/>
          </a:p>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starting point: tasks equivalent to 3 hours of human work</a:t>
            </a:r>
            <a:endParaRPr lang="en-US" sz="850" dirty="0"/>
          </a:p>
        </p:txBody>
      </p:sp>
      <p:sp>
        <p:nvSpPr>
          <p:cNvPr id="26" name="Shape 24"/>
          <p:cNvSpPr/>
          <p:nvPr/>
        </p:nvSpPr>
        <p:spPr>
          <a:xfrm>
            <a:off x="2972072" y="4956048"/>
            <a:ext cx="128016" cy="128016"/>
          </a:xfrm>
          <a:prstGeom prst="ellipse">
            <a:avLst/>
          </a:prstGeom>
          <a:solidFill>
            <a:srgbClr val="1B6E93"/>
          </a:solidFill>
          <a:ln w="12700">
            <a:solidFill>
              <a:srgbClr val="FFFFFF"/>
            </a:solidFill>
            <a:prstDash val="solid"/>
          </a:ln>
        </p:spPr>
        <p:txBody>
          <a:bodyPr/>
          <a:p/>
        </p:txBody>
      </p:sp>
      <p:sp>
        <p:nvSpPr>
          <p:cNvPr id="27" name="Text 25"/>
          <p:cNvSpPr txBox="1"/>
          <p:nvPr/>
        </p:nvSpPr>
        <p:spPr>
          <a:xfrm>
            <a:off x="2213120" y="5111496"/>
            <a:ext cx="1645920" cy="438912"/>
          </a:xfrm>
          <a:prstGeom prst="rect">
            <a:avLst/>
          </a:prstGeom>
          <a:noFill/>
          <a:ln/>
        </p:spPr>
        <p:txBody>
          <a:bodyPr wrap="square" lIns="0" tIns="0" rIns="0" bIns="0" rtlCol="0" anchor="t"/>
          <a:lstStyle/>
          <a:p>
            <a:pPr algn="ctr" indent="0" marL="0">
              <a:lnSpc>
                <a:spcPct val="105000"/>
              </a:lnSpc>
              <a:buNone/>
            </a:pPr>
            <a:r>
              <a:rPr lang="en-US" sz="850" b="1" dirty="0">
                <a:solidFill>
                  <a:srgbClr val="1B6E93"/>
                </a:solidFill>
                <a:latin typeface="Arial" pitchFamily="34" charset="0"/>
                <a:ea typeface="Arial" pitchFamily="34" charset="-122"/>
                <a:cs typeface="Arial" pitchFamily="34" charset="-120"/>
              </a:rPr>
              <a:t>Feb 2028</a:t>
            </a:r>
            <a:endParaRPr lang="en-US" sz="850" dirty="0"/>
          </a:p>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tasks equivalent to 24 hours of human work, if the trend continues</a:t>
            </a:r>
            <a:endParaRPr lang="en-US" sz="850" dirty="0"/>
          </a:p>
        </p:txBody>
      </p:sp>
      <p:sp>
        <p:nvSpPr>
          <p:cNvPr id="28" name="Shape 26"/>
          <p:cNvSpPr/>
          <p:nvPr/>
        </p:nvSpPr>
        <p:spPr>
          <a:xfrm>
            <a:off x="6894033" y="4956048"/>
            <a:ext cx="128016" cy="128016"/>
          </a:xfrm>
          <a:prstGeom prst="ellipse">
            <a:avLst/>
          </a:prstGeom>
          <a:solidFill>
            <a:srgbClr val="1E7A3C"/>
          </a:solidFill>
          <a:ln w="12700">
            <a:solidFill>
              <a:srgbClr val="FFFFFF"/>
            </a:solidFill>
            <a:prstDash val="solid"/>
          </a:ln>
        </p:spPr>
        <p:txBody>
          <a:bodyPr/>
          <a:p/>
        </p:txBody>
      </p:sp>
      <p:sp>
        <p:nvSpPr>
          <p:cNvPr id="29" name="Text 27"/>
          <p:cNvSpPr txBox="1"/>
          <p:nvPr/>
        </p:nvSpPr>
        <p:spPr>
          <a:xfrm>
            <a:off x="6135081" y="4498848"/>
            <a:ext cx="1645920" cy="438912"/>
          </a:xfrm>
          <a:prstGeom prst="rect">
            <a:avLst/>
          </a:prstGeom>
          <a:noFill/>
          <a:ln/>
        </p:spPr>
        <p:txBody>
          <a:bodyPr wrap="square" lIns="0" tIns="0" rIns="0" bIns="0" rtlCol="0" anchor="b"/>
          <a:lstStyle/>
          <a:p>
            <a:pPr algn="ctr" indent="0" marL="0">
              <a:lnSpc>
                <a:spcPct val="105000"/>
              </a:lnSpc>
              <a:buNone/>
            </a:pPr>
            <a:r>
              <a:rPr lang="en-US" sz="850" b="1" dirty="0">
                <a:solidFill>
                  <a:srgbClr val="1E7A3C"/>
                </a:solidFill>
                <a:latin typeface="Arial" pitchFamily="34" charset="0"/>
                <a:ea typeface="Arial" pitchFamily="34" charset="-122"/>
                <a:cs typeface="Arial" pitchFamily="34" charset="-120"/>
              </a:rPr>
              <a:t>Apr 2031</a:t>
            </a:r>
            <a:endParaRPr lang="en-US" sz="850" dirty="0"/>
          </a:p>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review can be delegated if error rates fall quickly</a:t>
            </a:r>
            <a:endParaRPr lang="en-US" sz="850" dirty="0"/>
          </a:p>
        </p:txBody>
      </p:sp>
      <p:sp>
        <p:nvSpPr>
          <p:cNvPr id="30" name="Shape 28"/>
          <p:cNvSpPr/>
          <p:nvPr/>
        </p:nvSpPr>
        <p:spPr>
          <a:xfrm>
            <a:off x="8338966" y="4956048"/>
            <a:ext cx="128016" cy="128016"/>
          </a:xfrm>
          <a:prstGeom prst="ellipse">
            <a:avLst/>
          </a:prstGeom>
          <a:solidFill>
            <a:srgbClr val="1E7A3C"/>
          </a:solidFill>
          <a:ln w="12700">
            <a:solidFill>
              <a:srgbClr val="FFFFFF"/>
            </a:solidFill>
            <a:prstDash val="solid"/>
          </a:ln>
        </p:spPr>
        <p:txBody>
          <a:bodyPr/>
          <a:p/>
        </p:txBody>
      </p:sp>
      <p:sp>
        <p:nvSpPr>
          <p:cNvPr id="31" name="Text 29"/>
          <p:cNvSpPr txBox="1"/>
          <p:nvPr/>
        </p:nvSpPr>
        <p:spPr>
          <a:xfrm>
            <a:off x="7580014" y="5111496"/>
            <a:ext cx="1645920" cy="438912"/>
          </a:xfrm>
          <a:prstGeom prst="rect">
            <a:avLst/>
          </a:prstGeom>
          <a:noFill/>
          <a:ln/>
        </p:spPr>
        <p:txBody>
          <a:bodyPr wrap="square" lIns="0" tIns="0" rIns="0" bIns="0" rtlCol="0" anchor="t"/>
          <a:lstStyle/>
          <a:p>
            <a:pPr algn="ctr" indent="0" marL="0">
              <a:lnSpc>
                <a:spcPct val="105000"/>
              </a:lnSpc>
              <a:buNone/>
            </a:pPr>
            <a:r>
              <a:rPr lang="en-US" sz="850" b="1" dirty="0">
                <a:solidFill>
                  <a:srgbClr val="1E7A3C"/>
                </a:solidFill>
                <a:latin typeface="Arial" pitchFamily="34" charset="0"/>
                <a:ea typeface="Arial" pitchFamily="34" charset="-122"/>
                <a:cs typeface="Arial" pitchFamily="34" charset="-120"/>
              </a:rPr>
              <a:t>Jun 2032</a:t>
            </a:r>
            <a:endParaRPr lang="en-US" sz="850" dirty="0"/>
          </a:p>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review can be delegated if error rates fall at a moderate pace</a:t>
            </a:r>
            <a:endParaRPr lang="en-US" sz="850" dirty="0"/>
          </a:p>
        </p:txBody>
      </p:sp>
      <p:sp>
        <p:nvSpPr>
          <p:cNvPr id="32" name="Shape 30"/>
          <p:cNvSpPr/>
          <p:nvPr/>
        </p:nvSpPr>
        <p:spPr>
          <a:xfrm>
            <a:off x="9928392" y="4956048"/>
            <a:ext cx="128016" cy="128016"/>
          </a:xfrm>
          <a:prstGeom prst="ellipse">
            <a:avLst/>
          </a:prstGeom>
          <a:solidFill>
            <a:srgbClr val="5B3F9E"/>
          </a:solidFill>
          <a:ln w="12700">
            <a:solidFill>
              <a:srgbClr val="FFFFFF"/>
            </a:solidFill>
            <a:prstDash val="solid"/>
          </a:ln>
        </p:spPr>
        <p:txBody>
          <a:bodyPr/>
          <a:p/>
        </p:txBody>
      </p:sp>
      <p:sp>
        <p:nvSpPr>
          <p:cNvPr id="33" name="Text 31"/>
          <p:cNvSpPr txBox="1"/>
          <p:nvPr/>
        </p:nvSpPr>
        <p:spPr>
          <a:xfrm>
            <a:off x="9169440" y="4498848"/>
            <a:ext cx="1645920" cy="438912"/>
          </a:xfrm>
          <a:prstGeom prst="rect">
            <a:avLst/>
          </a:prstGeom>
          <a:noFill/>
          <a:ln/>
        </p:spPr>
        <p:txBody>
          <a:bodyPr wrap="square" lIns="0" tIns="0" rIns="0" bIns="0" rtlCol="0" anchor="b"/>
          <a:lstStyle/>
          <a:p>
            <a:pPr algn="ctr" indent="0" marL="0">
              <a:lnSpc>
                <a:spcPct val="105000"/>
              </a:lnSpc>
              <a:buNone/>
            </a:pPr>
            <a:r>
              <a:rPr lang="en-US" sz="850" b="1" dirty="0">
                <a:solidFill>
                  <a:srgbClr val="5B3F9E"/>
                </a:solidFill>
                <a:latin typeface="Arial" pitchFamily="34" charset="0"/>
                <a:ea typeface="Arial" pitchFamily="34" charset="-122"/>
                <a:cs typeface="Arial" pitchFamily="34" charset="-120"/>
              </a:rPr>
              <a:t>Sep 2033</a:t>
            </a:r>
            <a:endParaRPr lang="en-US" sz="850" dirty="0"/>
          </a:p>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deadline for testing the 80% staffing-reduction prediction</a:t>
            </a:r>
            <a:endParaRPr lang="en-US" sz="850" dirty="0"/>
          </a:p>
        </p:txBody>
      </p:sp>
      <p:sp>
        <p:nvSpPr>
          <p:cNvPr id="34" name="Shape 32"/>
          <p:cNvSpPr/>
          <p:nvPr/>
        </p:nvSpPr>
        <p:spPr>
          <a:xfrm>
            <a:off x="11228832" y="4956048"/>
            <a:ext cx="128016" cy="128016"/>
          </a:xfrm>
          <a:prstGeom prst="ellipse">
            <a:avLst/>
          </a:prstGeom>
          <a:solidFill>
            <a:srgbClr val="C8283E"/>
          </a:solidFill>
          <a:ln w="12700">
            <a:solidFill>
              <a:srgbClr val="FFFFFF"/>
            </a:solidFill>
            <a:prstDash val="solid"/>
          </a:ln>
        </p:spPr>
        <p:txBody>
          <a:bodyPr/>
          <a:p/>
        </p:txBody>
      </p:sp>
      <p:sp>
        <p:nvSpPr>
          <p:cNvPr id="35" name="Text 33"/>
          <p:cNvSpPr txBox="1"/>
          <p:nvPr/>
        </p:nvSpPr>
        <p:spPr>
          <a:xfrm>
            <a:off x="10469880" y="5111496"/>
            <a:ext cx="1645920" cy="438912"/>
          </a:xfrm>
          <a:prstGeom prst="rect">
            <a:avLst/>
          </a:prstGeom>
          <a:noFill/>
          <a:ln/>
        </p:spPr>
        <p:txBody>
          <a:bodyPr wrap="square" lIns="0" tIns="0" rIns="0" bIns="0" rtlCol="0" anchor="t"/>
          <a:lstStyle/>
          <a:p>
            <a:pPr algn="ctr" indent="0" marL="0">
              <a:lnSpc>
                <a:spcPct val="105000"/>
              </a:lnSpc>
              <a:buNone/>
            </a:pPr>
            <a:r>
              <a:rPr lang="en-US" sz="850" b="1" dirty="0">
                <a:solidFill>
                  <a:srgbClr val="C8283E"/>
                </a:solidFill>
                <a:latin typeface="Arial" pitchFamily="34" charset="0"/>
                <a:ea typeface="Arial" pitchFamily="34" charset="-122"/>
                <a:cs typeface="Arial" pitchFamily="34" charset="-120"/>
              </a:rPr>
              <a:t>Oct 2034</a:t>
            </a:r>
            <a:endParaRPr lang="en-US" sz="850" dirty="0"/>
          </a:p>
          <a:p>
            <a:pPr algn="ctr" indent="0" marL="0">
              <a:lnSpc>
                <a:spcPct val="105000"/>
              </a:lnSpc>
              <a:buNone/>
            </a:pPr>
            <a:r>
              <a:rPr lang="en-US" sz="750" dirty="0">
                <a:solidFill>
                  <a:srgbClr val="5B6575"/>
                </a:solidFill>
                <a:latin typeface="Arial" pitchFamily="34" charset="0"/>
                <a:ea typeface="Arial" pitchFamily="34" charset="-122"/>
                <a:cs typeface="Arial" pitchFamily="34" charset="-120"/>
              </a:rPr>
              <a:t>review can be delegated if error rates fall slowly</a:t>
            </a:r>
            <a:endParaRPr lang="en-US" sz="850" dirty="0"/>
          </a:p>
        </p:txBody>
      </p:sp>
      <p:sp>
        <p:nvSpPr>
          <p:cNvPr id="36" name="Shape 34"/>
          <p:cNvSpPr/>
          <p:nvPr/>
        </p:nvSpPr>
        <p:spPr>
          <a:xfrm>
            <a:off x="457200" y="5852160"/>
            <a:ext cx="11274552" cy="621792"/>
          </a:xfrm>
          <a:prstGeom prst="roundRect">
            <a:avLst>
              <a:gd name="adj" fmla="val 14706"/>
            </a:avLst>
          </a:prstGeom>
          <a:solidFill>
            <a:srgbClr val="FFF5BF"/>
          </a:solidFill>
          <a:ln w="12700">
            <a:solidFill>
              <a:srgbClr val="FFF5BF"/>
            </a:solidFill>
            <a:prstDash val="solid"/>
          </a:ln>
        </p:spPr>
        <p:txBody>
          <a:bodyPr/>
          <a:p/>
        </p:txBody>
      </p:sp>
      <p:pic>
        <p:nvPicPr>
          <p:cNvPr id="37" name="Image 0" descr="preencoded.png">    </p:cNvPr>
          <p:cNvPicPr>
            <a:picLocks noChangeAspect="1"/>
          </p:cNvPicPr>
          <p:nvPr/>
        </p:nvPicPr>
        <p:blipFill>
          <a:blip r:embed="rId1"/>
          <a:stretch>
            <a:fillRect/>
          </a:stretch>
        </p:blipFill>
        <p:spPr>
          <a:xfrm>
            <a:off x="621792" y="6007608"/>
            <a:ext cx="310896" cy="310896"/>
          </a:xfrm>
          <a:prstGeom prst="rect">
            <a:avLst/>
          </a:prstGeom>
        </p:spPr>
      </p:pic>
      <p:sp>
        <p:nvSpPr>
          <p:cNvPr id="38" name="Text 35"/>
          <p:cNvSpPr txBox="1"/>
          <p:nvPr/>
        </p:nvSpPr>
        <p:spPr>
          <a:xfrm>
            <a:off x="1051560" y="5852160"/>
            <a:ext cx="10469880" cy="621792"/>
          </a:xfrm>
          <a:prstGeom prst="rect">
            <a:avLst/>
          </a:prstGeom>
          <a:noFill/>
          <a:ln/>
        </p:spPr>
        <p:txBody>
          <a:bodyPr wrap="square" lIns="0" tIns="0" rIns="0" bIns="0" rtlCol="0" anchor="ctr"/>
          <a:lstStyle/>
          <a:p>
            <a:pPr indent="0" marL="0">
              <a:lnSpc>
                <a:spcPct val="105000"/>
              </a:lnSpc>
              <a:buNone/>
            </a:pPr>
            <a:r>
              <a:rPr lang="en-US" sz="1150" b="1" dirty="0">
                <a:solidFill>
                  <a:srgbClr val="252A3D"/>
                </a:solidFill>
                <a:latin typeface="Arial" pitchFamily="34" charset="0"/>
                <a:ea typeface="Arial" pitchFamily="34" charset="-122"/>
                <a:cs typeface="Arial" pitchFamily="34" charset="-120"/>
              </a:rPr>
              <a:t>Under these assumptions, one review could be fully delegated between 2031 and 2034. </a:t>
            </a:r>
            <a:r>
              <a:rPr lang="en-US" sz="1150" dirty="0">
                <a:solidFill>
                  <a:srgbClr val="252A3D"/>
                </a:solidFill>
                <a:latin typeface="Arial" pitchFamily="34" charset="0"/>
                <a:ea typeface="Arial" pitchFamily="34" charset="-122"/>
                <a:cs typeface="Arial" pitchFamily="34" charset="-120"/>
              </a:rPr>
              <a:t>The date depends mainly on how quickly the error rate falls. These are scenarios, not forecasts. The release of a new model does not by itself show that any of these requirements has been met.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THE MAIN HYPOTHESIS OF THE 66-PAGE THESIS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620" b="1" dirty="0">
                <a:solidFill>
                  <a:srgbClr val="252A3D"/>
                </a:solidFill>
                <a:latin typeface="Arial" pitchFamily="34" charset="0"/>
                <a:ea typeface="Arial" pitchFamily="34" charset="-122"/>
                <a:cs typeface="Arial" pitchFamily="34" charset="-120"/>
              </a:rPr>
              <a:t>The hypothesis: every required review will eventually be automated</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This is a hypothesis, not an experimental result. The thesis sets out its requirements and six predictions that can be tested.</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24 / 30</a:t>
            </a:r>
            <a:endParaRPr lang="en-US" sz="1000" dirty="0"/>
          </a:p>
        </p:txBody>
      </p:sp>
      <p:sp>
        <p:nvSpPr>
          <p:cNvPr id="9" name="Shape 7"/>
          <p:cNvSpPr/>
          <p:nvPr/>
        </p:nvSpPr>
        <p:spPr>
          <a:xfrm>
            <a:off x="457200" y="1965960"/>
            <a:ext cx="5074920" cy="3611880"/>
          </a:xfrm>
          <a:prstGeom prst="roundRect">
            <a:avLst>
              <a:gd name="adj" fmla="val 2532"/>
            </a:avLst>
          </a:prstGeom>
          <a:solidFill>
            <a:srgbClr val="EFE8FA"/>
          </a:solidFill>
          <a:ln w="12700">
            <a:solidFill>
              <a:srgbClr val="EFE8FA"/>
            </a:solidFill>
            <a:prstDash val="solid"/>
          </a:ln>
        </p:spPr>
        <p:txBody>
          <a:bodyPr/>
          <a:p/>
        </p:txBody>
      </p:sp>
      <p:sp>
        <p:nvSpPr>
          <p:cNvPr id="10" name="Text 8"/>
          <p:cNvSpPr txBox="1"/>
          <p:nvPr/>
        </p:nvSpPr>
        <p:spPr>
          <a:xfrm>
            <a:off x="640080" y="2103120"/>
            <a:ext cx="47548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3F9E"/>
                </a:solidFill>
                <a:latin typeface="Arial" pitchFamily="34" charset="0"/>
                <a:ea typeface="Arial" pitchFamily="34" charset="-122"/>
                <a:cs typeface="Arial" pitchFamily="34" charset="-120"/>
              </a:rPr>
              <a:t>THE MAIN HYPOTHESIS</a:t>
            </a:r>
            <a:endParaRPr lang="en-US" sz="950" dirty="0"/>
          </a:p>
        </p:txBody>
      </p:sp>
      <p:sp>
        <p:nvSpPr>
          <p:cNvPr id="11" name="Text 9"/>
          <p:cNvSpPr txBox="1"/>
          <p:nvPr/>
        </p:nvSpPr>
        <p:spPr>
          <a:xfrm>
            <a:off x="640080" y="2395728"/>
            <a:ext cx="4709160" cy="2468880"/>
          </a:xfrm>
          <a:prstGeom prst="rect">
            <a:avLst/>
          </a:prstGeom>
          <a:noFill/>
          <a:ln/>
        </p:spPr>
        <p:txBody>
          <a:bodyPr wrap="square" lIns="0" tIns="0" rIns="0" bIns="0" rtlCol="0" anchor="t"/>
          <a:lstStyle/>
          <a:p>
            <a:pPr marL="127000" indent="-127000">
              <a:lnSpc>
                <a:spcPct val="105000"/>
              </a:lnSpc>
              <a:spcAft>
                <a:spcPts val="600"/>
              </a:spcAft>
              <a:buSzPct val="100000"/>
              <a:buChar char="•"/>
            </a:pPr>
            <a:r>
              <a:rPr lang="en-US" sz="1020" dirty="0">
                <a:solidFill>
                  <a:srgbClr val="252A3D"/>
                </a:solidFill>
                <a:latin typeface="Arial" pitchFamily="34" charset="0"/>
                <a:ea typeface="Arial" pitchFamily="34" charset="-122"/>
                <a:cs typeface="Arial" pitchFamily="34" charset="-120"/>
              </a:rPr>
              <a:t>The thesis proposes that AI agents will eventually carry out every DGF review, including complex cases and the final decision.</a:t>
            </a:r>
            <a:endParaRPr lang="en-US" sz="1020" dirty="0"/>
          </a:p>
          <a:p>
            <a:pPr marL="127000" indent="-127000">
              <a:lnSpc>
                <a:spcPct val="105000"/>
              </a:lnSpc>
              <a:spcAft>
                <a:spcPts val="600"/>
              </a:spcAft>
              <a:buSzPct val="100000"/>
              <a:buChar char="•"/>
            </a:pPr>
            <a:r>
              <a:rPr lang="en-US" sz="1020" dirty="0">
                <a:solidFill>
                  <a:srgbClr val="252A3D"/>
                </a:solidFill>
                <a:latin typeface="Arial" pitchFamily="34" charset="0"/>
                <a:ea typeface="Arial" pitchFamily="34" charset="-122"/>
                <a:cs typeface="Arial" pitchFamily="34" charset="-120"/>
              </a:rPr>
              <a:t>It also proposes that monitoring agents, handling exceptional cases and updating rules will eventually be automated, rather than remain permanent human tasks.</a:t>
            </a:r>
            <a:endParaRPr lang="en-US" sz="1020" dirty="0"/>
          </a:p>
          <a:p>
            <a:pPr marL="127000" indent="-127000">
              <a:lnSpc>
                <a:spcPct val="105000"/>
              </a:lnSpc>
              <a:spcAft>
                <a:spcPts val="600"/>
              </a:spcAft>
              <a:buSzPct val="100000"/>
              <a:buChar char="•"/>
            </a:pPr>
            <a:r>
              <a:rPr lang="en-US" sz="1020" b="1" dirty="0">
                <a:solidFill>
                  <a:srgbClr val="252A3D"/>
                </a:solidFill>
                <a:latin typeface="Arial" pitchFamily="34" charset="0"/>
                <a:ea typeface="Arial" pitchFamily="34" charset="-122"/>
                <a:cs typeface="Arial" pitchFamily="34" charset="-120"/>
              </a:rPr>
              <a:t>The required reviews and their sequence remain unchanged. </a:t>
            </a:r>
            <a:r>
              <a:rPr lang="en-US" sz="1020" dirty="0">
                <a:solidFill>
                  <a:srgbClr val="252A3D"/>
                </a:solidFill>
                <a:latin typeface="Arial" pitchFamily="34" charset="0"/>
                <a:ea typeface="Arial" pitchFamily="34" charset="-122"/>
                <a:cs typeface="Arial" pitchFamily="34" charset="-120"/>
              </a:rPr>
              <a:t>Only the way the reviews are carried out changes. Removing a required review to make automation easier does not count as automating it.</a:t>
            </a:r>
            <a:endParaRPr lang="en-US" sz="1020" dirty="0"/>
          </a:p>
          <a:p>
            <a:pPr marL="127000" indent="-127000">
              <a:lnSpc>
                <a:spcPct val="105000"/>
              </a:lnSpc>
              <a:spcAft>
                <a:spcPts val="600"/>
              </a:spcAft>
              <a:buSzPct val="100000"/>
              <a:buChar char="•"/>
            </a:pPr>
            <a:r>
              <a:rPr lang="en-US" sz="1020" dirty="0">
                <a:solidFill>
                  <a:srgbClr val="252A3D"/>
                </a:solidFill>
                <a:latin typeface="Arial" pitchFamily="34" charset="0"/>
                <a:ea typeface="Arial" pitchFamily="34" charset="-122"/>
                <a:cs typeface="Arial" pitchFamily="34" charset="-120"/>
              </a:rPr>
              <a:t>If the human work is genuinely eliminated rather than moved elsewhere, staffing would fall to a small AI operations team and eventually to zero.</a:t>
            </a:r>
            <a:endParaRPr lang="en-US" sz="1020" dirty="0"/>
          </a:p>
        </p:txBody>
      </p:sp>
      <p:sp>
        <p:nvSpPr>
          <p:cNvPr id="12" name="Text 10"/>
          <p:cNvSpPr txBox="1"/>
          <p:nvPr/>
        </p:nvSpPr>
        <p:spPr>
          <a:xfrm>
            <a:off x="640080" y="4846320"/>
            <a:ext cx="4709160" cy="685800"/>
          </a:xfrm>
          <a:prstGeom prst="rect">
            <a:avLst/>
          </a:prstGeom>
          <a:noFill/>
          <a:ln/>
        </p:spPr>
        <p:txBody>
          <a:bodyPr wrap="square" lIns="0" tIns="0" rIns="0" bIns="0" rtlCol="0" anchor="t"/>
          <a:lstStyle/>
          <a:p>
            <a:pPr indent="0" marL="0">
              <a:lnSpc>
                <a:spcPct val="105000"/>
              </a:lnSpc>
              <a:buNone/>
            </a:pPr>
            <a:r>
              <a:rPr lang="en-US" sz="920" i="1" dirty="0">
                <a:solidFill>
                  <a:srgbClr val="5B6575"/>
                </a:solidFill>
                <a:latin typeface="Arial" pitchFamily="34" charset="0"/>
                <a:ea typeface="Arial" pitchFamily="34" charset="-122"/>
                <a:cs typeface="Arial" pitchFamily="34" charset="-120"/>
              </a:rPr>
              <a:t>The hypothesis would fail if a review genuinely required a person, a law required a human signature, an “automated” service relied on hidden human work, or the support team could never be reduced.</a:t>
            </a:r>
            <a:endParaRPr lang="en-US" sz="920" dirty="0"/>
          </a:p>
        </p:txBody>
      </p:sp>
      <p:sp>
        <p:nvSpPr>
          <p:cNvPr id="13" name="Shape 11"/>
          <p:cNvSpPr/>
          <p:nvPr/>
        </p:nvSpPr>
        <p:spPr>
          <a:xfrm>
            <a:off x="5742432" y="1965960"/>
            <a:ext cx="5989320" cy="3611880"/>
          </a:xfrm>
          <a:prstGeom prst="roundRect">
            <a:avLst>
              <a:gd name="adj" fmla="val 2532"/>
            </a:avLst>
          </a:prstGeom>
          <a:solidFill>
            <a:srgbClr val="F5F7FA"/>
          </a:solidFill>
          <a:ln w="12700">
            <a:solidFill>
              <a:srgbClr val="F5F7FA"/>
            </a:solidFill>
            <a:prstDash val="solid"/>
          </a:ln>
        </p:spPr>
        <p:txBody>
          <a:bodyPr/>
          <a:p/>
        </p:txBody>
      </p:sp>
      <p:sp>
        <p:nvSpPr>
          <p:cNvPr id="14" name="Text 12"/>
          <p:cNvSpPr txBox="1"/>
          <p:nvPr/>
        </p:nvSpPr>
        <p:spPr>
          <a:xfrm>
            <a:off x="5925312" y="2075688"/>
            <a:ext cx="548640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3F9E"/>
                </a:solidFill>
                <a:latin typeface="Arial" pitchFamily="34" charset="0"/>
                <a:ea typeface="Arial" pitchFamily="34" charset="-122"/>
                <a:cs typeface="Arial" pitchFamily="34" charset="-120"/>
              </a:rPr>
              <a:t>SIX PREDICTIONS TO TEST ALONG THE WAY</a:t>
            </a:r>
            <a:endParaRPr lang="en-US" sz="950" dirty="0"/>
          </a:p>
        </p:txBody>
      </p:sp>
      <p:sp>
        <p:nvSpPr>
          <p:cNvPr id="15" name="Text 13"/>
          <p:cNvSpPr txBox="1"/>
          <p:nvPr/>
        </p:nvSpPr>
        <p:spPr>
          <a:xfrm>
            <a:off x="5925312" y="2331720"/>
            <a:ext cx="5623560" cy="512064"/>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1 · Well-defined reviews are easier to automate. </a:t>
            </a:r>
            <a:r>
              <a:rPr lang="en-US" sz="900" dirty="0">
                <a:solidFill>
                  <a:srgbClr val="252A3D"/>
                </a:solidFill>
                <a:latin typeface="Arial" pitchFamily="34" charset="0"/>
                <a:ea typeface="Arial" pitchFamily="34" charset="-122"/>
                <a:cs typeface="Arial" pitchFamily="34" charset="-120"/>
              </a:rPr>
              <a:t>Reviews with clear inputs, written rules and testable results should be automated more reliably, regardless of the model used.</a:t>
            </a:r>
            <a:endParaRPr lang="en-US" sz="900" dirty="0"/>
          </a:p>
        </p:txBody>
      </p:sp>
      <p:sp>
        <p:nvSpPr>
          <p:cNvPr id="16" name="Text 14"/>
          <p:cNvSpPr txBox="1"/>
          <p:nvPr/>
        </p:nvSpPr>
        <p:spPr>
          <a:xfrm>
            <a:off x="5925312" y="2862072"/>
            <a:ext cx="5623560" cy="512064"/>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2 · Sharing review results reduces repeat work. </a:t>
            </a:r>
            <a:r>
              <a:rPr lang="en-US" sz="900" dirty="0">
                <a:solidFill>
                  <a:srgbClr val="252A3D"/>
                </a:solidFill>
                <a:latin typeface="Arial" pitchFamily="34" charset="0"/>
                <a:ea typeface="Arial" pitchFamily="34" charset="-122"/>
                <a:cs typeface="Arial" pitchFamily="34" charset="-120"/>
              </a:rPr>
              <a:t>Passing a clearly organized project record with supporting sources to the next reviewer should reduce work across the whole process. The hypothesis also predicts that an agent will produce this record at a lower cost than a person.</a:t>
            </a:r>
            <a:endParaRPr lang="en-US" sz="900" dirty="0"/>
          </a:p>
        </p:txBody>
      </p:sp>
      <p:sp>
        <p:nvSpPr>
          <p:cNvPr id="17" name="Text 15"/>
          <p:cNvSpPr txBox="1"/>
          <p:nvPr/>
        </p:nvSpPr>
        <p:spPr>
          <a:xfrm>
            <a:off x="5925312" y="3392424"/>
            <a:ext cx="5623560" cy="512064"/>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3 · The remaining cases take more time. </a:t>
            </a:r>
            <a:r>
              <a:rPr lang="en-US" sz="900" dirty="0">
                <a:solidFill>
                  <a:srgbClr val="252A3D"/>
                </a:solidFill>
                <a:latin typeface="Arial" pitchFamily="34" charset="0"/>
                <a:ea typeface="Arial" pitchFamily="34" charset="-122"/>
                <a:cs typeface="Arial" pitchFamily="34" charset="-120"/>
              </a:rPr>
              <a:t>Cases left to people should represent a larger share of working hours than of case numbers.</a:t>
            </a:r>
            <a:endParaRPr lang="en-US" sz="900" dirty="0"/>
          </a:p>
        </p:txBody>
      </p:sp>
      <p:sp>
        <p:nvSpPr>
          <p:cNvPr id="18" name="Text 16"/>
          <p:cNvSpPr txBox="1"/>
          <p:nvPr/>
        </p:nvSpPr>
        <p:spPr>
          <a:xfrm>
            <a:off x="5925312" y="3922776"/>
            <a:ext cx="5623560" cy="512064"/>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4 · Count all remaining work. </a:t>
            </a:r>
            <a:r>
              <a:rPr lang="en-US" sz="900" dirty="0">
                <a:solidFill>
                  <a:srgbClr val="252A3D"/>
                </a:solidFill>
                <a:latin typeface="Arial" pitchFamily="34" charset="0"/>
                <a:ea typeface="Arial" pitchFamily="34" charset="-122"/>
                <a:cs typeface="Arial" pitchFamily="34" charset="-120"/>
              </a:rPr>
              <a:t>Estimates that include complex cases, corrections and maintenance should be more accurate than assuming that automating 80% of cases saves 80% of the work.</a:t>
            </a:r>
            <a:endParaRPr lang="en-US" sz="900" dirty="0"/>
          </a:p>
        </p:txBody>
      </p:sp>
      <p:sp>
        <p:nvSpPr>
          <p:cNvPr id="19" name="Text 17"/>
          <p:cNvSpPr txBox="1"/>
          <p:nvPr/>
        </p:nvSpPr>
        <p:spPr>
          <a:xfrm>
            <a:off x="5925312" y="4453128"/>
            <a:ext cx="5623560" cy="512064"/>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5 · Preparing decisions comes before approving them. </a:t>
            </a:r>
            <a:r>
              <a:rPr lang="en-US" sz="900" dirty="0">
                <a:solidFill>
                  <a:srgbClr val="252A3D"/>
                </a:solidFill>
                <a:latin typeface="Arial" pitchFamily="34" charset="0"/>
                <a:ea typeface="Arial" pitchFamily="34" charset="-122"/>
                <a:cs typeface="Arial" pitchFamily="34" charset="-120"/>
              </a:rPr>
              <a:t>Companies should let agents prepare decisions well before allowing them to authorize those decisions.</a:t>
            </a:r>
            <a:endParaRPr lang="en-US" sz="900" dirty="0"/>
          </a:p>
        </p:txBody>
      </p:sp>
      <p:sp>
        <p:nvSpPr>
          <p:cNvPr id="20" name="Text 18"/>
          <p:cNvSpPr txBox="1"/>
          <p:nvPr/>
        </p:nvSpPr>
        <p:spPr>
          <a:xfrm>
            <a:off x="5925312" y="4983480"/>
            <a:ext cx="5623560" cy="512064"/>
          </a:xfrm>
          <a:prstGeom prst="rect">
            <a:avLst/>
          </a:prstGeom>
          <a:noFill/>
          <a:ln/>
        </p:spPr>
        <p:txBody>
          <a:bodyPr wrap="square" lIns="0" tIns="0" rIns="0" bIns="0" rtlCol="0" anchor="t"/>
          <a:lstStyle/>
          <a:p>
            <a:pPr indent="0" marL="0">
              <a:lnSpc>
                <a:spcPct val="105000"/>
              </a:lnSpc>
              <a:buNone/>
            </a:pPr>
            <a:r>
              <a:rPr lang="en-US" sz="900" b="1" dirty="0">
                <a:solidFill>
                  <a:srgbClr val="252A3D"/>
                </a:solidFill>
                <a:latin typeface="Arial" pitchFamily="34" charset="0"/>
                <a:ea typeface="Arial" pitchFamily="34" charset="-122"/>
                <a:cs typeface="Arial" pitchFamily="34" charset="-120"/>
              </a:rPr>
              <a:t>6 · Tasks requiring a human become fewer. </a:t>
            </a:r>
            <a:r>
              <a:rPr lang="en-US" sz="900" dirty="0">
                <a:solidFill>
                  <a:srgbClr val="252A3D"/>
                </a:solidFill>
                <a:latin typeface="Arial" pitchFamily="34" charset="0"/>
                <a:ea typeface="Arial" pitchFamily="34" charset="-122"/>
                <a:cs typeface="Arial" pitchFamily="34" charset="-120"/>
              </a:rPr>
              <a:t>Existing human-only tasks should become automatable faster than new human-only tasks appear. This last prediction distinguishes AI that reduces the need for human work from AI that only helps people do it.</a:t>
            </a:r>
            <a:endParaRPr lang="en-US" sz="900" dirty="0"/>
          </a:p>
        </p:txBody>
      </p:sp>
      <p:sp>
        <p:nvSpPr>
          <p:cNvPr id="21" name="Shape 19"/>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2"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3" name="Text 20"/>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The thesis presents a hypothesis that can be challenged, rather than asking readers to accept it. It explains what would disprove the hypothesis and sets out six smaller predictions that can be checked each year.</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A PREDICTION WITH A DEADLINE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The author’s prediction: 80% fewer FTE needed by 2033</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This prediction is not calculated from the test scores. It has a deadline, a defined scope and clear failure criteria.</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25 / 30</a:t>
            </a:r>
            <a:endParaRPr lang="en-US" sz="1000" dirty="0"/>
          </a:p>
        </p:txBody>
      </p:sp>
      <p:sp>
        <p:nvSpPr>
          <p:cNvPr id="9" name="Shape 7"/>
          <p:cNvSpPr/>
          <p:nvPr/>
        </p:nvSpPr>
        <p:spPr>
          <a:xfrm>
            <a:off x="457200" y="1965960"/>
            <a:ext cx="3749040" cy="2103120"/>
          </a:xfrm>
          <a:prstGeom prst="roundRect">
            <a:avLst>
              <a:gd name="adj" fmla="val 4348"/>
            </a:avLst>
          </a:prstGeom>
          <a:solidFill>
            <a:srgbClr val="EFE8FA"/>
          </a:solidFill>
          <a:ln w="12700">
            <a:solidFill>
              <a:srgbClr val="EFE8FA"/>
            </a:solidFill>
            <a:prstDash val="solid"/>
          </a:ln>
        </p:spPr>
        <p:txBody>
          <a:bodyPr/>
          <a:p/>
        </p:txBody>
      </p:sp>
      <p:sp>
        <p:nvSpPr>
          <p:cNvPr id="10" name="Text 8"/>
          <p:cNvSpPr txBox="1"/>
          <p:nvPr/>
        </p:nvSpPr>
        <p:spPr>
          <a:xfrm>
            <a:off x="640080" y="2057400"/>
            <a:ext cx="3383280" cy="777240"/>
          </a:xfrm>
          <a:prstGeom prst="rect">
            <a:avLst/>
          </a:prstGeom>
          <a:noFill/>
          <a:ln/>
        </p:spPr>
        <p:txBody>
          <a:bodyPr wrap="square" lIns="0" tIns="0" rIns="0" bIns="0" rtlCol="0" anchor="t"/>
          <a:lstStyle/>
          <a:p>
            <a:pPr indent="0" marL="0">
              <a:lnSpc>
                <a:spcPct val="105000"/>
              </a:lnSpc>
              <a:buNone/>
            </a:pPr>
            <a:r>
              <a:rPr lang="en-US" sz="4780" b="1" dirty="0">
                <a:solidFill>
                  <a:srgbClr val="5B3F9E"/>
                </a:solidFill>
                <a:latin typeface="Arial" pitchFamily="34" charset="0"/>
                <a:ea typeface="Arial" pitchFamily="34" charset="-122"/>
                <a:cs typeface="Arial" pitchFamily="34" charset="-120"/>
              </a:rPr>
              <a:t>−80%</a:t>
            </a:r>
            <a:endParaRPr lang="en-US" sz="5200" dirty="0"/>
          </a:p>
        </p:txBody>
      </p:sp>
      <p:sp>
        <p:nvSpPr>
          <p:cNvPr id="11" name="Text 9"/>
          <p:cNvSpPr txBox="1"/>
          <p:nvPr/>
        </p:nvSpPr>
        <p:spPr>
          <a:xfrm>
            <a:off x="640080" y="2852928"/>
            <a:ext cx="3383280" cy="868680"/>
          </a:xfrm>
          <a:prstGeom prst="rect">
            <a:avLst/>
          </a:prstGeom>
          <a:noFill/>
          <a:ln/>
        </p:spPr>
        <p:txBody>
          <a:bodyPr wrap="square" lIns="0" tIns="0" rIns="0" bIns="0" rtlCol="0" anchor="t"/>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in full-time-equivalent staffing needed for the same DGF reviews on 20 September 2033, compared with the year ending 20 September 2026, with the same workload, quality and turnaround time.</a:t>
            </a:r>
            <a:endParaRPr lang="en-US" sz="1000" dirty="0"/>
          </a:p>
        </p:txBody>
      </p:sp>
      <p:sp>
        <p:nvSpPr>
          <p:cNvPr id="12" name="Text 10"/>
          <p:cNvSpPr txBox="1"/>
          <p:nvPr/>
        </p:nvSpPr>
        <p:spPr>
          <a:xfrm>
            <a:off x="640080" y="3749040"/>
            <a:ext cx="3383280" cy="338328"/>
          </a:xfrm>
          <a:prstGeom prst="rect">
            <a:avLst/>
          </a:prstGeom>
          <a:noFill/>
          <a:ln/>
        </p:spPr>
        <p:txBody>
          <a:bodyPr wrap="square" lIns="0" tIns="0" rIns="0" bIns="0" rtlCol="0" anchor="t"/>
          <a:lstStyle/>
          <a:p>
            <a:pPr indent="0" marL="0">
              <a:lnSpc>
                <a:spcPct val="105000"/>
              </a:lnSpc>
              <a:buNone/>
            </a:pPr>
            <a:r>
              <a:rPr lang="en-US" sz="1000" b="1" dirty="0">
                <a:solidFill>
                  <a:srgbClr val="5B3F9E"/>
                </a:solidFill>
                <a:latin typeface="Arial" pitchFamily="34" charset="0"/>
                <a:ea typeface="Arial" pitchFamily="34" charset="-122"/>
                <a:cs typeface="Arial" pitchFamily="34" charset="-120"/>
              </a:rPr>
              <a:t>In the example starting at 140 FTE, that means 28 FTE or fewer.</a:t>
            </a:r>
            <a:endParaRPr lang="en-US" sz="1050" dirty="0"/>
          </a:p>
        </p:txBody>
      </p:sp>
      <p:sp>
        <p:nvSpPr>
          <p:cNvPr id="13" name="Shape 11"/>
          <p:cNvSpPr/>
          <p:nvPr/>
        </p:nvSpPr>
        <p:spPr>
          <a:xfrm>
            <a:off x="457200" y="4206240"/>
            <a:ext cx="3749040" cy="1371600"/>
          </a:xfrm>
          <a:prstGeom prst="roundRect">
            <a:avLst>
              <a:gd name="adj" fmla="val 6667"/>
            </a:avLst>
          </a:prstGeom>
          <a:solidFill>
            <a:srgbClr val="F3F5F8"/>
          </a:solidFill>
          <a:ln w="12700">
            <a:solidFill>
              <a:srgbClr val="F3F5F8"/>
            </a:solidFill>
            <a:prstDash val="solid"/>
          </a:ln>
        </p:spPr>
        <p:txBody>
          <a:bodyPr/>
          <a:p/>
        </p:txBody>
      </p:sp>
      <p:sp>
        <p:nvSpPr>
          <p:cNvPr id="14" name="Text 12"/>
          <p:cNvSpPr txBox="1"/>
          <p:nvPr/>
        </p:nvSpPr>
        <p:spPr>
          <a:xfrm>
            <a:off x="640080" y="4315968"/>
            <a:ext cx="33832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WHOSE WORKING HOURS ARE INCLUDED</a:t>
            </a:r>
            <a:endParaRPr lang="en-US" sz="950" dirty="0"/>
          </a:p>
        </p:txBody>
      </p:sp>
      <p:sp>
        <p:nvSpPr>
          <p:cNvPr id="15" name="Text 13"/>
          <p:cNvSpPr txBox="1"/>
          <p:nvPr/>
        </p:nvSpPr>
        <p:spPr>
          <a:xfrm>
            <a:off x="640080" y="4544568"/>
            <a:ext cx="3383280" cy="1005840"/>
          </a:xfrm>
          <a:prstGeom prst="rect">
            <a:avLst/>
          </a:prstGeom>
          <a:noFill/>
          <a:ln/>
        </p:spPr>
        <p:txBody>
          <a:bodyPr wrap="square" lIns="0" tIns="0" rIns="0" bIns="0" rtlCol="0" anchor="t"/>
          <a:lstStyle/>
          <a:p>
            <a:pPr indent="0" marL="0">
              <a:lnSpc>
                <a:spcPct val="105000"/>
              </a:lnSpc>
              <a:buNone/>
            </a:pPr>
            <a:r>
              <a:rPr lang="en-US" sz="950" dirty="0">
                <a:solidFill>
                  <a:srgbClr val="252A3D"/>
                </a:solidFill>
                <a:latin typeface="Arial" pitchFamily="34" charset="0"/>
                <a:ea typeface="Arial" pitchFamily="34" charset="-122"/>
                <a:cs typeface="Arial" pitchFamily="34" charset="-120"/>
              </a:rPr>
              <a:t>Count everyone who contributes to the reviews: reviewers, staff handling complex cases, people checking results or correcting errors, people maintaining the AI agents, supporting suppliers and supervising managers. Measure the total work in full-time equivalents, regardless of job titles.</a:t>
            </a:r>
            <a:endParaRPr lang="en-US" sz="950" dirty="0"/>
          </a:p>
        </p:txBody>
      </p:sp>
      <p:sp>
        <p:nvSpPr>
          <p:cNvPr id="16" name="Shape 14"/>
          <p:cNvSpPr/>
          <p:nvPr/>
        </p:nvSpPr>
        <p:spPr>
          <a:xfrm>
            <a:off x="4434840" y="1965960"/>
            <a:ext cx="7296912" cy="1115568"/>
          </a:xfrm>
          <a:prstGeom prst="roundRect">
            <a:avLst>
              <a:gd name="adj" fmla="val 8197"/>
            </a:avLst>
          </a:prstGeom>
          <a:solidFill>
            <a:srgbClr val="FFE4E6"/>
          </a:solidFill>
          <a:ln w="12700">
            <a:solidFill>
              <a:srgbClr val="FFE4E6"/>
            </a:solidFill>
            <a:prstDash val="solid"/>
          </a:ln>
        </p:spPr>
        <p:txBody>
          <a:bodyPr/>
          <a:p/>
        </p:txBody>
      </p:sp>
      <p:sp>
        <p:nvSpPr>
          <p:cNvPr id="17" name="Text 15"/>
          <p:cNvSpPr txBox="1"/>
          <p:nvPr/>
        </p:nvSpPr>
        <p:spPr>
          <a:xfrm>
            <a:off x="4617720" y="2075688"/>
            <a:ext cx="69494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C8283E"/>
                </a:solidFill>
                <a:latin typeface="Arial" pitchFamily="34" charset="0"/>
                <a:ea typeface="Arial" pitchFamily="34" charset="-122"/>
                <a:cs typeface="Arial" pitchFamily="34" charset="-120"/>
              </a:rPr>
              <a:t>WHAT WOULD DISPROVE THE PREDICTION</a:t>
            </a:r>
            <a:endParaRPr lang="en-US" sz="950" dirty="0"/>
          </a:p>
        </p:txBody>
      </p:sp>
      <p:sp>
        <p:nvSpPr>
          <p:cNvPr id="18" name="Text 16"/>
          <p:cNvSpPr txBox="1"/>
          <p:nvPr/>
        </p:nvSpPr>
        <p:spPr>
          <a:xfrm>
            <a:off x="4617720" y="2295144"/>
            <a:ext cx="6949440" cy="749808"/>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The prediction fails if, after everyone’s hours are counted, more than 20% of the original working time is still required. It also fails if quality falls or reviews take longer. Excluding difficult business units, leaving out new support roles or moving the deadline would also invalidate the result. Fewer staff do not prove that work has been eliminated: it may have moved elsewhere.</a:t>
            </a:r>
            <a:endParaRPr lang="en-US" sz="980" dirty="0"/>
          </a:p>
        </p:txBody>
      </p:sp>
      <p:sp>
        <p:nvSpPr>
          <p:cNvPr id="19" name="Shape 17"/>
          <p:cNvSpPr/>
          <p:nvPr/>
        </p:nvSpPr>
        <p:spPr>
          <a:xfrm>
            <a:off x="4434840" y="3214116"/>
            <a:ext cx="7296912" cy="1115568"/>
          </a:xfrm>
          <a:prstGeom prst="roundRect">
            <a:avLst>
              <a:gd name="adj" fmla="val 8197"/>
            </a:avLst>
          </a:prstGeom>
          <a:solidFill>
            <a:srgbClr val="FFF5BF"/>
          </a:solidFill>
          <a:ln w="12700">
            <a:solidFill>
              <a:srgbClr val="FFF5BF"/>
            </a:solidFill>
            <a:prstDash val="solid"/>
          </a:ln>
        </p:spPr>
        <p:txBody>
          <a:bodyPr/>
          <a:p/>
        </p:txBody>
      </p:sp>
      <p:sp>
        <p:nvSpPr>
          <p:cNvPr id="20" name="Text 18"/>
          <p:cNvSpPr txBox="1"/>
          <p:nvPr/>
        </p:nvSpPr>
        <p:spPr>
          <a:xfrm>
            <a:off x="4617720" y="3323844"/>
            <a:ext cx="69494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WHEN THERE IS NOT ENOUGH INFORMATION TO JUDGE</a:t>
            </a:r>
            <a:endParaRPr lang="en-US" sz="950" dirty="0"/>
          </a:p>
        </p:txBody>
      </p:sp>
      <p:sp>
        <p:nvSpPr>
          <p:cNvPr id="21" name="Text 19"/>
          <p:cNvSpPr txBox="1"/>
          <p:nvPr/>
        </p:nvSpPr>
        <p:spPr>
          <a:xfrm>
            <a:off x="4617720" y="3543300"/>
            <a:ext cx="6949440" cy="749808"/>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Without records of working hours before and after automation, the result is unknown, not a success. As stated in the deck, the reference year has ended and no company has yet enrolled. A new study could begin with a new 12-month reference period, but that would start a separate seven-year test, not change the 2033 deadline.</a:t>
            </a:r>
            <a:endParaRPr lang="en-US" sz="980" dirty="0"/>
          </a:p>
        </p:txBody>
      </p:sp>
      <p:sp>
        <p:nvSpPr>
          <p:cNvPr id="22" name="Shape 20"/>
          <p:cNvSpPr/>
          <p:nvPr/>
        </p:nvSpPr>
        <p:spPr>
          <a:xfrm>
            <a:off x="4434840" y="4462272"/>
            <a:ext cx="7296912" cy="1115568"/>
          </a:xfrm>
          <a:prstGeom prst="roundRect">
            <a:avLst>
              <a:gd name="adj" fmla="val 8197"/>
            </a:avLst>
          </a:prstGeom>
          <a:solidFill>
            <a:srgbClr val="E5F6E9"/>
          </a:solidFill>
          <a:ln w="12700">
            <a:solidFill>
              <a:srgbClr val="E5F6E9"/>
            </a:solidFill>
            <a:prstDash val="solid"/>
          </a:ln>
        </p:spPr>
        <p:txBody>
          <a:bodyPr/>
          <a:p/>
        </p:txBody>
      </p:sp>
      <p:sp>
        <p:nvSpPr>
          <p:cNvPr id="23" name="Text 21"/>
          <p:cNvSpPr txBox="1"/>
          <p:nvPr/>
        </p:nvSpPr>
        <p:spPr>
          <a:xfrm>
            <a:off x="4617720" y="4572000"/>
            <a:ext cx="69494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E7A3C"/>
                </a:solidFill>
                <a:latin typeface="Arial" pitchFamily="34" charset="0"/>
                <a:ea typeface="Arial" pitchFamily="34" charset="-122"/>
                <a:cs typeface="Arial" pitchFamily="34" charset="-120"/>
              </a:rPr>
              <a:t>WHAT WOULD NOT COUNT AS SUCCESS</a:t>
            </a:r>
            <a:endParaRPr lang="en-US" sz="950" dirty="0"/>
          </a:p>
        </p:txBody>
      </p:sp>
      <p:sp>
        <p:nvSpPr>
          <p:cNvPr id="24" name="Text 22"/>
          <p:cNvSpPr txBox="1"/>
          <p:nvPr/>
        </p:nvSpPr>
        <p:spPr>
          <a:xfrm>
            <a:off x="4617720" y="4791456"/>
            <a:ext cx="6949440" cy="749808"/>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Reducing employee numbers while contractors perform the same working hours. Approving projects faster while letting more defects through. Renaming a department “AI oversight” while its staff still carry out the same reviews manually.</a:t>
            </a:r>
            <a:endParaRPr lang="en-US" sz="980" dirty="0"/>
          </a:p>
        </p:txBody>
      </p:sp>
      <p:sp>
        <p:nvSpPr>
          <p:cNvPr id="25" name="Shape 23"/>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6" name="Image 0" descr="preencoded.png">    </p:cNvPr>
          <p:cNvPicPr>
            <a:picLocks noChangeAspect="1"/>
          </p:cNvPicPr>
          <p:nvPr/>
        </p:nvPicPr>
        <p:blipFill>
          <a:blip r:embed="rId1"/>
          <a:stretch>
            <a:fillRect/>
          </a:stretch>
        </p:blipFill>
        <p:spPr>
          <a:xfrm>
            <a:off x="621792" y="5943600"/>
            <a:ext cx="310896" cy="310896"/>
          </a:xfrm>
          <a:prstGeom prst="rect">
            <a:avLst/>
          </a:prstGeom>
        </p:spPr>
      </p:pic>
      <p:sp>
        <p:nvSpPr>
          <p:cNvPr id="27" name="Text 24"/>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The paper makes a claim that can be tested after seven years, defines how to count the work and explains what would make the comparison invalid. The deck argues that this level of precision is uncommon in discussions about AI and jobs.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HOW PEOPLE’S WORK CHANGES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What the agent can do and what people still need to do</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agent can carry out the work, but responsibility remains with the company and the people it designates. The paper describes the following division of work.</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26 / 30</a:t>
            </a:r>
            <a:endParaRPr lang="en-US" sz="1000" dirty="0"/>
          </a:p>
        </p:txBody>
      </p:sp>
      <p:sp>
        <p:nvSpPr>
          <p:cNvPr id="9" name="Shape 7"/>
          <p:cNvSpPr/>
          <p:nvPr/>
        </p:nvSpPr>
        <p:spPr>
          <a:xfrm>
            <a:off x="457200" y="1965960"/>
            <a:ext cx="5532120" cy="2148840"/>
          </a:xfrm>
          <a:prstGeom prst="roundRect">
            <a:avLst>
              <a:gd name="adj" fmla="val 4255"/>
            </a:avLst>
          </a:prstGeom>
          <a:solidFill>
            <a:srgbClr val="DDF5FC"/>
          </a:solidFill>
          <a:ln w="12700">
            <a:solidFill>
              <a:srgbClr val="DDF5FC"/>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5468112" y="2103120"/>
            <a:ext cx="329184" cy="329184"/>
          </a:xfrm>
          <a:prstGeom prst="rect">
            <a:avLst/>
          </a:prstGeom>
        </p:spPr>
      </p:pic>
      <p:sp>
        <p:nvSpPr>
          <p:cNvPr id="11" name="Text 8"/>
          <p:cNvSpPr txBox="1"/>
          <p:nvPr/>
        </p:nvSpPr>
        <p:spPr>
          <a:xfrm>
            <a:off x="658368" y="2103120"/>
            <a:ext cx="47548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TASKS THE AI AGENT CAN TAKE OVER</a:t>
            </a:r>
            <a:endParaRPr lang="en-US" sz="950" dirty="0"/>
          </a:p>
        </p:txBody>
      </p:sp>
      <p:sp>
        <p:nvSpPr>
          <p:cNvPr id="12" name="Text 9"/>
          <p:cNvSpPr txBox="1"/>
          <p:nvPr/>
        </p:nvSpPr>
        <p:spPr>
          <a:xfrm>
            <a:off x="658368" y="2432304"/>
            <a:ext cx="5166360" cy="164592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Read the project documents and explain its decision, including a decision to reject the project.</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Apply the same written rules and thresholds consistently.</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Attach the exact supporting source to each problem it identifies.</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Pass any unresolved approval conditions to the next reviewer.</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Approve with conditions only when an existing rule authorizes it.</a:t>
            </a:r>
            <a:endParaRPr lang="en-US" sz="1050" dirty="0"/>
          </a:p>
        </p:txBody>
      </p:sp>
      <p:sp>
        <p:nvSpPr>
          <p:cNvPr id="13" name="Shape 10"/>
          <p:cNvSpPr/>
          <p:nvPr/>
        </p:nvSpPr>
        <p:spPr>
          <a:xfrm>
            <a:off x="6199632" y="1965960"/>
            <a:ext cx="5532120" cy="2148840"/>
          </a:xfrm>
          <a:prstGeom prst="roundRect">
            <a:avLst>
              <a:gd name="adj" fmla="val 4255"/>
            </a:avLst>
          </a:prstGeom>
          <a:solidFill>
            <a:srgbClr val="FFF5BF"/>
          </a:solidFill>
          <a:ln w="12700">
            <a:solidFill>
              <a:srgbClr val="FFF5B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11210544" y="2103120"/>
            <a:ext cx="329184" cy="329184"/>
          </a:xfrm>
          <a:prstGeom prst="rect">
            <a:avLst/>
          </a:prstGeom>
        </p:spPr>
      </p:pic>
      <p:sp>
        <p:nvSpPr>
          <p:cNvPr id="15" name="Text 11"/>
          <p:cNvSpPr txBox="1"/>
          <p:nvPr/>
        </p:nvSpPr>
        <p:spPr>
          <a:xfrm>
            <a:off x="6400800" y="2103120"/>
            <a:ext cx="475488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8A6D00"/>
                </a:solidFill>
                <a:latin typeface="Arial" pitchFamily="34" charset="0"/>
                <a:ea typeface="Arial" pitchFamily="34" charset="-122"/>
                <a:cs typeface="Arial" pitchFamily="34" charset="-120"/>
              </a:rPr>
              <a:t>HUMAN TASKS THAT MUST STILL BE COUNTED</a:t>
            </a:r>
            <a:endParaRPr lang="en-US" sz="950" dirty="0"/>
          </a:p>
        </p:txBody>
      </p:sp>
      <p:sp>
        <p:nvSpPr>
          <p:cNvPr id="16" name="Text 12"/>
          <p:cNvSpPr txBox="1"/>
          <p:nvPr/>
        </p:nvSpPr>
        <p:spPr>
          <a:xfrm>
            <a:off x="6400800" y="2432304"/>
            <a:ext cx="5166360" cy="164592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Write and approve the rules, and resolve situations the rules do not cover.</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Handle missing information, conflicting rules and decisions the agent has not been authorized to make.</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Provide signatures required by law or company policy and carry out spot checks.</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Keep the AI agents running by maintaining connections, rules, tests and evaluations.</a:t>
            </a:r>
            <a:endParaRPr lang="en-US" sz="1050" dirty="0"/>
          </a:p>
          <a:p>
            <a:pPr marL="127000" indent="-127000">
              <a:lnSpc>
                <a:spcPct val="105000"/>
              </a:lnSpc>
              <a:spcAft>
                <a:spcPts val="500"/>
              </a:spcAft>
              <a:buSzPct val="100000"/>
              <a:buChar char="•"/>
            </a:pPr>
            <a:r>
              <a:rPr lang="en-US" sz="1050" dirty="0">
                <a:solidFill>
                  <a:srgbClr val="252A3D"/>
                </a:solidFill>
                <a:latin typeface="Arial" pitchFamily="34" charset="0"/>
                <a:ea typeface="Arial" pitchFamily="34" charset="-122"/>
                <a:cs typeface="Arial" pitchFamily="34" charset="-120"/>
              </a:rPr>
              <a:t>Carry out the actions requested by the review, such as correcting a design or negotiating a contract clause, until those actions are also automated.</a:t>
            </a:r>
            <a:endParaRPr lang="en-US" sz="1050" dirty="0"/>
          </a:p>
        </p:txBody>
      </p:sp>
      <p:sp>
        <p:nvSpPr>
          <p:cNvPr id="17" name="Shape 13"/>
          <p:cNvSpPr/>
          <p:nvPr/>
        </p:nvSpPr>
        <p:spPr>
          <a:xfrm>
            <a:off x="457200" y="4297680"/>
            <a:ext cx="3657600" cy="1188720"/>
          </a:xfrm>
          <a:prstGeom prst="roundRect">
            <a:avLst>
              <a:gd name="adj" fmla="val 7692"/>
            </a:avLst>
          </a:prstGeom>
          <a:solidFill>
            <a:srgbClr val="FFE4E6"/>
          </a:solidFill>
          <a:ln w="12700">
            <a:solidFill>
              <a:srgbClr val="FFE4E6"/>
            </a:solidFill>
            <a:prstDash val="solid"/>
          </a:ln>
        </p:spPr>
        <p:txBody>
          <a:bodyPr/>
          <a:p/>
        </p:txBody>
      </p:sp>
      <p:sp>
        <p:nvSpPr>
          <p:cNvPr id="18" name="Text 14"/>
          <p:cNvSpPr txBox="1"/>
          <p:nvPr/>
        </p:nvSpPr>
        <p:spPr>
          <a:xfrm>
            <a:off x="621792" y="4389120"/>
            <a:ext cx="3337560" cy="33832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Changing job titles does not change the amount of work</a:t>
            </a:r>
            <a:endParaRPr lang="en-US" sz="1080" dirty="0"/>
          </a:p>
        </p:txBody>
      </p:sp>
      <p:sp>
        <p:nvSpPr>
          <p:cNvPr id="19" name="Text 15"/>
          <p:cNvSpPr txBox="1"/>
          <p:nvPr/>
        </p:nvSpPr>
        <p:spPr>
          <a:xfrm>
            <a:off x="621792" y="4745735"/>
            <a:ext cx="3337560" cy="722376"/>
          </a:xfrm>
          <a:prstGeom prst="rect">
            <a:avLst/>
          </a:prstGeom>
          <a:noFill/>
          <a:ln/>
        </p:spPr>
        <p:txBody>
          <a:bodyPr wrap="square" lIns="0" tIns="0" rIns="0" bIns="0" rtlCol="0" anchor="t"/>
          <a:lstStyle/>
          <a:p>
            <a:pPr indent="0" marL="0">
              <a:lnSpc>
                <a:spcPct val="105000"/>
              </a:lnSpc>
              <a:buNone/>
            </a:pPr>
            <a:r>
              <a:rPr lang="en-US" sz="910" dirty="0">
                <a:solidFill>
                  <a:srgbClr val="252A3D"/>
                </a:solidFill>
                <a:latin typeface="Arial" pitchFamily="34" charset="0"/>
                <a:ea typeface="Arial" pitchFamily="34" charset="-122"/>
                <a:cs typeface="Arial" pitchFamily="34" charset="-120"/>
              </a:rPr>
              <a:t>Calling the remaining staff “supervisors” does not undo a genuine reduction in working hours. A large enough reduction in working hours can eliminate posts. The company may instead choose to do more work with the same team.</a:t>
            </a:r>
            <a:endParaRPr lang="en-US" sz="930" dirty="0"/>
          </a:p>
        </p:txBody>
      </p:sp>
      <p:sp>
        <p:nvSpPr>
          <p:cNvPr id="20" name="Shape 16"/>
          <p:cNvSpPr/>
          <p:nvPr/>
        </p:nvSpPr>
        <p:spPr>
          <a:xfrm>
            <a:off x="4265676" y="4297680"/>
            <a:ext cx="3657600" cy="1188720"/>
          </a:xfrm>
          <a:prstGeom prst="roundRect">
            <a:avLst>
              <a:gd name="adj" fmla="val 7692"/>
            </a:avLst>
          </a:prstGeom>
          <a:solidFill>
            <a:srgbClr val="EFE8FA"/>
          </a:solidFill>
          <a:ln w="12700">
            <a:solidFill>
              <a:srgbClr val="EFE8FA"/>
            </a:solidFill>
            <a:prstDash val="solid"/>
          </a:ln>
        </p:spPr>
        <p:txBody>
          <a:bodyPr/>
          <a:p/>
        </p:txBody>
      </p:sp>
      <p:sp>
        <p:nvSpPr>
          <p:cNvPr id="21" name="Text 17"/>
          <p:cNvSpPr txBox="1"/>
          <p:nvPr/>
        </p:nvSpPr>
        <p:spPr>
          <a:xfrm>
            <a:off x="4430268" y="4389120"/>
            <a:ext cx="3337560" cy="33832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Sending every case to a person does not replace human reviews</a:t>
            </a:r>
            <a:endParaRPr lang="en-US" sz="1080" dirty="0"/>
          </a:p>
        </p:txBody>
      </p:sp>
      <p:sp>
        <p:nvSpPr>
          <p:cNvPr id="22" name="Text 18"/>
          <p:cNvSpPr txBox="1"/>
          <p:nvPr/>
        </p:nvSpPr>
        <p:spPr>
          <a:xfrm>
            <a:off x="4430268" y="4745735"/>
            <a:ext cx="3337560" cy="722376"/>
          </a:xfrm>
          <a:prstGeom prst="rect">
            <a:avLst/>
          </a:prstGeom>
          <a:noFill/>
          <a:ln/>
        </p:spPr>
        <p:txBody>
          <a:bodyPr wrap="square" lIns="0" tIns="0" rIns="0" bIns="0" rtlCol="0" anchor="t"/>
          <a:lstStyle/>
          <a:p>
            <a:pPr indent="0" marL="0">
              <a:lnSpc>
                <a:spcPct val="105000"/>
              </a:lnSpc>
              <a:buNone/>
            </a:pPr>
            <a:r>
              <a:rPr lang="en-US" sz="930" dirty="0">
                <a:solidFill>
                  <a:srgbClr val="252A3D"/>
                </a:solidFill>
                <a:latin typeface="Arial" pitchFamily="34" charset="0"/>
                <a:ea typeface="Arial" pitchFamily="34" charset="-122"/>
                <a:cs typeface="Arial" pitchFamily="34" charset="-120"/>
              </a:rPr>
              <a:t>An agent that refers every case to a person leaves decision-making with the human reviewer. It replaces none of the review work and adds an extra step. Report both the cases the agent handles and those it refers to people.</a:t>
            </a:r>
            <a:endParaRPr lang="en-US" sz="930" dirty="0"/>
          </a:p>
        </p:txBody>
      </p:sp>
      <p:sp>
        <p:nvSpPr>
          <p:cNvPr id="23" name="Shape 19"/>
          <p:cNvSpPr/>
          <p:nvPr/>
        </p:nvSpPr>
        <p:spPr>
          <a:xfrm>
            <a:off x="8074152" y="4297680"/>
            <a:ext cx="3657600" cy="1188720"/>
          </a:xfrm>
          <a:prstGeom prst="roundRect">
            <a:avLst>
              <a:gd name="adj" fmla="val 7692"/>
            </a:avLst>
          </a:prstGeom>
          <a:solidFill>
            <a:srgbClr val="E5F6E9"/>
          </a:solidFill>
          <a:ln w="12700">
            <a:solidFill>
              <a:srgbClr val="E5F6E9"/>
            </a:solidFill>
            <a:prstDash val="solid"/>
          </a:ln>
        </p:spPr>
        <p:txBody>
          <a:bodyPr/>
          <a:p/>
        </p:txBody>
      </p:sp>
      <p:sp>
        <p:nvSpPr>
          <p:cNvPr id="24" name="Text 20"/>
          <p:cNvSpPr txBox="1"/>
          <p:nvPr/>
        </p:nvSpPr>
        <p:spPr>
          <a:xfrm>
            <a:off x="8238744" y="4389120"/>
            <a:ext cx="3337560" cy="237744"/>
          </a:xfrm>
          <a:prstGeom prst="rect">
            <a:avLst/>
          </a:prstGeom>
          <a:noFill/>
          <a:ln/>
        </p:spPr>
        <p:txBody>
          <a:bodyPr wrap="square" lIns="0" tIns="0" rIns="0" bIns="0" rtlCol="0" anchor="t"/>
          <a:lstStyle/>
          <a:p>
            <a:pPr indent="0" marL="0">
              <a:lnSpc>
                <a:spcPct val="105000"/>
              </a:lnSpc>
              <a:buNone/>
            </a:pPr>
            <a:r>
              <a:rPr lang="en-US" sz="1060" b="1" dirty="0">
                <a:solidFill>
                  <a:srgbClr val="252A3D"/>
                </a:solidFill>
                <a:latin typeface="Arial" pitchFamily="34" charset="0"/>
                <a:ea typeface="Arial" pitchFamily="34" charset="-122"/>
                <a:cs typeface="Arial" pitchFamily="34" charset="-120"/>
              </a:rPr>
              <a:t>Specialists define and maintain the decision rules</a:t>
            </a:r>
            <a:endParaRPr lang="en-US" sz="1080" dirty="0"/>
          </a:p>
        </p:txBody>
      </p:sp>
      <p:sp>
        <p:nvSpPr>
          <p:cNvPr id="25" name="Text 21"/>
          <p:cNvSpPr txBox="1"/>
          <p:nvPr/>
        </p:nvSpPr>
        <p:spPr>
          <a:xfrm>
            <a:off x="8238744" y="4645152"/>
            <a:ext cx="3337560" cy="822960"/>
          </a:xfrm>
          <a:prstGeom prst="rect">
            <a:avLst/>
          </a:prstGeom>
          <a:noFill/>
          <a:ln/>
        </p:spPr>
        <p:txBody>
          <a:bodyPr wrap="square" lIns="0" tIns="0" rIns="0" bIns="0" rtlCol="0" anchor="t"/>
          <a:lstStyle/>
          <a:p>
            <a:pPr indent="0" marL="0">
              <a:lnSpc>
                <a:spcPct val="105000"/>
              </a:lnSpc>
              <a:buNone/>
            </a:pPr>
            <a:r>
              <a:rPr lang="en-US" sz="930" dirty="0">
                <a:solidFill>
                  <a:srgbClr val="252A3D"/>
                </a:solidFill>
                <a:latin typeface="Arial" pitchFamily="34" charset="0"/>
                <a:ea typeface="Arial" pitchFamily="34" charset="-122"/>
                <a:cs typeface="Arial" pitchFamily="34" charset="-120"/>
              </a:rPr>
              <a:t>The thesis expects specialists to spend less time reviewing individual cases and more time writing, testing and updating the rules the AI agents apply. They must retain the expertise needed to handle occasional failures.</a:t>
            </a:r>
            <a:endParaRPr lang="en-US" sz="930" dirty="0"/>
          </a:p>
        </p:txBody>
      </p:sp>
      <p:sp>
        <p:nvSpPr>
          <p:cNvPr id="26" name="Shape 22"/>
          <p:cNvSpPr/>
          <p:nvPr/>
        </p:nvSpPr>
        <p:spPr>
          <a:xfrm>
            <a:off x="457200" y="5650992"/>
            <a:ext cx="11274552" cy="777240"/>
          </a:xfrm>
          <a:prstGeom prst="roundRect">
            <a:avLst>
              <a:gd name="adj" fmla="val 11765"/>
            </a:avLst>
          </a:prstGeom>
          <a:solidFill>
            <a:srgbClr val="FFF5BF"/>
          </a:solidFill>
          <a:ln w="12700">
            <a:solidFill>
              <a:srgbClr val="FFF5BF"/>
            </a:solidFill>
            <a:prstDash val="solid"/>
          </a:ln>
        </p:spPr>
        <p:txBody>
          <a:bodyPr/>
          <a:p/>
        </p:txBody>
      </p:sp>
      <p:pic>
        <p:nvPicPr>
          <p:cNvPr id="27" name="Image 2" descr="preencoded.png">    </p:cNvPr>
          <p:cNvPicPr>
            <a:picLocks noChangeAspect="1"/>
          </p:cNvPicPr>
          <p:nvPr/>
        </p:nvPicPr>
        <p:blipFill>
          <a:blip r:embed="rId3"/>
          <a:stretch>
            <a:fillRect/>
          </a:stretch>
        </p:blipFill>
        <p:spPr>
          <a:xfrm>
            <a:off x="621792" y="5884164"/>
            <a:ext cx="310896" cy="310896"/>
          </a:xfrm>
          <a:prstGeom prst="rect">
            <a:avLst/>
          </a:prstGeom>
        </p:spPr>
      </p:pic>
      <p:sp>
        <p:nvSpPr>
          <p:cNvPr id="28" name="Text 23"/>
          <p:cNvSpPr txBox="1"/>
          <p:nvPr/>
        </p:nvSpPr>
        <p:spPr>
          <a:xfrm>
            <a:off x="1051560" y="5650992"/>
            <a:ext cx="10469880" cy="777240"/>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The company remains responsible for ensuring that the required reviews take place, whoever carries them out. Automation does not remove that responsibility. What changes is the work people do. The paper calls for measuring that change, not just announcing it.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JOBS · WHAT COULD FOLLOW GOVERNANCE AUTOMATION? (FROM THE 66-PAGE THESIS)</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What could come next: insurance, banking and similar work</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thesis expects similar automation to spread from governance reviews to other business activities. The deck cites three examples already in use.</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JOBS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27 / 30</a:t>
            </a:r>
            <a:endParaRPr lang="en-US" sz="1000" dirty="0"/>
          </a:p>
        </p:txBody>
      </p:sp>
      <p:sp>
        <p:nvSpPr>
          <p:cNvPr id="9" name="Shape 7"/>
          <p:cNvSpPr/>
          <p:nvPr/>
        </p:nvSpPr>
        <p:spPr>
          <a:xfrm>
            <a:off x="457200" y="1965960"/>
            <a:ext cx="2788920" cy="3611880"/>
          </a:xfrm>
          <a:prstGeom prst="roundRect">
            <a:avLst>
              <a:gd name="adj" fmla="val 3279"/>
            </a:avLst>
          </a:prstGeom>
          <a:solidFill>
            <a:srgbClr val="DDF5FC"/>
          </a:solidFill>
          <a:ln w="12700">
            <a:solidFill>
              <a:srgbClr val="DDF5FC"/>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2788920" y="2084832"/>
            <a:ext cx="310896" cy="310896"/>
          </a:xfrm>
          <a:prstGeom prst="rect">
            <a:avLst/>
          </a:prstGeom>
        </p:spPr>
      </p:pic>
      <p:sp>
        <p:nvSpPr>
          <p:cNvPr id="11" name="Text 8"/>
          <p:cNvSpPr txBox="1"/>
          <p:nvPr/>
        </p:nvSpPr>
        <p:spPr>
          <a:xfrm>
            <a:off x="621792" y="2103120"/>
            <a:ext cx="2103120" cy="258317"/>
          </a:xfrm>
          <a:prstGeom prst="rect">
            <a:avLst/>
          </a:prstGeom>
          <a:noFill/>
          <a:ln/>
        </p:spPr>
        <p:txBody>
          <a:bodyPr wrap="square" lIns="0" tIns="0" rIns="0" bIns="0" rtlCol="0" anchor="t"/>
          <a:lstStyle/>
          <a:p>
            <a:pPr indent="0" marL="0">
              <a:lnSpc>
                <a:spcPct val="105000"/>
              </a:lnSpc>
              <a:buNone/>
            </a:pPr>
            <a:r>
              <a:rPr lang="en-US" sz="750" b="1" spc="50" kern="0" dirty="0">
                <a:solidFill>
                  <a:srgbClr val="1B6E93"/>
                </a:solidFill>
                <a:latin typeface="Arial" pitchFamily="34" charset="0"/>
                <a:ea typeface="Arial" pitchFamily="34" charset="-122"/>
                <a:cs typeface="Arial" pitchFamily="34" charset="-120"/>
              </a:rPr>
              <a:t>THE WORK FOLLOWS A SIMILAR PROCESS</a:t>
            </a:r>
            <a:endParaRPr lang="en-US" sz="950" dirty="0"/>
          </a:p>
        </p:txBody>
      </p:sp>
      <p:sp>
        <p:nvSpPr>
          <p:cNvPr id="12" name="Text 9"/>
          <p:cNvSpPr txBox="1"/>
          <p:nvPr/>
        </p:nvSpPr>
        <p:spPr>
          <a:xfrm>
            <a:off x="621792" y="2452877"/>
            <a:ext cx="2487168" cy="1131570"/>
          </a:xfrm>
          <a:prstGeom prst="rect">
            <a:avLst/>
          </a:prstGeom>
          <a:noFill/>
          <a:ln/>
        </p:spPr>
        <p:txBody>
          <a:bodyPr wrap="square" lIns="0" tIns="0" rIns="0" bIns="0" rtlCol="0" anchor="t"/>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The reviewer receives an insurance application, a claim or a loan request. The result is a price, a payment, an approval or a rejection. Read the file, check the rules, make a decision and explain it using supporting sources.</a:t>
            </a:r>
            <a:endParaRPr lang="en-US" sz="1000" dirty="0"/>
          </a:p>
        </p:txBody>
      </p:sp>
      <p:sp>
        <p:nvSpPr>
          <p:cNvPr id="13" name="Text 10"/>
          <p:cNvSpPr txBox="1"/>
          <p:nvPr/>
        </p:nvSpPr>
        <p:spPr>
          <a:xfrm>
            <a:off x="621792" y="3611880"/>
            <a:ext cx="2487168" cy="1371600"/>
          </a:xfrm>
          <a:prstGeom prst="rect">
            <a:avLst/>
          </a:prstGeom>
          <a:noFill/>
          <a:ln/>
        </p:spPr>
        <p:txBody>
          <a:bodyPr wrap="square" lIns="0" tIns="0" rIns="0" bIns="0" rtlCol="0" anchor="t"/>
          <a:lstStyle/>
          <a:p>
            <a:pPr marL="127000" indent="-127000">
              <a:lnSpc>
                <a:spcPct val="105000"/>
              </a:lnSpc>
              <a:spcAft>
                <a:spcPts val="400"/>
              </a:spcAft>
              <a:buSzPct val="100000"/>
              <a:buChar char="•"/>
            </a:pPr>
            <a:r>
              <a:rPr lang="en-US" sz="980" b="1" dirty="0">
                <a:solidFill>
                  <a:srgbClr val="252A3D"/>
                </a:solidFill>
                <a:latin typeface="Arial" pitchFamily="34" charset="0"/>
                <a:ea typeface="Arial" pitchFamily="34" charset="-122"/>
                <a:cs typeface="Arial" pitchFamily="34" charset="-120"/>
              </a:rPr>
              <a:t>Insurance: </a:t>
            </a:r>
            <a:r>
              <a:rPr lang="en-US" sz="980" dirty="0">
                <a:solidFill>
                  <a:srgbClr val="252A3D"/>
                </a:solidFill>
                <a:latin typeface="Arial" pitchFamily="34" charset="0"/>
                <a:ea typeface="Arial" pitchFamily="34" charset="-122"/>
                <a:cs typeface="Arial" pitchFamily="34" charset="-120"/>
              </a:rPr>
              <a:t>underwriters, claims adjusters</a:t>
            </a:r>
            <a:endParaRPr lang="en-US" sz="980" dirty="0"/>
          </a:p>
          <a:p>
            <a:pPr marL="127000" indent="-127000">
              <a:lnSpc>
                <a:spcPct val="105000"/>
              </a:lnSpc>
              <a:spcAft>
                <a:spcPts val="400"/>
              </a:spcAft>
              <a:buSzPct val="100000"/>
              <a:buChar char="•"/>
            </a:pPr>
            <a:r>
              <a:rPr lang="en-US" sz="980" b="1" dirty="0">
                <a:solidFill>
                  <a:srgbClr val="252A3D"/>
                </a:solidFill>
                <a:latin typeface="Arial" pitchFamily="34" charset="0"/>
                <a:ea typeface="Arial" pitchFamily="34" charset="-122"/>
                <a:cs typeface="Arial" pitchFamily="34" charset="-120"/>
              </a:rPr>
              <a:t>Banking: </a:t>
            </a:r>
            <a:r>
              <a:rPr lang="en-US" sz="980" dirty="0">
                <a:solidFill>
                  <a:srgbClr val="252A3D"/>
                </a:solidFill>
                <a:latin typeface="Arial" pitchFamily="34" charset="0"/>
                <a:ea typeface="Arial" pitchFamily="34" charset="-122"/>
                <a:cs typeface="Arial" pitchFamily="34" charset="-120"/>
              </a:rPr>
              <a:t>loan officers, credit analysts</a:t>
            </a:r>
            <a:endParaRPr lang="en-US" sz="980" dirty="0"/>
          </a:p>
          <a:p>
            <a:pPr marL="127000" indent="-127000">
              <a:lnSpc>
                <a:spcPct val="105000"/>
              </a:lnSpc>
              <a:spcAft>
                <a:spcPts val="400"/>
              </a:spcAft>
              <a:buSzPct val="100000"/>
              <a:buChar char="•"/>
            </a:pPr>
            <a:r>
              <a:rPr lang="en-US" sz="980" dirty="0">
                <a:solidFill>
                  <a:srgbClr val="252A3D"/>
                </a:solidFill>
                <a:latin typeface="Arial" pitchFamily="34" charset="0"/>
                <a:ea typeface="Arial" pitchFamily="34" charset="-122"/>
                <a:cs typeface="Arial" pitchFamily="34" charset="-120"/>
              </a:rPr>
              <a:t>Mortgage processing, customs declarations and drug-safety case reviews</a:t>
            </a:r>
            <a:endParaRPr lang="en-US" sz="980" dirty="0"/>
          </a:p>
        </p:txBody>
      </p:sp>
      <p:sp>
        <p:nvSpPr>
          <p:cNvPr id="14" name="Text 11"/>
          <p:cNvSpPr txBox="1"/>
          <p:nvPr/>
        </p:nvSpPr>
        <p:spPr>
          <a:xfrm>
            <a:off x="621792" y="5074920"/>
            <a:ext cx="2487168" cy="411480"/>
          </a:xfrm>
          <a:prstGeom prst="rect">
            <a:avLst/>
          </a:prstGeom>
          <a:noFill/>
          <a:ln/>
        </p:spPr>
        <p:txBody>
          <a:bodyPr wrap="square" lIns="0" tIns="0" rIns="0" bIns="0" rtlCol="0" anchor="t"/>
          <a:lstStyle/>
          <a:p>
            <a:pPr indent="0" marL="0">
              <a:lnSpc>
                <a:spcPct val="105000"/>
              </a:lnSpc>
              <a:buNone/>
            </a:pPr>
            <a:r>
              <a:rPr lang="en-US" sz="840" i="1" dirty="0">
                <a:solidFill>
                  <a:srgbClr val="5B6575"/>
                </a:solidFill>
                <a:latin typeface="Arial" pitchFamily="34" charset="0"/>
                <a:ea typeface="Arial" pitchFamily="34" charset="-122"/>
                <a:cs typeface="Arial" pitchFamily="34" charset="-120"/>
              </a:rPr>
              <a:t>This extension to other sectors is a hypothesis in the thesis, not a result measured by the experiment.</a:t>
            </a:r>
            <a:endParaRPr lang="en-US" sz="880" dirty="0"/>
          </a:p>
        </p:txBody>
      </p:sp>
      <p:sp>
        <p:nvSpPr>
          <p:cNvPr id="15" name="Shape 12"/>
          <p:cNvSpPr/>
          <p:nvPr/>
        </p:nvSpPr>
        <p:spPr>
          <a:xfrm>
            <a:off x="3429000" y="1965960"/>
            <a:ext cx="4846320" cy="1115568"/>
          </a:xfrm>
          <a:prstGeom prst="roundRect">
            <a:avLst>
              <a:gd name="adj" fmla="val 8197"/>
            </a:avLst>
          </a:prstGeom>
          <a:solidFill>
            <a:srgbClr val="FFF5BF"/>
          </a:solidFill>
          <a:ln w="12700">
            <a:solidFill>
              <a:srgbClr val="FFF5BF"/>
            </a:solidFill>
            <a:prstDash val="solid"/>
          </a:ln>
        </p:spPr>
        <p:txBody>
          <a:bodyPr/>
          <a:p/>
        </p:txBody>
      </p:sp>
      <p:sp>
        <p:nvSpPr>
          <p:cNvPr id="16" name="Text 13"/>
          <p:cNvSpPr txBox="1"/>
          <p:nvPr/>
        </p:nvSpPr>
        <p:spPr>
          <a:xfrm>
            <a:off x="3593592" y="2057400"/>
            <a:ext cx="4526280" cy="20116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Allianz · agents process small claims; people authorize payments</a:t>
            </a:r>
            <a:endParaRPr lang="en-US" sz="1000" dirty="0"/>
          </a:p>
        </p:txBody>
      </p:sp>
      <p:sp>
        <p:nvSpPr>
          <p:cNvPr id="17" name="Text 14"/>
          <p:cNvSpPr txBox="1"/>
          <p:nvPr/>
        </p:nvSpPr>
        <p:spPr>
          <a:xfrm>
            <a:off x="3593592" y="2276856"/>
            <a:ext cx="4526280"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In the example cited, seven agents process small food-spoilage claims in Australia by checking coverage and weather, screening for fraud and calculating the payment. Settlement time fell from days to hours, described as about 80% faster. A claims professional still authorizes each payment. This measures turnaround time, not human working hours saved.</a:t>
            </a:r>
            <a:endParaRPr lang="en-US" sz="860" dirty="0"/>
          </a:p>
        </p:txBody>
      </p:sp>
      <p:sp>
        <p:nvSpPr>
          <p:cNvPr id="18" name="Shape 15"/>
          <p:cNvSpPr/>
          <p:nvPr/>
        </p:nvSpPr>
        <p:spPr>
          <a:xfrm>
            <a:off x="3429000" y="3214116"/>
            <a:ext cx="4846320" cy="1115568"/>
          </a:xfrm>
          <a:prstGeom prst="roundRect">
            <a:avLst>
              <a:gd name="adj" fmla="val 8197"/>
            </a:avLst>
          </a:prstGeom>
          <a:solidFill>
            <a:srgbClr val="E5F6E9"/>
          </a:solidFill>
          <a:ln w="12700">
            <a:solidFill>
              <a:srgbClr val="E5F6E9"/>
            </a:solidFill>
            <a:prstDash val="solid"/>
          </a:ln>
        </p:spPr>
        <p:txBody>
          <a:bodyPr/>
          <a:p/>
        </p:txBody>
      </p:sp>
      <p:sp>
        <p:nvSpPr>
          <p:cNvPr id="19" name="Text 16"/>
          <p:cNvSpPr txBox="1"/>
          <p:nvPr/>
        </p:nvSpPr>
        <p:spPr>
          <a:xfrm>
            <a:off x="3593592" y="3305556"/>
            <a:ext cx="4526280" cy="20116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AIG · agents prepare the analysis; an underwriter decides</a:t>
            </a:r>
            <a:endParaRPr lang="en-US" sz="1000" dirty="0"/>
          </a:p>
        </p:txBody>
      </p:sp>
      <p:sp>
        <p:nvSpPr>
          <p:cNvPr id="20" name="Text 17"/>
          <p:cNvSpPr txBox="1"/>
          <p:nvPr/>
        </p:nvSpPr>
        <p:spPr>
          <a:xfrm>
            <a:off x="3593592" y="3525012"/>
            <a:ext cx="4526280"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Working with Palantir and Anthropic, AIG built agents that read insurance applications, assess risks against underwriting rules, compare pricing and prepare a summary. A human underwriter makes the decision. This allows every application to be reviewed without hiring additional underwriters.</a:t>
            </a:r>
            <a:endParaRPr lang="en-US" sz="860" dirty="0"/>
          </a:p>
        </p:txBody>
      </p:sp>
      <p:sp>
        <p:nvSpPr>
          <p:cNvPr id="21" name="Shape 18"/>
          <p:cNvSpPr/>
          <p:nvPr/>
        </p:nvSpPr>
        <p:spPr>
          <a:xfrm>
            <a:off x="3429000" y="4462272"/>
            <a:ext cx="4846320" cy="1115568"/>
          </a:xfrm>
          <a:prstGeom prst="roundRect">
            <a:avLst>
              <a:gd name="adj" fmla="val 8197"/>
            </a:avLst>
          </a:prstGeom>
          <a:solidFill>
            <a:srgbClr val="EFE8FA"/>
          </a:solidFill>
          <a:ln w="12700">
            <a:solidFill>
              <a:srgbClr val="EFE8FA"/>
            </a:solidFill>
            <a:prstDash val="solid"/>
          </a:ln>
        </p:spPr>
        <p:txBody>
          <a:bodyPr/>
          <a:p/>
        </p:txBody>
      </p:sp>
      <p:sp>
        <p:nvSpPr>
          <p:cNvPr id="22" name="Text 19"/>
          <p:cNvSpPr txBox="1"/>
          <p:nvPr/>
        </p:nvSpPr>
        <p:spPr>
          <a:xfrm>
            <a:off x="3593592" y="4553712"/>
            <a:ext cx="4526280" cy="201168"/>
          </a:xfrm>
          <a:prstGeom prst="rect">
            <a:avLst/>
          </a:prstGeom>
          <a:noFill/>
          <a:ln/>
        </p:spPr>
        <p:txBody>
          <a:bodyPr wrap="square" lIns="0" tIns="0" rIns="0" bIns="0" rtlCol="0" anchor="t"/>
          <a:lstStyle/>
          <a:p>
            <a:pPr indent="0" marL="0">
              <a:lnSpc>
                <a:spcPct val="105000"/>
              </a:lnSpc>
              <a:buNone/>
            </a:pPr>
            <a:r>
              <a:rPr lang="en-US" sz="1000" b="1" dirty="0">
                <a:solidFill>
                  <a:srgbClr val="252A3D"/>
                </a:solidFill>
                <a:latin typeface="Arial" pitchFamily="34" charset="0"/>
                <a:ea typeface="Arial" pitchFamily="34" charset="-122"/>
                <a:cs typeface="Arial" pitchFamily="34" charset="-120"/>
              </a:rPr>
              <a:t>Upstart · most funded loans are approved without human review</a:t>
            </a:r>
            <a:endParaRPr lang="en-US" sz="1000" dirty="0"/>
          </a:p>
        </p:txBody>
      </p:sp>
      <p:sp>
        <p:nvSpPr>
          <p:cNvPr id="23" name="Text 20"/>
          <p:cNvSpPr txBox="1"/>
          <p:nvPr/>
        </p:nvSpPr>
        <p:spPr>
          <a:xfrm>
            <a:off x="3593592" y="4773168"/>
            <a:ext cx="4526280" cy="777240"/>
          </a:xfrm>
          <a:prstGeom prst="rect">
            <a:avLst/>
          </a:prstGeom>
          <a:noFill/>
          <a:ln/>
        </p:spPr>
        <p:txBody>
          <a:bodyPr wrap="square" lIns="0" tIns="0" rIns="0" bIns="0" rtlCol="0" anchor="t"/>
          <a:lstStyle/>
          <a:p>
            <a:pPr indent="0" marL="0">
              <a:lnSpc>
                <a:spcPct val="105000"/>
              </a:lnSpc>
              <a:buNone/>
            </a:pPr>
            <a:r>
              <a:rPr lang="en-US" sz="860" dirty="0">
                <a:solidFill>
                  <a:srgbClr val="252A3D"/>
                </a:solidFill>
                <a:latin typeface="Arial" pitchFamily="34" charset="0"/>
                <a:ea typeface="Arial" pitchFamily="34" charset="-122"/>
                <a:cs typeface="Arial" pitchFamily="34" charset="-120"/>
              </a:rPr>
              <a:t>More than 90% of loans that Upstart funds are approved without human involvement, while about a quarter of all applications are referred to a person. These percentages use different totals: funded loans and all applications. For some products, automation covers approval but not the later steps. The example shows why the scope of measurement matters.</a:t>
            </a:r>
            <a:endParaRPr lang="en-US" sz="860" dirty="0"/>
          </a:p>
        </p:txBody>
      </p:sp>
      <p:sp>
        <p:nvSpPr>
          <p:cNvPr id="24" name="Shape 21"/>
          <p:cNvSpPr/>
          <p:nvPr/>
        </p:nvSpPr>
        <p:spPr>
          <a:xfrm>
            <a:off x="8458200" y="1965960"/>
            <a:ext cx="3273552" cy="3611880"/>
          </a:xfrm>
          <a:prstGeom prst="roundRect">
            <a:avLst>
              <a:gd name="adj" fmla="val 2793"/>
            </a:avLst>
          </a:prstGeom>
          <a:solidFill>
            <a:srgbClr val="FFE4E6"/>
          </a:solidFill>
          <a:ln w="12700">
            <a:solidFill>
              <a:srgbClr val="FFE4E6"/>
            </a:solidFill>
            <a:prstDash val="solid"/>
          </a:ln>
        </p:spPr>
        <p:txBody>
          <a:bodyPr/>
          <a:p/>
        </p:txBody>
      </p:sp>
      <p:sp>
        <p:nvSpPr>
          <p:cNvPr id="25" name="Text 22"/>
          <p:cNvSpPr txBox="1"/>
          <p:nvPr/>
        </p:nvSpPr>
        <p:spPr>
          <a:xfrm>
            <a:off x="8622792" y="2103120"/>
            <a:ext cx="2926080" cy="258317"/>
          </a:xfrm>
          <a:prstGeom prst="rect">
            <a:avLst/>
          </a:prstGeom>
          <a:noFill/>
          <a:ln/>
        </p:spPr>
        <p:txBody>
          <a:bodyPr wrap="square" lIns="0" tIns="0" rIns="0" bIns="0" rtlCol="0" anchor="t"/>
          <a:lstStyle/>
          <a:p>
            <a:pPr indent="0" marL="0">
              <a:lnSpc>
                <a:spcPct val="105000"/>
              </a:lnSpc>
              <a:buNone/>
            </a:pPr>
            <a:r>
              <a:rPr lang="en-US" sz="750" b="1" spc="50" kern="0" dirty="0">
                <a:solidFill>
                  <a:srgbClr val="C8283E"/>
                </a:solidFill>
                <a:latin typeface="Arial" pitchFamily="34" charset="0"/>
                <a:ea typeface="Arial" pitchFamily="34" charset="-122"/>
                <a:cs typeface="Arial" pitchFamily="34" charset="-120"/>
              </a:rPr>
              <a:t>WHY THE THESIS EXPECTS THESE AREAS TO FOLLOW LATER</a:t>
            </a:r>
            <a:endParaRPr lang="en-US" sz="950" dirty="0"/>
          </a:p>
        </p:txBody>
      </p:sp>
      <p:sp>
        <p:nvSpPr>
          <p:cNvPr id="26" name="Text 23"/>
          <p:cNvSpPr txBox="1"/>
          <p:nvPr/>
        </p:nvSpPr>
        <p:spPr>
          <a:xfrm>
            <a:off x="8622792" y="2489453"/>
            <a:ext cx="2971800" cy="3006090"/>
          </a:xfrm>
          <a:prstGeom prst="rect">
            <a:avLst/>
          </a:prstGeom>
          <a:noFill/>
          <a:ln/>
        </p:spPr>
        <p:txBody>
          <a:bodyPr wrap="square" lIns="0" tIns="0" rIns="0" bIns="0" rtlCol="0" anchor="t"/>
          <a:lstStyle/>
          <a:p>
            <a:pPr marL="127000" indent="-127000">
              <a:lnSpc>
                <a:spcPct val="105000"/>
              </a:lnSpc>
              <a:spcAft>
                <a:spcPts val="500"/>
              </a:spcAft>
              <a:buSzPct val="100000"/>
              <a:buChar char="•"/>
            </a:pPr>
            <a:r>
              <a:rPr lang="en-US" sz="920" b="1" dirty="0">
                <a:solidFill>
                  <a:srgbClr val="252A3D"/>
                </a:solidFill>
                <a:latin typeface="Arial" pitchFamily="34" charset="0"/>
                <a:ea typeface="Arial" pitchFamily="34" charset="-122"/>
                <a:cs typeface="Arial" pitchFamily="34" charset="-120"/>
              </a:rPr>
              <a:t>These decisions directly affect people. </a:t>
            </a:r>
            <a:r>
              <a:rPr lang="en-US" sz="920" dirty="0">
                <a:solidFill>
                  <a:srgbClr val="252A3D"/>
                </a:solidFill>
                <a:latin typeface="Arial" pitchFamily="34" charset="0"/>
                <a:ea typeface="Arial" pitchFamily="34" charset="-122"/>
                <a:cs typeface="Arial" pitchFamily="34" charset="-120"/>
              </a:rPr>
              <a:t>The thesis identifies credit scoring and health or life insurance pricing as high-risk AI uses under the EU AI Act and notes that European data-protection law restricts fully automated decisions about individuals.</a:t>
            </a:r>
            <a:endParaRPr lang="en-US" sz="920" dirty="0"/>
          </a:p>
          <a:p>
            <a:pPr marL="127000" indent="-127000">
              <a:lnSpc>
                <a:spcPct val="105000"/>
              </a:lnSpc>
              <a:spcAft>
                <a:spcPts val="500"/>
              </a:spcAft>
              <a:buSzPct val="100000"/>
              <a:buChar char="•"/>
            </a:pPr>
            <a:r>
              <a:rPr lang="en-US" sz="920" dirty="0">
                <a:solidFill>
                  <a:srgbClr val="252A3D"/>
                </a:solidFill>
                <a:latin typeface="Arial" pitchFamily="34" charset="0"/>
                <a:ea typeface="Arial" pitchFamily="34" charset="-122"/>
                <a:cs typeface="Arial" pitchFamily="34" charset="-120"/>
              </a:rPr>
              <a:t>Each industry needs its own approach, so a sector-specific solution can be reused across fewer companies than a governance-review solution.</a:t>
            </a:r>
            <a:endParaRPr lang="en-US" sz="920" dirty="0"/>
          </a:p>
          <a:p>
            <a:pPr marL="127000" indent="-127000">
              <a:lnSpc>
                <a:spcPct val="105000"/>
              </a:lnSpc>
              <a:spcAft>
                <a:spcPts val="500"/>
              </a:spcAft>
              <a:buSzPct val="100000"/>
              <a:buChar char="•"/>
            </a:pPr>
            <a:r>
              <a:rPr lang="en-US" sz="920" dirty="0">
                <a:solidFill>
                  <a:srgbClr val="252A3D"/>
                </a:solidFill>
                <a:latin typeface="Arial" pitchFamily="34" charset="0"/>
                <a:ea typeface="Arial" pitchFamily="34" charset="-122"/>
                <a:cs typeface="Arial" pitchFamily="34" charset="-120"/>
              </a:rPr>
              <a:t>The work involves far more staff than the illustrative 140-person governance team, so the potential effect is larger.</a:t>
            </a:r>
            <a:endParaRPr lang="en-US" sz="920" dirty="0"/>
          </a:p>
        </p:txBody>
      </p:sp>
      <p:sp>
        <p:nvSpPr>
          <p:cNvPr id="27" name="Shape 24"/>
          <p:cNvSpPr/>
          <p:nvPr/>
        </p:nvSpPr>
        <p:spPr>
          <a:xfrm>
            <a:off x="457200" y="5742432"/>
            <a:ext cx="11274552" cy="713232"/>
          </a:xfrm>
          <a:prstGeom prst="roundRect">
            <a:avLst>
              <a:gd name="adj" fmla="val 12821"/>
            </a:avLst>
          </a:prstGeom>
          <a:solidFill>
            <a:srgbClr val="FFF5BF"/>
          </a:solidFill>
          <a:ln w="12700">
            <a:solidFill>
              <a:srgbClr val="FFF5BF"/>
            </a:solidFill>
            <a:prstDash val="solid"/>
          </a:ln>
        </p:spPr>
        <p:txBody>
          <a:bodyPr/>
          <a:p/>
        </p:txBody>
      </p:sp>
      <p:pic>
        <p:nvPicPr>
          <p:cNvPr id="28" name="Image 1" descr="preencoded.png">    </p:cNvPr>
          <p:cNvPicPr>
            <a:picLocks noChangeAspect="1"/>
          </p:cNvPicPr>
          <p:nvPr/>
        </p:nvPicPr>
        <p:blipFill>
          <a:blip r:embed="rId2"/>
          <a:stretch>
            <a:fillRect/>
          </a:stretch>
        </p:blipFill>
        <p:spPr>
          <a:xfrm>
            <a:off x="621792" y="5943600"/>
            <a:ext cx="310896" cy="310896"/>
          </a:xfrm>
          <a:prstGeom prst="rect">
            <a:avLst/>
          </a:prstGeom>
        </p:spPr>
      </p:pic>
      <p:sp>
        <p:nvSpPr>
          <p:cNvPr id="29" name="Text 25"/>
          <p:cNvSpPr txBox="1"/>
          <p:nvPr/>
        </p:nvSpPr>
        <p:spPr>
          <a:xfrm>
            <a:off x="1051560" y="5742432"/>
            <a:ext cx="10469880" cy="713232"/>
          </a:xfrm>
          <a:prstGeom prst="rect">
            <a:avLst/>
          </a:prstGeom>
          <a:noFill/>
          <a:ln/>
        </p:spPr>
        <p:txBody>
          <a:bodyPr wrap="square" lIns="0" tIns="0" rIns="0" bIns="0" rtlCol="0" anchor="ctr"/>
          <a:lstStyle/>
          <a:p>
            <a:pPr indent="0" marL="0">
              <a:lnSpc>
                <a:spcPct val="105000"/>
              </a:lnSpc>
              <a:buNone/>
            </a:pPr>
            <a:r>
              <a:rPr lang="en-US" sz="1150" dirty="0">
                <a:solidFill>
                  <a:srgbClr val="252A3D"/>
                </a:solidFill>
                <a:latin typeface="Arial" pitchFamily="34" charset="0"/>
                <a:ea typeface="Arial" pitchFamily="34" charset="-122"/>
                <a:cs typeface="Arial" pitchFamily="34" charset="-120"/>
              </a:rPr>
              <a:t>The deck contrasts automated routine claims and small loans with complex commercial risks and disputed claims that still require people. The thesis predicts that these more complex cases will also become automated. Every automation project must itself go through the company’s required reviews. This is the thesis’s reason for expecting governance reviews to be automated first.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CONCLUSION</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Key takeaways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430" dirty="0">
                <a:solidFill>
                  <a:srgbClr val="5B6575"/>
                </a:solidFill>
                <a:latin typeface="Arial" pitchFamily="34" charset="0"/>
                <a:ea typeface="Arial" pitchFamily="34" charset="-122"/>
                <a:cs typeface="Arial" pitchFamily="34" charset="-120"/>
              </a:rPr>
              <a:t>The project review remains mandatory. A specialist or an AI agent can carry it out. All remaining human work must be included in the cost.</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CONCLUSION</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28 / 30</a:t>
            </a:r>
            <a:endParaRPr lang="en-US" sz="1000" dirty="0"/>
          </a:p>
        </p:txBody>
      </p:sp>
      <p:sp>
        <p:nvSpPr>
          <p:cNvPr id="9" name="Shape 7"/>
          <p:cNvSpPr/>
          <p:nvPr/>
        </p:nvSpPr>
        <p:spPr>
          <a:xfrm>
            <a:off x="457200" y="1965960"/>
            <a:ext cx="2651760" cy="2514600"/>
          </a:xfrm>
          <a:prstGeom prst="roundRect">
            <a:avLst>
              <a:gd name="adj" fmla="val 3636"/>
            </a:avLst>
          </a:prstGeom>
          <a:solidFill>
            <a:srgbClr val="DDF5FC"/>
          </a:solidFill>
          <a:ln w="12700">
            <a:solidFill>
              <a:srgbClr val="DDF5FC"/>
            </a:solidFill>
            <a:prstDash val="solid"/>
          </a:ln>
        </p:spPr>
        <p:txBody>
          <a:bodyPr/>
          <a:p/>
        </p:txBody>
      </p:sp>
      <p:sp>
        <p:nvSpPr>
          <p:cNvPr id="10" name="Text 8"/>
          <p:cNvSpPr txBox="1"/>
          <p:nvPr/>
        </p:nvSpPr>
        <p:spPr>
          <a:xfrm>
            <a:off x="640080" y="2130552"/>
            <a:ext cx="2286000" cy="502920"/>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FDEs put AI to work in companies</a:t>
            </a:r>
            <a:endParaRPr lang="en-US" sz="1400" dirty="0"/>
          </a:p>
        </p:txBody>
      </p:sp>
      <p:sp>
        <p:nvSpPr>
          <p:cNvPr id="11" name="Text 9"/>
          <p:cNvSpPr txBox="1"/>
          <p:nvPr/>
        </p:nvSpPr>
        <p:spPr>
          <a:xfrm>
            <a:off x="640080" y="2615184"/>
            <a:ext cx="2286000" cy="1207007"/>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Forward Deployed Engineers connect AI to a company’s documents, rules and teams so it can support business processes. The paper proposes governance reviews as a likely starting point and calls for measuring all human work that remains.</a:t>
            </a:r>
            <a:endParaRPr lang="en-US" sz="1020" dirty="0"/>
          </a:p>
        </p:txBody>
      </p:sp>
      <p:sp>
        <p:nvSpPr>
          <p:cNvPr id="12" name="Shape 10"/>
          <p:cNvSpPr/>
          <p:nvPr/>
        </p:nvSpPr>
        <p:spPr>
          <a:xfrm>
            <a:off x="2432304" y="3803904"/>
            <a:ext cx="493776" cy="493776"/>
          </a:xfrm>
          <a:prstGeom prst="ellipse">
            <a:avLst/>
          </a:prstGeom>
          <a:solidFill>
            <a:srgbClr val="FFFFFF"/>
          </a:solidFill>
          <a:ln w="12700">
            <a:solidFill>
              <a:srgbClr val="FFFFFF"/>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2542032" y="3913632"/>
            <a:ext cx="274320" cy="274320"/>
          </a:xfrm>
          <a:prstGeom prst="rect">
            <a:avLst/>
          </a:prstGeom>
        </p:spPr>
      </p:pic>
      <p:sp>
        <p:nvSpPr>
          <p:cNvPr id="14" name="Shape 11"/>
          <p:cNvSpPr/>
          <p:nvPr/>
        </p:nvSpPr>
        <p:spPr>
          <a:xfrm>
            <a:off x="3332988" y="1965960"/>
            <a:ext cx="2651760" cy="2514600"/>
          </a:xfrm>
          <a:prstGeom prst="roundRect">
            <a:avLst>
              <a:gd name="adj" fmla="val 3636"/>
            </a:avLst>
          </a:prstGeom>
          <a:solidFill>
            <a:srgbClr val="FFE4E6"/>
          </a:solidFill>
          <a:ln w="12700">
            <a:solidFill>
              <a:srgbClr val="FFE4E6"/>
            </a:solidFill>
            <a:prstDash val="solid"/>
          </a:ln>
        </p:spPr>
        <p:txBody>
          <a:bodyPr/>
          <a:p/>
        </p:txBody>
      </p:sp>
      <p:sp>
        <p:nvSpPr>
          <p:cNvPr id="15" name="Text 12"/>
          <p:cNvSpPr txBox="1"/>
          <p:nvPr/>
        </p:nvSpPr>
        <p:spPr>
          <a:xfrm>
            <a:off x="3515868" y="2130552"/>
            <a:ext cx="2286000" cy="502920"/>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AI agents can carry out governance reviews</a:t>
            </a:r>
            <a:endParaRPr lang="en-US" sz="1400" dirty="0"/>
          </a:p>
        </p:txBody>
      </p:sp>
      <p:sp>
        <p:nvSpPr>
          <p:cNvPr id="16" name="Text 13"/>
          <p:cNvSpPr txBox="1"/>
          <p:nvPr/>
        </p:nvSpPr>
        <p:spPr>
          <a:xfrm>
            <a:off x="3515868" y="2615184"/>
            <a:ext cx="2286000" cy="1207007"/>
          </a:xfrm>
          <a:prstGeom prst="rect">
            <a:avLst/>
          </a:prstGeom>
          <a:noFill/>
          <a:ln/>
        </p:spPr>
        <p:txBody>
          <a:bodyPr wrap="square" lIns="0" tIns="0" rIns="0" bIns="0" rtlCol="0" anchor="t"/>
          <a:lstStyle/>
          <a:p>
            <a:pPr indent="0" marL="0">
              <a:lnSpc>
                <a:spcPct val="105000"/>
              </a:lnSpc>
              <a:buNone/>
            </a:pPr>
            <a:r>
              <a:rPr lang="en-US" sz="1000" dirty="0">
                <a:solidFill>
                  <a:srgbClr val="252A3D"/>
                </a:solidFill>
                <a:latin typeface="Arial" pitchFamily="34" charset="0"/>
                <a:ea typeface="Arial" pitchFamily="34" charset="-122"/>
                <a:cs typeface="Arial" pitchFamily="34" charset="-120"/>
              </a:rPr>
              <a:t>These reviews recur, follow written rules and produce results that can be checked. That makes them a plausible starting point for automation, provided the agent can access the relevant company records.</a:t>
            </a:r>
            <a:endParaRPr lang="en-US" sz="1020" dirty="0"/>
          </a:p>
        </p:txBody>
      </p:sp>
      <p:sp>
        <p:nvSpPr>
          <p:cNvPr id="17" name="Shape 14"/>
          <p:cNvSpPr/>
          <p:nvPr/>
        </p:nvSpPr>
        <p:spPr>
          <a:xfrm>
            <a:off x="5308092" y="3803904"/>
            <a:ext cx="493776" cy="493776"/>
          </a:xfrm>
          <a:prstGeom prst="ellipse">
            <a:avLst/>
          </a:prstGeom>
          <a:solidFill>
            <a:srgbClr val="FFFFFF"/>
          </a:solidFill>
          <a:ln w="12700">
            <a:solidFill>
              <a:srgbClr val="FFFFFF"/>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5417820" y="3913632"/>
            <a:ext cx="274320" cy="274320"/>
          </a:xfrm>
          <a:prstGeom prst="rect">
            <a:avLst/>
          </a:prstGeom>
        </p:spPr>
      </p:pic>
      <p:sp>
        <p:nvSpPr>
          <p:cNvPr id="19" name="Shape 15"/>
          <p:cNvSpPr/>
          <p:nvPr/>
        </p:nvSpPr>
        <p:spPr>
          <a:xfrm>
            <a:off x="6208776" y="1965960"/>
            <a:ext cx="2651760" cy="2514600"/>
          </a:xfrm>
          <a:prstGeom prst="roundRect">
            <a:avLst>
              <a:gd name="adj" fmla="val 3636"/>
            </a:avLst>
          </a:prstGeom>
          <a:solidFill>
            <a:srgbClr val="E5F6E9"/>
          </a:solidFill>
          <a:ln w="12700">
            <a:solidFill>
              <a:srgbClr val="E5F6E9"/>
            </a:solidFill>
            <a:prstDash val="solid"/>
          </a:ln>
        </p:spPr>
        <p:txBody>
          <a:bodyPr/>
          <a:p/>
        </p:txBody>
      </p:sp>
      <p:sp>
        <p:nvSpPr>
          <p:cNvPr id="20" name="Text 16"/>
          <p:cNvSpPr txBox="1"/>
          <p:nvPr/>
        </p:nvSpPr>
        <p:spPr>
          <a:xfrm>
            <a:off x="6391656" y="2130552"/>
            <a:ext cx="2286000" cy="502920"/>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The agent’s performance varies</a:t>
            </a:r>
            <a:endParaRPr lang="en-US" sz="1400" dirty="0"/>
          </a:p>
        </p:txBody>
      </p:sp>
      <p:sp>
        <p:nvSpPr>
          <p:cNvPr id="21" name="Text 17"/>
          <p:cNvSpPr txBox="1"/>
          <p:nvPr/>
        </p:nvSpPr>
        <p:spPr>
          <a:xfrm>
            <a:off x="6391656" y="2615184"/>
            <a:ext cx="2286000" cy="1207007"/>
          </a:xfrm>
          <a:prstGeom prst="rect">
            <a:avLst/>
          </a:prstGeom>
          <a:noFill/>
          <a:ln/>
        </p:spPr>
        <p:txBody>
          <a:bodyPr wrap="square" lIns="0" tIns="0" rIns="0" bIns="0" rtlCol="0" anchor="t"/>
          <a:lstStyle/>
          <a:p>
            <a:pPr indent="0" marL="0">
              <a:lnSpc>
                <a:spcPct val="105000"/>
              </a:lnSpc>
              <a:buNone/>
            </a:pPr>
            <a:r>
              <a:rPr lang="en-US" sz="740" dirty="0">
                <a:solidFill>
                  <a:srgbClr val="252A3D"/>
                </a:solidFill>
                <a:latin typeface="Arial" pitchFamily="34" charset="0"/>
                <a:ea typeface="Arial" pitchFamily="34" charset="-122"/>
                <a:cs typeface="Arial" pitchFamily="34" charset="-120"/>
              </a:rPr>
              <a:t>Agents made the correct decision in almost every case and met all five review criteria in 74–95% of reviews. A project that passed once did not always pass again. Exact source citations and consistency across runs were the main weaknesses, rather than the decisions themselves.</a:t>
            </a:r>
            <a:endParaRPr lang="en-US" sz="1020" dirty="0"/>
          </a:p>
        </p:txBody>
      </p:sp>
      <p:sp>
        <p:nvSpPr>
          <p:cNvPr id="22" name="Shape 18"/>
          <p:cNvSpPr/>
          <p:nvPr/>
        </p:nvSpPr>
        <p:spPr>
          <a:xfrm>
            <a:off x="8183880" y="3803904"/>
            <a:ext cx="493776" cy="493776"/>
          </a:xfrm>
          <a:prstGeom prst="ellipse">
            <a:avLst/>
          </a:prstGeom>
          <a:solidFill>
            <a:srgbClr val="FFFFFF"/>
          </a:solidFill>
          <a:ln w="12700">
            <a:solidFill>
              <a:srgbClr val="FFFFFF"/>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8293608" y="3913632"/>
            <a:ext cx="274320" cy="274320"/>
          </a:xfrm>
          <a:prstGeom prst="rect">
            <a:avLst/>
          </a:prstGeom>
        </p:spPr>
      </p:pic>
      <p:sp>
        <p:nvSpPr>
          <p:cNvPr id="24" name="Shape 19"/>
          <p:cNvSpPr/>
          <p:nvPr/>
        </p:nvSpPr>
        <p:spPr>
          <a:xfrm>
            <a:off x="9084564" y="1965960"/>
            <a:ext cx="2651760" cy="2514600"/>
          </a:xfrm>
          <a:prstGeom prst="roundRect">
            <a:avLst>
              <a:gd name="adj" fmla="val 3636"/>
            </a:avLst>
          </a:prstGeom>
          <a:solidFill>
            <a:srgbClr val="FFF5BF"/>
          </a:solidFill>
          <a:ln w="12700">
            <a:solidFill>
              <a:srgbClr val="FFF5BF"/>
            </a:solidFill>
            <a:prstDash val="solid"/>
          </a:ln>
        </p:spPr>
        <p:txBody>
          <a:bodyPr/>
          <a:p/>
        </p:txBody>
      </p:sp>
      <p:sp>
        <p:nvSpPr>
          <p:cNvPr id="25" name="Text 20"/>
          <p:cNvSpPr txBox="1"/>
          <p:nvPr/>
        </p:nvSpPr>
        <p:spPr>
          <a:xfrm>
            <a:off x="9267444" y="2130552"/>
            <a:ext cx="2286000" cy="502920"/>
          </a:xfrm>
          <a:prstGeom prst="rect">
            <a:avLst/>
          </a:prstGeom>
          <a:noFill/>
          <a:ln/>
        </p:spPr>
        <p:txBody>
          <a:bodyPr wrap="square" lIns="0" tIns="0" rIns="0" bIns="0" rtlCol="0" anchor="t"/>
          <a:lstStyle/>
          <a:p>
            <a:pPr indent="0" marL="0">
              <a:lnSpc>
                <a:spcPct val="105000"/>
              </a:lnSpc>
              <a:buNone/>
            </a:pPr>
            <a:r>
              <a:rPr lang="en-US" sz="1090" b="1" dirty="0">
                <a:solidFill>
                  <a:srgbClr val="252A3D"/>
                </a:solidFill>
                <a:latin typeface="Arial" pitchFamily="34" charset="0"/>
                <a:ea typeface="Arial" pitchFamily="34" charset="-122"/>
                <a:cs typeface="Arial" pitchFamily="34" charset="-120"/>
              </a:rPr>
              <a:t>Automating cases does not directly determine staffing needs</a:t>
            </a:r>
            <a:endParaRPr lang="en-US" sz="1400" dirty="0"/>
          </a:p>
        </p:txBody>
      </p:sp>
      <p:sp>
        <p:nvSpPr>
          <p:cNvPr id="26" name="Text 21"/>
          <p:cNvSpPr txBox="1"/>
          <p:nvPr/>
        </p:nvSpPr>
        <p:spPr>
          <a:xfrm>
            <a:off x="9267444" y="2615184"/>
            <a:ext cx="2286000" cy="1207007"/>
          </a:xfrm>
          <a:prstGeom prst="rect">
            <a:avLst/>
          </a:prstGeom>
          <a:noFill/>
          <a:ln/>
        </p:spPr>
        <p:txBody>
          <a:bodyPr wrap="square" lIns="0" tIns="0" rIns="0" bIns="0" rtlCol="0" anchor="t"/>
          <a:lstStyle/>
          <a:p>
            <a:pPr indent="0" marL="0">
              <a:lnSpc>
                <a:spcPct val="105000"/>
              </a:lnSpc>
              <a:buNone/>
            </a:pPr>
            <a:r>
              <a:rPr lang="en-US" sz="980" dirty="0">
                <a:solidFill>
                  <a:srgbClr val="252A3D"/>
                </a:solidFill>
                <a:latin typeface="Arial" pitchFamily="34" charset="0"/>
                <a:ea typeface="Arial" pitchFamily="34" charset="-122"/>
                <a:cs typeface="Arial" pitchFamily="34" charset="-120"/>
              </a:rPr>
              <a:t>In the scenarios, the same technology requires between 44 and 169 full-time-equivalent staff, depending on how the work is organized. The author predicts an 80% reduction in staffing needs by 2033 and defines how to test the prediction.</a:t>
            </a:r>
            <a:endParaRPr lang="en-US" sz="1020" dirty="0"/>
          </a:p>
        </p:txBody>
      </p:sp>
      <p:sp>
        <p:nvSpPr>
          <p:cNvPr id="27" name="Shape 22"/>
          <p:cNvSpPr/>
          <p:nvPr/>
        </p:nvSpPr>
        <p:spPr>
          <a:xfrm>
            <a:off x="11059668" y="3803904"/>
            <a:ext cx="493776" cy="493776"/>
          </a:xfrm>
          <a:prstGeom prst="ellipse">
            <a:avLst/>
          </a:prstGeom>
          <a:solidFill>
            <a:srgbClr val="FFFFFF"/>
          </a:solidFill>
          <a:ln w="12700">
            <a:solidFill>
              <a:srgbClr val="FFFFFF"/>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11169396" y="3913632"/>
            <a:ext cx="274320" cy="274320"/>
          </a:xfrm>
          <a:prstGeom prst="rect">
            <a:avLst/>
          </a:prstGeom>
        </p:spPr>
      </p:pic>
      <p:sp>
        <p:nvSpPr>
          <p:cNvPr id="29" name="Shape 23"/>
          <p:cNvSpPr/>
          <p:nvPr/>
        </p:nvSpPr>
        <p:spPr>
          <a:xfrm>
            <a:off x="457200" y="4663440"/>
            <a:ext cx="11274552" cy="1691640"/>
          </a:xfrm>
          <a:prstGeom prst="roundRect">
            <a:avLst>
              <a:gd name="adj" fmla="val 5405"/>
            </a:avLst>
          </a:prstGeom>
          <a:solidFill>
            <a:srgbClr val="F3F5F8"/>
          </a:solidFill>
          <a:ln w="12700">
            <a:solidFill>
              <a:srgbClr val="F3F5F8"/>
            </a:solidFill>
            <a:prstDash val="solid"/>
          </a:ln>
        </p:spPr>
        <p:txBody>
          <a:bodyPr/>
          <a:p/>
        </p:txBody>
      </p:sp>
      <p:sp>
        <p:nvSpPr>
          <p:cNvPr id="30" name="Text 24"/>
          <p:cNvSpPr txBox="1"/>
          <p:nvPr/>
        </p:nvSpPr>
        <p:spPr>
          <a:xfrm>
            <a:off x="658368" y="4663440"/>
            <a:ext cx="10872216" cy="1691640"/>
          </a:xfrm>
          <a:prstGeom prst="rect">
            <a:avLst/>
          </a:prstGeom>
          <a:noFill/>
          <a:ln/>
        </p:spPr>
        <p:txBody>
          <a:bodyPr wrap="square" lIns="0" tIns="0" rIns="0" bIns="0" rtlCol="0" anchor="ctr"/>
          <a:lstStyle/>
          <a:p>
            <a:pPr indent="0" marL="0">
              <a:lnSpc>
                <a:spcPct val="105000"/>
              </a:lnSpc>
              <a:buNone/>
            </a:pPr>
            <a:r>
              <a:rPr lang="en-US" sz="1080" dirty="0">
                <a:solidFill>
                  <a:srgbClr val="252A3D"/>
                </a:solidFill>
                <a:latin typeface="Arial" pitchFamily="34" charset="0"/>
                <a:ea typeface="Arial" pitchFamily="34" charset="-122"/>
                <a:cs typeface="Arial" pitchFamily="34" charset="-120"/>
              </a:rPr>
              <a:t>The paper argues that agents can take over defined governance reviews if they make the correct decision, identify the required problems, request the correct actions, cite the exact supporting sources and stay within their authorization.</a:t>
            </a:r>
            <a:endParaRPr lang="en-US" sz="1080" dirty="0"/>
          </a:p>
          <a:p>
            <a:pPr indent="0" marL="0">
              <a:lnSpc>
                <a:spcPct val="105000"/>
              </a:lnSpc>
              <a:buNone/>
            </a:pPr>
            <a:r>
              <a:rPr lang="en-US" sz="1080" dirty="0">
                <a:solidFill>
                  <a:srgbClr val="252A3D"/>
                </a:solidFill>
                <a:latin typeface="Arial" pitchFamily="34" charset="0"/>
                <a:ea typeface="Arial" pitchFamily="34" charset="-122"/>
                <a:cs typeface="Arial" pitchFamily="34" charset="-120"/>
              </a:rPr>
              <a:t>The thesis proposes that every review, and eventually the supervision of the AI agents themselves, will be automated. This hypothesis comes with six specific predictions that can be tested.</a:t>
            </a:r>
            <a:endParaRPr lang="en-US" sz="1080" dirty="0"/>
          </a:p>
          <a:p>
            <a:pPr indent="0" marL="0">
              <a:lnSpc>
                <a:spcPct val="105000"/>
              </a:lnSpc>
              <a:buNone/>
            </a:pPr>
            <a:r>
              <a:rPr lang="en-US" sz="1080" dirty="0">
                <a:solidFill>
                  <a:srgbClr val="252A3D"/>
                </a:solidFill>
                <a:latin typeface="Arial" pitchFamily="34" charset="0"/>
                <a:ea typeface="Arial" pitchFamily="34" charset="-122"/>
                <a:cs typeface="Arial" pitchFamily="34" charset="-120"/>
              </a:rPr>
              <a:t>The study does not measure hours saved in a real company, compare agents with human reviewers or establish which industries will adopt the technology first.</a:t>
            </a:r>
            <a:endParaRPr lang="en-US" sz="1080" dirty="0"/>
          </a:p>
          <a:p>
            <a:pPr indent="0" marL="0">
              <a:lnSpc>
                <a:spcPct val="105000"/>
              </a:lnSpc>
              <a:buNone/>
            </a:pPr>
            <a:r>
              <a:rPr lang="en-US" sz="1080" dirty="0">
                <a:solidFill>
                  <a:srgbClr val="252A3D"/>
                </a:solidFill>
                <a:latin typeface="Arial" pitchFamily="34" charset="0"/>
                <a:ea typeface="Arial" pitchFamily="34" charset="-122"/>
                <a:cs typeface="Arial" pitchFamily="34" charset="-120"/>
              </a:rPr>
              <a:t>The two papers, all 300 project files, the agents’ responses, the scoring program and the cost records are publicly available at github.com/jeremy1392/dgf-agentic-bench.</a:t>
            </a:r>
            <a:endParaRPr lang="en-US" sz="10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6350">
            <a:solidFill>
              <a:srgbClr val="41C5E6"/>
            </a:solidFill>
            <a:prstDash val="solid"/>
          </a:ln>
        </p:spPr>
        <p:txBody>
          <a:bodyPr/>
          <a:p/>
        </p:txBody>
      </p:sp>
      <p:sp>
        <p:nvSpPr>
          <p:cNvPr id="3" name="Text 1"/>
          <p:cNvSpPr txBox="1"/>
          <p:nvPr/>
        </p:nvSpPr>
        <p:spPr>
          <a:xfrm>
            <a:off x="603504" y="310896"/>
            <a:ext cx="8778240" cy="219456"/>
          </a:xfrm>
          <a:prstGeom prst="rect">
            <a:avLst/>
          </a:prstGeom>
          <a:noFill/>
          <a:ln/>
        </p:spPr>
        <p:txBody>
          <a:bodyPr wrap="square" lIns="0" tIns="0" rIns="0" bIns="0" rtlCol="0" anchor="ctr"/>
          <a:lstStyle/>
          <a:p>
            <a:pPr indent="0" marL="0">
              <a:lnSpc>
                <a:spcPct val="105000"/>
              </a:lnSpc>
              <a:buNone/>
            </a:pPr>
            <a:r>
              <a:rPr lang="en-US" sz="1100" b="1" dirty="0">
                <a:solidFill>
                  <a:srgbClr val="5B6575"/>
                </a:solidFill>
                <a:latin typeface="Arial" pitchFamily="34" charset="0"/>
                <a:ea typeface="Arial" pitchFamily="34" charset="-122"/>
                <a:cs typeface="Arial" pitchFamily="34" charset="-120"/>
              </a:rPr>
              <a:t>PAPERS, DATA AND CODE</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indent="0" marL="0">
              <a:lnSpc>
                <a:spcPct val="105000"/>
              </a:lnSpc>
              <a:buNone/>
            </a:pPr>
            <a:r>
              <a:rPr lang="en-US" sz="2850" b="1" dirty="0">
                <a:solidFill>
                  <a:srgbClr val="252A3D"/>
                </a:solidFill>
                <a:latin typeface="Arial" pitchFamily="34" charset="0"/>
                <a:ea typeface="Arial" pitchFamily="34" charset="-122"/>
                <a:cs typeface="Arial" pitchFamily="34" charset="-120"/>
              </a:rPr>
              <a:t>Where to find the papers and data, and check the results</a:t>
            </a:r>
            <a:endParaRPr lang="en-US" sz="2850" dirty="0"/>
          </a:p>
        </p:txBody>
      </p:sp>
      <p:sp>
        <p:nvSpPr>
          <p:cNvPr id="5" name="Text 3"/>
          <p:cNvSpPr txBox="1"/>
          <p:nvPr/>
        </p:nvSpPr>
        <p:spPr>
          <a:xfrm>
            <a:off x="457200" y="1399032"/>
            <a:ext cx="11173968" cy="457200"/>
          </a:xfrm>
          <a:prstGeom prst="rect">
            <a:avLst/>
          </a:prstGeom>
          <a:noFill/>
          <a:ln/>
        </p:spPr>
        <p:txBody>
          <a:bodyPr wrap="square" lIns="0" tIns="0" rIns="0" bIns="0" rtlCol="0" anchor="ctr"/>
          <a:lstStyle/>
          <a:p>
            <a:pPr indent="0" marL="0">
              <a:lnSpc>
                <a:spcPct val="105000"/>
              </a:lnSpc>
              <a:buNone/>
            </a:pPr>
            <a:r>
              <a:rPr lang="en-US" sz="1550" dirty="0">
                <a:solidFill>
                  <a:srgbClr val="5B6575"/>
                </a:solidFill>
                <a:latin typeface="Arial" pitchFamily="34" charset="0"/>
                <a:ea typeface="Arial" pitchFamily="34" charset="-122"/>
                <a:cs typeface="Arial" pitchFamily="34" charset="-120"/>
              </a:rPr>
              <a:t>The supporting materials are public. You can recalculate the reported results without making new paid calls to AI models.</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txBody>
          <a:bodyPr/>
          <a:p/>
        </p:txBody>
      </p:sp>
      <p:sp>
        <p:nvSpPr>
          <p:cNvPr id="7" name="Text 5"/>
          <p:cNvSpPr txBox="1"/>
          <p:nvPr/>
        </p:nvSpPr>
        <p:spPr>
          <a:xfrm>
            <a:off x="539496" y="6711696"/>
            <a:ext cx="9866376" cy="118872"/>
          </a:xfrm>
          <a:prstGeom prst="rect">
            <a:avLst/>
          </a:prstGeom>
          <a:noFill/>
          <a:ln/>
        </p:spPr>
        <p:txBody>
          <a:bodyPr wrap="square" lIns="0" tIns="0" rIns="0" bIns="0" rtlCol="0" anchor="t"/>
          <a:lstStyle/>
          <a:p>
            <a:pPr indent="0" marL="0">
              <a:lnSpc>
                <a:spcPct val="105000"/>
              </a:lnSpc>
              <a:buNone/>
            </a:pPr>
            <a:r>
              <a:rPr lang="en-US" sz="810" b="1" dirty="0">
                <a:solidFill>
                  <a:srgbClr val="5B6575"/>
                </a:solidFill>
                <a:latin typeface="Arial" pitchFamily="34" charset="0"/>
                <a:ea typeface="Arial" pitchFamily="34" charset="-122"/>
                <a:cs typeface="Arial" pitchFamily="34" charset="-120"/>
              </a:rPr>
              <a:t>SOURCES</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lnSpc>
                <a:spcPct val="105000"/>
              </a:lnSpc>
              <a:buNone/>
            </a:pPr>
            <a:r>
              <a:rPr lang="en-US" sz="1000" dirty="0">
                <a:solidFill>
                  <a:srgbClr val="5B6575"/>
                </a:solidFill>
                <a:latin typeface="Arial" pitchFamily="34" charset="0"/>
                <a:ea typeface="Arial" pitchFamily="34" charset="-122"/>
                <a:cs typeface="Arial" pitchFamily="34" charset="-120"/>
              </a:rPr>
              <a:t>29 / 30</a:t>
            </a:r>
            <a:endParaRPr lang="en-US" sz="1000" dirty="0"/>
          </a:p>
        </p:txBody>
      </p:sp>
      <p:sp>
        <p:nvSpPr>
          <p:cNvPr id="9" name="Shape 7"/>
          <p:cNvSpPr/>
          <p:nvPr/>
        </p:nvSpPr>
        <p:spPr>
          <a:xfrm>
            <a:off x="457200" y="1965960"/>
            <a:ext cx="5532120" cy="3749040"/>
          </a:xfrm>
          <a:prstGeom prst="roundRect">
            <a:avLst>
              <a:gd name="adj" fmla="val 2439"/>
            </a:avLst>
          </a:prstGeom>
          <a:solidFill>
            <a:srgbClr val="DDF5FC"/>
          </a:solidFill>
          <a:ln w="12700">
            <a:solidFill>
              <a:srgbClr val="DDF5FC"/>
            </a:solidFill>
            <a:prstDash val="solid"/>
          </a:ln>
        </p:spPr>
        <p:txBody>
          <a:bodyPr/>
          <a:p/>
        </p:txBody>
      </p:sp>
      <p:sp>
        <p:nvSpPr>
          <p:cNvPr id="10" name="Text 8"/>
          <p:cNvSpPr txBox="1"/>
          <p:nvPr/>
        </p:nvSpPr>
        <p:spPr>
          <a:xfrm>
            <a:off x="658368"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1B6E93"/>
                </a:solidFill>
                <a:latin typeface="Arial" pitchFamily="34" charset="0"/>
                <a:ea typeface="Arial" pitchFamily="34" charset="-122"/>
                <a:cs typeface="Arial" pitchFamily="34" charset="-120"/>
              </a:rPr>
              <a:t>THE TWO PAPERS AND THE DATA</a:t>
            </a:r>
            <a:endParaRPr lang="en-US" sz="950" dirty="0"/>
          </a:p>
        </p:txBody>
      </p:sp>
      <p:sp>
        <p:nvSpPr>
          <p:cNvPr id="11" name="Text 9"/>
          <p:cNvSpPr txBox="1"/>
          <p:nvPr/>
        </p:nvSpPr>
        <p:spPr>
          <a:xfrm>
            <a:off x="658368" y="2395728"/>
            <a:ext cx="5120640" cy="3246120"/>
          </a:xfrm>
          <a:prstGeom prst="rect">
            <a:avLst/>
          </a:prstGeom>
          <a:noFill/>
          <a:ln/>
        </p:spPr>
        <p:txBody>
          <a:bodyPr wrap="square" lIns="0" tIns="0" rIns="0" bIns="0" rtlCol="0" anchor="t"/>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The 28-page research paper on arXiv: arXiv:2609.29345</a:t>
            </a:r>
            <a:endParaRPr lang="en-US" sz="950" dirty="0"/>
          </a:p>
          <a:p>
            <a:pPr indent="0" marL="0">
              <a:lnSpc>
                <a:spcPct val="105000"/>
              </a:lnSpc>
              <a:buNone/>
            </a:pPr>
            <a:r>
              <a:rPr lang="en-US" sz="950" dirty="0">
                <a:solidFill>
                  <a:srgbClr val="252A3D"/>
                </a:solidFill>
                <a:latin typeface="Arial" pitchFamily="34" charset="0"/>
                <a:ea typeface="Arial" pitchFamily="34" charset="-122"/>
                <a:cs typeface="Arial" pitchFamily="34" charset="-120"/>
              </a:rPr>
              <a:t>The Last Human Gate: Forward Deployed Engineering for Governance Automation. The argument, the experiment and the method for calculating the effect on human work.</a:t>
            </a:r>
            <a:endParaRPr lang="en-US" sz="950" dirty="0"/>
          </a:p>
          <a:p>
            <a:pPr indent="0" marL="0">
              <a:lnSpc>
                <a:spcPct val="105000"/>
              </a:lnSpc>
              <a:buNone/>
            </a:pPr>
            <a:r>
              <a:rPr lang="en-US" sz="780" dirty="0">
                <a:solidFill>
                  <a:srgbClr val="5B6575"/>
                </a:solidFill>
                <a:latin typeface="Arial" pitchFamily="34" charset="0"/>
                <a:ea typeface="Arial" pitchFamily="34" charset="-122"/>
                <a:cs typeface="Arial" pitchFamily="34" charset="-120"/>
              </a:rPr>
              <a:t>https://arxiv.org/abs/2609.29345 · github.com/jeremy1392/dgf-agentic-bench/blob/main/paper2/From_Governance_Reviews_to_Task_Substitution.pdf</a:t>
            </a:r>
            <a:endParaRPr lang="en-US" sz="95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50" dirty="0"/>
          </a:p>
          <a:p>
            <a:pPr indent="0" marL="0">
              <a:lnSpc>
                <a:spcPct val="105000"/>
              </a:lnSpc>
              <a:buNone/>
            </a:pPr>
            <a:r>
              <a:rPr lang="en-US" sz="950" b="1" dirty="0">
                <a:solidFill>
                  <a:srgbClr val="252A3D"/>
                </a:solidFill>
                <a:latin typeface="Arial" pitchFamily="34" charset="0"/>
                <a:ea typeface="Arial" pitchFamily="34" charset="-122"/>
                <a:cs typeface="Arial" pitchFamily="34" charset="-120"/>
              </a:rPr>
              <a:t>The 66-page thesis</a:t>
            </a:r>
            <a:endParaRPr lang="en-US" sz="950" dirty="0"/>
          </a:p>
          <a:p>
            <a:pPr indent="0" marL="0">
              <a:lnSpc>
                <a:spcPct val="105000"/>
              </a:lnSpc>
              <a:buNone/>
            </a:pPr>
            <a:r>
              <a:rPr lang="en-US" sz="950" dirty="0">
                <a:solidFill>
                  <a:srgbClr val="252A3D"/>
                </a:solidFill>
                <a:latin typeface="Arial" pitchFamily="34" charset="0"/>
                <a:ea typeface="Arial" pitchFamily="34" charset="-122"/>
                <a:cs typeface="Arial" pitchFamily="34" charset="-120"/>
              </a:rPr>
              <a:t>The Last Human Gate: Forward Deployed Engineering and the Automation of Enterprise Governance. The full argument, main hypothesis, four timing assumptions, objections and long-term scenarios.</a:t>
            </a:r>
            <a:endParaRPr lang="en-US" sz="950" dirty="0"/>
          </a:p>
          <a:p>
            <a:pPr indent="0" marL="0">
              <a:lnSpc>
                <a:spcPct val="105000"/>
              </a:lnSpc>
              <a:buNone/>
            </a:pPr>
            <a:r>
              <a:rPr lang="en-US" sz="780" dirty="0">
                <a:solidFill>
                  <a:srgbClr val="5B6575"/>
                </a:solidFill>
                <a:latin typeface="Arial" pitchFamily="34" charset="0"/>
                <a:ea typeface="Arial" pitchFamily="34" charset="-122"/>
                <a:cs typeface="Arial" pitchFamily="34" charset="-120"/>
              </a:rPr>
              <a:t>github.com/jeremy1392/dgf-agentic-bench/blob/main/paper/The_Last_Human_Gate.pdf</a:t>
            </a:r>
            <a:endParaRPr lang="en-US" sz="95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50" dirty="0"/>
          </a:p>
          <a:p>
            <a:pPr indent="0" marL="0">
              <a:lnSpc>
                <a:spcPct val="105000"/>
              </a:lnSpc>
              <a:buNone/>
            </a:pPr>
            <a:r>
              <a:rPr lang="en-US" sz="950" b="1" dirty="0">
                <a:solidFill>
                  <a:srgbClr val="252A3D"/>
                </a:solidFill>
                <a:latin typeface="Arial" pitchFamily="34" charset="0"/>
                <a:ea typeface="Arial" pitchFamily="34" charset="-122"/>
                <a:cs typeface="Arial" pitchFamily="34" charset="-120"/>
              </a:rPr>
              <a:t>Published dataset: dgf-bench-300-20260923</a:t>
            </a:r>
            <a:endParaRPr lang="en-US" sz="950" dirty="0"/>
          </a:p>
          <a:p>
            <a:pPr indent="0" marL="0">
              <a:lnSpc>
                <a:spcPct val="105000"/>
              </a:lnSpc>
              <a:buNone/>
            </a:pPr>
            <a:r>
              <a:rPr lang="en-US" sz="950" dirty="0">
                <a:solidFill>
                  <a:srgbClr val="252A3D"/>
                </a:solidFill>
                <a:latin typeface="Arial" pitchFamily="34" charset="0"/>
                <a:ea typeface="Arial" pitchFamily="34" charset="-122"/>
                <a:cs typeface="Arial" pitchFamily="34" charset="-120"/>
              </a:rPr>
              <a:t>The release includes all 300 project files, Word documents and diagrams, every AI response and tool call, scores, cost records, 135 repeat runs, the exact code version used and checksums for each file.</a:t>
            </a:r>
            <a:endParaRPr lang="en-US" sz="950" dirty="0"/>
          </a:p>
          <a:p>
            <a:pPr indent="0" marL="0">
              <a:lnSpc>
                <a:spcPct val="105000"/>
              </a:lnSpc>
              <a:buNone/>
            </a:pPr>
            <a:r>
              <a:rPr lang="en-US" sz="500" dirty="0">
                <a:solidFill>
                  <a:srgbClr val="252A3D"/>
                </a:solidFill>
                <a:latin typeface="Arial" pitchFamily="34" charset="0"/>
                <a:ea typeface="Arial" pitchFamily="34" charset="-122"/>
                <a:cs typeface="Arial" pitchFamily="34" charset="-120"/>
              </a:rPr>
              <a:t> </a:t>
            </a:r>
            <a:endParaRPr lang="en-US" sz="950" dirty="0"/>
          </a:p>
          <a:p>
            <a:pPr indent="0" marL="0">
              <a:lnSpc>
                <a:spcPct val="105000"/>
              </a:lnSpc>
              <a:buNone/>
            </a:pPr>
            <a:r>
              <a:rPr lang="en-US" sz="950" b="1" dirty="0">
                <a:solidFill>
                  <a:srgbClr val="252A3D"/>
                </a:solidFill>
                <a:latin typeface="Arial" pitchFamily="34" charset="0"/>
                <a:ea typeface="Arial" pitchFamily="34" charset="-122"/>
                <a:cs typeface="Arial" pitchFamily="34" charset="-120"/>
              </a:rPr>
              <a:t>How to verify the published results</a:t>
            </a:r>
            <a:endParaRPr lang="en-US" sz="950" dirty="0"/>
          </a:p>
          <a:p>
            <a:pPr indent="0" marL="0">
              <a:lnSpc>
                <a:spcPct val="105000"/>
              </a:lnSpc>
              <a:buNone/>
            </a:pPr>
            <a:r>
              <a:rPr lang="en-US" sz="950" dirty="0">
                <a:solidFill>
                  <a:srgbClr val="252A3D"/>
                </a:solidFill>
                <a:latin typeface="Arial" pitchFamily="34" charset="0"/>
                <a:ea typeface="Arial" pitchFamily="34" charset="-122"/>
                <a:cs typeface="Arial" pitchFamily="34" charset="-120"/>
              </a:rPr>
              <a:t>Download the archives, check the files against their checksums, then rerun the scoring and statistical analysis. No new calls to AI models are needed. You can also run a new experiment using your own API key.</a:t>
            </a:r>
            <a:endParaRPr lang="en-US" sz="950" dirty="0"/>
          </a:p>
        </p:txBody>
      </p:sp>
      <p:sp>
        <p:nvSpPr>
          <p:cNvPr id="12" name="Shape 10"/>
          <p:cNvSpPr/>
          <p:nvPr/>
        </p:nvSpPr>
        <p:spPr>
          <a:xfrm>
            <a:off x="6199632" y="1965960"/>
            <a:ext cx="5532120" cy="3749040"/>
          </a:xfrm>
          <a:prstGeom prst="roundRect">
            <a:avLst>
              <a:gd name="adj" fmla="val 2439"/>
            </a:avLst>
          </a:prstGeom>
          <a:solidFill>
            <a:srgbClr val="F3F5F8"/>
          </a:solidFill>
          <a:ln w="12700">
            <a:solidFill>
              <a:srgbClr val="F3F5F8"/>
            </a:solidFill>
            <a:prstDash val="solid"/>
          </a:ln>
        </p:spPr>
        <p:txBody>
          <a:bodyPr/>
          <a:p/>
        </p:txBody>
      </p:sp>
      <p:sp>
        <p:nvSpPr>
          <p:cNvPr id="13" name="Text 11"/>
          <p:cNvSpPr txBox="1"/>
          <p:nvPr/>
        </p:nvSpPr>
        <p:spPr>
          <a:xfrm>
            <a:off x="6400800" y="2103120"/>
            <a:ext cx="5120640" cy="201168"/>
          </a:xfrm>
          <a:prstGeom prst="rect">
            <a:avLst/>
          </a:prstGeom>
          <a:noFill/>
          <a:ln/>
        </p:spPr>
        <p:txBody>
          <a:bodyPr wrap="square" lIns="0" tIns="0" rIns="0" bIns="0" rtlCol="0" anchor="t"/>
          <a:lstStyle/>
          <a:p>
            <a:pPr indent="0" marL="0">
              <a:lnSpc>
                <a:spcPct val="105000"/>
              </a:lnSpc>
              <a:buNone/>
            </a:pPr>
            <a:r>
              <a:rPr lang="en-US" sz="950" b="1" spc="50" kern="0" dirty="0">
                <a:solidFill>
                  <a:srgbClr val="5B6575"/>
                </a:solidFill>
                <a:latin typeface="Arial" pitchFamily="34" charset="0"/>
                <a:ea typeface="Arial" pitchFamily="34" charset="-122"/>
                <a:cs typeface="Arial" pitchFamily="34" charset="-120"/>
              </a:rPr>
              <a:t>RESEARCH CITED IN THE PAPER</a:t>
            </a:r>
            <a:endParaRPr lang="en-US" sz="950" dirty="0"/>
          </a:p>
        </p:txBody>
      </p:sp>
      <p:sp>
        <p:nvSpPr>
          <p:cNvPr id="14" name="Text 12"/>
          <p:cNvSpPr txBox="1"/>
          <p:nvPr/>
        </p:nvSpPr>
        <p:spPr>
          <a:xfrm>
            <a:off x="6400800" y="2395728"/>
            <a:ext cx="5129784" cy="3246120"/>
          </a:xfrm>
          <a:prstGeom prst="rect">
            <a:avLst/>
          </a:prstGeom>
          <a:noFill/>
          <a:ln/>
        </p:spPr>
        <p:txBody>
          <a:bodyPr wrap="square" lIns="0" tIns="0" rIns="0" bIns="0" rtlCol="0" anchor="t"/>
          <a:lstStyle/>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Acemoglu &amp; Restrepo (2019). Automation and new tasks. Journal of Economic Perspectives.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Bainbridge (1983). Ironies of automation. Automatica.</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Calvanese et al. (2026). Agentic business process management. Information Systems.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Cooper (1990). Stage-gate systems. Business Horizons.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Demirer, Horton, Immorlica, Lucier &amp; Shahidi (2026). Chaining tasks, redefining work. NBER.</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Drouin et al. (2024). WorkArena. ICML.</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Gans &amp; Goldfarb (2026). O-Ring automation. NBER.</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Gao, Yen, Yu &amp; Chen (2023). Enabling LLMs to generate text with citations. EMNLP.</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Jha et al. (2025). ITBench. arXiv:2502.05352.</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Kapoor, Stroebl, Siegel, Nadgir &amp; Narayanan (2024). AI agents that matter. arXiv:2407.01502.</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Ly, Maggi, Montali, Rinderle-Ma &amp; van der Aalst (2015). Compliance monitoring in business processes.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Palantir Technologies (2026). Forward Deployed Software Engineer, role description.</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Rashkin et al. (2023). Measuring attribution in natural language generation models.</a:t>
            </a:r>
            <a:endParaRPr lang="en-US" sz="860" dirty="0"/>
          </a:p>
          <a:p>
            <a:pPr indent="0" marL="0">
              <a:lnSpc>
                <a:spcPct val="105000"/>
              </a:lnSpc>
              <a:spcAft>
                <a:spcPts val="350"/>
              </a:spcAft>
              <a:buNone/>
            </a:pPr>
            <a:r>
              <a:rPr lang="en-US" sz="860" dirty="0">
                <a:solidFill>
                  <a:srgbClr val="252A3D"/>
                </a:solidFill>
                <a:latin typeface="Arial" pitchFamily="34" charset="0"/>
                <a:ea typeface="Arial" pitchFamily="34" charset="-122"/>
                <a:cs typeface="Arial" pitchFamily="34" charset="-120"/>
              </a:rPr>
              <a:t>Yao, Shinn, Razavi &amp; Narasimhan (2024). τ-bench. arXiv:2406.12045.</a:t>
            </a:r>
            <a:endParaRPr lang="en-US" sz="860" dirty="0"/>
          </a:p>
        </p:txBody>
      </p:sp>
      <p:sp>
        <p:nvSpPr>
          <p:cNvPr id="15" name="Shape 13"/>
          <p:cNvSpPr/>
          <p:nvPr/>
        </p:nvSpPr>
        <p:spPr>
          <a:xfrm>
            <a:off x="457200" y="5870448"/>
            <a:ext cx="11274552" cy="566928"/>
          </a:xfrm>
          <a:prstGeom prst="roundRect">
            <a:avLst>
              <a:gd name="adj" fmla="val 16129"/>
            </a:avLst>
          </a:prstGeom>
          <a:solidFill>
            <a:srgbClr val="F5F7FA"/>
          </a:solidFill>
          <a:ln w="12700">
            <a:solidFill>
              <a:srgbClr val="F5F7FA"/>
            </a:solidFill>
            <a:prstDash val="solid"/>
          </a:ln>
        </p:spPr>
        <p:txBody>
          <a:bodyPr/>
          <a:p/>
        </p:txBody>
      </p:sp>
      <p:sp>
        <p:nvSpPr>
          <p:cNvPr id="16" name="Text 14"/>
          <p:cNvSpPr txBox="1"/>
          <p:nvPr/>
        </p:nvSpPr>
        <p:spPr>
          <a:xfrm>
            <a:off x="658368" y="5870448"/>
            <a:ext cx="10872216" cy="566928"/>
          </a:xfrm>
          <a:prstGeom prst="rect">
            <a:avLst/>
          </a:prstGeom>
          <a:noFill/>
          <a:ln/>
        </p:spPr>
        <p:txBody>
          <a:bodyPr wrap="square" lIns="0" tIns="0" rIns="0" bIns="0" rtlCol="0" anchor="ctr"/>
          <a:lstStyle/>
          <a:p>
            <a:pPr indent="0" marL="0">
              <a:lnSpc>
                <a:spcPct val="105000"/>
              </a:lnSpc>
              <a:buNone/>
            </a:pPr>
            <a:r>
              <a:rPr lang="en-US" sz="950" b="1" dirty="0">
                <a:solidFill>
                  <a:srgbClr val="252A3D"/>
                </a:solidFill>
                <a:latin typeface="Arial" pitchFamily="34" charset="0"/>
                <a:ea typeface="Arial" pitchFamily="34" charset="-122"/>
                <a:cs typeface="Arial" pitchFamily="34" charset="-120"/>
              </a:rPr>
              <a:t>The experiment used the model versions available through OpenRouter on 22–23 September 2026: </a:t>
            </a:r>
            <a:r>
              <a:rPr lang="en-US" sz="950" dirty="0">
                <a:solidFill>
                  <a:srgbClr val="252A3D"/>
                </a:solidFill>
                <a:latin typeface="Arial" pitchFamily="34" charset="0"/>
                <a:ea typeface="Arial" pitchFamily="34" charset="-122"/>
                <a:cs typeface="Arial" pitchFamily="34" charset="-120"/>
              </a:rPr>
              <a:t>google/gemini-3.8-flash, openai/gpt-5.6-luna and deepseek/deepseek-v4.1-flash. The experiment did not use or observe any real company data.</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6B6B"/>
        </a:solidFill>
      </p:bgPr>
    </p:bg>
    <p:spTree>
      <p:nvGrpSpPr>
        <p:cNvPr id="1" name=""/>
        <p:cNvGrpSpPr/>
        <p:nvPr/>
      </p:nvGrpSpPr>
      <p:grpSpPr>
        <a:xfrm>
          <a:off x="0" y="0"/>
          <a:ext cx="0" cy="0"/>
          <a:chOff x="0" y="0"/>
          <a:chExt cx="0" cy="0"/>
        </a:xfrm>
      </p:grpSpPr>
      <p:sp>
        <p:nvSpPr>
          <p:cNvPr id="2" name="Shape 0"/>
          <p:cNvSpPr/>
          <p:nvPr/>
        </p:nvSpPr>
        <p:spPr>
          <a:xfrm>
            <a:off x="1097280" y="1188720"/>
            <a:ext cx="6035040" cy="3291840"/>
          </a:xfrm>
          <a:prstGeom prst="wedgeRoundRectCallout">
            <a:avLst/>
          </a:prstGeom>
          <a:solidFill>
            <a:srgbClr val="FFFFFF"/>
          </a:solidFill>
          <a:ln w="12700">
            <a:solidFill>
              <a:srgbClr val="252A3D"/>
            </a:solidFill>
            <a:prstDash val="solid"/>
          </a:ln>
        </p:spPr>
        <p:txBody>
          <a:bodyPr/>
          <a:p/>
        </p:txBody>
      </p:sp>
      <p:sp>
        <p:nvSpPr>
          <p:cNvPr id="3" name="Text 1"/>
          <p:cNvSpPr txBox="1"/>
          <p:nvPr/>
        </p:nvSpPr>
        <p:spPr>
          <a:xfrm>
            <a:off x="1554480" y="1325880"/>
            <a:ext cx="5303520" cy="868680"/>
          </a:xfrm>
          <a:prstGeom prst="rect">
            <a:avLst/>
          </a:prstGeom>
          <a:noFill/>
          <a:ln/>
        </p:spPr>
        <p:txBody>
          <a:bodyPr wrap="square" lIns="0" tIns="0" rIns="0" bIns="0" rtlCol="0" anchor="ctr"/>
          <a:lstStyle/>
          <a:p>
            <a:pPr indent="0" marL="0">
              <a:lnSpc>
                <a:spcPct val="105000"/>
              </a:lnSpc>
              <a:buNone/>
            </a:pPr>
            <a:r>
              <a:rPr lang="en-US" sz="4400" b="1" dirty="0">
                <a:solidFill>
                  <a:srgbClr val="252A3D"/>
                </a:solidFill>
                <a:latin typeface="Arial" pitchFamily="34" charset="0"/>
                <a:ea typeface="Arial" pitchFamily="34" charset="-122"/>
                <a:cs typeface="Arial" pitchFamily="34" charset="-120"/>
              </a:rPr>
              <a:t>Thank you!</a:t>
            </a:r>
            <a:endParaRPr lang="en-US" sz="4400" dirty="0"/>
          </a:p>
        </p:txBody>
      </p:sp>
      <p:sp>
        <p:nvSpPr>
          <p:cNvPr id="4" name="Text 2"/>
          <p:cNvSpPr txBox="1"/>
          <p:nvPr/>
        </p:nvSpPr>
        <p:spPr>
          <a:xfrm>
            <a:off x="1554480" y="2194560"/>
            <a:ext cx="5303520" cy="384048"/>
          </a:xfrm>
          <a:prstGeom prst="rect">
            <a:avLst/>
          </a:prstGeom>
          <a:noFill/>
          <a:ln/>
        </p:spPr>
        <p:txBody>
          <a:bodyPr wrap="square" lIns="0" tIns="0" rIns="0" bIns="0" rtlCol="0" anchor="t"/>
          <a:lstStyle/>
          <a:p>
            <a:pPr indent="0" marL="0">
              <a:lnSpc>
                <a:spcPct val="105000"/>
              </a:lnSpc>
              <a:buNone/>
            </a:pPr>
            <a:r>
              <a:rPr lang="en-US" sz="1900" dirty="0">
                <a:solidFill>
                  <a:srgbClr val="252A3D"/>
                </a:solidFill>
                <a:latin typeface="Arial" pitchFamily="34" charset="0"/>
                <a:ea typeface="Arial" pitchFamily="34" charset="-122"/>
                <a:cs typeface="Arial" pitchFamily="34" charset="-120"/>
              </a:rPr>
              <a:t>Questions and discussion</a:t>
            </a:r>
            <a:endParaRPr lang="en-US" sz="1900" dirty="0"/>
          </a:p>
        </p:txBody>
      </p:sp>
      <p:sp>
        <p:nvSpPr>
          <p:cNvPr id="5" name="Text 3"/>
          <p:cNvSpPr txBox="1"/>
          <p:nvPr/>
        </p:nvSpPr>
        <p:spPr>
          <a:xfrm>
            <a:off x="1554480" y="2651760"/>
            <a:ext cx="5303520" cy="530352"/>
          </a:xfrm>
          <a:prstGeom prst="rect">
            <a:avLst/>
          </a:prstGeom>
          <a:noFill/>
          <a:ln/>
        </p:spPr>
        <p:txBody>
          <a:bodyPr wrap="square" lIns="0" tIns="0" rIns="0" bIns="0" rtlCol="0" anchor="t"/>
          <a:lstStyle/>
          <a:p>
            <a:pPr indent="0" marL="0">
              <a:lnSpc>
                <a:spcPct val="105000"/>
              </a:lnSpc>
              <a:buNone/>
            </a:pPr>
            <a:r>
              <a:rPr lang="en-US" sz="1400" b="1" dirty="0">
                <a:solidFill>
                  <a:srgbClr val="252A3D"/>
                </a:solidFill>
                <a:latin typeface="Arial" pitchFamily="34" charset="0"/>
                <a:ea typeface="Arial" pitchFamily="34" charset="-122"/>
                <a:cs typeface="Arial" pitchFamily="34" charset="-120"/>
              </a:rPr>
              <a:t>Read the paper, repeat the experiment and test the prediction for 2033. Get in touch.</a:t>
            </a:r>
            <a:endParaRPr lang="en-US" sz="1400" dirty="0"/>
          </a:p>
        </p:txBody>
      </p:sp>
      <p:sp>
        <p:nvSpPr>
          <p:cNvPr id="6" name="Text 4">
            <a:hlinkClick r:id="rId1" tooltip=""/>
          </p:cNvPr>
          <p:cNvSpPr txBox="1"/>
          <p:nvPr/>
        </p:nvSpPr>
        <p:spPr>
          <a:xfrm>
            <a:off x="1554480" y="3182112"/>
            <a:ext cx="5303520" cy="274320"/>
          </a:xfrm>
          <a:prstGeom prst="rect">
            <a:avLst/>
          </a:prstGeom>
          <a:noFill/>
          <a:ln/>
        </p:spPr>
        <p:txBody>
          <a:bodyPr wrap="square" lIns="0" tIns="0" rIns="0" bIns="0" rtlCol="0" anchor="ctr"/>
          <a:lstStyle/>
          <a:p>
            <a:pPr indent="0" marL="0">
              <a:buNone/>
            </a:pPr>
            <a:r>
              <a:rPr lang="en-US" sz="1250" u="sng" dirty="0">
                <a:solidFill>
                  <a:srgbClr val="252A3D"/>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https://www.linkedin.com/in/jcanale13/</a:t>
            </a:r>
            <a:endParaRPr lang="en-US" sz="1250" dirty="0"/>
          </a:p>
        </p:txBody>
      </p:sp>
      <p:sp>
        <p:nvSpPr>
          <p:cNvPr id="7" name="Text 5"/>
          <p:cNvSpPr txBox="1"/>
          <p:nvPr/>
        </p:nvSpPr>
        <p:spPr>
          <a:xfrm>
            <a:off x="1554480" y="3465576"/>
            <a:ext cx="5303520" cy="256032"/>
          </a:xfrm>
          <a:prstGeom prst="rect">
            <a:avLst/>
          </a:prstGeom>
          <a:noFill/>
          <a:ln/>
        </p:spPr>
        <p:txBody>
          <a:bodyPr wrap="square" lIns="0" tIns="0" rIns="0" bIns="0" rtlCol="0" anchor="t"/>
          <a:lstStyle/>
          <a:p>
            <a:pPr indent="0" marL="0">
              <a:lnSpc>
                <a:spcPct val="105000"/>
              </a:lnSpc>
              <a:buNone/>
            </a:pPr>
            <a:r>
              <a:rPr lang="en-US" sz="1200" dirty="0">
                <a:solidFill>
                  <a:srgbClr val="5B6575"/>
                </a:solidFill>
                <a:latin typeface="Arial" pitchFamily="34" charset="0"/>
                <a:ea typeface="Arial" pitchFamily="34" charset="-122"/>
                <a:cs typeface="Arial" pitchFamily="34" charset="-120"/>
              </a:rPr>
              <a:t>Jeremy Canale · AI Applied Security Architect</a:t>
            </a:r>
            <a:endParaRPr lang="en-US" sz="1200" dirty="0"/>
          </a:p>
        </p:txBody>
      </p:sp>
      <p:sp>
        <p:nvSpPr>
          <p:cNvPr id="8" name="Text 6"/>
          <p:cNvSpPr txBox="1"/>
          <p:nvPr/>
        </p:nvSpPr>
        <p:spPr>
          <a:xfrm>
            <a:off x="1554480" y="3730752"/>
            <a:ext cx="5303520" cy="256032"/>
          </a:xfrm>
          <a:prstGeom prst="rect">
            <a:avLst/>
          </a:prstGeom>
          <a:noFill/>
          <a:ln/>
        </p:spPr>
        <p:txBody>
          <a:bodyPr wrap="square" lIns="0" tIns="0" rIns="0" bIns="0" rtlCol="0" anchor="t"/>
          <a:lstStyle/>
          <a:p>
            <a:pPr indent="0" marL="0">
              <a:lnSpc>
                <a:spcPct val="105000"/>
              </a:lnSpc>
              <a:buNone/>
            </a:pPr>
            <a:r>
              <a:rPr lang="en-US" sz="1200" b="1" dirty="0">
                <a:solidFill>
                  <a:srgbClr val="252A3D"/>
                </a:solidFill>
                <a:latin typeface="Arial" pitchFamily="34" charset="0"/>
                <a:ea typeface="Arial" pitchFamily="34" charset="-122"/>
                <a:cs typeface="Arial" pitchFamily="34" charset="-120"/>
              </a:rPr>
              <a:t>contact@jeremycanale.com · https://www.jeremycanale.com</a:t>
            </a:r>
            <a:endParaRPr lang="en-US" sz="1200" dirty="0"/>
          </a:p>
        </p:txBody>
      </p:sp>
      <p:sp>
        <p:nvSpPr>
          <p:cNvPr id="9" name="Text 7"/>
          <p:cNvSpPr txBox="1"/>
          <p:nvPr/>
        </p:nvSpPr>
        <p:spPr>
          <a:xfrm>
            <a:off x="1554480" y="3986784"/>
            <a:ext cx="5303520" cy="457200"/>
          </a:xfrm>
          <a:prstGeom prst="rect">
            <a:avLst/>
          </a:prstGeom>
          <a:noFill/>
          <a:ln/>
        </p:spPr>
        <p:txBody>
          <a:bodyPr wrap="square" lIns="0" tIns="0" rIns="0" bIns="0" rtlCol="0" anchor="t"/>
          <a:lstStyle/>
          <a:p>
            <a:pPr indent="0" marL="0">
              <a:lnSpc>
                <a:spcPct val="105000"/>
              </a:lnSpc>
              <a:buNone/>
            </a:pPr>
            <a:r>
              <a:rPr lang="en-US" sz="1100" i="1" dirty="0">
                <a:solidFill>
                  <a:srgbClr val="252A3D"/>
                </a:solidFill>
                <a:latin typeface="Arial" pitchFamily="34" charset="0"/>
                <a:ea typeface="Arial" pitchFamily="34" charset="-122"/>
                <a:cs typeface="Arial" pitchFamily="34" charset="-120"/>
              </a:rPr>
              <a:t>Paper: arxiv.org/abs/2609.29345 · 66-page thesis and data: github.com/jeremy1392/dgf-agentic-bench</a:t>
            </a:r>
            <a:endParaRPr lang="en-US" sz="1100" dirty="0"/>
          </a:p>
        </p:txBody>
      </p:sp>
      <p:sp>
        <p:nvSpPr>
          <p:cNvPr id="10" name="Shape 8"/>
          <p:cNvSpPr/>
          <p:nvPr/>
        </p:nvSpPr>
        <p:spPr>
          <a:xfrm>
            <a:off x="2148840" y="4983480"/>
            <a:ext cx="1188720" cy="1188720"/>
          </a:xfrm>
          <a:prstGeom prst="ellipse">
            <a:avLst/>
          </a:prstGeom>
          <a:solidFill>
            <a:srgbClr val="FFD23F"/>
          </a:solidFill>
          <a:ln w="12700">
            <a:solidFill>
              <a:srgbClr val="252A3D"/>
            </a:solidFill>
            <a:prstDash val="solid"/>
          </a:ln>
          <a:effectLst>
            <a:outerShdw sx="100000" sy="100000" kx="0" ky="0" algn="bl" rotWithShape="0" blurRad="50800" dist="38100" dir="2700000">
              <a:srgbClr val="000000">
                <a:alpha val="25000"/>
              </a:srgbClr>
            </a:outerShdw>
          </a:effectLst>
        </p:spPr>
        <p:txBody>
          <a:bodyPr/>
          <a:p/>
        </p:txBody>
      </p:sp>
      <p:pic>
        <p:nvPicPr>
          <p:cNvPr id="11" name="Image 0" descr="preencoded.png">    </p:cNvPr>
          <p:cNvPicPr>
            <a:picLocks noChangeAspect="1"/>
          </p:cNvPicPr>
          <p:nvPr/>
        </p:nvPicPr>
        <p:blipFill>
          <a:blip r:embed="rId2"/>
          <a:stretch>
            <a:fillRect/>
          </a:stretch>
        </p:blipFill>
        <p:spPr>
          <a:xfrm>
            <a:off x="2441448" y="5285232"/>
            <a:ext cx="594360" cy="594360"/>
          </a:xfrm>
          <a:prstGeom prst="rect">
            <a:avLst/>
          </a:prstGeom>
        </p:spPr>
      </p:pic>
      <p:sp>
        <p:nvSpPr>
          <p:cNvPr id="12" name="Shape 9"/>
          <p:cNvSpPr/>
          <p:nvPr/>
        </p:nvSpPr>
        <p:spPr>
          <a:xfrm>
            <a:off x="8138160" y="1600200"/>
            <a:ext cx="3566160" cy="3566160"/>
          </a:xfrm>
          <a:prstGeom prst="ellipse">
            <a:avLst/>
          </a:prstGeom>
          <a:solidFill>
            <a:srgbClr val="FFD23F"/>
          </a:solidFill>
          <a:ln w="12700">
            <a:solidFill>
              <a:srgbClr val="252A3D"/>
            </a:solidFill>
            <a:prstDash val="solid"/>
          </a:ln>
          <a:effectLst>
            <a:outerShdw sx="100000" sy="100000" kx="0" ky="0" algn="bl" rotWithShape="0" blurRad="50800" dist="38100" dir="2700000">
              <a:srgbClr val="000000">
                <a:alpha val="25000"/>
              </a:srgbClr>
            </a:outerShdw>
          </a:effectLst>
        </p:spPr>
        <p:txBody>
          <a:bodyPr/>
          <a:p/>
        </p:txBody>
      </p:sp>
      <p:pic>
        <p:nvPicPr>
          <p:cNvPr id="13" name="Image 1" descr="preencoded.png">    </p:cNvPr>
          <p:cNvPicPr>
            <a:picLocks noChangeAspect="1"/>
          </p:cNvPicPr>
          <p:nvPr/>
        </p:nvPicPr>
        <p:blipFill>
          <a:blip r:embed="rId3"/>
          <a:stretch>
            <a:fillRect/>
          </a:stretch>
        </p:blipFill>
        <p:spPr>
          <a:xfrm>
            <a:off x="8549640" y="2011680"/>
            <a:ext cx="2743200" cy="2743200"/>
          </a:xfrm>
          <a:prstGeom prst="rect">
            <a:avLst/>
          </a:prstGeom>
        </p:spPr>
      </p:pic>
      <p:sp>
        <p:nvSpPr>
          <p:cNvPr id="14" name="Text 10"/>
          <p:cNvSpPr txBox="1"/>
          <p:nvPr/>
        </p:nvSpPr>
        <p:spPr>
          <a:xfrm>
            <a:off x="731520" y="6419088"/>
            <a:ext cx="7315200" cy="228600"/>
          </a:xfrm>
          <a:prstGeom prst="rect">
            <a:avLst/>
          </a:prstGeom>
          <a:noFill/>
          <a:ln/>
        </p:spPr>
        <p:txBody>
          <a:bodyPr wrap="square" lIns="0" tIns="0" rIns="0" bIns="0" rtlCol="0" anchor="t"/>
          <a:lstStyle/>
          <a:p>
            <a:pPr indent="0" marL="0">
              <a:lnSpc>
                <a:spcPct val="105000"/>
              </a:lnSpc>
              <a:buNone/>
            </a:pPr>
            <a:r>
              <a:rPr lang="en-US" sz="950" dirty="0">
                <a:solidFill>
                  <a:srgbClr val="252A3D"/>
                </a:solidFill>
                <a:latin typeface="Arial" pitchFamily="34" charset="0"/>
                <a:ea typeface="Arial" pitchFamily="34" charset="-122"/>
                <a:cs typeface="Arial" pitchFamily="34" charset="-120"/>
              </a:rPr>
              <a:t>The Last Human Gate · Forward Deployed Engineering for Governance Automation · Research paper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Last Human Gate - Forward Deployed Engineering for Governance Automation</dc:title>
  <dc:subject>PptxGenJS Presentation</dc:subject>
  <dc:creator>Jeremy Canale</dc:creator>
  <cp:lastModifiedBy>Jeremy Canale</cp:lastModifiedBy>
  <cp:revision>1</cp:revision>
  <dcterms:created xsi:type="dcterms:W3CDTF">2026-09-25T11:10:35Z</dcterms:created>
  <dcterms:modified xsi:type="dcterms:W3CDTF">2026-09-25T11:10:35Z</dcterms:modified>
</cp:coreProperties>
</file>