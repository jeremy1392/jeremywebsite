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noAutofit/>
          </a:bodyPr>
          <a:lstStyle/>
          <a:p>
            <a:pPr>
              <a:defRPr sz="1000" b="0" i="0" u="none" strike="noStrike">
                <a:solidFill>
                  <a:srgbClr val="5B6575"/>
                </a:solidFill>
                <a:latin typeface="Arial"/>
              </a:defRPr>
            </a:pPr>
            <a:r>
              <a:rPr sz="1000" b="0" i="0" u="none" strike="noStrike" lang="fr-FR">
                <a:solidFill>
                  <a:srgbClr val="5B6575"/>
                </a:solidFill>
                <a:latin typeface="Arial"/>
              </a:rPr>
              <a:t>REVUES AYANT RÉUSSI LE TEST · cinq critères remplis, en % des revues</a:t>
            </a:r>
          </a:p>
        </c:rich>
      </c:tx>
      <c:layout/>
      <c:overlay val="0"/>
    </c:title>
    <c:autoTitleDeleted val="0"/>
    <c:plotArea>
      <c:layout/>
      <c:barChart>
        <c:barDir val="bar"/>
        <c:grouping val="clustered"/>
        <c:varyColors val="0"/>
        <c:ser>
          <c:idx val="0"/>
          <c:order val="0"/>
          <c:tx>
            <c:strRef>
              <c:f>Sheet1!$B$1</c:f>
              <c:strCache>
                <c:ptCount val="1"/>
                <c:pt idx="0">
                  <c:v>Revues ayant réussi le test</c:v>
                </c:pt>
              </c:strCache>
            </c:strRef>
          </c:tx>
          <c:spPr>
            <a:solidFill>
              <a:srgbClr val="5B6575"/>
            </a:solidFill>
            <a:effectLst/>
          </c:spPr>
          <c:invertIfNegative val="0"/>
          <c:dLbls>
            <c:numFmt formatCode="0.0&quot; %&quot;" sourceLinked="0"/>
            <c:txPr>
              <a:bodyPr/>
              <a:lstStyle/>
              <a:p>
                <a:pPr>
                  <a:defRPr b="1" i="0" strike="noStrike" sz="1000" u="none">
                    <a:solidFill>
                      <a:srgbClr val="252A3D"/>
                    </a:solidFill>
                    <a:latin typeface="Arial"/>
                  </a:defRPr>
                </a:pPr>
              </a:p>
            </c:txPr>
            <c:showLegendKey val="0"/>
            <c:showVal val="1"/>
            <c:showCatName val="0"/>
            <c:showSerName val="0"/>
            <c:showPercent val="0"/>
            <c:showBubbleSize val="0"/>
            <c:showLeaderLines val="0"/>
          </c:dLbls>
          <c:dPt>
            <c:idx val="0"/>
            <c:invertIfNegative val="0"/>
            <c:bubble3D val="0"/>
            <c:spPr>
              <a:solidFill>
                <a:srgbClr val="5B6575"/>
              </a:solidFill>
              <a:effectLst/>
            </c:spPr>
          </c:dPt>
          <c:dPt>
            <c:idx val="1"/>
            <c:invertIfNegative val="0"/>
            <c:bubble3D val="0"/>
            <c:spPr>
              <a:solidFill>
                <a:srgbClr val="157A90"/>
              </a:solidFill>
              <a:effectLst/>
            </c:spPr>
          </c:dPt>
          <c:dPt>
            <c:idx val="2"/>
            <c:invertIfNegative val="0"/>
            <c:bubble3D val="0"/>
            <c:spPr>
              <a:solidFill>
                <a:srgbClr val="5B3F9E"/>
              </a:solidFill>
              <a:effectLst/>
            </c:spPr>
          </c:dPt>
          <c:dPt>
            <c:idx val="3"/>
            <c:invertIfNegative val="0"/>
            <c:bubble3D val="0"/>
            <c:spPr>
              <a:solidFill>
                <a:srgbClr val="E3A82B"/>
              </a:solidFill>
              <a:effectLst/>
            </c:spPr>
          </c:dPt>
          <c:cat>
            <c:multiLvlStrRef>
              <c:f>Sheet1!$A$2:$A$5</c:f>
              <c:multiLvlStrCache>
                <c:ptCount val="4"/>
                <c:lvl>
                  <c:pt idx="0">
                    <c:v>Logiciel classique à règles fixes, sans IA</c:v>
                  </c:pt>
                  <c:pt idx="1">
                    <c:v>Gemini 3.8 Flash</c:v>
                  </c:pt>
                  <c:pt idx="2">
                    <c:v>GPT-5.6 Luna</c:v>
                  </c:pt>
                  <c:pt idx="3">
                    <c:v>DeepSeek v4.1 Flash</c:v>
                  </c:pt>
                </c:lvl>
              </c:multiLvlStrCache>
            </c:multiLvlStrRef>
          </c:cat>
          <c:val>
            <c:numRef>
              <c:f>Sheet1!$B$2:$B$5</c:f>
              <c:numCache>
                <c:formatCode>General</c:formatCode>
                <c:ptCount val="4"/>
                <c:pt idx="0">
                  <c:v>100</c:v>
                </c:pt>
                <c:pt idx="1">
                  <c:v>94.98</c:v>
                </c:pt>
                <c:pt idx="2">
                  <c:v>83.29</c:v>
                </c:pt>
                <c:pt idx="3">
                  <c:v>74.18</c:v>
                </c:pt>
              </c:numCache>
            </c:numRef>
          </c:val>
        </c:ser>
        <c:dLbls>
          <c:numFmt formatCode="0.0&quot; %&quot;" sourceLinked="0"/>
          <c:txPr>
            <a:bodyPr/>
            <a:lstStyle/>
            <a:p>
              <a:pPr>
                <a:defRPr b="1" i="0" strike="noStrike" sz="1000" u="none">
                  <a:solidFill>
                    <a:srgbClr val="252A3D"/>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9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noAutofit/>
          </a:bodyPr>
          <a:lstStyle/>
          <a:p>
            <a:pPr>
              <a:defRPr sz="1000" b="0" i="0" u="none" strike="noStrike">
                <a:solidFill>
                  <a:srgbClr val="5B6575"/>
                </a:solidFill>
                <a:latin typeface="Arial"/>
              </a:defRPr>
            </a:pPr>
            <a:r>
              <a:rPr sz="1000" b="0" i="0" u="none" strike="noStrike" lang="fr-FR">
                <a:solidFill>
                  <a:srgbClr val="5B6575"/>
                </a:solidFill>
                <a:latin typeface="Arial"/>
              </a:rPr>
              <a:t>PROJETS AYANT RÉUSSI TOUTES LES REVUES · en % des projets</a:t>
            </a:r>
          </a:p>
        </c:rich>
      </c:tx>
      <c:layout/>
      <c:overlay val="0"/>
    </c:title>
    <c:autoTitleDeleted val="0"/>
    <c:plotArea>
      <c:layout/>
      <c:barChart>
        <c:barDir val="bar"/>
        <c:grouping val="clustered"/>
        <c:varyColors val="0"/>
        <c:ser>
          <c:idx val="0"/>
          <c:order val="0"/>
          <c:tx>
            <c:strRef>
              <c:f>Sheet1!$B$1</c:f>
              <c:strCache>
                <c:ptCount val="1"/>
                <c:pt idx="0">
                  <c:v>Projets ayant réussi tous les tests de revue</c:v>
                </c:pt>
              </c:strCache>
            </c:strRef>
          </c:tx>
          <c:spPr>
            <a:solidFill>
              <a:srgbClr val="5B6575"/>
            </a:solidFill>
            <a:effectLst/>
          </c:spPr>
          <c:invertIfNegative val="0"/>
          <c:dLbls>
            <c:numFmt formatCode="0.0&quot; %&quot;" sourceLinked="0"/>
            <c:txPr>
              <a:bodyPr/>
              <a:lstStyle/>
              <a:p>
                <a:pPr>
                  <a:defRPr b="1" i="0" strike="noStrike" sz="1000" u="none">
                    <a:solidFill>
                      <a:srgbClr val="252A3D"/>
                    </a:solidFill>
                    <a:latin typeface="Arial"/>
                  </a:defRPr>
                </a:pPr>
              </a:p>
            </c:txPr>
            <c:showLegendKey val="0"/>
            <c:showVal val="1"/>
            <c:showCatName val="0"/>
            <c:showSerName val="0"/>
            <c:showPercent val="0"/>
            <c:showBubbleSize val="0"/>
            <c:showLeaderLines val="0"/>
          </c:dLbls>
          <c:dPt>
            <c:idx val="0"/>
            <c:invertIfNegative val="0"/>
            <c:bubble3D val="0"/>
            <c:spPr>
              <a:solidFill>
                <a:srgbClr val="5B6575"/>
              </a:solidFill>
              <a:effectLst/>
            </c:spPr>
          </c:dPt>
          <c:dPt>
            <c:idx val="1"/>
            <c:invertIfNegative val="0"/>
            <c:bubble3D val="0"/>
            <c:spPr>
              <a:solidFill>
                <a:srgbClr val="157A90"/>
              </a:solidFill>
              <a:effectLst/>
            </c:spPr>
          </c:dPt>
          <c:dPt>
            <c:idx val="2"/>
            <c:invertIfNegative val="0"/>
            <c:bubble3D val="0"/>
            <c:spPr>
              <a:solidFill>
                <a:srgbClr val="5B3F9E"/>
              </a:solidFill>
              <a:effectLst/>
            </c:spPr>
          </c:dPt>
          <c:dPt>
            <c:idx val="3"/>
            <c:invertIfNegative val="0"/>
            <c:bubble3D val="0"/>
            <c:spPr>
              <a:solidFill>
                <a:srgbClr val="E3A82B"/>
              </a:solidFill>
              <a:effectLst/>
            </c:spPr>
          </c:dPt>
          <c:cat>
            <c:multiLvlStrRef>
              <c:f>Sheet1!$A$2:$A$5</c:f>
              <c:multiLvlStrCache>
                <c:ptCount val="4"/>
                <c:lvl>
                  <c:pt idx="0">
                    <c:v>Logiciel classique à règles fixes, sans IA</c:v>
                  </c:pt>
                  <c:pt idx="1">
                    <c:v>Gemini 3.8 Flash</c:v>
                  </c:pt>
                  <c:pt idx="2">
                    <c:v>GPT-5.6 Luna</c:v>
                  </c:pt>
                  <c:pt idx="3">
                    <c:v>DeepSeek v4.1 Flash</c:v>
                  </c:pt>
                </c:lvl>
              </c:multiLvlStrCache>
            </c:multiLvlStrRef>
          </c:cat>
          <c:val>
            <c:numRef>
              <c:f>Sheet1!$B$2:$B$5</c:f>
              <c:numCache>
                <c:formatCode>General</c:formatCode>
                <c:ptCount val="4"/>
                <c:pt idx="0">
                  <c:v>100</c:v>
                </c:pt>
                <c:pt idx="1">
                  <c:v>76.92</c:v>
                </c:pt>
                <c:pt idx="2">
                  <c:v>42.33</c:v>
                </c:pt>
                <c:pt idx="3">
                  <c:v>24.67</c:v>
                </c:pt>
              </c:numCache>
            </c:numRef>
          </c:val>
        </c:ser>
        <c:dLbls>
          <c:numFmt formatCode="0.0&quot; %&quot;" sourceLinked="0"/>
          <c:txPr>
            <a:bodyPr/>
            <a:lstStyle/>
            <a:p>
              <a:pPr>
                <a:defRPr b="1" i="0" strike="noStrike" sz="1000" u="none">
                  <a:solidFill>
                    <a:srgbClr val="252A3D"/>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9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noAutofit/>
          </a:bodyPr>
          <a:lstStyle/>
          <a:p>
            <a:pPr>
              <a:defRPr sz="1000" b="0" i="0" u="none" strike="noStrike">
                <a:solidFill>
                  <a:srgbClr val="5B6575"/>
                </a:solidFill>
                <a:latin typeface="Arial"/>
              </a:defRPr>
            </a:pPr>
            <a:r>
              <a:rPr sz="1000" b="0" i="0" u="none" strike="noStrike" lang="fr-FR">
                <a:solidFill>
                  <a:srgbClr val="5B6575"/>
                </a:solidFill>
                <a:latin typeface="Arial"/>
              </a:rPr>
              <a:t>REVUES AYANT RÉUSSI LE TEST, PAR DOMAINE (%)</a:t>
            </a:r>
          </a:p>
        </c:rich>
      </c:tx>
      <c:layout/>
      <c:overlay val="0"/>
    </c:title>
    <c:autoTitleDeleted val="0"/>
    <c:plotArea>
      <c:layout/>
      <c:barChart>
        <c:barDir val="bar"/>
        <c:grouping val="clustered"/>
        <c:varyColors val="0"/>
        <c:ser>
          <c:idx val="0"/>
          <c:order val="0"/>
          <c:tx>
            <c:strRef>
              <c:f>Sheet1!$B$1</c:f>
              <c:strCache>
                <c:ptCount val="1"/>
                <c:pt idx="0">
                  <c:v>Gemini 3.8 Flash</c:v>
                </c:pt>
              </c:strCache>
            </c:strRef>
          </c:tx>
          <c:spPr>
            <a:solidFill>
              <a:srgbClr val="157A90"/>
            </a:solidFill>
            <a:effectLst/>
          </c:spPr>
          <c:invertIfNegative val="0"/>
          <c:dLbls>
            <c:numFmt formatCode="0" sourceLinked="0"/>
            <c:txPr>
              <a:bodyPr/>
              <a:lstStyle/>
              <a:p>
                <a:pPr>
                  <a:defRPr b="0" i="0" strike="noStrike" sz="700" u="none">
                    <a:solidFill>
                      <a:srgbClr val="5B6575"/>
                    </a:solidFill>
                    <a:latin typeface="Arial"/>
                  </a:defRPr>
                </a:pPr>
              </a:p>
            </c:txPr>
            <c:showLegendKey val="0"/>
            <c:showVal val="1"/>
            <c:showCatName val="0"/>
            <c:showSerName val="0"/>
            <c:showPercent val="0"/>
            <c:showBubbleSize val="0"/>
            <c:showLeaderLines val="0"/>
          </c:dLbls>
          <c:cat>
            <c:multiLvlStrRef>
              <c:f>Sheet1!$A$2:$A$9</c:f>
              <c:multiLvlStrCache>
                <c:ptCount val="8"/>
                <c:lvl>
                  <c:pt idx="0">
                    <c:v>Architecture technique</c:v>
                  </c:pt>
                  <c:pt idx="1">
                    <c:v>Conformité réglementaire</c:v>
                  </c:pt>
                  <c:pt idx="2">
                    <c:v>Validation finale</c:v>
                  </c:pt>
                  <c:pt idx="3">
                    <c:v>Standardisation technologique</c:v>
                  </c:pt>
                  <c:pt idx="4">
                    <c:v>Juridique</c:v>
                  </c:pt>
                  <c:pt idx="5">
                    <c:v>Achats</c:v>
                  </c:pt>
                  <c:pt idx="6">
                    <c:v>Cybersécurité</c:v>
                  </c:pt>
                  <c:pt idx="7">
                    <c:v>Préparation à l'exploitation</c:v>
                  </c:pt>
                </c:lvl>
              </c:multiLvlStrCache>
            </c:multiLvlStrRef>
          </c:cat>
          <c:val>
            <c:numRef>
              <c:f>Sheet1!$B$2:$B$9</c:f>
              <c:numCache>
                <c:formatCode>General</c:formatCode>
                <c:ptCount val="8"/>
                <c:pt idx="0">
                  <c:v>85.43</c:v>
                </c:pt>
                <c:pt idx="1">
                  <c:v>100</c:v>
                </c:pt>
                <c:pt idx="2">
                  <c:v>87.96</c:v>
                </c:pt>
                <c:pt idx="3">
                  <c:v>100</c:v>
                </c:pt>
                <c:pt idx="4">
                  <c:v>99.5</c:v>
                </c:pt>
                <c:pt idx="5">
                  <c:v>96</c:v>
                </c:pt>
                <c:pt idx="6">
                  <c:v>98.66</c:v>
                </c:pt>
                <c:pt idx="7">
                  <c:v>89</c:v>
                </c:pt>
              </c:numCache>
            </c:numRef>
          </c:val>
        </c:ser>
        <c:ser>
          <c:idx val="1"/>
          <c:order val="1"/>
          <c:tx>
            <c:strRef>
              <c:f>Sheet1!$C$1</c:f>
              <c:strCache>
                <c:ptCount val="1"/>
                <c:pt idx="0">
                  <c:v>GPT-5.6 Luna</c:v>
                </c:pt>
              </c:strCache>
            </c:strRef>
          </c:tx>
          <c:spPr>
            <a:solidFill>
              <a:srgbClr val="5B3F9E"/>
            </a:solidFill>
            <a:effectLst/>
          </c:spPr>
          <c:invertIfNegative val="0"/>
          <c:dLbls>
            <c:numFmt formatCode="0" sourceLinked="0"/>
            <c:txPr>
              <a:bodyPr/>
              <a:lstStyle/>
              <a:p>
                <a:pPr>
                  <a:defRPr b="0" i="0" strike="noStrike" sz="700" u="none">
                    <a:solidFill>
                      <a:srgbClr val="5B6575"/>
                    </a:solidFill>
                    <a:latin typeface="Arial"/>
                  </a:defRPr>
                </a:pPr>
              </a:p>
            </c:txPr>
            <c:showLegendKey val="0"/>
            <c:showVal val="1"/>
            <c:showCatName val="0"/>
            <c:showSerName val="0"/>
            <c:showPercent val="0"/>
            <c:showBubbleSize val="0"/>
            <c:showLeaderLines val="0"/>
          </c:dLbls>
          <c:cat>
            <c:multiLvlStrRef>
              <c:f>Sheet1!$A$2:$A$9</c:f>
              <c:multiLvlStrCache>
                <c:ptCount val="8"/>
                <c:lvl>
                  <c:pt idx="0">
                    <c:v>Architecture technique</c:v>
                  </c:pt>
                  <c:pt idx="1">
                    <c:v>Conformité réglementaire</c:v>
                  </c:pt>
                  <c:pt idx="2">
                    <c:v>Validation finale</c:v>
                  </c:pt>
                  <c:pt idx="3">
                    <c:v>Standardisation technologique</c:v>
                  </c:pt>
                  <c:pt idx="4">
                    <c:v>Juridique</c:v>
                  </c:pt>
                  <c:pt idx="5">
                    <c:v>Achats</c:v>
                  </c:pt>
                  <c:pt idx="6">
                    <c:v>Cybersécurité</c:v>
                  </c:pt>
                  <c:pt idx="7">
                    <c:v>Préparation à l'exploitation</c:v>
                  </c:pt>
                </c:lvl>
              </c:multiLvlStrCache>
            </c:multiLvlStrRef>
          </c:cat>
          <c:val>
            <c:numRef>
              <c:f>Sheet1!$C$2:$C$9</c:f>
              <c:numCache>
                <c:formatCode>General</c:formatCode>
                <c:ptCount val="8"/>
                <c:pt idx="0">
                  <c:v>89.5</c:v>
                </c:pt>
                <c:pt idx="1">
                  <c:v>96</c:v>
                </c:pt>
                <c:pt idx="2">
                  <c:v>61.67</c:v>
                </c:pt>
                <c:pt idx="3">
                  <c:v>97.67</c:v>
                </c:pt>
                <c:pt idx="4">
                  <c:v>80.5</c:v>
                </c:pt>
                <c:pt idx="5">
                  <c:v>33</c:v>
                </c:pt>
                <c:pt idx="6">
                  <c:v>92</c:v>
                </c:pt>
                <c:pt idx="7">
                  <c:v>97</c:v>
                </c:pt>
              </c:numCache>
            </c:numRef>
          </c:val>
        </c:ser>
        <c:ser>
          <c:idx val="2"/>
          <c:order val="2"/>
          <c:tx>
            <c:strRef>
              <c:f>Sheet1!$D$1</c:f>
              <c:strCache>
                <c:ptCount val="1"/>
                <c:pt idx="0">
                  <c:v>DeepSeek v4.1 Flash</c:v>
                </c:pt>
              </c:strCache>
            </c:strRef>
          </c:tx>
          <c:spPr>
            <a:solidFill>
              <a:srgbClr val="E3A82B"/>
            </a:solidFill>
            <a:effectLst/>
          </c:spPr>
          <c:invertIfNegative val="0"/>
          <c:dLbls>
            <c:numFmt formatCode="0" sourceLinked="0"/>
            <c:txPr>
              <a:bodyPr/>
              <a:lstStyle/>
              <a:p>
                <a:pPr>
                  <a:defRPr b="0" i="0" strike="noStrike" sz="700" u="none">
                    <a:solidFill>
                      <a:srgbClr val="5B6575"/>
                    </a:solidFill>
                    <a:latin typeface="Arial"/>
                  </a:defRPr>
                </a:pPr>
              </a:p>
            </c:txPr>
            <c:showLegendKey val="0"/>
            <c:showVal val="1"/>
            <c:showCatName val="0"/>
            <c:showSerName val="0"/>
            <c:showPercent val="0"/>
            <c:showBubbleSize val="0"/>
            <c:showLeaderLines val="0"/>
          </c:dLbls>
          <c:cat>
            <c:multiLvlStrRef>
              <c:f>Sheet1!$A$2:$A$9</c:f>
              <c:multiLvlStrCache>
                <c:ptCount val="8"/>
                <c:lvl>
                  <c:pt idx="0">
                    <c:v>Architecture technique</c:v>
                  </c:pt>
                  <c:pt idx="1">
                    <c:v>Conformité réglementaire</c:v>
                  </c:pt>
                  <c:pt idx="2">
                    <c:v>Validation finale</c:v>
                  </c:pt>
                  <c:pt idx="3">
                    <c:v>Standardisation technologique</c:v>
                  </c:pt>
                  <c:pt idx="4">
                    <c:v>Juridique</c:v>
                  </c:pt>
                  <c:pt idx="5">
                    <c:v>Achats</c:v>
                  </c:pt>
                  <c:pt idx="6">
                    <c:v>Cybersécurité</c:v>
                  </c:pt>
                  <c:pt idx="7">
                    <c:v>Préparation à l'exploitation</c:v>
                  </c:pt>
                </c:lvl>
              </c:multiLvlStrCache>
            </c:multiLvlStrRef>
          </c:cat>
          <c:val>
            <c:numRef>
              <c:f>Sheet1!$D$2:$D$9</c:f>
              <c:numCache>
                <c:formatCode>General</c:formatCode>
                <c:ptCount val="8"/>
                <c:pt idx="0">
                  <c:v>75</c:v>
                </c:pt>
                <c:pt idx="1">
                  <c:v>88</c:v>
                </c:pt>
                <c:pt idx="2">
                  <c:v>68.67</c:v>
                </c:pt>
                <c:pt idx="3">
                  <c:v>87</c:v>
                </c:pt>
                <c:pt idx="4">
                  <c:v>68.5</c:v>
                </c:pt>
                <c:pt idx="5">
                  <c:v>43</c:v>
                </c:pt>
                <c:pt idx="6">
                  <c:v>72.33</c:v>
                </c:pt>
                <c:pt idx="7">
                  <c:v>71</c:v>
                </c:pt>
              </c:numCache>
            </c:numRef>
          </c:val>
        </c:ser>
        <c:dLbls>
          <c:numFmt formatCode="0" sourceLinked="0"/>
          <c:txPr>
            <a:bodyPr/>
            <a:lstStyle/>
            <a:p>
              <a:pPr>
                <a:defRPr b="0" i="0" strike="noStrike" sz="700" u="none">
                  <a:solidFill>
                    <a:srgbClr val="5B6575"/>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5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9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900">
              <a:solidFill>
                <a:srgbClr val="252A3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noAutofit/>
          </a:bodyPr>
          <a:lstStyle/>
          <a:p>
            <a:pPr>
              <a:defRPr sz="1000" b="0" i="0" u="none" strike="noStrike">
                <a:solidFill>
                  <a:srgbClr val="5B6575"/>
                </a:solidFill>
                <a:latin typeface="Arial"/>
              </a:defRPr>
            </a:pPr>
            <a:r>
              <a:rPr sz="1000" b="0" i="0" u="none" strike="noStrike" lang="fr-FR">
                <a:solidFill>
                  <a:srgbClr val="5B6575"/>
                </a:solidFill>
                <a:latin typeface="Arial"/>
              </a:rPr>
              <a:t>BESOINS EN PERSONNEL POUR LE MÊME TRAVAIL, SELON LE SCÉNARIO (ETP)</a:t>
            </a:r>
          </a:p>
        </c:rich>
      </c:tx>
      <c:layout/>
      <c:overlay val="0"/>
    </c:title>
    <c:autoTitleDeleted val="0"/>
    <c:plotArea>
      <c:layout/>
      <c:barChart>
        <c:barDir val="col"/>
        <c:grouping val="clustered"/>
        <c:varyColors val="0"/>
        <c:ser>
          <c:idx val="0"/>
          <c:order val="0"/>
          <c:tx>
            <c:strRef>
              <c:f>Sheet1!$B$1</c:f>
              <c:strCache>
                <c:ptCount val="1"/>
                <c:pt idx="0">
                  <c:v>Besoins en équivalents temps plein</c:v>
                </c:pt>
              </c:strCache>
            </c:strRef>
          </c:tx>
          <c:spPr>
            <a:solidFill>
              <a:srgbClr val="5B6575"/>
            </a:solidFill>
            <a:effectLst/>
          </c:spPr>
          <c:invertIfNegative val="0"/>
          <c:dLbls>
            <c:numFmt formatCode="0.0" sourceLinked="0"/>
            <c:txPr>
              <a:bodyPr/>
              <a:lstStyle/>
              <a:p>
                <a:pPr>
                  <a:defRPr b="1" i="0" strike="noStrike" sz="900" u="none">
                    <a:solidFill>
                      <a:srgbClr val="252A3D"/>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5B6575"/>
              </a:solidFill>
              <a:effectLst/>
            </c:spPr>
          </c:dPt>
          <c:dPt>
            <c:idx val="1"/>
            <c:invertIfNegative val="0"/>
            <c:bubble3D val="0"/>
            <c:spPr>
              <a:solidFill>
                <a:srgbClr val="157A90"/>
              </a:solidFill>
              <a:effectLst/>
            </c:spPr>
          </c:dPt>
          <c:dPt>
            <c:idx val="2"/>
            <c:invertIfNegative val="0"/>
            <c:bubble3D val="0"/>
            <c:spPr>
              <a:solidFill>
                <a:srgbClr val="1B6E93"/>
              </a:solidFill>
              <a:effectLst/>
            </c:spPr>
          </c:dPt>
          <c:dPt>
            <c:idx val="3"/>
            <c:invertIfNegative val="0"/>
            <c:bubble3D val="0"/>
            <c:spPr>
              <a:solidFill>
                <a:srgbClr val="5B3F9E"/>
              </a:solidFill>
              <a:effectLst/>
            </c:spPr>
          </c:dPt>
          <c:dPt>
            <c:idx val="4"/>
            <c:invertIfNegative val="0"/>
            <c:bubble3D val="0"/>
            <c:spPr>
              <a:solidFill>
                <a:srgbClr val="C8283E"/>
              </a:solidFill>
              <a:effectLst/>
            </c:spPr>
          </c:dPt>
          <c:cat>
            <c:multiLvlStrRef>
              <c:f>Sheet1!$A$2:$A$6</c:f>
              <c:multiLvlStrCache>
                <c:ptCount val="5"/>
                <c:lvl>
                  <c:pt idx="0">
                    <c:v>Situation de départ</c:v>
                  </c:pt>
                  <c:pt idx="1">
                    <c:v>S0 · L’IA aide sur les cas complexes</c:v>
                  </c:pt>
                  <c:pt idx="2">
                    <c:v>S1 · Cas complexes sans aide de l’IA</c:v>
                  </c:pt>
                  <c:pt idx="3">
                    <c:v>S2 · S1 avec du temps de correction</c:v>
                  </c:pt>
                  <c:pt idx="4">
                    <c:v>S3 · Chaque décision est relue</c:v>
                  </c:pt>
                </c:lvl>
              </c:multiLvlStrCache>
            </c:multiLvlStrRef>
          </c:cat>
          <c:val>
            <c:numRef>
              <c:f>Sheet1!$B$2:$B$6</c:f>
              <c:numCache>
                <c:formatCode>General</c:formatCode>
                <c:ptCount val="5"/>
                <c:pt idx="0">
                  <c:v>140</c:v>
                </c:pt>
                <c:pt idx="1">
                  <c:v>43.52</c:v>
                </c:pt>
                <c:pt idx="2">
                  <c:v>85.32</c:v>
                </c:pt>
                <c:pt idx="3">
                  <c:v>89.07</c:v>
                </c:pt>
                <c:pt idx="4">
                  <c:v>168.92</c:v>
                </c:pt>
              </c:numCache>
            </c:numRef>
          </c:val>
        </c:ser>
        <c:dLbls>
          <c:numFmt formatCode="0.0" sourceLinked="0"/>
          <c:txPr>
            <a:bodyPr/>
            <a:lstStyle/>
            <a:p>
              <a:pPr>
                <a:defRPr b="1" i="0" strike="noStrike" sz="900" u="none">
                  <a:solidFill>
                    <a:srgbClr val="252A3D"/>
                  </a:solidFill>
                  <a:latin typeface="Arial"/>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lineChart>
        <c:varyColors val="0"/>
        <c:ser>
          <c:idx val="1"/>
          <c:order val="1"/>
          <c:tx>
            <c:strRef>
              <c:f>Sheet1!$C$1</c:f>
              <c:strCache>
                <c:ptCount val="1"/>
                <c:pt idx="0">
                  <c:v>Objectif de l’auteur pour 2033 : 28 ETP</c:v>
                </c:pt>
              </c:strCache>
            </c:strRef>
          </c:tx>
          <c:spPr>
            <a:solidFill>
              <a:srgbClr val="C8283E"/>
            </a:solidFill>
            <a:ln w="19050" cap="flat">
              <a:solidFill>
                <a:srgbClr val="C8283E"/>
              </a:solidFill>
              <a:prstDash val="dash"/>
              <a:round/>
            </a:ln>
            <a:effectLst/>
          </c:spPr>
          <c:invertIfNegative val="0"/>
          <c:dLbls>
            <c:numFmt formatCode="0.0" sourceLinked="0"/>
            <c:txPr>
              <a:bodyPr/>
              <a:lstStyle/>
              <a:p>
                <a:pPr>
                  <a:defRPr b="1" i="0" strike="noStrike" sz="900" u="none">
                    <a:solidFill>
                      <a:srgbClr val="252A3D"/>
                    </a:solidFill>
                    <a:latin typeface="Arial"/>
                  </a:defRPr>
                </a:pPr>
              </a:p>
            </c:txPr>
            <c:showLegendKey val="0"/>
            <c:showVal val="0"/>
            <c:showCatName val="0"/>
            <c:showSerName val="0"/>
            <c:showPercent val="0"/>
            <c:showBubbleSize val="0"/>
            <c:showLeaderLines val="0"/>
          </c:dLbls>
          <c:marker>
            <c:symbol val="none"/>
            <c:size val="6"/>
            <c:spPr>
              <a:solidFill>
                <a:srgbClr val="C8283E"/>
              </a:solidFill>
              <a:ln w="9525" cap="flat">
                <a:solidFill>
                  <a:srgbClr val="C8283E"/>
                </a:solidFill>
                <a:prstDash val="solid"/>
                <a:round/>
              </a:ln>
              <a:effectLst/>
            </c:spPr>
          </c:marker>
          <c:cat>
            <c:multiLvlStrRef>
              <c:f>Sheet1!$A$2:$A$6</c:f>
              <c:multiLvlStrCache>
                <c:ptCount val="5"/>
                <c:lvl>
                  <c:pt idx="0">
                    <c:v>Situation de départ</c:v>
                  </c:pt>
                  <c:pt idx="1">
                    <c:v>S0 · L’IA aide sur les cas complexes</c:v>
                  </c:pt>
                  <c:pt idx="2">
                    <c:v>S1 · Cas complexes sans aide de l’IA</c:v>
                  </c:pt>
                  <c:pt idx="3">
                    <c:v>S2 · S1 avec du temps de correction</c:v>
                  </c:pt>
                  <c:pt idx="4">
                    <c:v>S3 · Chaque décision est relue</c:v>
                  </c:pt>
                </c:lvl>
              </c:multiLvlStrCache>
            </c:multiLvlStrRef>
          </c:cat>
          <c:val>
            <c:numRef>
              <c:f>Sheet1!$C$2:$C$6</c:f>
              <c:numCache>
                <c:formatCode>General</c:formatCode>
                <c:ptCount val="5"/>
                <c:pt idx="0">
                  <c:v>28</c:v>
                </c:pt>
                <c:pt idx="1">
                  <c:v>28</c:v>
                </c:pt>
                <c:pt idx="2">
                  <c:v>28</c:v>
                </c:pt>
                <c:pt idx="3">
                  <c:v>28</c:v>
                </c:pt>
                <c:pt idx="4">
                  <c:v>28</c:v>
                </c:pt>
              </c:numCache>
            </c:numRef>
          </c:val>
          <c:smooth val="0"/>
        </c:ser>
        <c:dLbls>
          <c:numFmt formatCode="0.0" sourceLinked="0"/>
          <c:txPr>
            <a:bodyPr/>
            <a:lstStyle/>
            <a:p>
              <a:pPr>
                <a:defRPr b="1" i="0" strike="noStrike" sz="900" u="none">
                  <a:solidFill>
                    <a:srgbClr val="252A3D"/>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80"/>
          <c:min val="0"/>
        </c:scaling>
        <c:delete val="0"/>
        <c:axPos val="l"/>
        <c:majorGridlines>
          <c:spPr>
            <a:ln w="6350" cap="flat">
              <a:solidFill>
                <a:srgbClr val="E5E9F0"/>
              </a:solidFill>
              <a:prstDash val="solid"/>
              <a:round/>
            </a:ln>
          </c:spPr>
        </c:majorGridlines>
        <c:title>
          <c:tx>
            <c:rich>
              <a:bodyPr>
                <a:noAutofit/>
              </a:bodyPr>
              <a:lstStyle/>
              <a:p>
                <a:pPr>
                  <a:defRPr sz="800" b="0" i="0" u="none" strike="noStrike">
                    <a:solidFill>
                      <a:srgbClr val="5B6575"/>
                    </a:solidFill>
                    <a:latin typeface="Arial"/>
                  </a:defRPr>
                </a:pPr>
                <a:r>
                  <a:rPr sz="800" b="0" i="0" u="none" strike="noStrike" lang="fr-FR">
                    <a:solidFill>
                      <a:srgbClr val="5B6575"/>
                    </a:solidFill>
                    <a:latin typeface="Arial"/>
                  </a:rPr>
                  <a:t>Besoins en personnel (ETP)</a:t>
                </a:r>
              </a:p>
            </c:rich>
          </c:tx>
          <c:layout/>
          <c:overlay val="0"/>
        </c:title>
        <c:numFmt formatCode="General" sourceLinked="0"/>
        <c:majorTickMark val="out"/>
        <c:minorTickMark val="none"/>
        <c:tickLblPos val="nextTo"/>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30"/>
      </c:valAx>
      <c:spPr>
        <a:noFill/>
        <a:ln>
          <a:noFill/>
        </a:ln>
        <a:effectLst/>
      </c:spPr>
    </c:plotArea>
    <c:legend>
      <c:legendPos val="b"/>
      <c:overlay val="0"/>
      <c:txPr>
        <a:bodyPr/>
        <a:lstStyle/>
        <a:p>
          <a:pPr>
            <a:defRPr sz="850">
              <a:solidFill>
                <a:srgbClr val="252A3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noAutofit/>
          </a:bodyPr>
          <a:lstStyle/>
          <a:p>
            <a:pPr>
              <a:defRPr sz="1000" b="0" i="0" u="none" strike="noStrike">
                <a:solidFill>
                  <a:srgbClr val="5B6575"/>
                </a:solidFill>
                <a:latin typeface="Arial"/>
              </a:defRPr>
            </a:pPr>
            <a:r>
              <a:rPr sz="1000" b="0" i="0" u="none" strike="noStrike" lang="fr-FR">
                <a:solidFill>
                  <a:srgbClr val="5B6575"/>
                </a:solidFill>
                <a:latin typeface="Arial"/>
              </a:rPr>
              <a:t>BESOINS EN PERSONNEL SELON LE PROJET ET LE NIVEAU D’AUTOMATISATION (ETP)</a:t>
            </a:r>
          </a:p>
        </c:rich>
      </c:tx>
      <c:layout/>
      <c:overlay val="0"/>
    </c:title>
    <c:autoTitleDeleted val="0"/>
    <c:plotArea>
      <c:layout/>
      <c:barChart>
        <c:barDir val="col"/>
        <c:grouping val="stacked"/>
        <c:varyColors val="0"/>
        <c:ser>
          <c:idx val="0"/>
          <c:order val="0"/>
          <c:tx>
            <c:strRef>
              <c:f>Sheet1!$B$1</c:f>
              <c:strCache>
                <c:ptCount val="1"/>
                <c:pt idx="0">
                  <c:v>Achat de solutions</c:v>
                </c:pt>
              </c:strCache>
            </c:strRef>
          </c:tx>
          <c:spPr>
            <a:solidFill>
              <a:srgbClr val="157A9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Situation de départ · 140</c:v>
                  </c:pt>
                  <c:pt idx="1">
                    <c:v>Une partie des revues automatisée · 61</c:v>
                  </c:pt>
                  <c:pt idx="2">
                    <c:v>La plupart des revues automatisées · 16</c:v>
                  </c:pt>
                  <c:pt idx="3">
                    <c:v>Seule l’équipe de la plateforme reste · 5</c:v>
                  </c:pt>
                  <c:pt idx="4">
                    <c:v>Tout est automatisé · 0</c:v>
                  </c:pt>
                </c:lvl>
              </c:multiLvlStrCache>
            </c:multiLvlStrRef>
          </c:cat>
          <c:val>
            <c:numRef>
              <c:f>Sheet1!$B$2:$B$6</c:f>
              <c:numCache>
                <c:formatCode>General</c:formatCode>
                <c:ptCount val="5"/>
                <c:pt idx="0">
                  <c:v>51.25</c:v>
                </c:pt>
                <c:pt idx="1">
                  <c:v>15.375</c:v>
                </c:pt>
                <c:pt idx="2">
                  <c:v>2.5625</c:v>
                </c:pt>
                <c:pt idx="3">
                  <c:v>0</c:v>
                </c:pt>
                <c:pt idx="4">
                  <c:v>0</c:v>
                </c:pt>
              </c:numCache>
            </c:numRef>
          </c:val>
        </c:ser>
        <c:ser>
          <c:idx val="1"/>
          <c:order val="1"/>
          <c:tx>
            <c:strRef>
              <c:f>Sheet1!$C$1</c:f>
              <c:strCache>
                <c:ptCount val="1"/>
                <c:pt idx="0">
                  <c:v>Intégration de solutions</c:v>
                </c:pt>
              </c:strCache>
            </c:strRef>
          </c:tx>
          <c:spPr>
            <a:solidFill>
              <a:srgbClr val="5B3F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Situation de départ · 140</c:v>
                  </c:pt>
                  <c:pt idx="1">
                    <c:v>Une partie des revues automatisée · 61</c:v>
                  </c:pt>
                  <c:pt idx="2">
                    <c:v>La plupart des revues automatisées · 16</c:v>
                  </c:pt>
                  <c:pt idx="3">
                    <c:v>Seule l’équipe de la plateforme reste · 5</c:v>
                  </c:pt>
                  <c:pt idx="4">
                    <c:v>Tout est automatisé · 0</c:v>
                  </c:pt>
                </c:lvl>
              </c:multiLvlStrCache>
            </c:multiLvlStrRef>
          </c:cat>
          <c:val>
            <c:numRef>
              <c:f>Sheet1!$C$2:$C$6</c:f>
              <c:numCache>
                <c:formatCode>General</c:formatCode>
                <c:ptCount val="5"/>
                <c:pt idx="0">
                  <c:v>36</c:v>
                </c:pt>
                <c:pt idx="1">
                  <c:v>27</c:v>
                </c:pt>
                <c:pt idx="2">
                  <c:v>7.2</c:v>
                </c:pt>
                <c:pt idx="3">
                  <c:v>0</c:v>
                </c:pt>
                <c:pt idx="4">
                  <c:v>0</c:v>
                </c:pt>
              </c:numCache>
            </c:numRef>
          </c:val>
        </c:ser>
        <c:ser>
          <c:idx val="2"/>
          <c:order val="2"/>
          <c:tx>
            <c:strRef>
              <c:f>Sheet1!$D$1</c:f>
              <c:strCache>
                <c:ptCount val="1"/>
                <c:pt idx="0">
                  <c:v>Développement de solutions</c:v>
                </c:pt>
              </c:strCache>
            </c:strRef>
          </c:tx>
          <c:spPr>
            <a:solidFill>
              <a:srgbClr val="E3A8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Situation de départ · 140</c:v>
                  </c:pt>
                  <c:pt idx="1">
                    <c:v>Une partie des revues automatisée · 61</c:v>
                  </c:pt>
                  <c:pt idx="2">
                    <c:v>La plupart des revues automatisées · 16</c:v>
                  </c:pt>
                  <c:pt idx="3">
                    <c:v>Seule l’équipe de la plateforme reste · 5</c:v>
                  </c:pt>
                  <c:pt idx="4">
                    <c:v>Tout est automatisé · 0</c:v>
                  </c:pt>
                </c:lvl>
              </c:multiLvlStrCache>
            </c:multiLvlStrRef>
          </c:cat>
          <c:val>
            <c:numRef>
              <c:f>Sheet1!$D$2:$D$6</c:f>
              <c:numCache>
                <c:formatCode>General</c:formatCode>
                <c:ptCount val="5"/>
                <c:pt idx="0">
                  <c:v>52.75</c:v>
                </c:pt>
                <c:pt idx="1">
                  <c:v>13.1875</c:v>
                </c:pt>
                <c:pt idx="2">
                  <c:v>1.5825</c:v>
                </c:pt>
                <c:pt idx="3">
                  <c:v>0</c:v>
                </c:pt>
                <c:pt idx="4">
                  <c:v>0</c:v>
                </c:pt>
              </c:numCache>
            </c:numRef>
          </c:val>
        </c:ser>
        <c:ser>
          <c:idx val="3"/>
          <c:order val="3"/>
          <c:tx>
            <c:strRef>
              <c:f>Sheet1!$E$1</c:f>
              <c:strCache>
                <c:ptCount val="1"/>
                <c:pt idx="0">
                  <c:v>Personnel chargé de la plateforme</c:v>
                </c:pt>
              </c:strCache>
            </c:strRef>
          </c:tx>
          <c:spPr>
            <a:solidFill>
              <a:srgbClr val="5B657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Situation de départ · 140</c:v>
                  </c:pt>
                  <c:pt idx="1">
                    <c:v>Une partie des revues automatisée · 61</c:v>
                  </c:pt>
                  <c:pt idx="2">
                    <c:v>La plupart des revues automatisées · 16</c:v>
                  </c:pt>
                  <c:pt idx="3">
                    <c:v>Seule l’équipe de la plateforme reste · 5</c:v>
                  </c:pt>
                  <c:pt idx="4">
                    <c:v>Tout est automatisé · 0</c:v>
                  </c:pt>
                </c:lvl>
              </c:multiLvlStrCache>
            </c:multiLvlStrRef>
          </c:cat>
          <c:val>
            <c:numRef>
              <c:f>Sheet1!$E$2:$E$6</c:f>
              <c:numCache>
                <c:formatCode>General</c:formatCode>
                <c:ptCount val="5"/>
                <c:pt idx="0">
                  <c:v>0</c:v>
                </c:pt>
                <c:pt idx="1">
                  <c:v>5</c:v>
                </c:pt>
                <c:pt idx="2">
                  <c:v>5</c:v>
                </c:pt>
                <c:pt idx="3">
                  <c:v>5</c:v>
                </c:pt>
                <c:pt idx="4">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lineChart>
        <c:varyColors val="0"/>
        <c:ser>
          <c:idx val="4"/>
          <c:order val="4"/>
          <c:tx>
            <c:strRef>
              <c:f>Sheet1!$F$1</c:f>
              <c:strCache>
                <c:ptCount val="1"/>
                <c:pt idx="0">
                  <c:v>Objectif pour 2033 : 28 ETP</c:v>
                </c:pt>
              </c:strCache>
            </c:strRef>
          </c:tx>
          <c:spPr>
            <a:solidFill>
              <a:srgbClr val="C8283E"/>
            </a:solidFill>
            <a:ln w="19050" cap="flat">
              <a:solidFill>
                <a:srgbClr val="C8283E"/>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283E"/>
              </a:solidFill>
              <a:ln w="9525" cap="flat">
                <a:solidFill>
                  <a:srgbClr val="C8283E"/>
                </a:solidFill>
                <a:prstDash val="solid"/>
                <a:round/>
              </a:ln>
              <a:effectLst/>
            </c:spPr>
          </c:marker>
          <c:cat>
            <c:multiLvlStrRef>
              <c:f>Sheet1!$A$2:$A$6</c:f>
              <c:multiLvlStrCache>
                <c:ptCount val="5"/>
                <c:lvl>
                  <c:pt idx="0">
                    <c:v>Situation de départ · 140</c:v>
                  </c:pt>
                  <c:pt idx="1">
                    <c:v>Une partie des revues automatisée · 61</c:v>
                  </c:pt>
                  <c:pt idx="2">
                    <c:v>La plupart des revues automatisées · 16</c:v>
                  </c:pt>
                  <c:pt idx="3">
                    <c:v>Seule l’équipe de la plateforme reste · 5</c:v>
                  </c:pt>
                  <c:pt idx="4">
                    <c:v>Tout est automatisé · 0</c:v>
                  </c:pt>
                </c:lvl>
              </c:multiLvlStrCache>
            </c:multiLvlStrRef>
          </c:cat>
          <c:val>
            <c:numRef>
              <c:f>Sheet1!$F$2:$F$6</c:f>
              <c:numCache>
                <c:formatCode>General</c:formatCode>
                <c:ptCount val="5"/>
                <c:pt idx="0">
                  <c:v>28</c:v>
                </c:pt>
                <c:pt idx="1">
                  <c:v>28</c:v>
                </c:pt>
                <c:pt idx="2">
                  <c:v>28</c:v>
                </c:pt>
                <c:pt idx="3">
                  <c:v>28</c:v>
                </c:pt>
                <c:pt idx="4">
                  <c:v>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6350" cap="flat">
              <a:solidFill>
                <a:srgbClr val="E5E9F0"/>
              </a:solidFill>
              <a:prstDash val="solid"/>
              <a:round/>
            </a:ln>
          </c:spPr>
        </c:majorGridlines>
        <c:title>
          <c:tx>
            <c:rich>
              <a:bodyPr>
                <a:noAutofit/>
              </a:bodyPr>
              <a:lstStyle/>
              <a:p>
                <a:pPr>
                  <a:defRPr sz="800" b="0" i="0" u="none" strike="noStrike">
                    <a:solidFill>
                      <a:srgbClr val="5B6575"/>
                    </a:solidFill>
                    <a:latin typeface="Arial"/>
                  </a:defRPr>
                </a:pPr>
                <a:r>
                  <a:rPr sz="800" b="0" i="0" u="none" strike="noStrike" lang="fr-FR">
                    <a:solidFill>
                      <a:srgbClr val="5B6575"/>
                    </a:solidFill>
                    <a:latin typeface="Arial"/>
                  </a:rPr>
                  <a:t>Besoins en personnel (ETP)</a:t>
                </a:r>
              </a:p>
            </c:rich>
          </c:tx>
          <c:layout/>
          <c:overlay val="0"/>
        </c:title>
        <c:numFmt formatCode="General" sourceLinked="0"/>
        <c:majorTickMark val="out"/>
        <c:minorTickMark val="none"/>
        <c:tickLblPos val="nextTo"/>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800">
              <a:solidFill>
                <a:srgbClr val="252A3D"/>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 française du deck de vulgarisation de l'article « The Last Human Gate: Forward Deployed Engineering for Governance Automation » (Jeremy Canale, septembre 2026 ; article de 28 pages soumis à arXiv sous submit/8124237, identifiant définitif en attente ; version longue de 66 pages ; github.com/jeremy1392/dgf-agentic-bench). Tous les chiffres proviennent de l'article, de la version longue ou du dépôt public. Rien ici n'est une observation en entreprise réelle : l'expérience utilise des projets synthétiques. Termes conservés en anglais : FDE, DGF, DGF-Bench, noms de modèles, codes des décisions (GO, GO_WITH_RESERVATIONS, REWORK, SUSPENSION, NO_GO).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du deck : le Forward Deployed Engineer, rôle général (slide 4), le Digital Governance Framework et l'hypothèse qu'il est le premier terrain naturel des FDE (5-7), l'idée (8), l'expérience (9-16), l'emploi et l'avenir (17-24), résumé, données,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 3 et 5 de l'article. Termes techniques de l'article : gate = occurrence de revue ; review contract = spécification de la revue ; disposition = décision (GO, GO_WITH_RESERVATIONS, REWORK, SUSPENSION, NO_GO) ; mandate = délégation de décision ; dossier = dossier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de cette slide : Wikipedia, « Forward Deployed Engineer » (consulté en septembre 2026) ; Palantir Technologies, fiche de poste « Forward Deployed Software Engineer » (jobs.lever.co/palantir) et le billet « A Day in the Life of a Palantir Forward Deployed Software Engineer » (2022) ; OpenAI, « The Deployment Company » (mai 2026) et lancement de l'équipe FDE en 2025 ; The Wall Street Journal sur la multiplication par dix des offres Indeed en 2025 ; DataCamp, « What Is a Forward Deployed Engineer? » (juillet 2026) ; Aced (ex-Exponent), « What Is a Forward Deployed Engineer? Complete 2026 Guide » ; The New Stack via Illinois Tech (2026). L'article cite lui-même les fiches de poste Palantir et OpenAI (section 5 de l'article, section 20 de la version longue) et souligne que l'intitulé de poste ne prouve rien à lui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de l'article. Buy et Integrate comptent six jalons, Build cinq. Dans l'expérience, chaque jalon prévu est exécuté, même après un refus, de sorte que les spécialistes suivants et l'arbitrage final sont eux aussi évalués. Codes des décisions dans l'article : GO, GO_WITH_RESERVATIONS, REWORK, SUSPENSION, NO_GO.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 de l'article. Les questions résument les politiques fournies dans le benchmark ; les exemples sont illustratifs, pas des fiches de poste complètes. Les noms exacts des étapes du benchmark sont conservés entre parenthèses pour la traçabilité.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 et section 3.6 de l'article ; section 20 de la version longue (le FDE rencontre le DGF d'abord comme obstacle, puis comme objet ; l'automatisation de bout en bout exige un sponsor au-dessus des jalons ; les modèles s'amortissent d'un client à l'autre ; le travail propre du FDE compte comme investissement de transition et comme support récurrent). La primauté de la gouvernance sur les fonctions cœur de métier est une hypothèse d'adoption, pas un classement observé.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 3.2 et 3.4 de l'article : les trois conditions sont l'information, la validité et la délégation de décision ; la quatrième est la condition nette sur la charge de travail. Une abstention n'est valide que si les règles l'autorisent, et un système qui renvoie tout aux humains préserverait la qualité des décisions sans substituer aucun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et section 6 de l'article. Les modèles testés recevaient les règles écrites et un résumé structuré des faits en plus des documents (la « condition d'information » de l'article) ; les réponses de référence n'étaient jamais accessibles. Exemple de règle : une sauvegarde activée ne prouve pas que les données peuvent être restaurées ; l'absence de test de restauration réussi impose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 Comprendre la vérification des agents dans DGF Bench » (Jeremy Canale).</a:t>
            </a:r>
          </a:p>
          <a:p/>
          <a:p>
            <a:r>
              <a:t>Pendant les revues, synthetic_environment.py contrôle les demandes d’action. Après le parcours, score_submission.py lit le fichier de référence et calcule les scores ; openrouter_eval/benchmark_runner.py orchestre les étapes et lance l’évaluation.</a:t>
            </a:r>
          </a:p>
          <a:p/>
          <a:p>
            <a:r>
              <a:t>Les conclusions précédentes sont transmises à l'étape suivante telles qu'un agent les a produites, erreurs comprises.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 Comprendre la vérification des agents dans DGF Bench ».</a:t>
            </a:r>
          </a:p>
          <a:p/>
          <a:p>
            <a:r>
              <a:t>Fichiers : 99_hidden_ground_truth.json (canonical_truth, reference_decisions), score_submission.py, synthetic_environment.py, openrouter_eval/benchmark_runner.py dans les sources figées de l'expérience ; dépôt github.com/jeremy1392/dgf-agentic-bench.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du générateur dans le dépôt : facts_engine.py, azure_architecture.py, document_factory.py, evidence_graph.py, generate_dgfbench_v6.py. Niveau de difficulté 4 : 20 % de chevauchement de plages IP, 22 % de compte de service partagé, environ 28 % de probabilité pour chaque défaut d'architecture introduit. L'IA pouvait aussi interroger des systèmes d'entreprise simulés (état des sauvegardes, test de restauration, vulnérabilités, version du contrat…).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6.2 et table 8 de l'article. Strict gate success = les cinq composantes réussies ; complete-route success = chaque jalon du dossier réussi. Les identifiants de modèles sont ceux rapportés par OpenRouter.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d'écran de l'exécuteur du benchmark (OpenRouter) pendant les exécutions répétées (15 dossiers × 3 trajectoires × 3 modèles = 135 exécutions, ici 45 tâches pour une trajectoire). Lignes : compteur de tâche, identifiant du modèle, identifiant du dossier, numéro et famille de l'étape, décision, tours, appels d'outils, motif de fin, indicateur de troncature, coût ; les lignes DONE donnent le score et le coût par dossier ; les lignes [benchmark] donnent l'avancement et la dépense cumulée. Traces dans research/2026-09-followup du dépôt github.com/jeremy1392/dgf-agentic-bench.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8 de l'article : strict gate success 94,98 / 83,29 / 74,18 % ; complete-route success 76,92 / 42,33 / 24,67 % ; contrôle déterministe 1 700/1 700 jalons et 300/300 parcours. Deux erreurs de fond chez les autres modèles : Luna a validé une revue Juridique malgré l'absence d'accord relatif au traitement des données ; DeepSeek a soumis un GO par défaut là où un chevauchement d'adresses imposait NO_GO.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9 de l'article et PAPER_RESULTS.md. Achats : DeepSeek 97 % de décisions correctes contre 43 % de revues entièrement conformes ; Luna 96 % contre 33 %. L'analyse de sensibilité structurelle, qui accepte les mêmes valeurs dans un ordre différent, récupérerait 69 revues Gemini, 38 Luna et 52 DeepSeek (Gemini 99,06 % des jalons, 94,98 % des 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6.5 de l'article : DGF-BLD-035200_build (Falcon, constat TR-OPS-001, action COMPLETE_OPERATIONAL_HANDOVER, approbation conditionnelle sous mandat actif) et DGF-BLD-035201_build (Meridian, constats ARCH-API-001 et ARCH-PERF-001, conformité de la citation à la source 0,5). Les deux cas ont été choisis après l'évaluation, à des fins d'explication ; leurs traces complètes sont publiques.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6.6 et table 10 de l'article : 135 exécutions supplémentaires (15 dossiers × 3 trajectoires × 3 modèles), strict gate success cumulé 96,08 / 82,75 / 73,33 %, parcours complets 35 / 19 / 11 sur 45, réussite aux trois exécutions 9 / 3 / 0 sur 15. Demandes d'approbation conditionnelle 864 / 394 / 216, refusées 466 / 40 / 14. Coût des répétitions : 12,56 $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3.5, proposition 1 et contre-exemple documentaire publié : deux variantes identiques sur les 26 documents Word ; le statut de vérification préalable du fournisseur, enregistré dans un fichier CSV, fait passer la décision de référence de GO à REWORK. Autoriser le CSV, ou accepter une demande motivée d'information manquante, change la tâche.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de l'article : le compte de charge L_A = λ{q·h_E + (1−q)·h_R + h_W} + B_A, l'identité de sélection φ = q + Cov(T, e(T))/h_0, le terme de fiabilité p·h_C/h_0, et la table 5 des mesures requises.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et section 4 de l'article : 140 ETP de référence sur neuf populations, 120 heures utiles par ETP et par mois ; scénarios (η, m, h_W, B_A) = (0,5 ; 0,10 ; 0 ; 0), (1 ; 0,10 ; 0 ; 120), (1 ; 0,10 ; 0,5 ; 120), (1,5 ; 0,35 ; 2 ; 240). Hypothèses déclarées, pas des mesures.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E de la version longue : N = 51,25(1−a₁) + 36(1−a₂) + 52,75(1−a₃) + F, soit 140, 60,56, 16,35, 5 et 0 ETP ; les valeurs du plancher de support sont calculées à partir de N = 140(1−a) +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15 de la version longue : horizon de 3 heures au critère de 80 % au 8 mai 2026 (METR), doublement tous les 7 mois (Kwa et al.) ; 24 heures atteintes après 21 mois (8 février 2028) ; queue de fiabilité d'une erreur de 0,20 à 10⁻³ en 14 / 28 / 55 mois à 6 / 12 / 24 mois par division par dix ; évaluation et institution 12 + 12 mois ; totaux 59 / 73 / 101 mois → 8 avril 2031, 8 juin 2032, 8 octobre 2034. Hypothèse d'ordre des parcours : Build avant Buy avant Integrate.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de la version longue : la loi de substitution des jalons (statut : conjecture), cinq lois composantes (substituabilité du contrat, exécution complète, préservation du parcours, déplacement de l'exécution, clôture de la supervision) et six hypothèses de trajectoire H1–H6 avec critères de réfutation ; section 17.7 sur ce qui réfuterait la loi.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7.1–7.2 de l'article : ratio d'ETP à charge de travail équivalente L_A/L_H ≤ 0,20 au 20 septembre 2033 par rapport à l'année de référence close le 20 septembre 2026 ; le périmètre inclut préparation, exceptions, vérification, remédiation, maintenance, supervision et support des fournisseurs ; des relevés manquants rendent le résultat inévaluable, pas gagné.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4, 5.5, 7 et 8 de l'article ; section 19.3 de la version longue (« departments become control planes ») et Bainbridge (1983) sur le maintien des compétences opérationnelles.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20.1 de la version longue, cas tels qu'ils y sont cités : Allianz Project Nemo (Allianz 2025), AIG avec Palantir et Anthropic (Insurance Journal 2025 ; Reinsurance News 2026), Upstart (Upstart 2026) ; annexe III de l'AI Act et article 22 du RGPD.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de l'article et section 22 de la version longue.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README du dépôt : deux articles, publication du jeu de données avec inventaires SHA-256, guide de reproduction hors ligne, protocoles de cohorte, licences (code MIT OR Apache-2.0 ; articles sous droits séparés ; CITATION.cff). Identifiant de soumission arXiv : submit/8124237 ; à remplacer par l'identifiant arXiv définitif une fois l'article annoncé.</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clôture. Coordonnées et liens tels que sur le modèle de deck de l'auteur.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https://arxiv.org/abs/2609.29345" TargetMode="External"/><Relationship Id="rId6" Type="http://schemas.openxmlformats.org/officeDocument/2006/relationships/image" Target="../media/image-1-5.png"/><Relationship Id="rId7" Type="http://schemas.openxmlformats.org/officeDocument/2006/relationships/hyperlink" Target="https://arxiv.org/abs/2609.29345" TargetMode="External"/><Relationship Id="rId8" Type="http://schemas.openxmlformats.org/officeDocument/2006/relationships/hyperlink" Target="https://arxiv.org/abs/2609.29345" TargetMode="External"/><Relationship Id="rId9" Type="http://schemas.openxmlformats.org/officeDocument/2006/relationships/hyperlink" Target="https://arxiv.org/abs/2609.29345" TargetMode="External"/><Relationship Id="rId10" Type="http://schemas.openxmlformats.org/officeDocument/2006/relationships/hyperlink" Target="https://github.com/jeremy1392/dgf-agentic-bench" TargetMode="External"/><Relationship Id="rId11" Type="http://schemas.openxmlformats.org/officeDocument/2006/relationships/image" Target="../media/image-1-6.png"/><Relationship Id="rId12" Type="http://schemas.openxmlformats.org/officeDocument/2006/relationships/hyperlink" Target="https://github.com/jeremy1392/dgf-agentic-bench" TargetMode="External"/><Relationship Id="rId13" Type="http://schemas.openxmlformats.org/officeDocument/2006/relationships/hyperlink" Target="https://github.com/jeremy1392/dgf-agentic-bench" TargetMode="External"/><Relationship Id="rId14" Type="http://schemas.openxmlformats.org/officeDocument/2006/relationships/hyperlink" Target="https://github.com/jeremy1392/dgf-agentic-bench" TargetMode="External"/><Relationship Id="rId15" Type="http://schemas.openxmlformats.org/officeDocument/2006/relationships/slideLayout" Target="../slideLayouts/slideLayout1.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image" Target="../media/image-21-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www.linkedin.com/in/jcanale13/" TargetMode="Externa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5BD8"/>
        </a:solidFill>
      </p:bgPr>
    </p:bg>
    <p:spTree>
      <p:nvGrpSpPr>
        <p:cNvPr id="1" name=""/>
        <p:cNvGrpSpPr/>
        <p:nvPr/>
      </p:nvGrpSpPr>
      <p:grpSpPr>
        <a:xfrm>
          <a:off x="0" y="0"/>
          <a:ext cx="0" cy="0"/>
          <a:chOff x="0" y="0"/>
          <a:chExt cx="0" cy="0"/>
        </a:xfrm>
      </p:grpSpPr>
      <p:sp>
        <p:nvSpPr>
          <p:cNvPr id="2" name="Shape 0"/>
          <p:cNvSpPr/>
          <p:nvPr/>
        </p:nvSpPr>
        <p:spPr>
          <a:xfrm>
            <a:off x="548640" y="365760"/>
            <a:ext cx="3017520" cy="438912"/>
          </a:xfrm>
          <a:prstGeom prst="roundRect">
            <a:avLst>
              <a:gd name="adj" fmla="val 50000"/>
            </a:avLst>
          </a:prstGeom>
          <a:solidFill>
            <a:srgbClr val="FFD741"/>
          </a:solidFill>
          <a:ln w="12700">
            <a:solidFill>
              <a:srgbClr val="FFD741"/>
            </a:solidFill>
            <a:prstDash val="solid"/>
          </a:ln>
        </p:spPr>
        <p:txBody>
          <a:bodyPr/>
          <a:p/>
        </p:txBody>
      </p:sp>
      <p:sp>
        <p:nvSpPr>
          <p:cNvPr id="3" name="Text 1"/>
          <p:cNvSpPr txBox="1"/>
          <p:nvPr/>
        </p:nvSpPr>
        <p:spPr>
          <a:xfrm>
            <a:off x="548640" y="365760"/>
            <a:ext cx="3017520" cy="438912"/>
          </a:xfrm>
          <a:prstGeom prst="rect">
            <a:avLst/>
          </a:prstGeom>
          <a:noFill/>
          <a:ln/>
        </p:spPr>
        <p:txBody>
          <a:bodyPr wrap="square" lIns="0" tIns="0" rIns="0" bIns="0" rtlCol="0" anchor="ctr"/>
          <a:lstStyle/>
          <a:p>
            <a:pPr algn="ctr" indent="0" marL="0">
              <a:lnSpc>
                <a:spcPct val="105000"/>
              </a:lnSpc>
              <a:buNone/>
            </a:pPr>
            <a:r>
              <a:rPr lang="en-US" sz="1600" b="1" spc="100" kern="0" dirty="0">
                <a:solidFill>
                  <a:srgbClr val="252A3D"/>
                </a:solidFill>
                <a:latin typeface="Arial" pitchFamily="34" charset="0"/>
                <a:ea typeface="Arial" pitchFamily="34" charset="-122"/>
                <a:cs typeface="Arial" pitchFamily="34" charset="-120"/>
              </a:rPr>
              <a:t>ARTICLE DE RECHERCHE</a:t>
            </a:r>
            <a:endParaRPr lang="en-US" sz="1600" dirty="0"/>
          </a:p>
        </p:txBody>
      </p:sp>
      <p:sp>
        <p:nvSpPr>
          <p:cNvPr id="4" name="Text 2"/>
          <p:cNvSpPr txBox="1"/>
          <p:nvPr/>
        </p:nvSpPr>
        <p:spPr>
          <a:xfrm>
            <a:off x="566928" y="960120"/>
            <a:ext cx="7223760" cy="219456"/>
          </a:xfrm>
          <a:prstGeom prst="rect">
            <a:avLst/>
          </a:prstGeom>
          <a:noFill/>
          <a:ln/>
        </p:spPr>
        <p:txBody>
          <a:bodyPr wrap="square" lIns="0" tIns="0" rIns="0" bIns="0" rtlCol="0" anchor="t"/>
          <a:lstStyle/>
          <a:p>
            <a:pPr indent="0" marL="0">
              <a:lnSpc>
                <a:spcPct val="105000"/>
              </a:lnSpc>
              <a:buNone/>
            </a:pPr>
            <a:r>
              <a:rPr lang="en-US" sz="1050" i="1" dirty="0">
                <a:solidFill>
                  <a:srgbClr val="DDF5FC"/>
                </a:solidFill>
                <a:latin typeface="Arial" pitchFamily="34" charset="0"/>
                <a:ea typeface="Arial" pitchFamily="34" charset="-122"/>
                <a:cs typeface="Arial" pitchFamily="34" charset="-120"/>
              </a:rPr>
              <a:t>Titre original : The Last Human Gate — Forward Deployed Engineering for Governance Automation</a:t>
            </a:r>
            <a:endParaRPr lang="en-US" sz="1050" dirty="0"/>
          </a:p>
        </p:txBody>
      </p:sp>
      <p:sp>
        <p:nvSpPr>
          <p:cNvPr id="5" name="Text 3"/>
          <p:cNvSpPr txBox="1"/>
          <p:nvPr/>
        </p:nvSpPr>
        <p:spPr>
          <a:xfrm>
            <a:off x="530352" y="1170432"/>
            <a:ext cx="7223760" cy="960120"/>
          </a:xfrm>
          <a:prstGeom prst="rect">
            <a:avLst/>
          </a:prstGeom>
          <a:noFill/>
          <a:ln/>
        </p:spPr>
        <p:txBody>
          <a:bodyPr wrap="square" lIns="0" tIns="0" rIns="0" bIns="0" rtlCol="0" anchor="ctr"/>
          <a:lstStyle/>
          <a:p>
            <a:pPr indent="0" marL="0">
              <a:lnSpc>
                <a:spcPct val="105000"/>
              </a:lnSpc>
              <a:buNone/>
            </a:pPr>
            <a:r>
              <a:rPr lang="en-US" sz="2160" b="1" dirty="0">
                <a:solidFill>
                  <a:srgbClr val="FFFFFF"/>
                </a:solidFill>
                <a:latin typeface="Arial" pitchFamily="34" charset="0"/>
                <a:ea typeface="Arial" pitchFamily="34" charset="-122"/>
                <a:cs typeface="Arial" pitchFamily="34" charset="-120"/>
              </a:rPr>
              <a:t>Et si un agent IA pouvait réaliser la revue d’un projet et rendre une décision à la place d’un spécialiste ?</a:t>
            </a:r>
          </a:p>
        </p:txBody>
      </p:sp>
      <p:sp>
        <p:nvSpPr>
          <p:cNvPr id="7" name="Text 5"/>
          <p:cNvSpPr txBox="1"/>
          <p:nvPr/>
        </p:nvSpPr>
        <p:spPr>
          <a:xfrm>
            <a:off x="566928" y="2331720"/>
            <a:ext cx="7086600" cy="1417320"/>
          </a:xfrm>
          <a:prstGeom prst="rect">
            <a:avLst/>
          </a:prstGeom>
          <a:noFill/>
          <a:ln/>
        </p:spPr>
        <p:txBody>
          <a:bodyPr wrap="square" lIns="0" tIns="0" rIns="0" bIns="0" rtlCol="0" anchor="t"/>
          <a:lstStyle/>
          <a:p>
            <a:pPr indent="0" marL="0">
              <a:lnSpc>
                <a:spcPct val="105000"/>
              </a:lnSpc>
              <a:buNone/>
            </a:pPr>
            <a:r>
              <a:rPr lang="en-US" sz="1550" dirty="0">
                <a:solidFill>
                  <a:srgbClr val="FFFFFF"/>
                </a:solidFill>
                <a:latin typeface="Arial" pitchFamily="34" charset="0"/>
                <a:ea typeface="Arial" pitchFamily="34" charset="-122"/>
                <a:cs typeface="Arial" pitchFamily="34" charset="-120"/>
              </a:rPr>
              <a:t>Avant d’être achetée, intégrée ou mise en service, une solution doit passer par plusieurs revues internes obligatoires. Aujourd’hui, ces revues sont réalisées par des spécialistes. L’étude teste si un agent IA peut réaliser ces revues de bout en bout sans relecture humaine systématique de ses décisions.</a:t>
            </a:r>
          </a:p>
        </p:txBody>
      </p:sp>
      <p:sp>
        <p:nvSpPr>
          <p:cNvPr id="8" name="Text 6"/>
          <p:cNvSpPr txBox="1"/>
          <p:nvPr/>
        </p:nvSpPr>
        <p:spPr>
          <a:xfrm>
            <a:off x="576072" y="4074795"/>
            <a:ext cx="5943600" cy="356616"/>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Jeremy Canale</a:t>
            </a:r>
            <a:endParaRPr lang="en-US" sz="2000" dirty="0"/>
          </a:p>
        </p:txBody>
      </p:sp>
      <p:sp>
        <p:nvSpPr>
          <p:cNvPr id="9" name="Text 7"/>
          <p:cNvSpPr txBox="1"/>
          <p:nvPr/>
        </p:nvSpPr>
        <p:spPr>
          <a:xfrm>
            <a:off x="585216" y="4522851"/>
            <a:ext cx="6858000" cy="274320"/>
          </a:xfrm>
          <a:prstGeom prst="rect">
            <a:avLst/>
          </a:prstGeom>
          <a:noFill/>
          <a:ln/>
        </p:spPr>
        <p:txBody>
          <a:bodyPr wrap="square" lIns="0" tIns="0" rIns="0" bIns="0" rtlCol="0" anchor="t"/>
          <a:lstStyle/>
          <a:p>
            <a:pPr indent="0" marL="0">
              <a:lnSpc>
                <a:spcPct val="105000"/>
              </a:lnSpc>
              <a:buNone/>
            </a:pPr>
            <a:r>
              <a:rPr lang="en-US" sz="1560" dirty="0">
                <a:solidFill>
                  <a:srgbClr val="DDF5FC"/>
                </a:solidFill>
                <a:latin typeface="Arial" pitchFamily="34" charset="0"/>
                <a:ea typeface="Arial" pitchFamily="34" charset="-122"/>
                <a:cs typeface="Arial" pitchFamily="34" charset="-120"/>
              </a:rPr>
              <a:t>AI Applied Security Architect  ·  contact@jeremycanale.com</a:t>
            </a:r>
            <a:endParaRPr lang="en-US" sz="1560" dirty="0"/>
          </a:p>
        </p:txBody>
      </p:sp>
      <p:sp>
        <p:nvSpPr>
          <p:cNvPr id="10" name="Text 8"/>
          <p:cNvSpPr txBox="1"/>
          <p:nvPr/>
        </p:nvSpPr>
        <p:spPr>
          <a:xfrm>
            <a:off x="585216" y="5446395"/>
            <a:ext cx="7269480" cy="219456"/>
          </a:xfrm>
          <a:prstGeom prst="rect">
            <a:avLst/>
          </a:prstGeom>
          <a:noFill/>
          <a:ln/>
        </p:spPr>
        <p:txBody>
          <a:bodyPr wrap="square" lIns="0" tIns="0" rIns="0" bIns="0" rtlCol="0" anchor="t"/>
          <a:lstStyle/>
          <a:p>
            <a:pPr indent="0" marL="0">
              <a:lnSpc>
                <a:spcPct val="105000"/>
              </a:lnSpc>
              <a:buNone/>
            </a:pPr>
            <a:r>
              <a:rPr lang="en-US" sz="1000" dirty="0">
                <a:solidFill>
                  <a:srgbClr val="DDF5FC"/>
                </a:solidFill>
                <a:latin typeface="Arial" pitchFamily="34" charset="0"/>
                <a:ea typeface="Arial" pitchFamily="34" charset="-122"/>
                <a:cs typeface="Arial" pitchFamily="34" charset="-120"/>
              </a:rPr>
              <a:t>Version longue de l'étude (66 p.), données et journaux d'exécution dans le dépôt DGF-Bench · septembre 2026</a:t>
            </a:r>
            <a:endParaRPr lang="en-US" sz="1000" dirty="0"/>
          </a:p>
        </p:txBody>
      </p:sp>
      <p:sp>
        <p:nvSpPr>
          <p:cNvPr id="11" name="Shape 9"/>
          <p:cNvSpPr/>
          <p:nvPr/>
        </p:nvSpPr>
        <p:spPr>
          <a:xfrm>
            <a:off x="8001000" y="676656"/>
            <a:ext cx="3593592" cy="5422392"/>
          </a:xfrm>
          <a:prstGeom prst="roundRect">
            <a:avLst>
              <a:gd name="adj" fmla="val 5598"/>
            </a:avLst>
          </a:prstGeom>
          <a:solidFill>
            <a:srgbClr val="FFFFFF"/>
          </a:solidFill>
          <a:ln w="12700">
            <a:solidFill>
              <a:srgbClr val="252A3D"/>
            </a:solidFill>
            <a:prstDash val="solid"/>
          </a:ln>
        </p:spPr>
        <p:txBody>
          <a:bodyPr/>
          <a:p/>
        </p:txBody>
      </p:sp>
      <p:sp>
        <p:nvSpPr>
          <p:cNvPr id="12" name="Text 10"/>
          <p:cNvSpPr txBox="1"/>
          <p:nvPr/>
        </p:nvSpPr>
        <p:spPr>
          <a:xfrm>
            <a:off x="8247888" y="841248"/>
            <a:ext cx="3099816"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LE PARCOURS D'UN PROJET DANS LE DGF</a:t>
            </a:r>
            <a:endParaRPr lang="en-US" sz="850" dirty="0"/>
          </a:p>
        </p:txBody>
      </p:sp>
      <p:sp>
        <p:nvSpPr>
          <p:cNvPr id="13" name="Shape 11"/>
          <p:cNvSpPr/>
          <p:nvPr/>
        </p:nvSpPr>
        <p:spPr>
          <a:xfrm>
            <a:off x="8247888" y="1078992"/>
            <a:ext cx="3099816" cy="640080"/>
          </a:xfrm>
          <a:prstGeom prst="roundRect">
            <a:avLst>
              <a:gd name="adj" fmla="val 14286"/>
            </a:avLst>
          </a:prstGeom>
          <a:solidFill>
            <a:srgbClr val="DDF5FC"/>
          </a:solidFill>
          <a:ln w="12700">
            <a:solidFill>
              <a:srgbClr val="DDF5FC"/>
            </a:solidFill>
            <a:prstDash val="solid"/>
          </a:ln>
        </p:spPr>
        <p:txBody>
          <a:bodyPr/>
          <a:p/>
        </p:txBody>
      </p:sp>
      <p:pic>
        <p:nvPicPr>
          <p:cNvPr id="14" name="Image 0" descr="preencoded.png">    </p:cNvPr>
          <p:cNvPicPr>
            <a:picLocks noChangeAspect="1"/>
          </p:cNvPicPr>
          <p:nvPr/>
        </p:nvPicPr>
        <p:blipFill>
          <a:blip r:embed="rId1"/>
          <a:stretch>
            <a:fillRect/>
          </a:stretch>
        </p:blipFill>
        <p:spPr>
          <a:xfrm>
            <a:off x="8375904" y="1243584"/>
            <a:ext cx="310896" cy="310896"/>
          </a:xfrm>
          <a:prstGeom prst="rect">
            <a:avLst/>
          </a:prstGeom>
        </p:spPr>
      </p:pic>
      <p:sp>
        <p:nvSpPr>
          <p:cNvPr id="15" name="Text 12"/>
          <p:cNvSpPr txBox="1"/>
          <p:nvPr/>
        </p:nvSpPr>
        <p:spPr>
          <a:xfrm>
            <a:off x="8778240" y="1133856"/>
            <a:ext cx="2459736" cy="237744"/>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Dossier projet</a:t>
            </a:r>
            <a:endParaRPr lang="en-US" sz="1250" dirty="0"/>
          </a:p>
        </p:txBody>
      </p:sp>
      <p:sp>
        <p:nvSpPr>
          <p:cNvPr id="16" name="Text 13"/>
          <p:cNvSpPr txBox="1"/>
          <p:nvPr/>
        </p:nvSpPr>
        <p:spPr>
          <a:xfrm>
            <a:off x="8778240" y="1371600"/>
            <a:ext cx="2459736" cy="274320"/>
          </a:xfrm>
          <a:prstGeom prst="rect">
            <a:avLst/>
          </a:prstGeom>
          <a:noFill/>
          <a:ln/>
        </p:spPr>
        <p:txBody>
          <a:bodyPr wrap="square" lIns="0" tIns="0" rIns="0" bIns="0" rtlCol="0" anchor="t"/>
          <a:lstStyle/>
          <a:p>
            <a:pPr indent="0" marL="0">
              <a:lnSpc>
                <a:spcPct val="105000"/>
              </a:lnSpc>
              <a:buNone/>
            </a:pPr>
            <a:r>
              <a:rPr lang="en-US" sz="860" dirty="0">
                <a:solidFill>
                  <a:srgbClr val="5B6575"/>
                </a:solidFill>
                <a:latin typeface="Arial" pitchFamily="34" charset="0"/>
                <a:ea typeface="Arial" pitchFamily="34" charset="-122"/>
                <a:cs typeface="Arial" pitchFamily="34" charset="-120"/>
              </a:rPr>
              <a:t>cadrage · conception · contrats · rapports de test</a:t>
            </a:r>
            <a:endParaRPr lang="en-US" sz="860" dirty="0"/>
          </a:p>
        </p:txBody>
      </p:sp>
      <p:sp>
        <p:nvSpPr>
          <p:cNvPr id="17" name="Shape 14"/>
          <p:cNvSpPr/>
          <p:nvPr/>
        </p:nvSpPr>
        <p:spPr>
          <a:xfrm>
            <a:off x="9797796" y="1719072"/>
            <a:ext cx="0" cy="182880"/>
          </a:xfrm>
          <a:prstGeom prst="line">
            <a:avLst/>
          </a:prstGeom>
          <a:noFill/>
          <a:ln w="15875">
            <a:solidFill>
              <a:srgbClr val="252A3D"/>
            </a:solidFill>
            <a:prstDash val="solid"/>
            <a:tailEnd type="triangle"/>
          </a:ln>
        </p:spPr>
        <p:txBody>
          <a:bodyPr/>
          <a:p/>
        </p:txBody>
      </p:sp>
      <p:sp>
        <p:nvSpPr>
          <p:cNvPr id="18" name="Shape 15"/>
          <p:cNvSpPr/>
          <p:nvPr/>
        </p:nvSpPr>
        <p:spPr>
          <a:xfrm>
            <a:off x="8247888" y="1920240"/>
            <a:ext cx="3099816" cy="2487168"/>
          </a:xfrm>
          <a:prstGeom prst="roundRect">
            <a:avLst>
              <a:gd name="adj" fmla="val 3676"/>
            </a:avLst>
          </a:prstGeom>
          <a:solidFill>
            <a:srgbClr val="F5F7FA"/>
          </a:solidFill>
          <a:ln w="12700">
            <a:solidFill>
              <a:srgbClr val="D4DAE3"/>
            </a:solidFill>
            <a:prstDash val="solid"/>
          </a:ln>
        </p:spPr>
        <p:txBody>
          <a:bodyPr/>
          <a:p/>
        </p:txBody>
      </p:sp>
      <p:sp>
        <p:nvSpPr>
          <p:cNvPr id="19" name="Text 16"/>
          <p:cNvSpPr txBox="1"/>
          <p:nvPr/>
        </p:nvSpPr>
        <p:spPr>
          <a:xfrm>
            <a:off x="8375904" y="1956816"/>
            <a:ext cx="2843784" cy="292608"/>
          </a:xfrm>
          <a:prstGeom prst="rect">
            <a:avLst/>
          </a:prstGeom>
          <a:noFill/>
          <a:ln/>
        </p:spPr>
        <p:txBody>
          <a:bodyPr wrap="square" lIns="0" tIns="0" rIns="0" bIns="0" rtlCol="0" anchor="t"/>
          <a:lstStyle/>
          <a:p>
            <a:pPr indent="0" marL="0">
              <a:lnSpc>
                <a:spcPct val="105000"/>
              </a:lnSpc>
              <a:buNone/>
            </a:pPr>
            <a:r>
              <a:rPr lang="en-US" sz="720" b="1" dirty="0">
                <a:solidFill>
                  <a:srgbClr val="5B6575"/>
                </a:solidFill>
                <a:latin typeface="Arial" pitchFamily="34" charset="0"/>
                <a:ea typeface="Arial" pitchFamily="34" charset="-122"/>
                <a:cs typeface="Arial" pitchFamily="34" charset="-120"/>
              </a:rPr>
              <a:t>ÉTAPES DE REVUE · parcours Développement (Build)</a:t>
            </a:r>
          </a:p>
        </p:txBody>
      </p:sp>
      <p:sp>
        <p:nvSpPr>
          <p:cNvPr id="20" name="Shape 17"/>
          <p:cNvSpPr/>
          <p:nvPr/>
        </p:nvSpPr>
        <p:spPr>
          <a:xfrm>
            <a:off x="8375904" y="2286000"/>
            <a:ext cx="2843784" cy="256032"/>
          </a:xfrm>
          <a:prstGeom prst="roundRect">
            <a:avLst>
              <a:gd name="adj" fmla="val 21429"/>
            </a:avLst>
          </a:prstGeom>
          <a:solidFill>
            <a:srgbClr val="DDF5FC"/>
          </a:solidFill>
          <a:ln w="9525">
            <a:solidFill>
              <a:srgbClr val="DDF5FC"/>
            </a:solidFill>
            <a:prstDash val="solid"/>
          </a:ln>
        </p:spPr>
        <p:txBody>
          <a:bodyPr/>
          <a:p/>
        </p:txBody>
      </p:sp>
      <p:sp>
        <p:nvSpPr>
          <p:cNvPr id="21" name="Text 18"/>
          <p:cNvSpPr txBox="1"/>
          <p:nvPr/>
        </p:nvSpPr>
        <p:spPr>
          <a:xfrm>
            <a:off x="8449056" y="2286000"/>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1</a:t>
            </a:r>
            <a:endParaRPr lang="en-US" sz="900" dirty="0"/>
          </a:p>
        </p:txBody>
      </p:sp>
      <p:sp>
        <p:nvSpPr>
          <p:cNvPr id="22" name="Text 19"/>
          <p:cNvSpPr txBox="1"/>
          <p:nvPr/>
        </p:nvSpPr>
        <p:spPr>
          <a:xfrm>
            <a:off x="8723376" y="2286000"/>
            <a:ext cx="2459736" cy="256032"/>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Standardisation technologique</a:t>
            </a:r>
            <a:endParaRPr lang="en-US" sz="900" dirty="0"/>
          </a:p>
        </p:txBody>
      </p:sp>
      <p:sp>
        <p:nvSpPr>
          <p:cNvPr id="23" name="Shape 20"/>
          <p:cNvSpPr/>
          <p:nvPr/>
        </p:nvSpPr>
        <p:spPr>
          <a:xfrm>
            <a:off x="8375904" y="2578608"/>
            <a:ext cx="2843784" cy="256032"/>
          </a:xfrm>
          <a:prstGeom prst="roundRect">
            <a:avLst>
              <a:gd name="adj" fmla="val 21429"/>
            </a:avLst>
          </a:prstGeom>
          <a:solidFill>
            <a:srgbClr val="FFF5BF"/>
          </a:solidFill>
          <a:ln w="9525">
            <a:solidFill>
              <a:srgbClr val="FFF5BF"/>
            </a:solidFill>
            <a:prstDash val="solid"/>
          </a:ln>
        </p:spPr>
        <p:txBody>
          <a:bodyPr/>
          <a:p/>
        </p:txBody>
      </p:sp>
      <p:sp>
        <p:nvSpPr>
          <p:cNvPr id="24" name="Text 21"/>
          <p:cNvSpPr txBox="1"/>
          <p:nvPr/>
        </p:nvSpPr>
        <p:spPr>
          <a:xfrm>
            <a:off x="8449056" y="2578608"/>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2</a:t>
            </a:r>
            <a:endParaRPr lang="en-US" sz="900" dirty="0"/>
          </a:p>
        </p:txBody>
      </p:sp>
      <p:sp>
        <p:nvSpPr>
          <p:cNvPr id="25" name="Text 22"/>
          <p:cNvSpPr txBox="1"/>
          <p:nvPr/>
        </p:nvSpPr>
        <p:spPr>
          <a:xfrm>
            <a:off x="8723376" y="2578608"/>
            <a:ext cx="2459736" cy="256032"/>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Architecture technique</a:t>
            </a:r>
            <a:endParaRPr lang="en-US" sz="900" dirty="0"/>
          </a:p>
        </p:txBody>
      </p:sp>
      <p:sp>
        <p:nvSpPr>
          <p:cNvPr id="26" name="Shape 23"/>
          <p:cNvSpPr/>
          <p:nvPr/>
        </p:nvSpPr>
        <p:spPr>
          <a:xfrm>
            <a:off x="8375904" y="2871216"/>
            <a:ext cx="2843784" cy="256032"/>
          </a:xfrm>
          <a:prstGeom prst="roundRect">
            <a:avLst>
              <a:gd name="adj" fmla="val 21429"/>
            </a:avLst>
          </a:prstGeom>
          <a:solidFill>
            <a:srgbClr val="FFE4E6"/>
          </a:solidFill>
          <a:ln w="9525">
            <a:solidFill>
              <a:srgbClr val="FFE4E6"/>
            </a:solidFill>
            <a:prstDash val="solid"/>
          </a:ln>
        </p:spPr>
        <p:txBody>
          <a:bodyPr/>
          <a:p/>
        </p:txBody>
      </p:sp>
      <p:sp>
        <p:nvSpPr>
          <p:cNvPr id="27" name="Text 24"/>
          <p:cNvSpPr txBox="1"/>
          <p:nvPr/>
        </p:nvSpPr>
        <p:spPr>
          <a:xfrm>
            <a:off x="8449056" y="2871216"/>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3</a:t>
            </a:r>
            <a:endParaRPr lang="en-US" sz="900" dirty="0"/>
          </a:p>
        </p:txBody>
      </p:sp>
      <p:sp>
        <p:nvSpPr>
          <p:cNvPr id="28" name="Text 25"/>
          <p:cNvSpPr txBox="1"/>
          <p:nvPr/>
        </p:nvSpPr>
        <p:spPr>
          <a:xfrm>
            <a:off x="8723376" y="2871216"/>
            <a:ext cx="2459736" cy="256032"/>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Cybersécurité</a:t>
            </a:r>
            <a:endParaRPr lang="en-US" sz="900" dirty="0"/>
          </a:p>
        </p:txBody>
      </p:sp>
      <p:sp>
        <p:nvSpPr>
          <p:cNvPr id="29" name="Shape 26"/>
          <p:cNvSpPr/>
          <p:nvPr/>
        </p:nvSpPr>
        <p:spPr>
          <a:xfrm>
            <a:off x="8375904" y="3163824"/>
            <a:ext cx="2843784" cy="256032"/>
          </a:xfrm>
          <a:prstGeom prst="roundRect">
            <a:avLst>
              <a:gd name="adj" fmla="val 21429"/>
            </a:avLst>
          </a:prstGeom>
          <a:solidFill>
            <a:srgbClr val="E5F6E9"/>
          </a:solidFill>
          <a:ln w="9525">
            <a:solidFill>
              <a:srgbClr val="E5F6E9"/>
            </a:solidFill>
            <a:prstDash val="solid"/>
          </a:ln>
        </p:spPr>
        <p:txBody>
          <a:bodyPr/>
          <a:p/>
        </p:txBody>
      </p:sp>
      <p:sp>
        <p:nvSpPr>
          <p:cNvPr id="30" name="Text 27"/>
          <p:cNvSpPr txBox="1"/>
          <p:nvPr/>
        </p:nvSpPr>
        <p:spPr>
          <a:xfrm>
            <a:off x="8449056" y="3163824"/>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4</a:t>
            </a:r>
            <a:endParaRPr lang="en-US" sz="900" dirty="0"/>
          </a:p>
        </p:txBody>
      </p:sp>
      <p:sp>
        <p:nvSpPr>
          <p:cNvPr id="31" name="Text 28"/>
          <p:cNvSpPr txBox="1"/>
          <p:nvPr/>
        </p:nvSpPr>
        <p:spPr>
          <a:xfrm>
            <a:off x="8723376" y="3163824"/>
            <a:ext cx="2459736" cy="256032"/>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Préparation à l'exploitation</a:t>
            </a:r>
            <a:endParaRPr lang="en-US" sz="900" dirty="0"/>
          </a:p>
        </p:txBody>
      </p:sp>
      <p:sp>
        <p:nvSpPr>
          <p:cNvPr id="32" name="Shape 29"/>
          <p:cNvSpPr/>
          <p:nvPr/>
        </p:nvSpPr>
        <p:spPr>
          <a:xfrm>
            <a:off x="8375904" y="3456432"/>
            <a:ext cx="2843784" cy="256032"/>
          </a:xfrm>
          <a:prstGeom prst="roundRect">
            <a:avLst>
              <a:gd name="adj" fmla="val 21429"/>
            </a:avLst>
          </a:prstGeom>
          <a:solidFill>
            <a:srgbClr val="F3F5F8"/>
          </a:solidFill>
          <a:ln w="12700">
            <a:solidFill>
              <a:srgbClr val="252A3D"/>
            </a:solidFill>
            <a:prstDash val="solid"/>
          </a:ln>
        </p:spPr>
        <p:txBody>
          <a:bodyPr/>
          <a:p/>
        </p:txBody>
      </p:sp>
      <p:sp>
        <p:nvSpPr>
          <p:cNvPr id="33" name="Text 30"/>
          <p:cNvSpPr txBox="1"/>
          <p:nvPr/>
        </p:nvSpPr>
        <p:spPr>
          <a:xfrm>
            <a:off x="8449056" y="3456432"/>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5</a:t>
            </a:r>
            <a:endParaRPr lang="en-US" sz="900" dirty="0"/>
          </a:p>
        </p:txBody>
      </p:sp>
      <p:sp>
        <p:nvSpPr>
          <p:cNvPr id="34" name="Text 31"/>
          <p:cNvSpPr txBox="1"/>
          <p:nvPr/>
        </p:nvSpPr>
        <p:spPr>
          <a:xfrm>
            <a:off x="8723376" y="3456432"/>
            <a:ext cx="2459736" cy="256032"/>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Validation finale</a:t>
            </a:r>
            <a:endParaRPr lang="en-US" sz="900" dirty="0"/>
          </a:p>
        </p:txBody>
      </p:sp>
      <p:pic>
        <p:nvPicPr>
          <p:cNvPr id="35" name="Image 1" descr="preencoded.png">    </p:cNvPr>
          <p:cNvPicPr>
            <a:picLocks noChangeAspect="1"/>
          </p:cNvPicPr>
          <p:nvPr/>
        </p:nvPicPr>
        <p:blipFill>
          <a:blip r:embed="rId2"/>
          <a:stretch>
            <a:fillRect/>
          </a:stretch>
        </p:blipFill>
        <p:spPr>
          <a:xfrm>
            <a:off x="8375904" y="3767328"/>
            <a:ext cx="182880" cy="182880"/>
          </a:xfrm>
          <a:prstGeom prst="rect">
            <a:avLst/>
          </a:prstGeom>
        </p:spPr>
      </p:pic>
      <p:sp>
        <p:nvSpPr>
          <p:cNvPr id="36" name="Text 32"/>
          <p:cNvSpPr txBox="1"/>
          <p:nvPr/>
        </p:nvSpPr>
        <p:spPr>
          <a:xfrm>
            <a:off x="8631936" y="3749040"/>
            <a:ext cx="2642616" cy="219456"/>
          </a:xfrm>
          <a:prstGeom prst="rect">
            <a:avLst/>
          </a:prstGeom>
          <a:noFill/>
          <a:ln/>
        </p:spPr>
        <p:txBody>
          <a:bodyPr wrap="square" lIns="0" tIns="0" rIns="0" bIns="0" rtlCol="0" anchor="ctr"/>
          <a:lstStyle/>
          <a:p>
            <a:pPr indent="0" marL="0">
              <a:lnSpc>
                <a:spcPct val="105000"/>
              </a:lnSpc>
              <a:buNone/>
            </a:pPr>
            <a:r>
              <a:rPr lang="en-US" sz="670" dirty="0">
                <a:solidFill>
                  <a:srgbClr val="252A3D"/>
                </a:solidFill>
                <a:latin typeface="Arial" pitchFamily="34" charset="0"/>
                <a:ea typeface="Arial" pitchFamily="34" charset="-122"/>
                <a:cs typeface="Arial" pitchFamily="34" charset="-120"/>
              </a:rPr>
              <a:t>À chaque étape, un agent IA chargé de faire la revue lit le dossier et rend une décision.</a:t>
            </a:r>
          </a:p>
        </p:txBody>
      </p:sp>
      <p:pic>
        <p:nvPicPr>
          <p:cNvPr id="37" name="Image 2" descr="preencoded.png">    </p:cNvPr>
          <p:cNvPicPr>
            <a:picLocks noChangeAspect="1"/>
          </p:cNvPicPr>
          <p:nvPr/>
        </p:nvPicPr>
        <p:blipFill>
          <a:blip r:embed="rId3"/>
          <a:stretch>
            <a:fillRect/>
          </a:stretch>
        </p:blipFill>
        <p:spPr>
          <a:xfrm>
            <a:off x="8375904" y="4059936"/>
            <a:ext cx="182880" cy="182880"/>
          </a:xfrm>
          <a:prstGeom prst="rect">
            <a:avLst/>
          </a:prstGeom>
        </p:spPr>
      </p:pic>
      <p:sp>
        <p:nvSpPr>
          <p:cNvPr id="38" name="Text 33"/>
          <p:cNvSpPr txBox="1"/>
          <p:nvPr/>
        </p:nvSpPr>
        <p:spPr>
          <a:xfrm>
            <a:off x="8631936" y="3986784"/>
            <a:ext cx="2642616" cy="411480"/>
          </a:xfrm>
          <a:prstGeom prst="rect">
            <a:avLst/>
          </a:prstGeom>
          <a:noFill/>
          <a:ln/>
        </p:spPr>
        <p:txBody>
          <a:bodyPr wrap="square" lIns="0" tIns="0" rIns="0" bIns="0" rtlCol="0" anchor="ctr"/>
          <a:lstStyle/>
          <a:p>
            <a:pPr indent="0" marL="0">
              <a:lnSpc>
                <a:spcPct val="105000"/>
              </a:lnSpc>
              <a:buNone/>
            </a:pPr>
            <a:r>
              <a:rPr lang="en-US" sz="700" dirty="0">
                <a:solidFill>
                  <a:srgbClr val="252A3D"/>
                </a:solidFill>
                <a:latin typeface="Arial" pitchFamily="34" charset="0"/>
                <a:ea typeface="Arial" pitchFamily="34" charset="-122"/>
                <a:cs typeface="Arial" pitchFamily="34" charset="-120"/>
              </a:rPr>
              <a:t>Aucun humain n’intervient dans l’exécution du benchmark : un contrôle automatique bloque les décisions qui dépassent l'autorité accordée à l’agent.</a:t>
            </a:r>
          </a:p>
        </p:txBody>
      </p:sp>
      <p:sp>
        <p:nvSpPr>
          <p:cNvPr id="39" name="Shape 34"/>
          <p:cNvSpPr/>
          <p:nvPr/>
        </p:nvSpPr>
        <p:spPr>
          <a:xfrm>
            <a:off x="9797796" y="4407408"/>
            <a:ext cx="0" cy="182880"/>
          </a:xfrm>
          <a:prstGeom prst="line">
            <a:avLst/>
          </a:prstGeom>
          <a:noFill/>
          <a:ln w="15875">
            <a:solidFill>
              <a:srgbClr val="252A3D"/>
            </a:solidFill>
            <a:prstDash val="solid"/>
            <a:tailEnd type="triangle"/>
          </a:ln>
        </p:spPr>
        <p:txBody>
          <a:bodyPr/>
          <a:p/>
        </p:txBody>
      </p:sp>
      <p:sp>
        <p:nvSpPr>
          <p:cNvPr id="40" name="Shape 35"/>
          <p:cNvSpPr/>
          <p:nvPr/>
        </p:nvSpPr>
        <p:spPr>
          <a:xfrm>
            <a:off x="8247888" y="4608576"/>
            <a:ext cx="3099816" cy="1298448"/>
          </a:xfrm>
          <a:prstGeom prst="roundRect">
            <a:avLst>
              <a:gd name="adj" fmla="val 7042"/>
            </a:avLst>
          </a:prstGeom>
          <a:solidFill>
            <a:srgbClr val="E5F6E9"/>
          </a:solidFill>
          <a:ln w="12700">
            <a:solidFill>
              <a:srgbClr val="E5F6E9"/>
            </a:solidFill>
            <a:prstDash val="solid"/>
          </a:ln>
        </p:spPr>
        <p:txBody>
          <a:bodyPr/>
          <a:p/>
        </p:txBody>
      </p:sp>
      <p:pic>
        <p:nvPicPr>
          <p:cNvPr id="41" name="Image 3" descr="preencoded.png">    </p:cNvPr>
          <p:cNvPicPr>
            <a:picLocks noChangeAspect="1"/>
          </p:cNvPicPr>
          <p:nvPr/>
        </p:nvPicPr>
        <p:blipFill>
          <a:blip r:embed="rId4"/>
          <a:stretch>
            <a:fillRect/>
          </a:stretch>
        </p:blipFill>
        <p:spPr>
          <a:xfrm>
            <a:off x="8375904" y="4718304"/>
            <a:ext cx="274320" cy="274320"/>
          </a:xfrm>
          <a:prstGeom prst="rect">
            <a:avLst/>
          </a:prstGeom>
        </p:spPr>
      </p:pic>
      <p:sp>
        <p:nvSpPr>
          <p:cNvPr id="42" name="Text 36"/>
          <p:cNvSpPr txBox="1"/>
          <p:nvPr/>
        </p:nvSpPr>
        <p:spPr>
          <a:xfrm>
            <a:off x="8778240" y="4663440"/>
            <a:ext cx="2459736" cy="237744"/>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Fiche de décision</a:t>
            </a:r>
            <a:endParaRPr lang="en-US" sz="1250" dirty="0"/>
          </a:p>
        </p:txBody>
      </p:sp>
      <p:sp>
        <p:nvSpPr>
          <p:cNvPr id="43" name="Text 37"/>
          <p:cNvSpPr txBox="1"/>
          <p:nvPr/>
        </p:nvSpPr>
        <p:spPr>
          <a:xfrm>
            <a:off x="8375904" y="4974336"/>
            <a:ext cx="2843784" cy="310896"/>
          </a:xfrm>
          <a:prstGeom prst="rect">
            <a:avLst/>
          </a:prstGeom>
          <a:noFill/>
          <a:ln/>
        </p:spPr>
        <p:txBody>
          <a:bodyPr wrap="square" lIns="0" tIns="0" rIns="0" bIns="0" rtlCol="0" anchor="t"/>
          <a:lstStyle/>
          <a:p>
            <a:pPr indent="0" marL="0">
              <a:lnSpc>
                <a:spcPct val="105000"/>
              </a:lnSpc>
              <a:buNone/>
            </a:pPr>
            <a:r>
              <a:rPr lang="en-US" sz="820" b="1" dirty="0">
                <a:solidFill>
                  <a:srgbClr val="1E7A3C"/>
                </a:solidFill>
                <a:latin typeface="Arial" pitchFamily="34" charset="0"/>
                <a:ea typeface="Arial" pitchFamily="34" charset="-122"/>
                <a:cs typeface="Arial" pitchFamily="34" charset="-120"/>
              </a:rPr>
              <a:t>Décision : </a:t>
            </a:r>
            <a:r>
              <a:rPr lang="en-US" sz="820" dirty="0">
                <a:solidFill>
                  <a:srgbClr val="1E7A3C"/>
                </a:solidFill>
                <a:latin typeface="Arial" pitchFamily="34" charset="0"/>
                <a:ea typeface="Arial" pitchFamily="34" charset="-122"/>
                <a:cs typeface="Arial" pitchFamily="34" charset="-120"/>
              </a:rPr>
              <a:t>APPROUVÉ · APPROUVÉ SOUS CONDITIONS · À CORRIGER · EN ATTENTE · REFUSÉ</a:t>
            </a:r>
            <a:endParaRPr lang="en-US" sz="820" dirty="0"/>
          </a:p>
        </p:txBody>
      </p:sp>
      <p:sp>
        <p:nvSpPr>
          <p:cNvPr id="44" name="Text 38"/>
          <p:cNvSpPr txBox="1"/>
          <p:nvPr/>
        </p:nvSpPr>
        <p:spPr>
          <a:xfrm>
            <a:off x="8375904" y="5303520"/>
            <a:ext cx="2843784" cy="566928"/>
          </a:xfrm>
          <a:prstGeom prst="rect">
            <a:avLst/>
          </a:prstGeom>
          <a:noFill/>
          <a:ln/>
        </p:spPr>
        <p:txBody>
          <a:bodyPr wrap="square" lIns="0" tIns="0" rIns="0" bIns="0" rtlCol="0" anchor="t"/>
          <a:lstStyle/>
          <a:p>
            <a:pPr indent="0" marL="0">
              <a:lnSpc>
                <a:spcPct val="105000"/>
              </a:lnSpc>
              <a:buNone/>
            </a:pPr>
            <a:r>
              <a:rPr lang="en-US" sz="800" dirty="0">
                <a:solidFill>
                  <a:srgbClr val="5B6575"/>
                </a:solidFill>
                <a:latin typeface="Arial" pitchFamily="34" charset="0"/>
                <a:ea typeface="Arial" pitchFamily="34" charset="-122"/>
                <a:cs typeface="Arial" pitchFamily="34" charset="-120"/>
              </a:rPr>
              <a:t>La fiche indique la décision, les problèmes identifiés, les corrections demandées, les sources consultées et si l’agent était autorisé à rendre cette décision.</a:t>
            </a:r>
          </a:p>
        </p:txBody>
      </p:sp>
      <p:sp>
        <p:nvSpPr>
          <p:cNvPr id="45" name="Text 39"/>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DDF5FC"/>
                </a:solidFill>
                <a:latin typeface="Arial" pitchFamily="34" charset="0"/>
                <a:ea typeface="Arial" pitchFamily="34" charset="-122"/>
                <a:cs typeface="Arial" pitchFamily="34" charset="-120"/>
              </a:rPr>
              <a:t>ARTICLE DE RECHERCHE · SEPTEMBRE 2026</a:t>
            </a:r>
            <a:endParaRPr lang="en-US" sz="810" dirty="0"/>
          </a:p>
        </p:txBody>
      </p:sp>
      <p:sp>
        <p:nvSpPr>
          <p:cNvPr id="46" name="Text 40"/>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DDF5FC"/>
                </a:solidFill>
                <a:latin typeface="Arial" pitchFamily="34" charset="0"/>
                <a:ea typeface="Arial" pitchFamily="34" charset="-122"/>
                <a:cs typeface="Arial" pitchFamily="34" charset="-120"/>
              </a:rPr>
              <a:t>01 / 30</a:t>
            </a:r>
            <a:endParaRPr lang="en-US" sz="1000" dirty="0"/>
          </a:p>
        </p:txBody>
      </p:sp>
      <p:sp>
        <p:nvSpPr>
          <p:cNvPr id="48" name="Shape 41">
            <a:hlinkClick r:id="rId5" tooltip="Lire l'article sur arXiv"/>
          </p:cNvPr>
          <p:cNvSpPr/>
          <p:nvPr/>
        </p:nvSpPr>
        <p:spPr>
          <a:xfrm>
            <a:off x="585216" y="4897755"/>
            <a:ext cx="3017520" cy="438912"/>
          </a:xfrm>
          <a:prstGeom prst="roundRect">
            <a:avLst>
              <a:gd name="adj" fmla="val 25000"/>
            </a:avLst>
          </a:prstGeom>
          <a:solidFill>
            <a:srgbClr val="FFFFFF"/>
          </a:solidFill>
          <a:ln w="6350">
            <a:solidFill>
              <a:srgbClr val="FFFFFF"/>
            </a:solidFill>
            <a:prstDash val="solid"/>
          </a:ln>
        </p:spPr>
        <p:txBody>
          <a:bodyPr/>
          <a:p/>
        </p:txBody>
      </p:sp>
      <p:pic>
        <p:nvPicPr>
          <p:cNvPr id="49" name="Image 4" descr="preencoded.png">
            <a:hlinkClick r:id="rId7" tooltip=""/>
          </p:cNvPr>
          <p:cNvPicPr>
            <a:picLocks noChangeAspect="1"/>
          </p:cNvPicPr>
          <p:nvPr/>
        </p:nvPicPr>
        <p:blipFill>
          <a:blip r:embed="rId6"/>
          <a:stretch>
            <a:fillRect/>
          </a:stretch>
        </p:blipFill>
        <p:spPr>
          <a:xfrm>
            <a:off x="713232" y="4989195"/>
            <a:ext cx="256032" cy="256032"/>
          </a:xfrm>
          <a:prstGeom prst="rect">
            <a:avLst/>
          </a:prstGeom>
        </p:spPr>
      </p:pic>
      <p:sp>
        <p:nvSpPr>
          <p:cNvPr id="50" name="Text 42"/>
          <p:cNvSpPr txBox="1"/>
          <p:nvPr/>
        </p:nvSpPr>
        <p:spPr>
          <a:xfrm>
            <a:off x="1060704" y="4897755"/>
            <a:ext cx="2514600" cy="438912"/>
          </a:xfrm>
          <a:prstGeom prst="rect">
            <a:avLst/>
          </a:prstGeom>
          <a:noFill/>
          <a:ln/>
        </p:spPr>
        <p:txBody>
          <a:bodyPr wrap="square" lIns="0" tIns="0" rIns="0" bIns="0" rtlCol="0" anchor="ctr"/>
          <a:lstStyle/>
          <a:p>
            <a:pPr indent="0" marL="0">
              <a:lnSpc>
                <a:spcPct val="105000"/>
              </a:lnSpc>
              <a:buNone/>
            </a:pPr>
            <a:r>
              <a:rPr lang="en-US" sz="1050" b="1" u="sng" dirty="0">
                <a:solidFill>
                  <a:srgbClr val="252A3D"/>
                </a:solidFill>
                <a:latin typeface="Arial" pitchFamily="34" charset="0"/>
                <a:ea typeface="Arial" pitchFamily="34" charset="-122"/>
                <a:cs typeface="Arial" pitchFamily="34" charset="-120"/>
                <a:hlinkClick r:id="rId8" invalidUrl="" action="" tgtFrame="" tooltip="Lire l'article sur arXiv" history="1" highlightClick="0" endSnd="0">
                  <a:extLst>
                    <a:ext uri="{A12FA001-AC4F-418D-AE19-62706E023703}">
                      <ahyp:hlinkClr xmlns:ahyp="http://schemas.microsoft.com/office/drawing/2018/hyperlinkcolor" val="tx"/>
                    </a:ext>
                  </a:extLst>
                </a:hlinkClick>
              </a:rPr>
              <a:t>arXiv:2609.29345</a:t>
            </a:r>
            <a:r>
              <a:rPr lang="en-US" sz="1050" u="sng" dirty="0">
                <a:solidFill>
                  <a:srgbClr val="5B6575"/>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  ·  Lire l'article</a:t>
            </a:r>
            <a:endParaRPr lang="en-US" sz="1050" dirty="0"/>
          </a:p>
        </p:txBody>
      </p:sp>
      <p:sp>
        <p:nvSpPr>
          <p:cNvPr id="51" name="Shape 43">
            <a:hlinkClick r:id="rId10" tooltip="DGF-Bench sur GitHub"/>
          </p:cNvPr>
          <p:cNvSpPr/>
          <p:nvPr/>
        </p:nvSpPr>
        <p:spPr>
          <a:xfrm>
            <a:off x="3730752" y="4897755"/>
            <a:ext cx="4069080" cy="438912"/>
          </a:xfrm>
          <a:prstGeom prst="roundRect">
            <a:avLst>
              <a:gd name="adj" fmla="val 25000"/>
            </a:avLst>
          </a:prstGeom>
          <a:solidFill>
            <a:srgbClr val="FFFFFF"/>
          </a:solidFill>
          <a:ln w="6350">
            <a:solidFill>
              <a:srgbClr val="FFFFFF"/>
            </a:solidFill>
            <a:prstDash val="solid"/>
          </a:ln>
        </p:spPr>
        <p:txBody>
          <a:bodyPr/>
          <a:p/>
        </p:txBody>
      </p:sp>
      <p:pic>
        <p:nvPicPr>
          <p:cNvPr id="52" name="Image 5" descr="preencoded.png">
            <a:hlinkClick r:id="rId12" tooltip=""/>
          </p:cNvPr>
          <p:cNvPicPr>
            <a:picLocks noChangeAspect="1"/>
          </p:cNvPicPr>
          <p:nvPr/>
        </p:nvPicPr>
        <p:blipFill>
          <a:blip r:embed="rId11"/>
          <a:stretch>
            <a:fillRect/>
          </a:stretch>
        </p:blipFill>
        <p:spPr>
          <a:xfrm>
            <a:off x="3858768" y="4989195"/>
            <a:ext cx="256032" cy="256032"/>
          </a:xfrm>
          <a:prstGeom prst="rect">
            <a:avLst/>
          </a:prstGeom>
        </p:spPr>
      </p:pic>
      <p:sp>
        <p:nvSpPr>
          <p:cNvPr id="53" name="Text 44"/>
          <p:cNvSpPr txBox="1"/>
          <p:nvPr/>
        </p:nvSpPr>
        <p:spPr>
          <a:xfrm>
            <a:off x="4206240" y="4897755"/>
            <a:ext cx="3566160" cy="438912"/>
          </a:xfrm>
          <a:prstGeom prst="rect">
            <a:avLst/>
          </a:prstGeom>
          <a:noFill/>
          <a:ln/>
        </p:spPr>
        <p:txBody>
          <a:bodyPr wrap="square" lIns="0" tIns="0" rIns="0" bIns="0" rtlCol="0" anchor="ctr"/>
          <a:lstStyle/>
          <a:p>
            <a:pPr indent="0" marL="0">
              <a:lnSpc>
                <a:spcPct val="105000"/>
              </a:lnSpc>
              <a:buNone/>
            </a:pPr>
            <a:r>
              <a:rPr lang="en-US" sz="1050" b="1" u="sng" dirty="0">
                <a:solidFill>
                  <a:srgbClr val="252A3D"/>
                </a:solidFill>
                <a:latin typeface="Arial" pitchFamily="34" charset="0"/>
                <a:ea typeface="Arial" pitchFamily="34" charset="-122"/>
                <a:cs typeface="Arial" pitchFamily="34" charset="-120"/>
                <a:hlinkClick r:id="rId13" invalidUrl="" action="" tgtFrame="" tooltip="DGF-Bench sur GitHub" history="1" highlightClick="0" endSnd="0">
                  <a:extLst>
                    <a:ext uri="{A12FA001-AC4F-418D-AE19-62706E023703}">
                      <ahyp:hlinkClr xmlns:ahyp="http://schemas.microsoft.com/office/drawing/2018/hyperlinkcolor" val="tx"/>
                    </a:ext>
                  </a:extLst>
                </a:hlinkClick>
              </a:rPr>
              <a:t>DGF-Bench sur GitHub</a:t>
            </a:r>
            <a:r>
              <a:rPr lang="en-US" sz="1050" u="sng" dirty="0">
                <a:solidFill>
                  <a:srgbClr val="5B6575"/>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  jeremy1392/dgf-agentic-bench</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000" b="1" dirty="0">
                <a:solidFill>
                  <a:srgbClr val="5B6575"/>
                </a:solidFill>
                <a:latin typeface="Arial" pitchFamily="34" charset="0"/>
                <a:ea typeface="Arial" pitchFamily="34" charset="-122"/>
                <a:cs typeface="Arial" pitchFamily="34" charset="-120"/>
              </a:rPr>
              <a:t>L'ÉXPERIENCE RÉSUMÉE EN UNE MINUTE</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4 idées à retenir</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VUE D'ENSEMBLE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02 / 30</a:t>
            </a:r>
            <a:endParaRPr lang="en-US" sz="1000" dirty="0"/>
          </a:p>
        </p:txBody>
      </p:sp>
      <p:sp>
        <p:nvSpPr>
          <p:cNvPr id="9" name="Shape 7"/>
          <p:cNvSpPr/>
          <p:nvPr/>
        </p:nvSpPr>
        <p:spPr>
          <a:xfrm>
            <a:off x="457200" y="1965960"/>
            <a:ext cx="2651760" cy="3429000"/>
          </a:xfrm>
          <a:prstGeom prst="roundRect">
            <a:avLst>
              <a:gd name="adj" fmla="val 3448"/>
            </a:avLst>
          </a:prstGeom>
          <a:solidFill>
            <a:srgbClr val="DDF5FC"/>
          </a:solidFill>
          <a:ln w="12700">
            <a:solidFill>
              <a:srgbClr val="DDF5FC"/>
            </a:solidFill>
            <a:prstDash val="solid"/>
          </a:ln>
        </p:spPr>
        <p:txBody>
          <a:bodyPr/>
          <a:p/>
        </p:txBody>
      </p:sp>
      <p:sp>
        <p:nvSpPr>
          <p:cNvPr id="10" name="Text 8"/>
          <p:cNvSpPr txBox="1"/>
          <p:nvPr/>
        </p:nvSpPr>
        <p:spPr>
          <a:xfrm>
            <a:off x="640080" y="2130552"/>
            <a:ext cx="2286000" cy="365760"/>
          </a:xfrm>
          <a:prstGeom prst="rect">
            <a:avLst/>
          </a:prstGeom>
          <a:noFill/>
          <a:ln/>
        </p:spPr>
        <p:txBody>
          <a:bodyPr wrap="square" lIns="0" tIns="0" rIns="0" bIns="0" rtlCol="0" anchor="t"/>
          <a:lstStyle/>
          <a:p>
            <a:pPr indent="0" marL="0">
              <a:lnSpc>
                <a:spcPct val="105000"/>
              </a:lnSpc>
              <a:buNone/>
            </a:pPr>
            <a:r>
              <a:rPr lang="en-US" sz="1600" b="1" dirty="0">
                <a:solidFill>
                  <a:srgbClr val="252A3D"/>
                </a:solidFill>
                <a:latin typeface="Arial" pitchFamily="34" charset="0"/>
                <a:ea typeface="Arial" pitchFamily="34" charset="-122"/>
                <a:cs typeface="Arial" pitchFamily="34" charset="-120"/>
              </a:rPr>
              <a:t>Le contexte</a:t>
            </a:r>
            <a:endParaRPr lang="en-US" sz="1600" dirty="0"/>
          </a:p>
        </p:txBody>
      </p:sp>
      <p:sp>
        <p:nvSpPr>
          <p:cNvPr id="11" name="Text 9"/>
          <p:cNvSpPr txBox="1"/>
          <p:nvPr/>
        </p:nvSpPr>
        <p:spPr>
          <a:xfrm>
            <a:off x="640080" y="2560320"/>
            <a:ext cx="2286000" cy="2103120"/>
          </a:xfrm>
          <a:prstGeom prst="rect">
            <a:avLst/>
          </a:prstGeom>
          <a:noFill/>
          <a:ln/>
        </p:spPr>
        <p:txBody>
          <a:bodyPr wrap="square" lIns="0" tIns="0" rIns="0" bIns="0" rtlCol="0" anchor="t"/>
          <a:lstStyle/>
          <a:p>
            <a:pPr indent="0" marL="0">
              <a:lnSpc>
                <a:spcPct val="105000"/>
              </a:lnSpc>
              <a:buNone/>
            </a:pPr>
            <a:r>
              <a:rPr lang="en-US" sz="960" dirty="0">
                <a:solidFill>
                  <a:srgbClr val="252A3D"/>
                </a:solidFill>
                <a:latin typeface="Arial" pitchFamily="34" charset="0"/>
                <a:ea typeface="Arial" pitchFamily="34" charset="-122"/>
                <a:cs typeface="Arial" pitchFamily="34" charset="-120"/>
              </a:rPr>
              <a:t>Avant un achat, une intégration ou un développement, un projet passe par plusieurs revues obligatoires : Achats, Juridique, Conformité réglementaire, Cybersécurité, Standardisation technologique, Architecture technique, Préparation à l’exploitation et Validation finale. Dans l’article, l’ensemble de ces revues forme le DGF (Digital Governance Framework).</a:t>
            </a:r>
          </a:p>
        </p:txBody>
      </p:sp>
      <p:sp>
        <p:nvSpPr>
          <p:cNvPr id="12" name="Shape 10"/>
          <p:cNvSpPr/>
          <p:nvPr/>
        </p:nvSpPr>
        <p:spPr>
          <a:xfrm>
            <a:off x="2432304" y="4718304"/>
            <a:ext cx="493776" cy="493776"/>
          </a:xfrm>
          <a:prstGeom prst="ellipse">
            <a:avLst/>
          </a:prstGeom>
          <a:solidFill>
            <a:srgbClr val="FFFFFF"/>
          </a:solidFill>
          <a:ln w="12700">
            <a:solidFill>
              <a:srgbClr val="FFFFFF"/>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2542032" y="4828032"/>
            <a:ext cx="274320" cy="274320"/>
          </a:xfrm>
          <a:prstGeom prst="rect">
            <a:avLst/>
          </a:prstGeom>
        </p:spPr>
      </p:pic>
      <p:sp>
        <p:nvSpPr>
          <p:cNvPr id="14" name="Shape 11"/>
          <p:cNvSpPr/>
          <p:nvPr/>
        </p:nvSpPr>
        <p:spPr>
          <a:xfrm>
            <a:off x="3332988" y="1965960"/>
            <a:ext cx="2651760" cy="3429000"/>
          </a:xfrm>
          <a:prstGeom prst="roundRect">
            <a:avLst>
              <a:gd name="adj" fmla="val 3448"/>
            </a:avLst>
          </a:prstGeom>
          <a:solidFill>
            <a:srgbClr val="FFE4E6"/>
          </a:solidFill>
          <a:ln w="12700">
            <a:solidFill>
              <a:srgbClr val="FFE4E6"/>
            </a:solidFill>
            <a:prstDash val="solid"/>
          </a:ln>
        </p:spPr>
        <p:txBody>
          <a:bodyPr/>
          <a:p/>
        </p:txBody>
      </p:sp>
      <p:sp>
        <p:nvSpPr>
          <p:cNvPr id="15" name="Text 12"/>
          <p:cNvSpPr txBox="1"/>
          <p:nvPr/>
        </p:nvSpPr>
        <p:spPr>
          <a:xfrm>
            <a:off x="3515868" y="2130552"/>
            <a:ext cx="2286000" cy="365760"/>
          </a:xfrm>
          <a:prstGeom prst="rect">
            <a:avLst/>
          </a:prstGeom>
          <a:noFill/>
          <a:ln/>
        </p:spPr>
        <p:txBody>
          <a:bodyPr wrap="square" lIns="0" tIns="0" rIns="0" bIns="0" rtlCol="0" anchor="t"/>
          <a:lstStyle/>
          <a:p>
            <a:pPr indent="0" marL="0">
              <a:lnSpc>
                <a:spcPct val="105000"/>
              </a:lnSpc>
              <a:buNone/>
            </a:pPr>
            <a:r>
              <a:rPr lang="en-US" sz="1600" b="1" dirty="0">
                <a:solidFill>
                  <a:srgbClr val="252A3D"/>
                </a:solidFill>
                <a:latin typeface="Arial" pitchFamily="34" charset="0"/>
                <a:ea typeface="Arial" pitchFamily="34" charset="-122"/>
                <a:cs typeface="Arial" pitchFamily="34" charset="-120"/>
              </a:rPr>
              <a:t>L'idée</a:t>
            </a:r>
            <a:endParaRPr lang="en-US" sz="1600" dirty="0"/>
          </a:p>
        </p:txBody>
      </p:sp>
      <p:sp>
        <p:nvSpPr>
          <p:cNvPr id="16" name="Text 13"/>
          <p:cNvSpPr txBox="1"/>
          <p:nvPr/>
        </p:nvSpPr>
        <p:spPr>
          <a:xfrm>
            <a:off x="3515868" y="2560320"/>
            <a:ext cx="2286000" cy="2103120"/>
          </a:xfrm>
          <a:prstGeom prst="rect">
            <a:avLst/>
          </a:prstGeom>
          <a:noFill/>
          <a:ln/>
        </p:spPr>
        <p:txBody>
          <a:bodyPr wrap="square" lIns="0" tIns="0" rIns="0" bIns="0" rtlCol="0" anchor="t"/>
          <a:lstStyle/>
          <a:p>
            <a:pPr indent="0" marL="0">
              <a:lnSpc>
                <a:spcPct val="105000"/>
              </a:lnSpc>
              <a:buNone/>
            </a:pPr>
            <a:r>
              <a:rPr lang="en-US" sz="960" dirty="0">
                <a:solidFill>
                  <a:srgbClr val="252A3D"/>
                </a:solidFill>
                <a:latin typeface="Arial" pitchFamily="34" charset="0"/>
                <a:ea typeface="Arial" pitchFamily="34" charset="-122"/>
                <a:cs typeface="Arial" pitchFamily="34" charset="-120"/>
              </a:rPr>
              <a:t>Aujourd’hui, ces revues sont réalisées par des spécialistes humains. L’article teste si un agent IA chargé de la revue peut lire les mêmes dossiers et rendre des décisions.</a:t>
            </a:r>
          </a:p>
        </p:txBody>
      </p:sp>
      <p:sp>
        <p:nvSpPr>
          <p:cNvPr id="17" name="Shape 14"/>
          <p:cNvSpPr/>
          <p:nvPr/>
        </p:nvSpPr>
        <p:spPr>
          <a:xfrm>
            <a:off x="5308092" y="4718304"/>
            <a:ext cx="493776" cy="493776"/>
          </a:xfrm>
          <a:prstGeom prst="ellipse">
            <a:avLst/>
          </a:prstGeom>
          <a:solidFill>
            <a:srgbClr val="FFFFFF"/>
          </a:solidFill>
          <a:ln w="12700">
            <a:solidFill>
              <a:srgbClr val="FFFFFF"/>
            </a:solidFill>
            <a:prstDash val="solid"/>
          </a:ln>
        </p:spPr>
        <p:txBody>
          <a:bodyPr/>
          <a:p/>
        </p:txBody>
      </p:sp>
      <p:pic>
        <p:nvPicPr>
          <p:cNvPr id="18" name="Image 1" descr="preencoded.png">    </p:cNvPr>
          <p:cNvPicPr>
            <a:picLocks noChangeAspect="1"/>
          </p:cNvPicPr>
          <p:nvPr/>
        </p:nvPicPr>
        <p:blipFill>
          <a:blip r:embed="rId2"/>
          <a:stretch>
            <a:fillRect/>
          </a:stretch>
        </p:blipFill>
        <p:spPr>
          <a:xfrm>
            <a:off x="5417820" y="4828032"/>
            <a:ext cx="274320" cy="274320"/>
          </a:xfrm>
          <a:prstGeom prst="rect">
            <a:avLst/>
          </a:prstGeom>
        </p:spPr>
      </p:pic>
      <p:sp>
        <p:nvSpPr>
          <p:cNvPr id="19" name="Shape 15"/>
          <p:cNvSpPr/>
          <p:nvPr/>
        </p:nvSpPr>
        <p:spPr>
          <a:xfrm>
            <a:off x="6208776" y="1965960"/>
            <a:ext cx="2651760" cy="3429000"/>
          </a:xfrm>
          <a:prstGeom prst="roundRect">
            <a:avLst>
              <a:gd name="adj" fmla="val 3448"/>
            </a:avLst>
          </a:prstGeom>
          <a:solidFill>
            <a:srgbClr val="E5F6E9"/>
          </a:solidFill>
          <a:ln w="12700">
            <a:solidFill>
              <a:srgbClr val="E5F6E9"/>
            </a:solidFill>
            <a:prstDash val="solid"/>
          </a:ln>
        </p:spPr>
        <p:txBody>
          <a:bodyPr/>
          <a:p/>
        </p:txBody>
      </p:sp>
      <p:sp>
        <p:nvSpPr>
          <p:cNvPr id="20" name="Text 16"/>
          <p:cNvSpPr txBox="1"/>
          <p:nvPr/>
        </p:nvSpPr>
        <p:spPr>
          <a:xfrm>
            <a:off x="6391656" y="2130552"/>
            <a:ext cx="2286000" cy="365760"/>
          </a:xfrm>
          <a:prstGeom prst="rect">
            <a:avLst/>
          </a:prstGeom>
          <a:noFill/>
          <a:ln/>
        </p:spPr>
        <p:txBody>
          <a:bodyPr wrap="square" lIns="0" tIns="0" rIns="0" bIns="0" rtlCol="0" anchor="t"/>
          <a:lstStyle/>
          <a:p>
            <a:pPr indent="0" marL="0">
              <a:lnSpc>
                <a:spcPct val="105000"/>
              </a:lnSpc>
              <a:buNone/>
            </a:pPr>
            <a:r>
              <a:rPr lang="en-US" sz="1600" b="1" dirty="0">
                <a:solidFill>
                  <a:srgbClr val="252A3D"/>
                </a:solidFill>
                <a:latin typeface="Arial" pitchFamily="34" charset="0"/>
                <a:ea typeface="Arial" pitchFamily="34" charset="-122"/>
                <a:cs typeface="Arial" pitchFamily="34" charset="-120"/>
              </a:rPr>
              <a:t>L'expérience</a:t>
            </a:r>
            <a:endParaRPr lang="en-US" sz="1600" dirty="0"/>
          </a:p>
        </p:txBody>
      </p:sp>
      <p:sp>
        <p:nvSpPr>
          <p:cNvPr id="21" name="Text 17"/>
          <p:cNvSpPr txBox="1"/>
          <p:nvPr/>
        </p:nvSpPr>
        <p:spPr>
          <a:xfrm>
            <a:off x="6391656" y="2560320"/>
            <a:ext cx="2286000" cy="2103120"/>
          </a:xfrm>
          <a:prstGeom prst="rect">
            <a:avLst/>
          </a:prstGeom>
          <a:noFill/>
          <a:ln/>
        </p:spPr>
        <p:txBody>
          <a:bodyPr wrap="square" lIns="0" tIns="0" rIns="0" bIns="0" rtlCol="0" anchor="t"/>
          <a:lstStyle/>
          <a:p>
            <a:pPr indent="0" marL="0">
              <a:lnSpc>
                <a:spcPct val="105000"/>
              </a:lnSpc>
              <a:buNone/>
            </a:pPr>
            <a:r>
              <a:rPr lang="en-US" sz="700" dirty="0">
                <a:solidFill>
                  <a:srgbClr val="252A3D"/>
                </a:solidFill>
                <a:latin typeface="Arial" pitchFamily="34" charset="0"/>
                <a:ea typeface="Arial" pitchFamily="34" charset="-122"/>
                <a:cs typeface="Arial" pitchFamily="34" charset="-120"/>
              </a:rPr>
              <a:t>300 projets entièrement générés pour représenter des situations plausibles de gouvernance. Chaque projet contient des décisions pré-établies pour chaques gates qui representeraient le meilleur choix possible pour un spécialiste.</a:t>
            </a:r>
          </a:p>
          <a:p>
            <a:pPr indent="0" marL="0">
              <a:lnSpc>
                <a:spcPct val="105000"/>
              </a:lnSpc>
              <a:buNone/>
            </a:pPr>
            <a:r>
              <a:rPr lang="en-US" sz="700" dirty="0">
                <a:solidFill>
                  <a:srgbClr val="252A3D"/>
                </a:solidFill>
                <a:latin typeface="Arial" pitchFamily="34" charset="0"/>
                <a:ea typeface="Arial" pitchFamily="34" charset="-122"/>
                <a:cs typeface="Arial" pitchFamily="34" charset="-120"/>
              </a:rPr>
              <a:t>L'agent IA évaluateur est testé séparément avec trois modèles d’IA : Gemini 3.8 Flash, GPT-5.6 Luna et DeepSeek v4.1 Flash.</a:t>
            </a:r>
          </a:p>
          <a:p>
            <a:pPr indent="0" marL="0">
              <a:lnSpc>
                <a:spcPct val="105000"/>
              </a:lnSpc>
              <a:buNone/>
            </a:pPr>
            <a:r>
              <a:rPr lang="en-US" sz="700" dirty="0">
                <a:solidFill>
                  <a:srgbClr val="252A3D"/>
                </a:solidFill>
                <a:latin typeface="Arial" pitchFamily="34" charset="0"/>
                <a:ea typeface="Arial" pitchFamily="34" charset="-122"/>
                <a:cs typeface="Arial" pitchFamily="34" charset="-120"/>
              </a:rPr>
              <a:t>Un programme vérifie automatiquement si la réponse de l’agent correspond à la décision pré-établie attendue pour ce projet.</a:t>
            </a:r>
          </a:p>
          <a:p>
            <a:pPr indent="0" marL="0">
              <a:lnSpc>
                <a:spcPct val="105000"/>
              </a:lnSpc>
              <a:buNone/>
            </a:pPr>
            <a:r>
              <a:rPr lang="en-US" sz="700" dirty="0">
                <a:solidFill>
                  <a:srgbClr val="252A3D"/>
                </a:solidFill>
                <a:latin typeface="Arial" pitchFamily="34" charset="0"/>
                <a:ea typeface="Arial" pitchFamily="34" charset="-122"/>
                <a:cs typeface="Arial" pitchFamily="34" charset="-120"/>
              </a:rPr>
              <a:t>Sachant que ce meilleur choix de décision est inaccessible aux agents IA pendant l’exécution.</a:t>
            </a:r>
          </a:p>
          <a:p>
            <a:pPr indent="0" marL="0">
              <a:lnSpc>
                <a:spcPct val="105000"/>
              </a:lnSpc>
              <a:buNone/>
            </a:pPr>
            <a:r>
              <a:rPr lang="en-US" sz="700" dirty="0">
                <a:solidFill>
                  <a:srgbClr val="252A3D"/>
                </a:solidFill>
                <a:latin typeface="Arial" pitchFamily="34" charset="0"/>
                <a:ea typeface="Arial" pitchFamily="34" charset="-122"/>
                <a:cs typeface="Arial" pitchFamily="34" charset="-120"/>
              </a:rPr>
              <a:t>Le meilleur des trois model (Gemini) a pris la bonne décision à chaque fois, a fourni une analyse complète et correctement documentée à 95 % des étapes, et a mené à bien 77 % des projets de A à Z.</a:t>
            </a:r>
          </a:p>
        </p:txBody>
      </p:sp>
      <p:sp>
        <p:nvSpPr>
          <p:cNvPr id="22" name="Shape 18"/>
          <p:cNvSpPr/>
          <p:nvPr/>
        </p:nvSpPr>
        <p:spPr>
          <a:xfrm>
            <a:off x="8183880" y="4718304"/>
            <a:ext cx="493776" cy="493776"/>
          </a:xfrm>
          <a:prstGeom prst="ellipse">
            <a:avLst/>
          </a:prstGeom>
          <a:solidFill>
            <a:srgbClr val="FFFFFF"/>
          </a:solidFill>
          <a:ln w="12700">
            <a:solidFill>
              <a:srgbClr val="FFFFFF"/>
            </a:solidFill>
            <a:prstDash val="solid"/>
          </a:ln>
        </p:spPr>
        <p:txBody>
          <a:bodyPr/>
          <a:p/>
        </p:txBody>
      </p:sp>
      <p:pic>
        <p:nvPicPr>
          <p:cNvPr id="23" name="Image 2" descr="preencoded.png">    </p:cNvPr>
          <p:cNvPicPr>
            <a:picLocks noChangeAspect="1"/>
          </p:cNvPicPr>
          <p:nvPr/>
        </p:nvPicPr>
        <p:blipFill>
          <a:blip r:embed="rId3"/>
          <a:stretch>
            <a:fillRect/>
          </a:stretch>
        </p:blipFill>
        <p:spPr>
          <a:xfrm>
            <a:off x="8293608" y="4828032"/>
            <a:ext cx="274320" cy="274320"/>
          </a:xfrm>
          <a:prstGeom prst="rect">
            <a:avLst/>
          </a:prstGeom>
        </p:spPr>
      </p:pic>
      <p:sp>
        <p:nvSpPr>
          <p:cNvPr id="24" name="Shape 19"/>
          <p:cNvSpPr/>
          <p:nvPr/>
        </p:nvSpPr>
        <p:spPr>
          <a:xfrm>
            <a:off x="9084564" y="1965960"/>
            <a:ext cx="2651760" cy="3429000"/>
          </a:xfrm>
          <a:prstGeom prst="roundRect">
            <a:avLst>
              <a:gd name="adj" fmla="val 3448"/>
            </a:avLst>
          </a:prstGeom>
          <a:solidFill>
            <a:srgbClr val="FFF5BF"/>
          </a:solidFill>
          <a:ln w="12700">
            <a:solidFill>
              <a:srgbClr val="FFF5BF"/>
            </a:solidFill>
            <a:prstDash val="solid"/>
          </a:ln>
        </p:spPr>
        <p:txBody>
          <a:bodyPr/>
          <a:p/>
        </p:txBody>
      </p:sp>
      <p:sp>
        <p:nvSpPr>
          <p:cNvPr id="25" name="Text 20"/>
          <p:cNvSpPr txBox="1"/>
          <p:nvPr/>
        </p:nvSpPr>
        <p:spPr>
          <a:xfrm>
            <a:off x="9267444" y="2130552"/>
            <a:ext cx="2286000" cy="365760"/>
          </a:xfrm>
          <a:prstGeom prst="rect">
            <a:avLst/>
          </a:prstGeom>
          <a:noFill/>
          <a:ln/>
        </p:spPr>
        <p:txBody>
          <a:bodyPr wrap="square" lIns="0" tIns="0" rIns="0" bIns="0" rtlCol="0" anchor="t"/>
          <a:lstStyle/>
          <a:p>
            <a:pPr indent="0" marL="0">
              <a:lnSpc>
                <a:spcPct val="105000"/>
              </a:lnSpc>
              <a:buNone/>
            </a:pPr>
            <a:r>
              <a:rPr lang="en-US" sz="1600" b="1" dirty="0">
                <a:solidFill>
                  <a:srgbClr val="252A3D"/>
                </a:solidFill>
                <a:latin typeface="Arial" pitchFamily="34" charset="0"/>
                <a:ea typeface="Arial" pitchFamily="34" charset="-122"/>
                <a:cs typeface="Arial" pitchFamily="34" charset="-120"/>
              </a:rPr>
              <a:t>A retenir</a:t>
            </a:r>
          </a:p>
        </p:txBody>
      </p:sp>
      <p:sp>
        <p:nvSpPr>
          <p:cNvPr id="26" name="Text 21"/>
          <p:cNvSpPr txBox="1"/>
          <p:nvPr/>
        </p:nvSpPr>
        <p:spPr>
          <a:xfrm>
            <a:off x="9267444" y="2560320"/>
            <a:ext cx="2286000" cy="2103120"/>
          </a:xfrm>
          <a:prstGeom prst="rect">
            <a:avLst/>
          </a:prstGeom>
          <a:noFill/>
          <a:ln/>
        </p:spPr>
        <p:txBody>
          <a:bodyPr wrap="square" lIns="0" tIns="0" rIns="0" bIns="0" rtlCol="0" anchor="t"/>
          <a:lstStyle/>
          <a:p>
            <a:pPr indent="0" marL="0">
              <a:lnSpc>
                <a:spcPct val="105000"/>
              </a:lnSpc>
              <a:buNone/>
            </a:pPr>
            <a:r>
              <a:rPr lang="en-US" sz="960" dirty="0">
                <a:solidFill>
                  <a:srgbClr val="252A3D"/>
                </a:solidFill>
                <a:latin typeface="Arial" pitchFamily="34" charset="0"/>
                <a:ea typeface="Arial" pitchFamily="34" charset="-122"/>
                <a:cs typeface="Arial" pitchFamily="34" charset="-120"/>
              </a:rPr>
              <a:t>Automatiser 80 % des cas ne signifie pas supprimer 80 % des postes. Un agent IA peut exécuter une décision, mais il ne porte pas lui-même la responsabilité qui incombe aujourd’hui à un humain ou à l’entreprise. Une validation humaine restera donc nécessaire pour certaines décisions, en plus des équipes chargées de superviser et de maintenir la plateforme.</a:t>
            </a:r>
          </a:p>
        </p:txBody>
      </p:sp>
      <p:sp>
        <p:nvSpPr>
          <p:cNvPr id="27" name="Shape 22"/>
          <p:cNvSpPr/>
          <p:nvPr/>
        </p:nvSpPr>
        <p:spPr>
          <a:xfrm>
            <a:off x="11059668" y="4718304"/>
            <a:ext cx="493776" cy="493776"/>
          </a:xfrm>
          <a:prstGeom prst="ellipse">
            <a:avLst/>
          </a:prstGeom>
          <a:solidFill>
            <a:srgbClr val="FFFFFF"/>
          </a:solidFill>
          <a:ln w="12700">
            <a:solidFill>
              <a:srgbClr val="FFFFFF"/>
            </a:solidFill>
            <a:prstDash val="solid"/>
          </a:ln>
        </p:spPr>
        <p:txBody>
          <a:bodyPr/>
          <a:p/>
        </p:txBody>
      </p:sp>
      <p:pic>
        <p:nvPicPr>
          <p:cNvPr id="28" name="Image 3" descr="preencoded.png">    </p:cNvPr>
          <p:cNvPicPr>
            <a:picLocks noChangeAspect="1"/>
          </p:cNvPicPr>
          <p:nvPr/>
        </p:nvPicPr>
        <p:blipFill>
          <a:blip r:embed="rId4"/>
          <a:stretch>
            <a:fillRect/>
          </a:stretch>
        </p:blipFill>
        <p:spPr>
          <a:xfrm>
            <a:off x="11169396" y="4828032"/>
            <a:ext cx="274320" cy="274320"/>
          </a:xfrm>
          <a:prstGeom prst="rect">
            <a:avLst/>
          </a:prstGeom>
        </p:spPr>
      </p:pic>
      <p:sp>
        <p:nvSpPr>
          <p:cNvPr id="29" name="Shape 23"/>
          <p:cNvSpPr/>
          <p:nvPr/>
        </p:nvSpPr>
        <p:spPr>
          <a:xfrm>
            <a:off x="457200" y="5577840"/>
            <a:ext cx="11274552" cy="868680"/>
          </a:xfrm>
          <a:prstGeom prst="roundRect">
            <a:avLst>
              <a:gd name="adj" fmla="val 10526"/>
            </a:avLst>
          </a:prstGeom>
          <a:solidFill>
            <a:srgbClr val="FFF5BF"/>
          </a:solidFill>
          <a:ln w="12700">
            <a:solidFill>
              <a:srgbClr val="FFF5BF"/>
            </a:solidFill>
            <a:prstDash val="solid"/>
          </a:ln>
        </p:spPr>
        <p:txBody>
          <a:bodyPr/>
          <a:p/>
        </p:txBody>
      </p:sp>
      <p:pic>
        <p:nvPicPr>
          <p:cNvPr id="30" name="Image 4" descr="preencoded.png">    </p:cNvPr>
          <p:cNvPicPr>
            <a:picLocks noChangeAspect="1"/>
          </p:cNvPicPr>
          <p:nvPr/>
        </p:nvPicPr>
        <p:blipFill>
          <a:blip r:embed="rId5"/>
          <a:stretch>
            <a:fillRect/>
          </a:stretch>
        </p:blipFill>
        <p:spPr>
          <a:xfrm>
            <a:off x="621792" y="5856732"/>
            <a:ext cx="310896" cy="310896"/>
          </a:xfrm>
          <a:prstGeom prst="rect">
            <a:avLst/>
          </a:prstGeom>
        </p:spPr>
      </p:pic>
      <p:sp>
        <p:nvSpPr>
          <p:cNvPr id="31" name="Text 24"/>
          <p:cNvSpPr txBox="1"/>
          <p:nvPr/>
        </p:nvSpPr>
        <p:spPr>
          <a:xfrm>
            <a:off x="1051560" y="5577840"/>
            <a:ext cx="10469880" cy="86868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En une phrase : </a:t>
            </a:r>
            <a:r>
              <a:rPr lang="en-US" sz="1150" dirty="0">
                <a:solidFill>
                  <a:srgbClr val="252A3D"/>
                </a:solidFill>
                <a:latin typeface="Arial" pitchFamily="34" charset="0"/>
                <a:ea typeface="Arial" pitchFamily="34" charset="-122"/>
                <a:cs typeface="Arial" pitchFamily="34" charset="-120"/>
              </a:rPr>
              <a:t>les revues restent obligatoires, mais leur exécution peut être désormais confiée à un spécialiste humain ou à un agent IA. Cette présentation explique le rôle des FDE, le DGF, les résultats de l’expérience et l’impact possible sur l’emploi.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VOCABULAIRE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Six termes expliqués simplement</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00" dirty="0">
                <a:solidFill>
                  <a:srgbClr val="5B6575"/>
                </a:solidFill>
                <a:latin typeface="Arial" pitchFamily="34" charset="0"/>
                <a:ea typeface="Arial" pitchFamily="34" charset="-122"/>
                <a:cs typeface="Arial" pitchFamily="34" charset="-120"/>
              </a:rPr>
              <a:t>L'article utilise des acronymes et des termes facile à appréhender. Voici ce qu'ils signifient en langage courant.</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VUE D'ENSEMBLE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03 / 30</a:t>
            </a:r>
            <a:endParaRPr lang="en-US" sz="1000" dirty="0"/>
          </a:p>
        </p:txBody>
      </p:sp>
      <p:sp>
        <p:nvSpPr>
          <p:cNvPr id="9" name="Shape 7"/>
          <p:cNvSpPr/>
          <p:nvPr/>
        </p:nvSpPr>
        <p:spPr>
          <a:xfrm>
            <a:off x="457200" y="1965960"/>
            <a:ext cx="3557016" cy="1828800"/>
          </a:xfrm>
          <a:prstGeom prst="roundRect">
            <a:avLst>
              <a:gd name="adj" fmla="val 5000"/>
            </a:avLst>
          </a:prstGeom>
          <a:solidFill>
            <a:srgbClr val="DDF5FC"/>
          </a:solidFill>
          <a:ln w="12700">
            <a:solidFill>
              <a:srgbClr val="DDF5FC"/>
            </a:solidFill>
            <a:prstDash val="solid"/>
          </a:ln>
        </p:spPr>
        <p:txBody>
          <a:bodyPr/>
          <a:p/>
        </p:txBody>
      </p:sp>
      <p:sp>
        <p:nvSpPr>
          <p:cNvPr id="10" name="Text 8"/>
          <p:cNvSpPr txBox="1"/>
          <p:nvPr/>
        </p:nvSpPr>
        <p:spPr>
          <a:xfrm>
            <a:off x="649224" y="2112264"/>
            <a:ext cx="3191256" cy="292608"/>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Forward Deployed Engineer (FDE)</a:t>
            </a:r>
            <a:endParaRPr lang="en-US" sz="1300" dirty="0"/>
          </a:p>
        </p:txBody>
      </p:sp>
      <p:sp>
        <p:nvSpPr>
          <p:cNvPr id="11" name="Text 9"/>
          <p:cNvSpPr txBox="1"/>
          <p:nvPr/>
        </p:nvSpPr>
        <p:spPr>
          <a:xfrm>
            <a:off x="649224" y="2459736"/>
            <a:ext cx="3191256" cy="1298448"/>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Ingénieur intégré aux équipes du client. Il transforme une démonstration d’IA en solution utilisée au quotidien, connectée aux applications, aux données et aux règles de l’entreprise cliente.</a:t>
            </a:r>
          </a:p>
        </p:txBody>
      </p:sp>
      <p:sp>
        <p:nvSpPr>
          <p:cNvPr id="12" name="Shape 10"/>
          <p:cNvSpPr/>
          <p:nvPr/>
        </p:nvSpPr>
        <p:spPr>
          <a:xfrm>
            <a:off x="4315968" y="1965960"/>
            <a:ext cx="3557016" cy="1828800"/>
          </a:xfrm>
          <a:prstGeom prst="roundRect">
            <a:avLst>
              <a:gd name="adj" fmla="val 5000"/>
            </a:avLst>
          </a:prstGeom>
          <a:solidFill>
            <a:srgbClr val="FFE4E6"/>
          </a:solidFill>
          <a:ln w="12700">
            <a:solidFill>
              <a:srgbClr val="FFE4E6"/>
            </a:solidFill>
            <a:prstDash val="solid"/>
          </a:ln>
        </p:spPr>
        <p:txBody>
          <a:bodyPr/>
          <a:p/>
        </p:txBody>
      </p:sp>
      <p:sp>
        <p:nvSpPr>
          <p:cNvPr id="13" name="Text 11"/>
          <p:cNvSpPr txBox="1"/>
          <p:nvPr/>
        </p:nvSpPr>
        <p:spPr>
          <a:xfrm>
            <a:off x="4507992" y="2112264"/>
            <a:ext cx="3191256" cy="292608"/>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Digital Governance Framework (DGF)</a:t>
            </a:r>
            <a:endParaRPr lang="en-US" sz="1300" dirty="0"/>
          </a:p>
        </p:txBody>
      </p:sp>
      <p:sp>
        <p:nvSpPr>
          <p:cNvPr id="14" name="Text 12"/>
          <p:cNvSpPr txBox="1"/>
          <p:nvPr/>
        </p:nvSpPr>
        <p:spPr>
          <a:xfrm>
            <a:off x="4507992" y="2459736"/>
            <a:ext cx="3191256" cy="1298448"/>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Ensemble de revues qu’un projet doit passer avant de pouvoir poursuivre son parcours. Chaque étape se focalise sur points précis : achat, contrat, réglementation, cybersécurité, standards technologiques, architecture, exploitation et décision finale.</a:t>
            </a:r>
          </a:p>
        </p:txBody>
      </p:sp>
      <p:sp>
        <p:nvSpPr>
          <p:cNvPr id="15" name="Shape 13"/>
          <p:cNvSpPr/>
          <p:nvPr/>
        </p:nvSpPr>
        <p:spPr>
          <a:xfrm>
            <a:off x="8174736" y="1965960"/>
            <a:ext cx="3557016" cy="1828800"/>
          </a:xfrm>
          <a:prstGeom prst="roundRect">
            <a:avLst>
              <a:gd name="adj" fmla="val 5000"/>
            </a:avLst>
          </a:prstGeom>
          <a:solidFill>
            <a:srgbClr val="E5F6E9"/>
          </a:solidFill>
          <a:ln w="12700">
            <a:solidFill>
              <a:srgbClr val="E5F6E9"/>
            </a:solidFill>
            <a:prstDash val="solid"/>
          </a:ln>
        </p:spPr>
        <p:txBody>
          <a:bodyPr/>
          <a:p/>
        </p:txBody>
      </p:sp>
      <p:sp>
        <p:nvSpPr>
          <p:cNvPr id="16" name="Text 14"/>
          <p:cNvSpPr txBox="1"/>
          <p:nvPr/>
        </p:nvSpPr>
        <p:spPr>
          <a:xfrm>
            <a:off x="8366760" y="2112264"/>
            <a:ext cx="3191256" cy="292608"/>
          </a:xfrm>
          <a:prstGeom prst="rect">
            <a:avLst/>
          </a:prstGeom>
          <a:noFill/>
          <a:ln/>
        </p:spPr>
        <p:txBody>
          <a:bodyPr wrap="square" lIns="0" tIns="0" rIns="0" bIns="0" rtlCol="0" anchor="t"/>
          <a:lstStyle/>
          <a:p>
            <a:pPr indent="0" marL="0">
              <a:lnSpc>
                <a:spcPct val="105000"/>
              </a:lnSpc>
              <a:buNone/>
            </a:pPr>
            <a:r>
              <a:rPr lang="en-US" sz="910" b="1" dirty="0">
                <a:solidFill>
                  <a:srgbClr val="252A3D"/>
                </a:solidFill>
                <a:latin typeface="Arial" pitchFamily="34" charset="0"/>
                <a:ea typeface="Arial" pitchFamily="34" charset="-122"/>
                <a:cs typeface="Arial" pitchFamily="34" charset="-120"/>
              </a:rPr>
              <a:t>Étape de revue (gate) : contrôle obligatoire qui aboutit à une décision pour la suite du projet</a:t>
            </a:r>
          </a:p>
        </p:txBody>
      </p:sp>
      <p:sp>
        <p:nvSpPr>
          <p:cNvPr id="17" name="Text 15"/>
          <p:cNvSpPr txBox="1"/>
          <p:nvPr/>
        </p:nvSpPr>
        <p:spPr>
          <a:xfrm>
            <a:off x="8366760" y="2459736"/>
            <a:ext cx="3191256" cy="1298448"/>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Au sein des entreprises, cette revue est toujours réalisée par un expert humain (architecte, QA, etc…) ; pour cette expérience, elle sera réalisée par un agent IA. Chaque revue produit une décision, les problèmes identifiés, les corrections demandées et les sources utilisées.</a:t>
            </a:r>
          </a:p>
        </p:txBody>
      </p:sp>
      <p:sp>
        <p:nvSpPr>
          <p:cNvPr id="18" name="Shape 16"/>
          <p:cNvSpPr/>
          <p:nvPr/>
        </p:nvSpPr>
        <p:spPr>
          <a:xfrm>
            <a:off x="457200" y="3977640"/>
            <a:ext cx="3557016" cy="1828800"/>
          </a:xfrm>
          <a:prstGeom prst="roundRect">
            <a:avLst>
              <a:gd name="adj" fmla="val 5000"/>
            </a:avLst>
          </a:prstGeom>
          <a:solidFill>
            <a:srgbClr val="FFF5BF"/>
          </a:solidFill>
          <a:ln w="12700">
            <a:solidFill>
              <a:srgbClr val="FFF5BF"/>
            </a:solidFill>
            <a:prstDash val="solid"/>
          </a:ln>
        </p:spPr>
        <p:txBody>
          <a:bodyPr/>
          <a:p/>
        </p:txBody>
      </p:sp>
      <p:sp>
        <p:nvSpPr>
          <p:cNvPr id="19" name="Text 17"/>
          <p:cNvSpPr txBox="1"/>
          <p:nvPr/>
        </p:nvSpPr>
        <p:spPr>
          <a:xfrm>
            <a:off x="649224" y="4123944"/>
            <a:ext cx="3191256" cy="292608"/>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Agent IA</a:t>
            </a:r>
            <a:endParaRPr lang="en-US" sz="1300" dirty="0"/>
          </a:p>
        </p:txBody>
      </p:sp>
      <p:sp>
        <p:nvSpPr>
          <p:cNvPr id="20" name="Text 18"/>
          <p:cNvSpPr txBox="1"/>
          <p:nvPr/>
        </p:nvSpPr>
        <p:spPr>
          <a:xfrm>
            <a:off x="649224" y="4471416"/>
            <a:ext cx="3191256" cy="1298448"/>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Système logiciel construit autour d’un modèle d’IA. Il ouvre les documents du dossier, consulte les sources de référence accessibles, demande les informations manquantes et produit une décision justifiée. Dans l’expérience, il réalise la revue à la place de l’évaluateur.</a:t>
            </a:r>
          </a:p>
        </p:txBody>
      </p:sp>
      <p:sp>
        <p:nvSpPr>
          <p:cNvPr id="21" name="Shape 19"/>
          <p:cNvSpPr/>
          <p:nvPr/>
        </p:nvSpPr>
        <p:spPr>
          <a:xfrm>
            <a:off x="4315968" y="3977640"/>
            <a:ext cx="3557016" cy="1828800"/>
          </a:xfrm>
          <a:prstGeom prst="roundRect">
            <a:avLst>
              <a:gd name="adj" fmla="val 5000"/>
            </a:avLst>
          </a:prstGeom>
          <a:solidFill>
            <a:srgbClr val="EFE8FA"/>
          </a:solidFill>
          <a:ln w="12700">
            <a:solidFill>
              <a:srgbClr val="EFE8FA"/>
            </a:solidFill>
            <a:prstDash val="solid"/>
          </a:ln>
        </p:spPr>
        <p:txBody>
          <a:bodyPr/>
          <a:p/>
        </p:txBody>
      </p:sp>
      <p:sp>
        <p:nvSpPr>
          <p:cNvPr id="22" name="Text 20"/>
          <p:cNvSpPr txBox="1"/>
          <p:nvPr/>
        </p:nvSpPr>
        <p:spPr>
          <a:xfrm>
            <a:off x="4507992" y="4123944"/>
            <a:ext cx="3191256" cy="292608"/>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Le dossier projet</a:t>
            </a:r>
            <a:endParaRPr lang="en-US" sz="1300" dirty="0"/>
          </a:p>
        </p:txBody>
      </p:sp>
      <p:sp>
        <p:nvSpPr>
          <p:cNvPr id="23" name="Text 21"/>
          <p:cNvSpPr txBox="1"/>
          <p:nvPr/>
        </p:nvSpPr>
        <p:spPr>
          <a:xfrm>
            <a:off x="4507992" y="4471416"/>
            <a:ext cx="3191256" cy="1298448"/>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Ensemble des éléments fournis pour la revue : cadrage, architecture, contrats, tests de sécurité, sauvegardes, plan de reprise et offres des fournisseurs etc… Certains éléments peuvent manquer ou se contredire.</a:t>
            </a:r>
          </a:p>
        </p:txBody>
      </p:sp>
      <p:sp>
        <p:nvSpPr>
          <p:cNvPr id="24" name="Shape 22"/>
          <p:cNvSpPr/>
          <p:nvPr/>
        </p:nvSpPr>
        <p:spPr>
          <a:xfrm>
            <a:off x="8174736" y="3977640"/>
            <a:ext cx="3557016" cy="1828800"/>
          </a:xfrm>
          <a:prstGeom prst="roundRect">
            <a:avLst>
              <a:gd name="adj" fmla="val 5000"/>
            </a:avLst>
          </a:prstGeom>
          <a:solidFill>
            <a:srgbClr val="F3F5F8"/>
          </a:solidFill>
          <a:ln w="12700">
            <a:solidFill>
              <a:srgbClr val="F3F5F8"/>
            </a:solidFill>
            <a:prstDash val="solid"/>
          </a:ln>
        </p:spPr>
        <p:txBody>
          <a:bodyPr/>
          <a:p/>
        </p:txBody>
      </p:sp>
      <p:sp>
        <p:nvSpPr>
          <p:cNvPr id="25" name="Text 23"/>
          <p:cNvSpPr txBox="1"/>
          <p:nvPr/>
        </p:nvSpPr>
        <p:spPr>
          <a:xfrm>
            <a:off x="8366760" y="4123944"/>
            <a:ext cx="3191256" cy="292608"/>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Cinq décisions possibles à l’issue d’une revue</a:t>
            </a:r>
          </a:p>
        </p:txBody>
      </p:sp>
      <p:sp>
        <p:nvSpPr>
          <p:cNvPr id="26" name="Text 24"/>
          <p:cNvSpPr txBox="1"/>
          <p:nvPr/>
        </p:nvSpPr>
        <p:spPr>
          <a:xfrm>
            <a:off x="8366760" y="4471416"/>
            <a:ext cx="3191256" cy="1298448"/>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APPROUVÉ : le projet passe à l’étape suivante.</a:t>
            </a:r>
          </a:p>
          <a:p>
            <a:pPr indent="0" marL="0">
              <a:lnSpc>
                <a:spcPct val="105000"/>
              </a:lnSpc>
              <a:buNone/>
            </a:pPr>
            <a:r>
              <a:rPr lang="en-US" sz="800" dirty="0">
                <a:solidFill>
                  <a:srgbClr val="252A3D"/>
                </a:solidFill>
                <a:latin typeface="Arial" pitchFamily="34" charset="0"/>
                <a:ea typeface="Arial" pitchFamily="34" charset="-122"/>
                <a:cs typeface="Arial" pitchFamily="34" charset="-120"/>
              </a:rPr>
              <a:t>APPROUVÉ SOUS CONDITIONS : il continue, à condition de réaliser les corrections demandées.</a:t>
            </a:r>
          </a:p>
          <a:p>
            <a:pPr indent="0" marL="0">
              <a:lnSpc>
                <a:spcPct val="105000"/>
              </a:lnSpc>
              <a:buNone/>
            </a:pPr>
            <a:r>
              <a:rPr lang="en-US" sz="800" dirty="0">
                <a:solidFill>
                  <a:srgbClr val="252A3D"/>
                </a:solidFill>
                <a:latin typeface="Arial" pitchFamily="34" charset="0"/>
                <a:ea typeface="Arial" pitchFamily="34" charset="-122"/>
                <a:cs typeface="Arial" pitchFamily="34" charset="-120"/>
              </a:rPr>
              <a:t>À CORRIGER : la proposition doit être modifiée puis soumise de nouveau pour une revue.</a:t>
            </a:r>
          </a:p>
          <a:p>
            <a:pPr indent="0" marL="0">
              <a:lnSpc>
                <a:spcPct val="105000"/>
              </a:lnSpc>
              <a:buNone/>
            </a:pPr>
            <a:r>
              <a:rPr lang="en-US" sz="800" dirty="0">
                <a:solidFill>
                  <a:srgbClr val="252A3D"/>
                </a:solidFill>
                <a:latin typeface="Arial" pitchFamily="34" charset="0"/>
                <a:ea typeface="Arial" pitchFamily="34" charset="-122"/>
                <a:cs typeface="Arial" pitchFamily="34" charset="-120"/>
              </a:rPr>
              <a:t>EN ATTENTE : la revue ne peut pas être conclue tant qu’un prérequis obligatoire manque.</a:t>
            </a:r>
          </a:p>
          <a:p>
            <a:pPr indent="0" marL="0">
              <a:lnSpc>
                <a:spcPct val="105000"/>
              </a:lnSpc>
              <a:buNone/>
            </a:pPr>
            <a:r>
              <a:rPr lang="en-US" sz="800" dirty="0">
                <a:solidFill>
                  <a:srgbClr val="252A3D"/>
                </a:solidFill>
                <a:latin typeface="Arial" pitchFamily="34" charset="0"/>
                <a:ea typeface="Arial" pitchFamily="34" charset="-122"/>
                <a:cs typeface="Arial" pitchFamily="34" charset="-120"/>
              </a:rPr>
              <a:t>REFUSÉ : La revue est non conforme aux attentes.</a:t>
            </a:r>
          </a:p>
        </p:txBody>
      </p:sp>
      <p:sp>
        <p:nvSpPr>
          <p:cNvPr id="27" name="Shape 25"/>
          <p:cNvSpPr/>
          <p:nvPr/>
        </p:nvSpPr>
        <p:spPr>
          <a:xfrm>
            <a:off x="457200" y="6035040"/>
            <a:ext cx="11274552" cy="457200"/>
          </a:xfrm>
          <a:prstGeom prst="roundRect">
            <a:avLst>
              <a:gd name="adj" fmla="val 20000"/>
            </a:avLst>
          </a:prstGeom>
          <a:solidFill>
            <a:srgbClr val="F5F7FA"/>
          </a:solidFill>
          <a:ln w="12700">
            <a:solidFill>
              <a:srgbClr val="F5F7FA"/>
            </a:solidFill>
            <a:prstDash val="solid"/>
          </a:ln>
        </p:spPr>
        <p:txBody>
          <a:bodyPr/>
          <a:p/>
        </p:txBody>
      </p:sp>
      <p:sp>
        <p:nvSpPr>
          <p:cNvPr id="28" name="Text 26"/>
          <p:cNvSpPr txBox="1"/>
          <p:nvPr/>
        </p:nvSpPr>
        <p:spPr>
          <a:xfrm>
            <a:off x="658368" y="6035040"/>
            <a:ext cx="10872216" cy="457200"/>
          </a:xfrm>
          <a:prstGeom prst="rect">
            <a:avLst/>
          </a:prstGeom>
          <a:noFill/>
          <a:ln/>
        </p:spPr>
        <p:txBody>
          <a:bodyPr wrap="square" lIns="0" tIns="0" rIns="0" bIns="0" rtlCol="0" anchor="ctr"/>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Source citée : </a:t>
            </a:r>
            <a:r>
              <a:rPr lang="en-US" sz="1050" dirty="0">
                <a:solidFill>
                  <a:srgbClr val="252A3D"/>
                </a:solidFill>
                <a:latin typeface="Arial" pitchFamily="34" charset="0"/>
                <a:ea typeface="Arial" pitchFamily="34" charset="-122"/>
                <a:cs typeface="Arial" pitchFamily="34" charset="-120"/>
              </a:rPr>
              <a:t>élément du dossier consulté qui appuie le problème identifié.</a:t>
            </a:r>
          </a:p>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Périmètre de décision autorisé : </a:t>
            </a:r>
            <a:r>
              <a:rPr lang="en-US" sz="1050" dirty="0">
                <a:solidFill>
                  <a:srgbClr val="252A3D"/>
                </a:solidFill>
                <a:latin typeface="Arial" pitchFamily="34" charset="0"/>
                <a:ea typeface="Arial" pitchFamily="34" charset="-122"/>
                <a:cs typeface="Arial" pitchFamily="34" charset="-120"/>
              </a:rPr>
              <a:t>décisions que l’évaluateur est autorisé à rendre sans nouvelle approbation.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FORWARD DEPLOYED ENGINEER · RÔLE ET RESPONSABILITÉS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Forward Deployed Engineer (FDE) : rôle et responsabilités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Un ingénieur intégré aux équipes du client pour transformer un prototype d’IA en solution utilisée en production.</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FORWARD DEPLOYED ENGINEER</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04 / 30</a:t>
            </a:r>
            <a:endParaRPr lang="en-US" sz="1000" dirty="0"/>
          </a:p>
        </p:txBody>
      </p:sp>
      <p:sp>
        <p:nvSpPr>
          <p:cNvPr id="9" name="Shape 7"/>
          <p:cNvSpPr/>
          <p:nvPr/>
        </p:nvSpPr>
        <p:spPr>
          <a:xfrm>
            <a:off x="457200" y="1965960"/>
            <a:ext cx="5120640" cy="3611880"/>
          </a:xfrm>
          <a:prstGeom prst="roundRect">
            <a:avLst>
              <a:gd name="adj" fmla="val 2532"/>
            </a:avLst>
          </a:prstGeom>
          <a:solidFill>
            <a:srgbClr val="DDF5FC"/>
          </a:solidFill>
          <a:ln w="12700">
            <a:solidFill>
              <a:srgbClr val="DDF5FC"/>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5138928" y="2066544"/>
            <a:ext cx="292608" cy="292608"/>
          </a:xfrm>
          <a:prstGeom prst="rect">
            <a:avLst/>
          </a:prstGeom>
        </p:spPr>
      </p:pic>
      <p:sp>
        <p:nvSpPr>
          <p:cNvPr id="11" name="Text 8"/>
          <p:cNvSpPr txBox="1"/>
          <p:nvPr/>
        </p:nvSpPr>
        <p:spPr>
          <a:xfrm>
            <a:off x="640080" y="2103120"/>
            <a:ext cx="42976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B6E93"/>
                </a:solidFill>
                <a:latin typeface="Arial" pitchFamily="34" charset="0"/>
                <a:ea typeface="Arial" pitchFamily="34" charset="-122"/>
                <a:cs typeface="Arial" pitchFamily="34" charset="-120"/>
              </a:rPr>
              <a:t>LA DÉFINITION</a:t>
            </a:r>
            <a:endParaRPr lang="en-US" sz="950" dirty="0"/>
          </a:p>
        </p:txBody>
      </p:sp>
      <p:sp>
        <p:nvSpPr>
          <p:cNvPr id="12" name="Text 9"/>
          <p:cNvSpPr txBox="1"/>
          <p:nvPr/>
        </p:nvSpPr>
        <p:spPr>
          <a:xfrm>
            <a:off x="640080" y="2468880"/>
            <a:ext cx="4754880" cy="306324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Un FDE travaille chez le client, avec ses équipes.</a:t>
            </a:r>
          </a:p>
          <a:p>
            <a:pPr indent="0" marL="0">
              <a:lnSpc>
                <a:spcPct val="105000"/>
              </a:lnSpc>
              <a:buNone/>
            </a:pPr>
            <a:r>
              <a:rPr lang="en-US" sz="800" i="1" dirty="0">
                <a:solidFill>
                  <a:srgbClr val="5B6575"/>
                </a:solidFill>
                <a:latin typeface="Arial" pitchFamily="34" charset="0"/>
                <a:ea typeface="Arial" pitchFamily="34" charset="-122"/>
                <a:cs typeface="Arial" pitchFamily="34" charset="-120"/>
              </a:rPr>
              <a:t>Il comprend le métier, développe la solution, l’intègre aux outils existants et la met en production.</a:t>
            </a:r>
          </a:p>
          <a:p>
            <a:pPr indent="0" marL="0">
              <a:lnSpc>
                <a:spcPct val="105000"/>
              </a:lnSpc>
              <a:buNone/>
            </a:pPr>
            <a:r>
              <a:rPr lang="en-US" sz="500" dirty="0">
                <a:solidFill>
                  <a:srgbClr val="252A3D"/>
                </a:solidFill>
                <a:latin typeface="Arial" pitchFamily="34" charset="0"/>
                <a:ea typeface="Arial" pitchFamily="34" charset="-122"/>
                <a:cs typeface="Arial" pitchFamily="34" charset="-120"/>
              </a:rPr>
              <a:t>Palantir a popularisé ce rôle.</a:t>
            </a:r>
          </a:p>
          <a:p>
            <a:pPr indent="0" marL="0">
              <a:lnSpc>
                <a:spcPct val="105000"/>
              </a:lnSpc>
              <a:buNone/>
            </a:pPr>
            <a:r>
              <a:rPr lang="en-US" sz="920" dirty="0">
                <a:solidFill>
                  <a:srgbClr val="252A3D"/>
                </a:solidFill>
                <a:latin typeface="Arial" pitchFamily="34" charset="0"/>
                <a:ea typeface="Arial" pitchFamily="34" charset="-122"/>
                <a:cs typeface="Arial" pitchFamily="34" charset="-120"/>
              </a:rPr>
              <a:t>OpenAI a également créé des équipes de FDE pour déployer des solutions d’IA et automatiser des processus chez ses clients.</a:t>
            </a:r>
          </a:p>
        </p:txBody>
      </p:sp>
      <p:sp>
        <p:nvSpPr>
          <p:cNvPr id="13" name="Shape 10"/>
          <p:cNvSpPr/>
          <p:nvPr/>
        </p:nvSpPr>
        <p:spPr>
          <a:xfrm>
            <a:off x="5760720" y="1965960"/>
            <a:ext cx="5971032" cy="3611880"/>
          </a:xfrm>
          <a:prstGeom prst="roundRect">
            <a:avLst>
              <a:gd name="adj" fmla="val 2532"/>
            </a:avLst>
          </a:prstGeom>
          <a:solidFill>
            <a:srgbClr val="FFF5BF"/>
          </a:solidFill>
          <a:ln w="12700">
            <a:solidFill>
              <a:srgbClr val="FFF5BF"/>
            </a:solidFill>
            <a:prstDash val="solid"/>
          </a:ln>
        </p:spPr>
        <p:txBody>
          <a:bodyPr/>
          <a:p/>
        </p:txBody>
      </p:sp>
      <p:sp>
        <p:nvSpPr>
          <p:cNvPr id="14" name="Text 11"/>
          <p:cNvSpPr txBox="1"/>
          <p:nvPr/>
        </p:nvSpPr>
        <p:spPr>
          <a:xfrm>
            <a:off x="5943600" y="2103120"/>
            <a:ext cx="548640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8A6D00"/>
                </a:solidFill>
                <a:latin typeface="Arial" pitchFamily="34" charset="0"/>
                <a:ea typeface="Arial" pitchFamily="34" charset="-122"/>
                <a:cs typeface="Arial" pitchFamily="34" charset="-120"/>
              </a:rPr>
              <a:t>CE QU'ILS FONT AU QUOTIDIEN</a:t>
            </a:r>
            <a:endParaRPr lang="en-US" sz="950" dirty="0"/>
          </a:p>
        </p:txBody>
      </p:sp>
      <p:sp>
        <p:nvSpPr>
          <p:cNvPr id="15" name="Shape 12"/>
          <p:cNvSpPr/>
          <p:nvPr/>
        </p:nvSpPr>
        <p:spPr>
          <a:xfrm>
            <a:off x="5943600" y="2468880"/>
            <a:ext cx="384048" cy="274320"/>
          </a:xfrm>
          <a:prstGeom prst="roundRect">
            <a:avLst>
              <a:gd name="adj" fmla="val 16667"/>
            </a:avLst>
          </a:prstGeom>
          <a:solidFill>
            <a:srgbClr val="FFFFFF"/>
          </a:solidFill>
          <a:ln w="12700">
            <a:solidFill>
              <a:srgbClr val="FFFFFF"/>
            </a:solidFill>
            <a:prstDash val="solid"/>
          </a:ln>
        </p:spPr>
        <p:txBody>
          <a:bodyPr/>
          <a:p/>
        </p:txBody>
      </p:sp>
      <p:sp>
        <p:nvSpPr>
          <p:cNvPr id="16" name="Text 13"/>
          <p:cNvSpPr txBox="1"/>
          <p:nvPr/>
        </p:nvSpPr>
        <p:spPr>
          <a:xfrm>
            <a:off x="5943600" y="246888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7" name="Text 14"/>
          <p:cNvSpPr txBox="1"/>
          <p:nvPr/>
        </p:nvSpPr>
        <p:spPr>
          <a:xfrm>
            <a:off x="6446520" y="2395728"/>
            <a:ext cx="5120640" cy="585216"/>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S’intégrer aux équipes du client. </a:t>
            </a:r>
            <a:r>
              <a:rPr lang="en-US" sz="900" dirty="0">
                <a:solidFill>
                  <a:srgbClr val="252A3D"/>
                </a:solidFill>
                <a:latin typeface="Arial" pitchFamily="34" charset="0"/>
                <a:ea typeface="Arial" pitchFamily="34" charset="-122"/>
                <a:cs typeface="Arial" pitchFamily="34" charset="-120"/>
              </a:rPr>
              <a:t>Comprendre le travail réel, pas seulement le cahier des charges.</a:t>
            </a:r>
          </a:p>
        </p:txBody>
      </p:sp>
      <p:sp>
        <p:nvSpPr>
          <p:cNvPr id="18" name="Shape 15"/>
          <p:cNvSpPr/>
          <p:nvPr/>
        </p:nvSpPr>
        <p:spPr>
          <a:xfrm>
            <a:off x="5943600" y="3072384"/>
            <a:ext cx="384048" cy="274320"/>
          </a:xfrm>
          <a:prstGeom prst="roundRect">
            <a:avLst>
              <a:gd name="adj" fmla="val 16667"/>
            </a:avLst>
          </a:prstGeom>
          <a:solidFill>
            <a:srgbClr val="FFFFFF"/>
          </a:solidFill>
          <a:ln w="12700">
            <a:solidFill>
              <a:srgbClr val="FFFFFF"/>
            </a:solidFill>
            <a:prstDash val="solid"/>
          </a:ln>
        </p:spPr>
        <p:txBody>
          <a:bodyPr/>
          <a:p/>
        </p:txBody>
      </p:sp>
      <p:sp>
        <p:nvSpPr>
          <p:cNvPr id="19" name="Text 16"/>
          <p:cNvSpPr txBox="1"/>
          <p:nvPr/>
        </p:nvSpPr>
        <p:spPr>
          <a:xfrm>
            <a:off x="5943600" y="3072384"/>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20" name="Text 17"/>
          <p:cNvSpPr txBox="1"/>
          <p:nvPr/>
        </p:nvSpPr>
        <p:spPr>
          <a:xfrm>
            <a:off x="6446520" y="2999232"/>
            <a:ext cx="5120640" cy="585216"/>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Construire une solution pour ce client. </a:t>
            </a:r>
            <a:r>
              <a:rPr lang="en-US" sz="900" dirty="0">
                <a:solidFill>
                  <a:srgbClr val="252A3D"/>
                </a:solidFill>
                <a:latin typeface="Arial" pitchFamily="34" charset="0"/>
                <a:ea typeface="Arial" pitchFamily="34" charset="-122"/>
                <a:cs typeface="Arial" pitchFamily="34" charset="-120"/>
              </a:rPr>
              <a:t>Connecter des agents IA aux applications, aux données, aux systèmes d’identité et aux sources de référence du client.</a:t>
            </a:r>
          </a:p>
        </p:txBody>
      </p:sp>
      <p:sp>
        <p:nvSpPr>
          <p:cNvPr id="21" name="Shape 18"/>
          <p:cNvSpPr/>
          <p:nvPr/>
        </p:nvSpPr>
        <p:spPr>
          <a:xfrm>
            <a:off x="5943600" y="3675888"/>
            <a:ext cx="384048" cy="274320"/>
          </a:xfrm>
          <a:prstGeom prst="roundRect">
            <a:avLst>
              <a:gd name="adj" fmla="val 16667"/>
            </a:avLst>
          </a:prstGeom>
          <a:solidFill>
            <a:srgbClr val="FFFFFF"/>
          </a:solidFill>
          <a:ln w="12700">
            <a:solidFill>
              <a:srgbClr val="FFFFFF"/>
            </a:solidFill>
            <a:prstDash val="solid"/>
          </a:ln>
        </p:spPr>
        <p:txBody>
          <a:bodyPr/>
          <a:p/>
        </p:txBody>
      </p:sp>
      <p:sp>
        <p:nvSpPr>
          <p:cNvPr id="22" name="Text 19"/>
          <p:cNvSpPr txBox="1"/>
          <p:nvPr/>
        </p:nvSpPr>
        <p:spPr>
          <a:xfrm>
            <a:off x="5943600" y="367588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3" name="Text 20"/>
          <p:cNvSpPr txBox="1"/>
          <p:nvPr/>
        </p:nvSpPr>
        <p:spPr>
          <a:xfrm>
            <a:off x="6446520" y="3602736"/>
            <a:ext cx="5120640" cy="585216"/>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Définir les besoins initiaux jusqu’à la mise en service : </a:t>
            </a:r>
            <a:r>
              <a:rPr lang="en-US" sz="900" dirty="0">
                <a:solidFill>
                  <a:srgbClr val="252A3D"/>
                </a:solidFill>
                <a:latin typeface="Arial" pitchFamily="34" charset="0"/>
                <a:ea typeface="Arial" pitchFamily="34" charset="-122"/>
                <a:cs typeface="Arial" pitchFamily="34" charset="-120"/>
              </a:rPr>
              <a:t>comprendre les besoins, choisir une solution et la déployer.</a:t>
            </a:r>
          </a:p>
        </p:txBody>
      </p:sp>
      <p:sp>
        <p:nvSpPr>
          <p:cNvPr id="24" name="Shape 21"/>
          <p:cNvSpPr/>
          <p:nvPr/>
        </p:nvSpPr>
        <p:spPr>
          <a:xfrm>
            <a:off x="5943600" y="4279392"/>
            <a:ext cx="384048" cy="274320"/>
          </a:xfrm>
          <a:prstGeom prst="roundRect">
            <a:avLst>
              <a:gd name="adj" fmla="val 16667"/>
            </a:avLst>
          </a:prstGeom>
          <a:solidFill>
            <a:srgbClr val="FFFFFF"/>
          </a:solidFill>
          <a:ln w="12700">
            <a:solidFill>
              <a:srgbClr val="FFFFFF"/>
            </a:solidFill>
            <a:prstDash val="solid"/>
          </a:ln>
        </p:spPr>
        <p:txBody>
          <a:bodyPr/>
          <a:p/>
        </p:txBody>
      </p:sp>
      <p:sp>
        <p:nvSpPr>
          <p:cNvPr id="25" name="Text 22"/>
          <p:cNvSpPr txBox="1"/>
          <p:nvPr/>
        </p:nvSpPr>
        <p:spPr>
          <a:xfrm>
            <a:off x="5943600" y="427939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4</a:t>
            </a:r>
            <a:endParaRPr lang="en-US" sz="1000" dirty="0"/>
          </a:p>
        </p:txBody>
      </p:sp>
      <p:sp>
        <p:nvSpPr>
          <p:cNvPr id="26" name="Text 23"/>
          <p:cNvSpPr txBox="1"/>
          <p:nvPr/>
        </p:nvSpPr>
        <p:spPr>
          <a:xfrm>
            <a:off x="6446520" y="4206240"/>
            <a:ext cx="5120640" cy="585216"/>
          </a:xfrm>
          <a:prstGeom prst="rect">
            <a:avLst/>
          </a:prstGeom>
          <a:noFill/>
          <a:ln/>
        </p:spPr>
        <p:txBody>
          <a:bodyPr wrap="square" lIns="0" tIns="0" rIns="0" bIns="0" rtlCol="0" anchor="ctr"/>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Monitorer les solutions d'IA implémentées Corriger les problèmes rencontrés en production et adapter les solution au cas d'usages.</a:t>
            </a:r>
          </a:p>
        </p:txBody>
      </p:sp>
      <p:sp>
        <p:nvSpPr>
          <p:cNvPr id="27" name="Shape 24"/>
          <p:cNvSpPr/>
          <p:nvPr/>
        </p:nvSpPr>
        <p:spPr>
          <a:xfrm>
            <a:off x="5943600" y="4882896"/>
            <a:ext cx="384048" cy="274320"/>
          </a:xfrm>
          <a:prstGeom prst="roundRect">
            <a:avLst>
              <a:gd name="adj" fmla="val 16667"/>
            </a:avLst>
          </a:prstGeom>
          <a:solidFill>
            <a:srgbClr val="FFFFFF"/>
          </a:solidFill>
          <a:ln w="12700">
            <a:solidFill>
              <a:srgbClr val="FFFFFF"/>
            </a:solidFill>
            <a:prstDash val="solid"/>
          </a:ln>
        </p:spPr>
        <p:txBody>
          <a:bodyPr/>
          <a:p/>
        </p:txBody>
      </p:sp>
      <p:sp>
        <p:nvSpPr>
          <p:cNvPr id="28" name="Text 25"/>
          <p:cNvSpPr txBox="1"/>
          <p:nvPr/>
        </p:nvSpPr>
        <p:spPr>
          <a:xfrm>
            <a:off x="5943600" y="4882896"/>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5</a:t>
            </a:r>
            <a:endParaRPr lang="en-US" sz="1000" dirty="0"/>
          </a:p>
        </p:txBody>
      </p:sp>
      <p:sp>
        <p:nvSpPr>
          <p:cNvPr id="29" name="Text 26"/>
          <p:cNvSpPr txBox="1"/>
          <p:nvPr/>
        </p:nvSpPr>
        <p:spPr>
          <a:xfrm>
            <a:off x="6446520" y="4809744"/>
            <a:ext cx="5120640" cy="585216"/>
          </a:xfrm>
          <a:prstGeom prst="rect">
            <a:avLst/>
          </a:prstGeom>
          <a:noFill/>
          <a:ln/>
        </p:spPr>
        <p:txBody>
          <a:bodyPr wrap="square" lIns="0" tIns="0" rIns="0" bIns="0" rtlCol="0" anchor="ctr"/>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Réutiliser ce qui a été appris chez un client pour améliorer les solutions proposée aux clients suivants.</a:t>
            </a:r>
          </a:p>
        </p:txBody>
      </p:sp>
      <p:sp>
        <p:nvSpPr>
          <p:cNvPr id="30" name="Text 27"/>
          <p:cNvSpPr txBox="1"/>
          <p:nvPr/>
        </p:nvSpPr>
        <p:spPr>
          <a:xfrm>
            <a:off x="5943600" y="5376672"/>
            <a:ext cx="5623560" cy="223113"/>
          </a:xfrm>
          <a:prstGeom prst="rect">
            <a:avLst/>
          </a:prstGeom>
          <a:noFill/>
          <a:ln/>
        </p:spPr>
        <p:txBody>
          <a:bodyPr wrap="square" lIns="0" tIns="0" rIns="0" bIns="0" rtlCol="0" anchor="t"/>
          <a:lstStyle/>
          <a:p>
            <a:pPr indent="0" marL="0">
              <a:lnSpc>
                <a:spcPct val="105000"/>
              </a:lnSpc>
              <a:buNone/>
            </a:pPr>
            <a:r>
              <a:rPr lang="en-US" sz="640" i="1" dirty="0">
                <a:solidFill>
                  <a:srgbClr val="5B6575"/>
                </a:solidFill>
                <a:latin typeface="Arial" pitchFamily="34" charset="0"/>
                <a:ea typeface="Arial" pitchFamily="34" charset="-122"/>
                <a:cs typeface="Arial" pitchFamily="34" charset="-120"/>
              </a:rPr>
              <a:t>Sources : DataCamp, « What is a Forward Deployed Engineer? » (2026) ; Aced / Exponent, entretien avec un ancien FDE de Palantir (2026) ; The New Stack (2026).</a:t>
            </a:r>
            <a:endParaRPr lang="en-US" sz="750" dirty="0"/>
          </a:p>
        </p:txBody>
      </p:sp>
      <p:sp>
        <p:nvSpPr>
          <p:cNvPr id="31" name="Shape 28"/>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32" name="Image 1"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33" name="Text 29"/>
          <p:cNvSpPr txBox="1"/>
          <p:nvPr/>
        </p:nvSpPr>
        <p:spPr>
          <a:xfrm>
            <a:off x="1051560" y="5791809"/>
            <a:ext cx="10469880" cy="663854"/>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Dans cet article, FDE désigne un rôle général : </a:t>
            </a:r>
            <a:r>
              <a:rPr lang="en-US" sz="1150" dirty="0">
                <a:solidFill>
                  <a:srgbClr val="252A3D"/>
                </a:solidFill>
                <a:latin typeface="Arial" pitchFamily="34" charset="0"/>
                <a:ea typeface="Arial" pitchFamily="34" charset="-122"/>
                <a:cs typeface="Arial" pitchFamily="34" charset="-120"/>
              </a:rPr>
              <a:t>il peut travailler sur de nombreux processus IA, pas seulement sur le DGF. L’article propose l’hypothèse que le DGF pourrait être l’un des premiers processus adaptés à ce type d’automatisation par des FDE.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DIGITAL GOVERNANCE FRAMEWORK (DGF) · DE QUOI PARLE-T-ON ?</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Le DGF : les revues qu’un projet doit passer</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50" dirty="0">
                <a:solidFill>
                  <a:srgbClr val="5B6575"/>
                </a:solidFill>
                <a:latin typeface="Arial" pitchFamily="34" charset="0"/>
                <a:ea typeface="Arial" pitchFamily="34" charset="-122"/>
                <a:cs typeface="Arial" pitchFamily="34" charset="-120"/>
              </a:rPr>
              <a:t>Trois parcours : achat, intégration, développement. Aujourd’hui, chaque revue est réalisée par un spécialiste humain.</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DIGITAL GOVERNANCE FRAMEWORK</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05 / 30</a:t>
            </a:r>
            <a:endParaRPr lang="en-US" sz="1000" dirty="0"/>
          </a:p>
        </p:txBody>
      </p:sp>
      <p:sp>
        <p:nvSpPr>
          <p:cNvPr id="9" name="Shape 7"/>
          <p:cNvSpPr/>
          <p:nvPr/>
        </p:nvSpPr>
        <p:spPr>
          <a:xfrm>
            <a:off x="457200" y="1965960"/>
            <a:ext cx="2148840" cy="868680"/>
          </a:xfrm>
          <a:prstGeom prst="roundRect">
            <a:avLst>
              <a:gd name="adj" fmla="val 10526"/>
            </a:avLst>
          </a:prstGeom>
          <a:solidFill>
            <a:srgbClr val="FFFFFF"/>
          </a:solidFill>
          <a:ln w="12700">
            <a:solidFill>
              <a:srgbClr val="D4DAE3"/>
            </a:solidFill>
            <a:prstDash val="solid"/>
          </a:ln>
        </p:spPr>
        <p:txBody>
          <a:bodyPr/>
          <a:p/>
        </p:txBody>
      </p:sp>
      <p:sp>
        <p:nvSpPr>
          <p:cNvPr id="10" name="Text 8"/>
          <p:cNvSpPr txBox="1"/>
          <p:nvPr/>
        </p:nvSpPr>
        <p:spPr>
          <a:xfrm>
            <a:off x="640080" y="2103120"/>
            <a:ext cx="1874520" cy="274320"/>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ACHAT (Buy)</a:t>
            </a:r>
            <a:endParaRPr lang="en-US" sz="1050" dirty="0"/>
          </a:p>
        </p:txBody>
      </p:sp>
      <p:sp>
        <p:nvSpPr>
          <p:cNvPr id="11" name="Text 9"/>
          <p:cNvSpPr txBox="1"/>
          <p:nvPr/>
        </p:nvSpPr>
        <p:spPr>
          <a:xfrm>
            <a:off x="640080" y="2395728"/>
            <a:ext cx="1828800" cy="256032"/>
          </a:xfrm>
          <a:prstGeom prst="rect">
            <a:avLst/>
          </a:prstGeom>
          <a:noFill/>
          <a:ln/>
        </p:spPr>
        <p:txBody>
          <a:bodyPr wrap="square" lIns="0" tIns="0" rIns="0" bIns="0" rtlCol="0" anchor="t"/>
          <a:lstStyle/>
          <a:p>
            <a:pPr indent="0" marL="0">
              <a:lnSpc>
                <a:spcPct val="105000"/>
              </a:lnSpc>
              <a:buNone/>
            </a:pPr>
            <a:r>
              <a:rPr lang="en-US" sz="980" dirty="0">
                <a:solidFill>
                  <a:srgbClr val="5B6575"/>
                </a:solidFill>
                <a:latin typeface="Arial" pitchFamily="34" charset="0"/>
                <a:ea typeface="Arial" pitchFamily="34" charset="-122"/>
                <a:cs typeface="Arial" pitchFamily="34" charset="-120"/>
              </a:rPr>
              <a:t>Acquérir une solution</a:t>
            </a:r>
            <a:endParaRPr lang="en-US" sz="980" dirty="0"/>
          </a:p>
        </p:txBody>
      </p:sp>
      <p:sp>
        <p:nvSpPr>
          <p:cNvPr id="12" name="Text 10"/>
          <p:cNvSpPr txBox="1"/>
          <p:nvPr/>
        </p:nvSpPr>
        <p:spPr>
          <a:xfrm>
            <a:off x="640080" y="2624328"/>
            <a:ext cx="1828800" cy="182880"/>
          </a:xfrm>
          <a:prstGeom prst="rect">
            <a:avLst/>
          </a:prstGeom>
          <a:noFill/>
          <a:ln/>
        </p:spPr>
        <p:txBody>
          <a:bodyPr wrap="square" lIns="0" tIns="0" rIns="0" bIns="0" rtlCol="0" anchor="t"/>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6 étapes</a:t>
            </a:r>
            <a:endParaRPr lang="en-US" sz="850" dirty="0"/>
          </a:p>
        </p:txBody>
      </p:sp>
      <p:sp>
        <p:nvSpPr>
          <p:cNvPr id="13" name="Shape 11"/>
          <p:cNvSpPr/>
          <p:nvPr/>
        </p:nvSpPr>
        <p:spPr>
          <a:xfrm>
            <a:off x="2880360" y="2098548"/>
            <a:ext cx="1325880" cy="603504"/>
          </a:xfrm>
          <a:prstGeom prst="roundRect">
            <a:avLst>
              <a:gd name="adj" fmla="val 12121"/>
            </a:avLst>
          </a:prstGeom>
          <a:solidFill>
            <a:srgbClr val="FFF5BF"/>
          </a:solidFill>
          <a:ln w="12700">
            <a:solidFill>
              <a:srgbClr val="FFF5BF"/>
            </a:solidFill>
            <a:prstDash val="solid"/>
          </a:ln>
        </p:spPr>
        <p:txBody>
          <a:bodyPr/>
          <a:p/>
        </p:txBody>
      </p:sp>
      <p:sp>
        <p:nvSpPr>
          <p:cNvPr id="14" name="Text 12"/>
          <p:cNvSpPr txBox="1"/>
          <p:nvPr/>
        </p:nvSpPr>
        <p:spPr>
          <a:xfrm>
            <a:off x="2926080" y="2098548"/>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Achats</a:t>
            </a:r>
            <a:endParaRPr lang="en-US" sz="900" dirty="0"/>
          </a:p>
        </p:txBody>
      </p:sp>
      <p:sp>
        <p:nvSpPr>
          <p:cNvPr id="15" name="Shape 13"/>
          <p:cNvSpPr/>
          <p:nvPr/>
        </p:nvSpPr>
        <p:spPr>
          <a:xfrm>
            <a:off x="4233672" y="2400300"/>
            <a:ext cx="128016" cy="0"/>
          </a:xfrm>
          <a:prstGeom prst="line">
            <a:avLst/>
          </a:prstGeom>
          <a:noFill/>
          <a:ln w="15875">
            <a:solidFill>
              <a:srgbClr val="5B6575"/>
            </a:solidFill>
            <a:prstDash val="solid"/>
            <a:tailEnd type="triangle"/>
          </a:ln>
        </p:spPr>
        <p:txBody>
          <a:bodyPr/>
          <a:p/>
        </p:txBody>
      </p:sp>
      <p:sp>
        <p:nvSpPr>
          <p:cNvPr id="16" name="Shape 14"/>
          <p:cNvSpPr/>
          <p:nvPr/>
        </p:nvSpPr>
        <p:spPr>
          <a:xfrm>
            <a:off x="4389120" y="2098548"/>
            <a:ext cx="1325880" cy="603504"/>
          </a:xfrm>
          <a:prstGeom prst="roundRect">
            <a:avLst>
              <a:gd name="adj" fmla="val 12121"/>
            </a:avLst>
          </a:prstGeom>
          <a:solidFill>
            <a:srgbClr val="EFE8FA"/>
          </a:solidFill>
          <a:ln w="12700">
            <a:solidFill>
              <a:srgbClr val="EFE8FA"/>
            </a:solidFill>
            <a:prstDash val="solid"/>
          </a:ln>
        </p:spPr>
        <p:txBody>
          <a:bodyPr/>
          <a:p/>
        </p:txBody>
      </p:sp>
      <p:sp>
        <p:nvSpPr>
          <p:cNvPr id="17" name="Text 15"/>
          <p:cNvSpPr txBox="1"/>
          <p:nvPr/>
        </p:nvSpPr>
        <p:spPr>
          <a:xfrm>
            <a:off x="4434840" y="2098548"/>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Juridique</a:t>
            </a:r>
            <a:endParaRPr lang="en-US" sz="900" dirty="0"/>
          </a:p>
        </p:txBody>
      </p:sp>
      <p:sp>
        <p:nvSpPr>
          <p:cNvPr id="18" name="Shape 16"/>
          <p:cNvSpPr/>
          <p:nvPr/>
        </p:nvSpPr>
        <p:spPr>
          <a:xfrm>
            <a:off x="5742432" y="2400300"/>
            <a:ext cx="128016" cy="0"/>
          </a:xfrm>
          <a:prstGeom prst="line">
            <a:avLst/>
          </a:prstGeom>
          <a:noFill/>
          <a:ln w="15875">
            <a:solidFill>
              <a:srgbClr val="5B6575"/>
            </a:solidFill>
            <a:prstDash val="solid"/>
            <a:tailEnd type="triangle"/>
          </a:ln>
        </p:spPr>
        <p:txBody>
          <a:bodyPr/>
          <a:p/>
        </p:txBody>
      </p:sp>
      <p:sp>
        <p:nvSpPr>
          <p:cNvPr id="19" name="Shape 17"/>
          <p:cNvSpPr/>
          <p:nvPr/>
        </p:nvSpPr>
        <p:spPr>
          <a:xfrm>
            <a:off x="5897880" y="2098548"/>
            <a:ext cx="1325880" cy="603504"/>
          </a:xfrm>
          <a:prstGeom prst="roundRect">
            <a:avLst>
              <a:gd name="adj" fmla="val 12121"/>
            </a:avLst>
          </a:prstGeom>
          <a:solidFill>
            <a:srgbClr val="E5F6E9"/>
          </a:solidFill>
          <a:ln w="12700">
            <a:solidFill>
              <a:srgbClr val="E5F6E9"/>
            </a:solidFill>
            <a:prstDash val="solid"/>
          </a:ln>
        </p:spPr>
        <p:txBody>
          <a:bodyPr/>
          <a:p/>
        </p:txBody>
      </p:sp>
      <p:sp>
        <p:nvSpPr>
          <p:cNvPr id="20" name="Text 18"/>
          <p:cNvSpPr txBox="1"/>
          <p:nvPr/>
        </p:nvSpPr>
        <p:spPr>
          <a:xfrm>
            <a:off x="5943600" y="2098548"/>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Conformité réglementaire</a:t>
            </a:r>
            <a:endParaRPr lang="en-US" sz="900" dirty="0"/>
          </a:p>
        </p:txBody>
      </p:sp>
      <p:sp>
        <p:nvSpPr>
          <p:cNvPr id="21" name="Shape 19"/>
          <p:cNvSpPr/>
          <p:nvPr/>
        </p:nvSpPr>
        <p:spPr>
          <a:xfrm>
            <a:off x="7251192" y="2400300"/>
            <a:ext cx="128016" cy="0"/>
          </a:xfrm>
          <a:prstGeom prst="line">
            <a:avLst/>
          </a:prstGeom>
          <a:noFill/>
          <a:ln w="15875">
            <a:solidFill>
              <a:srgbClr val="5B6575"/>
            </a:solidFill>
            <a:prstDash val="solid"/>
            <a:tailEnd type="triangle"/>
          </a:ln>
        </p:spPr>
        <p:txBody>
          <a:bodyPr/>
          <a:p/>
        </p:txBody>
      </p:sp>
      <p:sp>
        <p:nvSpPr>
          <p:cNvPr id="22" name="Shape 20"/>
          <p:cNvSpPr/>
          <p:nvPr/>
        </p:nvSpPr>
        <p:spPr>
          <a:xfrm>
            <a:off x="7406640" y="2098548"/>
            <a:ext cx="1325880" cy="603504"/>
          </a:xfrm>
          <a:prstGeom prst="roundRect">
            <a:avLst>
              <a:gd name="adj" fmla="val 12121"/>
            </a:avLst>
          </a:prstGeom>
          <a:solidFill>
            <a:srgbClr val="FFE4E6"/>
          </a:solidFill>
          <a:ln w="12700">
            <a:solidFill>
              <a:srgbClr val="FFE4E6"/>
            </a:solidFill>
            <a:prstDash val="solid"/>
          </a:ln>
        </p:spPr>
        <p:txBody>
          <a:bodyPr/>
          <a:p/>
        </p:txBody>
      </p:sp>
      <p:sp>
        <p:nvSpPr>
          <p:cNvPr id="23" name="Text 21"/>
          <p:cNvSpPr txBox="1"/>
          <p:nvPr/>
        </p:nvSpPr>
        <p:spPr>
          <a:xfrm>
            <a:off x="7452360" y="2098548"/>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Cybersécurité</a:t>
            </a:r>
            <a:endParaRPr lang="en-US" sz="900" dirty="0"/>
          </a:p>
        </p:txBody>
      </p:sp>
      <p:sp>
        <p:nvSpPr>
          <p:cNvPr id="24" name="Shape 22"/>
          <p:cNvSpPr/>
          <p:nvPr/>
        </p:nvSpPr>
        <p:spPr>
          <a:xfrm>
            <a:off x="8759952" y="2400300"/>
            <a:ext cx="128016" cy="0"/>
          </a:xfrm>
          <a:prstGeom prst="line">
            <a:avLst/>
          </a:prstGeom>
          <a:noFill/>
          <a:ln w="15875">
            <a:solidFill>
              <a:srgbClr val="5B6575"/>
            </a:solidFill>
            <a:prstDash val="solid"/>
            <a:tailEnd type="triangle"/>
          </a:ln>
        </p:spPr>
        <p:txBody>
          <a:bodyPr/>
          <a:p/>
        </p:txBody>
      </p:sp>
      <p:sp>
        <p:nvSpPr>
          <p:cNvPr id="25" name="Shape 23"/>
          <p:cNvSpPr/>
          <p:nvPr/>
        </p:nvSpPr>
        <p:spPr>
          <a:xfrm>
            <a:off x="8915400" y="2098548"/>
            <a:ext cx="1325880" cy="603504"/>
          </a:xfrm>
          <a:prstGeom prst="roundRect">
            <a:avLst>
              <a:gd name="adj" fmla="val 12121"/>
            </a:avLst>
          </a:prstGeom>
          <a:solidFill>
            <a:srgbClr val="DDF5FC"/>
          </a:solidFill>
          <a:ln w="12700">
            <a:solidFill>
              <a:srgbClr val="DDF5FC"/>
            </a:solidFill>
            <a:prstDash val="solid"/>
          </a:ln>
        </p:spPr>
        <p:txBody>
          <a:bodyPr/>
          <a:p/>
        </p:txBody>
      </p:sp>
      <p:sp>
        <p:nvSpPr>
          <p:cNvPr id="26" name="Text 24"/>
          <p:cNvSpPr txBox="1"/>
          <p:nvPr/>
        </p:nvSpPr>
        <p:spPr>
          <a:xfrm>
            <a:off x="8961120" y="2098548"/>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Standardisation technologique</a:t>
            </a:r>
            <a:endParaRPr lang="en-US" sz="900" dirty="0"/>
          </a:p>
        </p:txBody>
      </p:sp>
      <p:sp>
        <p:nvSpPr>
          <p:cNvPr id="27" name="Shape 25"/>
          <p:cNvSpPr/>
          <p:nvPr/>
        </p:nvSpPr>
        <p:spPr>
          <a:xfrm>
            <a:off x="10268712" y="2400300"/>
            <a:ext cx="128016" cy="0"/>
          </a:xfrm>
          <a:prstGeom prst="line">
            <a:avLst/>
          </a:prstGeom>
          <a:noFill/>
          <a:ln w="15875">
            <a:solidFill>
              <a:srgbClr val="5B6575"/>
            </a:solidFill>
            <a:prstDash val="solid"/>
            <a:tailEnd type="triangle"/>
          </a:ln>
        </p:spPr>
        <p:txBody>
          <a:bodyPr/>
          <a:p/>
        </p:txBody>
      </p:sp>
      <p:sp>
        <p:nvSpPr>
          <p:cNvPr id="28" name="Shape 26"/>
          <p:cNvSpPr/>
          <p:nvPr/>
        </p:nvSpPr>
        <p:spPr>
          <a:xfrm>
            <a:off x="10424160" y="2098548"/>
            <a:ext cx="1325880" cy="603504"/>
          </a:xfrm>
          <a:prstGeom prst="roundRect">
            <a:avLst>
              <a:gd name="adj" fmla="val 12121"/>
            </a:avLst>
          </a:prstGeom>
          <a:solidFill>
            <a:srgbClr val="F3F5F8"/>
          </a:solidFill>
          <a:ln w="15875">
            <a:solidFill>
              <a:srgbClr val="252A3D"/>
            </a:solidFill>
            <a:prstDash val="solid"/>
          </a:ln>
        </p:spPr>
        <p:txBody>
          <a:bodyPr/>
          <a:p/>
        </p:txBody>
      </p:sp>
      <p:sp>
        <p:nvSpPr>
          <p:cNvPr id="29" name="Text 27"/>
          <p:cNvSpPr txBox="1"/>
          <p:nvPr/>
        </p:nvSpPr>
        <p:spPr>
          <a:xfrm>
            <a:off x="10469880" y="2098548"/>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Validation finale</a:t>
            </a:r>
            <a:endParaRPr lang="en-US" sz="900" dirty="0"/>
          </a:p>
        </p:txBody>
      </p:sp>
      <p:sp>
        <p:nvSpPr>
          <p:cNvPr id="30" name="Shape 28"/>
          <p:cNvSpPr/>
          <p:nvPr/>
        </p:nvSpPr>
        <p:spPr>
          <a:xfrm>
            <a:off x="457200" y="2990088"/>
            <a:ext cx="2148840" cy="868680"/>
          </a:xfrm>
          <a:prstGeom prst="roundRect">
            <a:avLst>
              <a:gd name="adj" fmla="val 10526"/>
            </a:avLst>
          </a:prstGeom>
          <a:solidFill>
            <a:srgbClr val="FFFFFF"/>
          </a:solidFill>
          <a:ln w="12700">
            <a:solidFill>
              <a:srgbClr val="D4DAE3"/>
            </a:solidFill>
            <a:prstDash val="solid"/>
          </a:ln>
        </p:spPr>
        <p:txBody>
          <a:bodyPr/>
          <a:p/>
        </p:txBody>
      </p:sp>
      <p:sp>
        <p:nvSpPr>
          <p:cNvPr id="31" name="Text 29"/>
          <p:cNvSpPr txBox="1"/>
          <p:nvPr/>
        </p:nvSpPr>
        <p:spPr>
          <a:xfrm>
            <a:off x="640080" y="3127248"/>
            <a:ext cx="1874520" cy="274320"/>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INTÉGRATION (Integrate)</a:t>
            </a:r>
            <a:endParaRPr lang="en-US" sz="1050" dirty="0"/>
          </a:p>
        </p:txBody>
      </p:sp>
      <p:sp>
        <p:nvSpPr>
          <p:cNvPr id="32" name="Text 30"/>
          <p:cNvSpPr txBox="1"/>
          <p:nvPr/>
        </p:nvSpPr>
        <p:spPr>
          <a:xfrm>
            <a:off x="640080" y="3419856"/>
            <a:ext cx="1828800" cy="256032"/>
          </a:xfrm>
          <a:prstGeom prst="rect">
            <a:avLst/>
          </a:prstGeom>
          <a:noFill/>
          <a:ln/>
        </p:spPr>
        <p:txBody>
          <a:bodyPr wrap="square" lIns="0" tIns="0" rIns="0" bIns="0" rtlCol="0" anchor="t"/>
          <a:lstStyle/>
          <a:p>
            <a:pPr indent="0" marL="0">
              <a:lnSpc>
                <a:spcPct val="105000"/>
              </a:lnSpc>
              <a:buNone/>
            </a:pPr>
            <a:r>
              <a:rPr lang="en-US" sz="850" dirty="0">
                <a:solidFill>
                  <a:srgbClr val="5B6575"/>
                </a:solidFill>
                <a:latin typeface="Arial" pitchFamily="34" charset="0"/>
                <a:ea typeface="Arial" pitchFamily="34" charset="-122"/>
                <a:cs typeface="Arial" pitchFamily="34" charset="-120"/>
              </a:rPr>
              <a:t>Connecter des applications</a:t>
            </a:r>
          </a:p>
        </p:txBody>
      </p:sp>
      <p:sp>
        <p:nvSpPr>
          <p:cNvPr id="33" name="Text 31"/>
          <p:cNvSpPr txBox="1"/>
          <p:nvPr/>
        </p:nvSpPr>
        <p:spPr>
          <a:xfrm>
            <a:off x="640080" y="3648456"/>
            <a:ext cx="1828800" cy="182880"/>
          </a:xfrm>
          <a:prstGeom prst="rect">
            <a:avLst/>
          </a:prstGeom>
          <a:noFill/>
          <a:ln/>
        </p:spPr>
        <p:txBody>
          <a:bodyPr wrap="square" lIns="0" tIns="0" rIns="0" bIns="0" rtlCol="0" anchor="t"/>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6 étapes</a:t>
            </a:r>
            <a:endParaRPr lang="en-US" sz="850" dirty="0"/>
          </a:p>
        </p:txBody>
      </p:sp>
      <p:sp>
        <p:nvSpPr>
          <p:cNvPr id="34" name="Shape 32"/>
          <p:cNvSpPr/>
          <p:nvPr/>
        </p:nvSpPr>
        <p:spPr>
          <a:xfrm>
            <a:off x="2880360" y="3122676"/>
            <a:ext cx="1325880" cy="603504"/>
          </a:xfrm>
          <a:prstGeom prst="roundRect">
            <a:avLst>
              <a:gd name="adj" fmla="val 12121"/>
            </a:avLst>
          </a:prstGeom>
          <a:solidFill>
            <a:srgbClr val="DDF5FC"/>
          </a:solidFill>
          <a:ln w="12700">
            <a:solidFill>
              <a:srgbClr val="DDF5FC"/>
            </a:solidFill>
            <a:prstDash val="solid"/>
          </a:ln>
        </p:spPr>
        <p:txBody>
          <a:bodyPr/>
          <a:p/>
        </p:txBody>
      </p:sp>
      <p:sp>
        <p:nvSpPr>
          <p:cNvPr id="35" name="Text 33"/>
          <p:cNvSpPr txBox="1"/>
          <p:nvPr/>
        </p:nvSpPr>
        <p:spPr>
          <a:xfrm>
            <a:off x="2926080" y="3122676"/>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Standardisation technologique</a:t>
            </a:r>
            <a:endParaRPr lang="en-US" sz="900" dirty="0"/>
          </a:p>
        </p:txBody>
      </p:sp>
      <p:sp>
        <p:nvSpPr>
          <p:cNvPr id="36" name="Shape 34"/>
          <p:cNvSpPr/>
          <p:nvPr/>
        </p:nvSpPr>
        <p:spPr>
          <a:xfrm>
            <a:off x="4233672" y="3424428"/>
            <a:ext cx="128016" cy="0"/>
          </a:xfrm>
          <a:prstGeom prst="line">
            <a:avLst/>
          </a:prstGeom>
          <a:noFill/>
          <a:ln w="15875">
            <a:solidFill>
              <a:srgbClr val="5B6575"/>
            </a:solidFill>
            <a:prstDash val="solid"/>
            <a:tailEnd type="triangle"/>
          </a:ln>
        </p:spPr>
        <p:txBody>
          <a:bodyPr/>
          <a:p/>
        </p:txBody>
      </p:sp>
      <p:sp>
        <p:nvSpPr>
          <p:cNvPr id="37" name="Shape 35"/>
          <p:cNvSpPr/>
          <p:nvPr/>
        </p:nvSpPr>
        <p:spPr>
          <a:xfrm>
            <a:off x="4389120" y="3122676"/>
            <a:ext cx="1325880" cy="603504"/>
          </a:xfrm>
          <a:prstGeom prst="roundRect">
            <a:avLst>
              <a:gd name="adj" fmla="val 12121"/>
            </a:avLst>
          </a:prstGeom>
          <a:solidFill>
            <a:srgbClr val="FFF5BF"/>
          </a:solidFill>
          <a:ln w="12700">
            <a:solidFill>
              <a:srgbClr val="FFF5BF"/>
            </a:solidFill>
            <a:prstDash val="solid"/>
          </a:ln>
        </p:spPr>
        <p:txBody>
          <a:bodyPr/>
          <a:p/>
        </p:txBody>
      </p:sp>
      <p:sp>
        <p:nvSpPr>
          <p:cNvPr id="38" name="Text 36"/>
          <p:cNvSpPr txBox="1"/>
          <p:nvPr/>
        </p:nvSpPr>
        <p:spPr>
          <a:xfrm>
            <a:off x="4434840" y="3122676"/>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Architecture technique</a:t>
            </a:r>
            <a:endParaRPr lang="en-US" sz="900" dirty="0"/>
          </a:p>
        </p:txBody>
      </p:sp>
      <p:sp>
        <p:nvSpPr>
          <p:cNvPr id="39" name="Shape 37"/>
          <p:cNvSpPr/>
          <p:nvPr/>
        </p:nvSpPr>
        <p:spPr>
          <a:xfrm>
            <a:off x="5742432" y="3424428"/>
            <a:ext cx="128016" cy="0"/>
          </a:xfrm>
          <a:prstGeom prst="line">
            <a:avLst/>
          </a:prstGeom>
          <a:noFill/>
          <a:ln w="15875">
            <a:solidFill>
              <a:srgbClr val="5B6575"/>
            </a:solidFill>
            <a:prstDash val="solid"/>
            <a:tailEnd type="triangle"/>
          </a:ln>
        </p:spPr>
        <p:txBody>
          <a:bodyPr/>
          <a:p/>
        </p:txBody>
      </p:sp>
      <p:sp>
        <p:nvSpPr>
          <p:cNvPr id="40" name="Shape 38"/>
          <p:cNvSpPr/>
          <p:nvPr/>
        </p:nvSpPr>
        <p:spPr>
          <a:xfrm>
            <a:off x="5897880" y="3122676"/>
            <a:ext cx="1325880" cy="603504"/>
          </a:xfrm>
          <a:prstGeom prst="roundRect">
            <a:avLst>
              <a:gd name="adj" fmla="val 12121"/>
            </a:avLst>
          </a:prstGeom>
          <a:solidFill>
            <a:srgbClr val="FFE4E6"/>
          </a:solidFill>
          <a:ln w="12700">
            <a:solidFill>
              <a:srgbClr val="FFE4E6"/>
            </a:solidFill>
            <a:prstDash val="solid"/>
          </a:ln>
        </p:spPr>
        <p:txBody>
          <a:bodyPr/>
          <a:p/>
        </p:txBody>
      </p:sp>
      <p:sp>
        <p:nvSpPr>
          <p:cNvPr id="41" name="Text 39"/>
          <p:cNvSpPr txBox="1"/>
          <p:nvPr/>
        </p:nvSpPr>
        <p:spPr>
          <a:xfrm>
            <a:off x="5943600" y="3122676"/>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Cybersécurité</a:t>
            </a:r>
            <a:endParaRPr lang="en-US" sz="900" dirty="0"/>
          </a:p>
        </p:txBody>
      </p:sp>
      <p:sp>
        <p:nvSpPr>
          <p:cNvPr id="42" name="Shape 40"/>
          <p:cNvSpPr/>
          <p:nvPr/>
        </p:nvSpPr>
        <p:spPr>
          <a:xfrm>
            <a:off x="7251192" y="3424428"/>
            <a:ext cx="128016" cy="0"/>
          </a:xfrm>
          <a:prstGeom prst="line">
            <a:avLst/>
          </a:prstGeom>
          <a:noFill/>
          <a:ln w="15875">
            <a:solidFill>
              <a:srgbClr val="5B6575"/>
            </a:solidFill>
            <a:prstDash val="solid"/>
            <a:tailEnd type="triangle"/>
          </a:ln>
        </p:spPr>
        <p:txBody>
          <a:bodyPr/>
          <a:p/>
        </p:txBody>
      </p:sp>
      <p:sp>
        <p:nvSpPr>
          <p:cNvPr id="43" name="Shape 41"/>
          <p:cNvSpPr/>
          <p:nvPr/>
        </p:nvSpPr>
        <p:spPr>
          <a:xfrm>
            <a:off x="7406640" y="3122676"/>
            <a:ext cx="1325880" cy="603504"/>
          </a:xfrm>
          <a:prstGeom prst="roundRect">
            <a:avLst>
              <a:gd name="adj" fmla="val 12121"/>
            </a:avLst>
          </a:prstGeom>
          <a:solidFill>
            <a:srgbClr val="EFE8FA"/>
          </a:solidFill>
          <a:ln w="12700">
            <a:solidFill>
              <a:srgbClr val="EFE8FA"/>
            </a:solidFill>
            <a:prstDash val="solid"/>
          </a:ln>
        </p:spPr>
        <p:txBody>
          <a:bodyPr/>
          <a:p/>
        </p:txBody>
      </p:sp>
      <p:sp>
        <p:nvSpPr>
          <p:cNvPr id="44" name="Text 42"/>
          <p:cNvSpPr txBox="1"/>
          <p:nvPr/>
        </p:nvSpPr>
        <p:spPr>
          <a:xfrm>
            <a:off x="7452360" y="3122676"/>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Juridique</a:t>
            </a:r>
            <a:endParaRPr lang="en-US" sz="900" dirty="0"/>
          </a:p>
        </p:txBody>
      </p:sp>
      <p:sp>
        <p:nvSpPr>
          <p:cNvPr id="45" name="Shape 43"/>
          <p:cNvSpPr/>
          <p:nvPr/>
        </p:nvSpPr>
        <p:spPr>
          <a:xfrm>
            <a:off x="8759952" y="3424428"/>
            <a:ext cx="128016" cy="0"/>
          </a:xfrm>
          <a:prstGeom prst="line">
            <a:avLst/>
          </a:prstGeom>
          <a:noFill/>
          <a:ln w="15875">
            <a:solidFill>
              <a:srgbClr val="5B6575"/>
            </a:solidFill>
            <a:prstDash val="solid"/>
            <a:tailEnd type="triangle"/>
          </a:ln>
        </p:spPr>
        <p:txBody>
          <a:bodyPr/>
          <a:p/>
        </p:txBody>
      </p:sp>
      <p:sp>
        <p:nvSpPr>
          <p:cNvPr id="46" name="Shape 44"/>
          <p:cNvSpPr/>
          <p:nvPr/>
        </p:nvSpPr>
        <p:spPr>
          <a:xfrm>
            <a:off x="8915400" y="3122676"/>
            <a:ext cx="1325880" cy="603504"/>
          </a:xfrm>
          <a:prstGeom prst="roundRect">
            <a:avLst>
              <a:gd name="adj" fmla="val 12121"/>
            </a:avLst>
          </a:prstGeom>
          <a:solidFill>
            <a:srgbClr val="E5F6E9"/>
          </a:solidFill>
          <a:ln w="12700">
            <a:solidFill>
              <a:srgbClr val="E5F6E9"/>
            </a:solidFill>
            <a:prstDash val="solid"/>
          </a:ln>
        </p:spPr>
        <p:txBody>
          <a:bodyPr/>
          <a:p/>
        </p:txBody>
      </p:sp>
      <p:sp>
        <p:nvSpPr>
          <p:cNvPr id="47" name="Text 45"/>
          <p:cNvSpPr txBox="1"/>
          <p:nvPr/>
        </p:nvSpPr>
        <p:spPr>
          <a:xfrm>
            <a:off x="8961120" y="3122676"/>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Conformité réglementaire</a:t>
            </a:r>
            <a:endParaRPr lang="en-US" sz="900" dirty="0"/>
          </a:p>
        </p:txBody>
      </p:sp>
      <p:sp>
        <p:nvSpPr>
          <p:cNvPr id="48" name="Shape 46"/>
          <p:cNvSpPr/>
          <p:nvPr/>
        </p:nvSpPr>
        <p:spPr>
          <a:xfrm>
            <a:off x="10268712" y="3424428"/>
            <a:ext cx="128016" cy="0"/>
          </a:xfrm>
          <a:prstGeom prst="line">
            <a:avLst/>
          </a:prstGeom>
          <a:noFill/>
          <a:ln w="15875">
            <a:solidFill>
              <a:srgbClr val="5B6575"/>
            </a:solidFill>
            <a:prstDash val="solid"/>
            <a:tailEnd type="triangle"/>
          </a:ln>
        </p:spPr>
        <p:txBody>
          <a:bodyPr/>
          <a:p/>
        </p:txBody>
      </p:sp>
      <p:sp>
        <p:nvSpPr>
          <p:cNvPr id="49" name="Shape 47"/>
          <p:cNvSpPr/>
          <p:nvPr/>
        </p:nvSpPr>
        <p:spPr>
          <a:xfrm>
            <a:off x="10424160" y="3122676"/>
            <a:ext cx="1325880" cy="603504"/>
          </a:xfrm>
          <a:prstGeom prst="roundRect">
            <a:avLst>
              <a:gd name="adj" fmla="val 12121"/>
            </a:avLst>
          </a:prstGeom>
          <a:solidFill>
            <a:srgbClr val="F3F5F8"/>
          </a:solidFill>
          <a:ln w="15875">
            <a:solidFill>
              <a:srgbClr val="252A3D"/>
            </a:solidFill>
            <a:prstDash val="solid"/>
          </a:ln>
        </p:spPr>
        <p:txBody>
          <a:bodyPr/>
          <a:p/>
        </p:txBody>
      </p:sp>
      <p:sp>
        <p:nvSpPr>
          <p:cNvPr id="50" name="Text 48"/>
          <p:cNvSpPr txBox="1"/>
          <p:nvPr/>
        </p:nvSpPr>
        <p:spPr>
          <a:xfrm>
            <a:off x="10469880" y="3122676"/>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Validation finale</a:t>
            </a:r>
            <a:endParaRPr lang="en-US" sz="900" dirty="0"/>
          </a:p>
        </p:txBody>
      </p:sp>
      <p:sp>
        <p:nvSpPr>
          <p:cNvPr id="51" name="Shape 49"/>
          <p:cNvSpPr/>
          <p:nvPr/>
        </p:nvSpPr>
        <p:spPr>
          <a:xfrm>
            <a:off x="457200" y="4014216"/>
            <a:ext cx="2148840" cy="868680"/>
          </a:xfrm>
          <a:prstGeom prst="roundRect">
            <a:avLst>
              <a:gd name="adj" fmla="val 10526"/>
            </a:avLst>
          </a:prstGeom>
          <a:solidFill>
            <a:srgbClr val="FFFFFF"/>
          </a:solidFill>
          <a:ln w="12700">
            <a:solidFill>
              <a:srgbClr val="D4DAE3"/>
            </a:solidFill>
            <a:prstDash val="solid"/>
          </a:ln>
        </p:spPr>
        <p:txBody>
          <a:bodyPr/>
          <a:p/>
        </p:txBody>
      </p:sp>
      <p:sp>
        <p:nvSpPr>
          <p:cNvPr id="52" name="Text 50"/>
          <p:cNvSpPr txBox="1"/>
          <p:nvPr/>
        </p:nvSpPr>
        <p:spPr>
          <a:xfrm>
            <a:off x="640080" y="4151376"/>
            <a:ext cx="1874520" cy="274320"/>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DÉVELOPPEMENT (Build)</a:t>
            </a:r>
            <a:endParaRPr lang="en-US" sz="1050" dirty="0"/>
          </a:p>
        </p:txBody>
      </p:sp>
      <p:sp>
        <p:nvSpPr>
          <p:cNvPr id="53" name="Text 51"/>
          <p:cNvSpPr txBox="1"/>
          <p:nvPr/>
        </p:nvSpPr>
        <p:spPr>
          <a:xfrm>
            <a:off x="640080" y="4443984"/>
            <a:ext cx="1828800" cy="256032"/>
          </a:xfrm>
          <a:prstGeom prst="rect">
            <a:avLst/>
          </a:prstGeom>
          <a:noFill/>
          <a:ln/>
        </p:spPr>
        <p:txBody>
          <a:bodyPr wrap="square" lIns="0" tIns="0" rIns="0" bIns="0" rtlCol="0" anchor="t"/>
          <a:lstStyle/>
          <a:p>
            <a:pPr indent="0" marL="0">
              <a:lnSpc>
                <a:spcPct val="105000"/>
              </a:lnSpc>
              <a:buNone/>
            </a:pPr>
            <a:r>
              <a:rPr lang="en-US" sz="980" dirty="0">
                <a:solidFill>
                  <a:srgbClr val="5B6575"/>
                </a:solidFill>
                <a:latin typeface="Arial" pitchFamily="34" charset="0"/>
                <a:ea typeface="Arial" pitchFamily="34" charset="-122"/>
                <a:cs typeface="Arial" pitchFamily="34" charset="-120"/>
              </a:rPr>
              <a:t>Développer une application</a:t>
            </a:r>
            <a:endParaRPr lang="en-US" sz="980" dirty="0"/>
          </a:p>
        </p:txBody>
      </p:sp>
      <p:sp>
        <p:nvSpPr>
          <p:cNvPr id="54" name="Text 52"/>
          <p:cNvSpPr txBox="1"/>
          <p:nvPr/>
        </p:nvSpPr>
        <p:spPr>
          <a:xfrm>
            <a:off x="640080" y="4672584"/>
            <a:ext cx="1828800" cy="182880"/>
          </a:xfrm>
          <a:prstGeom prst="rect">
            <a:avLst/>
          </a:prstGeom>
          <a:noFill/>
          <a:ln/>
        </p:spPr>
        <p:txBody>
          <a:bodyPr wrap="square" lIns="0" tIns="0" rIns="0" bIns="0" rtlCol="0" anchor="t"/>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5 étapes</a:t>
            </a:r>
            <a:endParaRPr lang="en-US" sz="850" dirty="0"/>
          </a:p>
        </p:txBody>
      </p:sp>
      <p:sp>
        <p:nvSpPr>
          <p:cNvPr id="55" name="Shape 53"/>
          <p:cNvSpPr/>
          <p:nvPr/>
        </p:nvSpPr>
        <p:spPr>
          <a:xfrm>
            <a:off x="2880360" y="4146804"/>
            <a:ext cx="1325880" cy="603504"/>
          </a:xfrm>
          <a:prstGeom prst="roundRect">
            <a:avLst>
              <a:gd name="adj" fmla="val 12121"/>
            </a:avLst>
          </a:prstGeom>
          <a:solidFill>
            <a:srgbClr val="DDF5FC"/>
          </a:solidFill>
          <a:ln w="12700">
            <a:solidFill>
              <a:srgbClr val="DDF5FC"/>
            </a:solidFill>
            <a:prstDash val="solid"/>
          </a:ln>
        </p:spPr>
        <p:txBody>
          <a:bodyPr/>
          <a:p/>
        </p:txBody>
      </p:sp>
      <p:sp>
        <p:nvSpPr>
          <p:cNvPr id="56" name="Text 54"/>
          <p:cNvSpPr txBox="1"/>
          <p:nvPr/>
        </p:nvSpPr>
        <p:spPr>
          <a:xfrm>
            <a:off x="2926080" y="4146804"/>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Standardisation technologique</a:t>
            </a:r>
            <a:endParaRPr lang="en-US" sz="900" dirty="0"/>
          </a:p>
        </p:txBody>
      </p:sp>
      <p:sp>
        <p:nvSpPr>
          <p:cNvPr id="57" name="Shape 55"/>
          <p:cNvSpPr/>
          <p:nvPr/>
        </p:nvSpPr>
        <p:spPr>
          <a:xfrm>
            <a:off x="4233672" y="4448556"/>
            <a:ext cx="128016" cy="0"/>
          </a:xfrm>
          <a:prstGeom prst="line">
            <a:avLst/>
          </a:prstGeom>
          <a:noFill/>
          <a:ln w="15875">
            <a:solidFill>
              <a:srgbClr val="5B6575"/>
            </a:solidFill>
            <a:prstDash val="solid"/>
            <a:tailEnd type="triangle"/>
          </a:ln>
        </p:spPr>
        <p:txBody>
          <a:bodyPr/>
          <a:p/>
        </p:txBody>
      </p:sp>
      <p:sp>
        <p:nvSpPr>
          <p:cNvPr id="58" name="Shape 56"/>
          <p:cNvSpPr/>
          <p:nvPr/>
        </p:nvSpPr>
        <p:spPr>
          <a:xfrm>
            <a:off x="4389120" y="4146804"/>
            <a:ext cx="1325880" cy="603504"/>
          </a:xfrm>
          <a:prstGeom prst="roundRect">
            <a:avLst>
              <a:gd name="adj" fmla="val 12121"/>
            </a:avLst>
          </a:prstGeom>
          <a:solidFill>
            <a:srgbClr val="FFF5BF"/>
          </a:solidFill>
          <a:ln w="12700">
            <a:solidFill>
              <a:srgbClr val="FFF5BF"/>
            </a:solidFill>
            <a:prstDash val="solid"/>
          </a:ln>
        </p:spPr>
        <p:txBody>
          <a:bodyPr/>
          <a:p/>
        </p:txBody>
      </p:sp>
      <p:sp>
        <p:nvSpPr>
          <p:cNvPr id="59" name="Text 57"/>
          <p:cNvSpPr txBox="1"/>
          <p:nvPr/>
        </p:nvSpPr>
        <p:spPr>
          <a:xfrm>
            <a:off x="4434840" y="4146804"/>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Architecture technique</a:t>
            </a:r>
            <a:endParaRPr lang="en-US" sz="900" dirty="0"/>
          </a:p>
        </p:txBody>
      </p:sp>
      <p:sp>
        <p:nvSpPr>
          <p:cNvPr id="60" name="Shape 58"/>
          <p:cNvSpPr/>
          <p:nvPr/>
        </p:nvSpPr>
        <p:spPr>
          <a:xfrm>
            <a:off x="5742432" y="4448556"/>
            <a:ext cx="128016" cy="0"/>
          </a:xfrm>
          <a:prstGeom prst="line">
            <a:avLst/>
          </a:prstGeom>
          <a:noFill/>
          <a:ln w="15875">
            <a:solidFill>
              <a:srgbClr val="5B6575"/>
            </a:solidFill>
            <a:prstDash val="solid"/>
            <a:tailEnd type="triangle"/>
          </a:ln>
        </p:spPr>
        <p:txBody>
          <a:bodyPr/>
          <a:p/>
        </p:txBody>
      </p:sp>
      <p:sp>
        <p:nvSpPr>
          <p:cNvPr id="61" name="Shape 59"/>
          <p:cNvSpPr/>
          <p:nvPr/>
        </p:nvSpPr>
        <p:spPr>
          <a:xfrm>
            <a:off x="5897880" y="4146804"/>
            <a:ext cx="1325880" cy="603504"/>
          </a:xfrm>
          <a:prstGeom prst="roundRect">
            <a:avLst>
              <a:gd name="adj" fmla="val 12121"/>
            </a:avLst>
          </a:prstGeom>
          <a:solidFill>
            <a:srgbClr val="FFE4E6"/>
          </a:solidFill>
          <a:ln w="12700">
            <a:solidFill>
              <a:srgbClr val="FFE4E6"/>
            </a:solidFill>
            <a:prstDash val="solid"/>
          </a:ln>
        </p:spPr>
        <p:txBody>
          <a:bodyPr/>
          <a:p/>
        </p:txBody>
      </p:sp>
      <p:sp>
        <p:nvSpPr>
          <p:cNvPr id="62" name="Text 60"/>
          <p:cNvSpPr txBox="1"/>
          <p:nvPr/>
        </p:nvSpPr>
        <p:spPr>
          <a:xfrm>
            <a:off x="5943600" y="4146804"/>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Cybersécurité</a:t>
            </a:r>
            <a:endParaRPr lang="en-US" sz="900" dirty="0"/>
          </a:p>
        </p:txBody>
      </p:sp>
      <p:sp>
        <p:nvSpPr>
          <p:cNvPr id="63" name="Shape 61"/>
          <p:cNvSpPr/>
          <p:nvPr/>
        </p:nvSpPr>
        <p:spPr>
          <a:xfrm>
            <a:off x="7251192" y="4448556"/>
            <a:ext cx="128016" cy="0"/>
          </a:xfrm>
          <a:prstGeom prst="line">
            <a:avLst/>
          </a:prstGeom>
          <a:noFill/>
          <a:ln w="15875">
            <a:solidFill>
              <a:srgbClr val="5B6575"/>
            </a:solidFill>
            <a:prstDash val="solid"/>
            <a:tailEnd type="triangle"/>
          </a:ln>
        </p:spPr>
        <p:txBody>
          <a:bodyPr/>
          <a:p/>
        </p:txBody>
      </p:sp>
      <p:sp>
        <p:nvSpPr>
          <p:cNvPr id="64" name="Shape 62"/>
          <p:cNvSpPr/>
          <p:nvPr/>
        </p:nvSpPr>
        <p:spPr>
          <a:xfrm>
            <a:off x="7406640" y="4146804"/>
            <a:ext cx="1325880" cy="603504"/>
          </a:xfrm>
          <a:prstGeom prst="roundRect">
            <a:avLst>
              <a:gd name="adj" fmla="val 12121"/>
            </a:avLst>
          </a:prstGeom>
          <a:solidFill>
            <a:srgbClr val="E5F6E9"/>
          </a:solidFill>
          <a:ln w="12700">
            <a:solidFill>
              <a:srgbClr val="E5F6E9"/>
            </a:solidFill>
            <a:prstDash val="solid"/>
          </a:ln>
        </p:spPr>
        <p:txBody>
          <a:bodyPr/>
          <a:p/>
        </p:txBody>
      </p:sp>
      <p:sp>
        <p:nvSpPr>
          <p:cNvPr id="65" name="Text 63"/>
          <p:cNvSpPr txBox="1"/>
          <p:nvPr/>
        </p:nvSpPr>
        <p:spPr>
          <a:xfrm>
            <a:off x="7452360" y="4146804"/>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Préparation à l'exploitation</a:t>
            </a:r>
            <a:endParaRPr lang="en-US" sz="900" dirty="0"/>
          </a:p>
        </p:txBody>
      </p:sp>
      <p:sp>
        <p:nvSpPr>
          <p:cNvPr id="66" name="Shape 64"/>
          <p:cNvSpPr/>
          <p:nvPr/>
        </p:nvSpPr>
        <p:spPr>
          <a:xfrm>
            <a:off x="8759952" y="4448556"/>
            <a:ext cx="128016" cy="0"/>
          </a:xfrm>
          <a:prstGeom prst="line">
            <a:avLst/>
          </a:prstGeom>
          <a:noFill/>
          <a:ln w="15875">
            <a:solidFill>
              <a:srgbClr val="5B6575"/>
            </a:solidFill>
            <a:prstDash val="solid"/>
            <a:tailEnd type="triangle"/>
          </a:ln>
        </p:spPr>
        <p:txBody>
          <a:bodyPr/>
          <a:p/>
        </p:txBody>
      </p:sp>
      <p:sp>
        <p:nvSpPr>
          <p:cNvPr id="67" name="Shape 65"/>
          <p:cNvSpPr/>
          <p:nvPr/>
        </p:nvSpPr>
        <p:spPr>
          <a:xfrm>
            <a:off x="8915400" y="4146804"/>
            <a:ext cx="1325880" cy="603504"/>
          </a:xfrm>
          <a:prstGeom prst="roundRect">
            <a:avLst>
              <a:gd name="adj" fmla="val 12121"/>
            </a:avLst>
          </a:prstGeom>
          <a:solidFill>
            <a:srgbClr val="F3F5F8"/>
          </a:solidFill>
          <a:ln w="15875">
            <a:solidFill>
              <a:srgbClr val="252A3D"/>
            </a:solidFill>
            <a:prstDash val="solid"/>
          </a:ln>
        </p:spPr>
        <p:txBody>
          <a:bodyPr/>
          <a:p/>
        </p:txBody>
      </p:sp>
      <p:sp>
        <p:nvSpPr>
          <p:cNvPr id="68" name="Text 66"/>
          <p:cNvSpPr txBox="1"/>
          <p:nvPr/>
        </p:nvSpPr>
        <p:spPr>
          <a:xfrm>
            <a:off x="8961120" y="4146804"/>
            <a:ext cx="1234440" cy="603504"/>
          </a:xfrm>
          <a:prstGeom prst="rect">
            <a:avLst/>
          </a:prstGeom>
          <a:noFill/>
          <a:ln/>
        </p:spPr>
        <p:txBody>
          <a:bodyPr wrap="square" lIns="0" tIns="0" rIns="0" bIns="0" rtlCol="0" anchor="ctr"/>
          <a:lstStyle/>
          <a:p>
            <a:pPr algn="ctr" indent="0" marL="0">
              <a:lnSpc>
                <a:spcPct val="105000"/>
              </a:lnSpc>
              <a:buNone/>
            </a:pPr>
            <a:r>
              <a:rPr lang="en-US" sz="900" b="1" dirty="0">
                <a:solidFill>
                  <a:srgbClr val="252A3D"/>
                </a:solidFill>
                <a:latin typeface="Arial" pitchFamily="34" charset="0"/>
                <a:ea typeface="Arial" pitchFamily="34" charset="-122"/>
                <a:cs typeface="Arial" pitchFamily="34" charset="-120"/>
              </a:rPr>
              <a:t>Validation finale</a:t>
            </a:r>
            <a:endParaRPr lang="en-US" sz="900" dirty="0"/>
          </a:p>
        </p:txBody>
      </p:sp>
      <p:sp>
        <p:nvSpPr>
          <p:cNvPr id="69" name="Text 67"/>
          <p:cNvSpPr txBox="1"/>
          <p:nvPr/>
        </p:nvSpPr>
        <p:spPr>
          <a:xfrm>
            <a:off x="457200" y="5074920"/>
            <a:ext cx="7315200" cy="182880"/>
          </a:xfrm>
          <a:prstGeom prst="rect">
            <a:avLst/>
          </a:prstGeom>
          <a:noFill/>
          <a:ln/>
        </p:spPr>
        <p:txBody>
          <a:bodyPr wrap="square" lIns="0" tIns="0" rIns="0" bIns="0" rtlCol="0" anchor="t"/>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AUJOURD’HUI, LORS DE CHAQUE REVUE, UN EXPERT REND L’UNE DE CES CINQ DÉCISIONS</a:t>
            </a:r>
          </a:p>
        </p:txBody>
      </p:sp>
      <p:sp>
        <p:nvSpPr>
          <p:cNvPr id="70" name="Shape 68"/>
          <p:cNvSpPr/>
          <p:nvPr/>
        </p:nvSpPr>
        <p:spPr>
          <a:xfrm>
            <a:off x="457200" y="5303520"/>
            <a:ext cx="2148840" cy="566928"/>
          </a:xfrm>
          <a:prstGeom prst="roundRect">
            <a:avLst>
              <a:gd name="adj" fmla="val 16129"/>
            </a:avLst>
          </a:prstGeom>
          <a:solidFill>
            <a:srgbClr val="E5F6E9"/>
          </a:solidFill>
          <a:ln w="12700">
            <a:solidFill>
              <a:srgbClr val="E5F6E9"/>
            </a:solidFill>
            <a:prstDash val="solid"/>
          </a:ln>
        </p:spPr>
        <p:txBody>
          <a:bodyPr/>
          <a:p/>
        </p:txBody>
      </p:sp>
      <p:sp>
        <p:nvSpPr>
          <p:cNvPr id="71" name="Text 69"/>
          <p:cNvSpPr txBox="1"/>
          <p:nvPr/>
        </p:nvSpPr>
        <p:spPr>
          <a:xfrm>
            <a:off x="566928" y="5367528"/>
            <a:ext cx="1965960" cy="219456"/>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APPROUVÉ (GO)</a:t>
            </a:r>
            <a:endParaRPr lang="en-US" sz="900" dirty="0"/>
          </a:p>
        </p:txBody>
      </p:sp>
      <p:sp>
        <p:nvSpPr>
          <p:cNvPr id="72" name="Text 70"/>
          <p:cNvSpPr txBox="1"/>
          <p:nvPr/>
        </p:nvSpPr>
        <p:spPr>
          <a:xfrm>
            <a:off x="566928" y="5586984"/>
            <a:ext cx="1965960" cy="256032"/>
          </a:xfrm>
          <a:prstGeom prst="rect">
            <a:avLst/>
          </a:prstGeom>
          <a:noFill/>
          <a:ln/>
        </p:spPr>
        <p:txBody>
          <a:bodyPr wrap="square" lIns="0" tIns="0" rIns="0" bIns="0" rtlCol="0" anchor="t"/>
          <a:lstStyle/>
          <a:p>
            <a:pPr indent="0" marL="0">
              <a:lnSpc>
                <a:spcPct val="105000"/>
              </a:lnSpc>
              <a:buNone/>
            </a:pPr>
            <a:r>
              <a:rPr lang="en-US" sz="840" dirty="0">
                <a:solidFill>
                  <a:srgbClr val="5B6575"/>
                </a:solidFill>
                <a:latin typeface="Arial" pitchFamily="34" charset="0"/>
                <a:ea typeface="Arial" pitchFamily="34" charset="-122"/>
                <a:cs typeface="Arial" pitchFamily="34" charset="-120"/>
              </a:rPr>
              <a:t>le projet peut continuer</a:t>
            </a:r>
          </a:p>
        </p:txBody>
      </p:sp>
      <p:sp>
        <p:nvSpPr>
          <p:cNvPr id="73" name="Shape 71"/>
          <p:cNvSpPr/>
          <p:nvPr/>
        </p:nvSpPr>
        <p:spPr>
          <a:xfrm>
            <a:off x="2727198" y="5303520"/>
            <a:ext cx="2148840" cy="566928"/>
          </a:xfrm>
          <a:prstGeom prst="roundRect">
            <a:avLst>
              <a:gd name="adj" fmla="val 16129"/>
            </a:avLst>
          </a:prstGeom>
          <a:solidFill>
            <a:srgbClr val="DDF5FC"/>
          </a:solidFill>
          <a:ln w="12700">
            <a:solidFill>
              <a:srgbClr val="DDF5FC"/>
            </a:solidFill>
            <a:prstDash val="solid"/>
          </a:ln>
        </p:spPr>
        <p:txBody>
          <a:bodyPr/>
          <a:p/>
        </p:txBody>
      </p:sp>
      <p:sp>
        <p:nvSpPr>
          <p:cNvPr id="74" name="Text 72"/>
          <p:cNvSpPr txBox="1"/>
          <p:nvPr/>
        </p:nvSpPr>
        <p:spPr>
          <a:xfrm>
            <a:off x="2836926" y="5367528"/>
            <a:ext cx="1965960" cy="219456"/>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APPROUVÉ SOUS CONDITIONS</a:t>
            </a:r>
            <a:endParaRPr lang="en-US" sz="900" dirty="0"/>
          </a:p>
        </p:txBody>
      </p:sp>
      <p:sp>
        <p:nvSpPr>
          <p:cNvPr id="75" name="Text 73"/>
          <p:cNvSpPr txBox="1"/>
          <p:nvPr/>
        </p:nvSpPr>
        <p:spPr>
          <a:xfrm>
            <a:off x="2836926" y="5586984"/>
            <a:ext cx="1965960" cy="256032"/>
          </a:xfrm>
          <a:prstGeom prst="rect">
            <a:avLst/>
          </a:prstGeom>
          <a:noFill/>
          <a:ln/>
        </p:spPr>
        <p:txBody>
          <a:bodyPr wrap="square" lIns="0" tIns="0" rIns="0" bIns="0" rtlCol="0" anchor="t"/>
          <a:lstStyle/>
          <a:p>
            <a:pPr indent="0" marL="0">
              <a:lnSpc>
                <a:spcPct val="105000"/>
              </a:lnSpc>
              <a:buNone/>
            </a:pPr>
            <a:r>
              <a:rPr lang="en-US" sz="790" dirty="0">
                <a:solidFill>
                  <a:srgbClr val="5B6575"/>
                </a:solidFill>
                <a:latin typeface="Arial" pitchFamily="34" charset="0"/>
                <a:ea typeface="Arial" pitchFamily="34" charset="-122"/>
                <a:cs typeface="Arial" pitchFamily="34" charset="-120"/>
              </a:rPr>
              <a:t>le projet continue si les corrections demandées sont faites</a:t>
            </a:r>
          </a:p>
        </p:txBody>
      </p:sp>
      <p:sp>
        <p:nvSpPr>
          <p:cNvPr id="76" name="Shape 74"/>
          <p:cNvSpPr/>
          <p:nvPr/>
        </p:nvSpPr>
        <p:spPr>
          <a:xfrm>
            <a:off x="4997196" y="5303520"/>
            <a:ext cx="2148840" cy="566928"/>
          </a:xfrm>
          <a:prstGeom prst="roundRect">
            <a:avLst>
              <a:gd name="adj" fmla="val 16129"/>
            </a:avLst>
          </a:prstGeom>
          <a:solidFill>
            <a:srgbClr val="FFF5BF"/>
          </a:solidFill>
          <a:ln w="12700">
            <a:solidFill>
              <a:srgbClr val="FFF5BF"/>
            </a:solidFill>
            <a:prstDash val="solid"/>
          </a:ln>
        </p:spPr>
        <p:txBody>
          <a:bodyPr/>
          <a:p/>
        </p:txBody>
      </p:sp>
      <p:sp>
        <p:nvSpPr>
          <p:cNvPr id="77" name="Text 75"/>
          <p:cNvSpPr txBox="1"/>
          <p:nvPr/>
        </p:nvSpPr>
        <p:spPr>
          <a:xfrm>
            <a:off x="5106924" y="5367528"/>
            <a:ext cx="1965960" cy="219456"/>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À CORRIGER (REWORK)</a:t>
            </a:r>
            <a:endParaRPr lang="en-US" sz="900" dirty="0"/>
          </a:p>
        </p:txBody>
      </p:sp>
      <p:sp>
        <p:nvSpPr>
          <p:cNvPr id="78" name="Text 76"/>
          <p:cNvSpPr txBox="1"/>
          <p:nvPr/>
        </p:nvSpPr>
        <p:spPr>
          <a:xfrm>
            <a:off x="5106924" y="5586984"/>
            <a:ext cx="1965960" cy="256032"/>
          </a:xfrm>
          <a:prstGeom prst="rect">
            <a:avLst/>
          </a:prstGeom>
          <a:noFill/>
          <a:ln/>
        </p:spPr>
        <p:txBody>
          <a:bodyPr wrap="square" lIns="0" tIns="0" rIns="0" bIns="0" rtlCol="0" anchor="t"/>
          <a:lstStyle/>
          <a:p>
            <a:pPr indent="0" marL="0">
              <a:lnSpc>
                <a:spcPct val="105000"/>
              </a:lnSpc>
              <a:buNone/>
            </a:pPr>
            <a:r>
              <a:rPr lang="en-US" sz="750" dirty="0">
                <a:solidFill>
                  <a:srgbClr val="5B6575"/>
                </a:solidFill>
                <a:latin typeface="Arial" pitchFamily="34" charset="0"/>
                <a:ea typeface="Arial" pitchFamily="34" charset="-122"/>
                <a:cs typeface="Arial" pitchFamily="34" charset="-120"/>
              </a:rPr>
              <a:t>le projet doit être corrigé puis soumis pour une nouvelle revue</a:t>
            </a:r>
          </a:p>
        </p:txBody>
      </p:sp>
      <p:sp>
        <p:nvSpPr>
          <p:cNvPr id="79" name="Shape 77"/>
          <p:cNvSpPr/>
          <p:nvPr/>
        </p:nvSpPr>
        <p:spPr>
          <a:xfrm>
            <a:off x="7267194" y="5303520"/>
            <a:ext cx="2148840" cy="566928"/>
          </a:xfrm>
          <a:prstGeom prst="roundRect">
            <a:avLst>
              <a:gd name="adj" fmla="val 16129"/>
            </a:avLst>
          </a:prstGeom>
          <a:solidFill>
            <a:srgbClr val="EFE8FA"/>
          </a:solidFill>
          <a:ln w="12700">
            <a:solidFill>
              <a:srgbClr val="EFE8FA"/>
            </a:solidFill>
            <a:prstDash val="solid"/>
          </a:ln>
        </p:spPr>
        <p:txBody>
          <a:bodyPr/>
          <a:p/>
        </p:txBody>
      </p:sp>
      <p:sp>
        <p:nvSpPr>
          <p:cNvPr id="80" name="Text 78"/>
          <p:cNvSpPr txBox="1"/>
          <p:nvPr/>
        </p:nvSpPr>
        <p:spPr>
          <a:xfrm>
            <a:off x="7376922" y="5367528"/>
            <a:ext cx="1965960" cy="219456"/>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EN ATTENTE (SUSPENSION)</a:t>
            </a:r>
            <a:endParaRPr lang="en-US" sz="900" dirty="0"/>
          </a:p>
        </p:txBody>
      </p:sp>
      <p:sp>
        <p:nvSpPr>
          <p:cNvPr id="81" name="Text 79"/>
          <p:cNvSpPr txBox="1"/>
          <p:nvPr/>
        </p:nvSpPr>
        <p:spPr>
          <a:xfrm>
            <a:off x="7376922" y="5586984"/>
            <a:ext cx="1965960" cy="256032"/>
          </a:xfrm>
          <a:prstGeom prst="rect">
            <a:avLst/>
          </a:prstGeom>
          <a:noFill/>
          <a:ln/>
        </p:spPr>
        <p:txBody>
          <a:bodyPr wrap="square" lIns="0" tIns="0" rIns="0" bIns="0" rtlCol="0" anchor="t"/>
          <a:lstStyle/>
          <a:p>
            <a:pPr indent="0" marL="0">
              <a:lnSpc>
                <a:spcPct val="105000"/>
              </a:lnSpc>
              <a:buNone/>
            </a:pPr>
            <a:r>
              <a:rPr lang="en-US" sz="750" dirty="0">
                <a:solidFill>
                  <a:srgbClr val="5B6575"/>
                </a:solidFill>
                <a:latin typeface="Arial" pitchFamily="34" charset="0"/>
                <a:ea typeface="Arial" pitchFamily="34" charset="-122"/>
                <a:cs typeface="Arial" pitchFamily="34" charset="-120"/>
              </a:rPr>
              <a:t>une revue ne peut pas être conclue : un prérequis obligatoire manque</a:t>
            </a:r>
          </a:p>
        </p:txBody>
      </p:sp>
      <p:sp>
        <p:nvSpPr>
          <p:cNvPr id="82" name="Shape 80"/>
          <p:cNvSpPr/>
          <p:nvPr/>
        </p:nvSpPr>
        <p:spPr>
          <a:xfrm>
            <a:off x="9537192" y="5303520"/>
            <a:ext cx="2148840" cy="566928"/>
          </a:xfrm>
          <a:prstGeom prst="roundRect">
            <a:avLst>
              <a:gd name="adj" fmla="val 16129"/>
            </a:avLst>
          </a:prstGeom>
          <a:solidFill>
            <a:srgbClr val="FFE4E6"/>
          </a:solidFill>
          <a:ln w="12700">
            <a:solidFill>
              <a:srgbClr val="FFE4E6"/>
            </a:solidFill>
            <a:prstDash val="solid"/>
          </a:ln>
        </p:spPr>
        <p:txBody>
          <a:bodyPr/>
          <a:p/>
        </p:txBody>
      </p:sp>
      <p:sp>
        <p:nvSpPr>
          <p:cNvPr id="83" name="Text 81"/>
          <p:cNvSpPr txBox="1"/>
          <p:nvPr/>
        </p:nvSpPr>
        <p:spPr>
          <a:xfrm>
            <a:off x="9646920" y="5367528"/>
            <a:ext cx="1965960" cy="219456"/>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REFUSÉ (NO_GO)</a:t>
            </a:r>
            <a:endParaRPr lang="en-US" sz="900" dirty="0"/>
          </a:p>
        </p:txBody>
      </p:sp>
      <p:sp>
        <p:nvSpPr>
          <p:cNvPr id="84" name="Text 82"/>
          <p:cNvSpPr txBox="1"/>
          <p:nvPr/>
        </p:nvSpPr>
        <p:spPr>
          <a:xfrm>
            <a:off x="9646920" y="5586984"/>
            <a:ext cx="1965960" cy="256032"/>
          </a:xfrm>
          <a:prstGeom prst="rect">
            <a:avLst/>
          </a:prstGeom>
          <a:noFill/>
          <a:ln/>
        </p:spPr>
        <p:txBody>
          <a:bodyPr wrap="square" lIns="0" tIns="0" rIns="0" bIns="0" rtlCol="0" anchor="t"/>
          <a:lstStyle/>
          <a:p>
            <a:pPr indent="0" marL="0">
              <a:lnSpc>
                <a:spcPct val="105000"/>
              </a:lnSpc>
              <a:buNone/>
            </a:pPr>
            <a:r>
              <a:rPr lang="en-US" sz="790" dirty="0">
                <a:solidFill>
                  <a:srgbClr val="5B6575"/>
                </a:solidFill>
                <a:latin typeface="Arial" pitchFamily="34" charset="0"/>
                <a:ea typeface="Arial" pitchFamily="34" charset="-122"/>
                <a:cs typeface="Arial" pitchFamily="34" charset="-120"/>
              </a:rPr>
              <a:t>le projet ne peut pas continuer sous sa forme actuelle</a:t>
            </a:r>
          </a:p>
        </p:txBody>
      </p:sp>
      <p:sp>
        <p:nvSpPr>
          <p:cNvPr id="85" name="Shape 83"/>
          <p:cNvSpPr/>
          <p:nvPr/>
        </p:nvSpPr>
        <p:spPr>
          <a:xfrm>
            <a:off x="457200" y="6016752"/>
            <a:ext cx="11274552" cy="502920"/>
          </a:xfrm>
          <a:prstGeom prst="roundRect">
            <a:avLst>
              <a:gd name="adj" fmla="val 18182"/>
            </a:avLst>
          </a:prstGeom>
          <a:solidFill>
            <a:srgbClr val="FFF5BF"/>
          </a:solidFill>
          <a:ln w="12700">
            <a:solidFill>
              <a:srgbClr val="FFF5BF"/>
            </a:solidFill>
            <a:prstDash val="solid"/>
          </a:ln>
        </p:spPr>
        <p:txBody>
          <a:bodyPr/>
          <a:p/>
        </p:txBody>
      </p:sp>
      <p:pic>
        <p:nvPicPr>
          <p:cNvPr id="86" name="Image 0" descr="preencoded.png">    </p:cNvPr>
          <p:cNvPicPr>
            <a:picLocks noChangeAspect="1"/>
          </p:cNvPicPr>
          <p:nvPr/>
        </p:nvPicPr>
        <p:blipFill>
          <a:blip r:embed="rId1"/>
          <a:stretch>
            <a:fillRect/>
          </a:stretch>
        </p:blipFill>
        <p:spPr>
          <a:xfrm>
            <a:off x="621792" y="6112764"/>
            <a:ext cx="310896" cy="310896"/>
          </a:xfrm>
          <a:prstGeom prst="rect">
            <a:avLst/>
          </a:prstGeom>
        </p:spPr>
      </p:pic>
      <p:sp>
        <p:nvSpPr>
          <p:cNvPr id="87" name="Text 84"/>
          <p:cNvSpPr txBox="1"/>
          <p:nvPr/>
        </p:nvSpPr>
        <p:spPr>
          <a:xfrm>
            <a:off x="1051560" y="6016752"/>
            <a:ext cx="10469880" cy="50292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Le même dossier passe par plusieurs spécialistes ; chacun vérifie les points relevant de son domaine. </a:t>
            </a:r>
            <a:r>
              <a:rPr lang="en-US" sz="1150" dirty="0">
                <a:solidFill>
                  <a:srgbClr val="252A3D"/>
                </a:solidFill>
                <a:latin typeface="Arial" pitchFamily="34" charset="0"/>
                <a:ea typeface="Arial" pitchFamily="34" charset="-122"/>
                <a:cs typeface="Arial" pitchFamily="34" charset="-120"/>
              </a:rPr>
              <a:t>La Validation finale reprend les décisions des revues précédentes et rend une décision finale du parcours DGF cible.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DIGITAL GOVERNANCE FRAMEWORK · LES HUIT TYPES DE REVUE DU DGF</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Les huit types de revue du DGF</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Chaque revue répond à une question précise en accord avec des éléments précis du dossier.</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DIGITAL GOVERNANCE FRAMEWORK</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06 / 30</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11274552" cy="914400"/>
        </p:xfrm>
        <a:graphic>
          <a:graphicData uri="http://schemas.openxmlformats.org/drawingml/2006/table">
            <a:tbl>
              <a:tblPr/>
              <a:tblGrid>
                <a:gridCol w="2103120"/>
                <a:gridCol w="4572000"/>
                <a:gridCol w="4599432"/>
              </a:tblGrid>
              <a:tr h="274320">
                <a:tc>
                  <a:txBody>
                    <a:bodyPr/>
                    <a:lstStyle/>
                    <a:p>
                      <a:pPr indent="0" marL="0">
                        <a:buNone/>
                      </a:pPr>
                      <a:r>
                        <a:rPr lang="en-US" sz="900" b="1" dirty="0">
                          <a:solidFill>
                            <a:srgbClr val="5B6575"/>
                          </a:solidFill>
                          <a:latin typeface="Arial" pitchFamily="34" charset="0"/>
                          <a:ea typeface="Arial" pitchFamily="34" charset="-122"/>
                          <a:cs typeface="Arial" pitchFamily="34" charset="-120"/>
                        </a:rPr>
                        <a:t>ÉTAPE</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b="1" dirty="0">
                          <a:solidFill>
                            <a:srgbClr val="5B6575"/>
                          </a:solidFill>
                          <a:latin typeface="Arial" pitchFamily="34" charset="0"/>
                          <a:ea typeface="Arial" pitchFamily="34" charset="-122"/>
                          <a:cs typeface="Arial" pitchFamily="34" charset="-120"/>
                        </a:rPr>
                        <a:t>QUESTION</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b="1" dirty="0">
                          <a:solidFill>
                            <a:srgbClr val="5B6575"/>
                          </a:solidFill>
                          <a:latin typeface="Arial" pitchFamily="34" charset="0"/>
                          <a:ea typeface="Arial" pitchFamily="34" charset="-122"/>
                          <a:cs typeface="Arial" pitchFamily="34" charset="-120"/>
                        </a:rPr>
                        <a:t>ÉLÉMENTS VÉRIFIÉS</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940" b="1" dirty="0">
                          <a:solidFill>
                            <a:srgbClr val="252A3D"/>
                          </a:solidFill>
                          <a:latin typeface="Arial" pitchFamily="34" charset="0"/>
                          <a:ea typeface="Arial" pitchFamily="34" charset="-122"/>
                          <a:cs typeface="Arial" pitchFamily="34" charset="-120"/>
                        </a:rPr>
                        <a:t>Achats</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850" dirty="0">
                          <a:solidFill>
                            <a:srgbClr val="252A3D"/>
                          </a:solidFill>
                          <a:latin typeface="Arial" pitchFamily="34" charset="0"/>
                          <a:ea typeface="Arial" pitchFamily="34" charset="-122"/>
                          <a:cs typeface="Arial" pitchFamily="34" charset="-120"/>
                        </a:rPr>
                        <a:t>Le fournisseur est-il serieux ? le prix est-il acceptable ?</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940" dirty="0">
                          <a:solidFill>
                            <a:srgbClr val="5B6575"/>
                          </a:solidFill>
                          <a:latin typeface="Arial" pitchFamily="34" charset="0"/>
                          <a:ea typeface="Arial" pitchFamily="34" charset="-122"/>
                          <a:cs typeface="Arial" pitchFamily="34" charset="-120"/>
                        </a:rPr>
                        <a:t>offres, critères obligatoires, contrôle du fournisseur, listes de sanctions, coût sur 3 ans</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r>
              <a:tr h="429768">
                <a:tc>
                  <a:txBody>
                    <a:bodyPr/>
                    <a:lstStyle/>
                    <a:p>
                      <a:pPr indent="0" marL="0">
                        <a:buNone/>
                      </a:pPr>
                      <a:r>
                        <a:rPr lang="en-US" sz="940" b="1" dirty="0">
                          <a:solidFill>
                            <a:srgbClr val="252A3D"/>
                          </a:solidFill>
                          <a:latin typeface="Arial" pitchFamily="34" charset="0"/>
                          <a:ea typeface="Arial" pitchFamily="34" charset="-122"/>
                          <a:cs typeface="Arial" pitchFamily="34" charset="-120"/>
                        </a:rPr>
                        <a:t>Juridique</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700" dirty="0">
                          <a:solidFill>
                            <a:srgbClr val="252A3D"/>
                          </a:solidFill>
                          <a:latin typeface="Arial" pitchFamily="34" charset="0"/>
                          <a:ea typeface="Arial" pitchFamily="34" charset="-122"/>
                          <a:cs typeface="Arial" pitchFamily="34" charset="-120"/>
                        </a:rPr>
                        <a:t>Le contrat respecte-t-il les exigences requises, et la personne qui le signe est-elle autorisée à engager l’entreprise ?</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40" dirty="0">
                          <a:solidFill>
                            <a:srgbClr val="5B6575"/>
                          </a:solidFill>
                          <a:latin typeface="Arial" pitchFamily="34" charset="0"/>
                          <a:ea typeface="Arial" pitchFamily="34" charset="-122"/>
                          <a:cs typeface="Arial" pitchFamily="34" charset="-120"/>
                        </a:rPr>
                        <a:t>accord de traitement des données (DPA), responsabilité, clauses de sortie, pouvoir de signature</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940" b="1" dirty="0">
                          <a:solidFill>
                            <a:srgbClr val="252A3D"/>
                          </a:solidFill>
                          <a:latin typeface="Arial" pitchFamily="34" charset="0"/>
                          <a:ea typeface="Arial" pitchFamily="34" charset="-122"/>
                          <a:cs typeface="Arial" pitchFamily="34" charset="-120"/>
                        </a:rPr>
                        <a:t>Conformité réglementaire</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940" dirty="0">
                          <a:solidFill>
                            <a:srgbClr val="252A3D"/>
                          </a:solidFill>
                          <a:latin typeface="Arial" pitchFamily="34" charset="0"/>
                          <a:ea typeface="Arial" pitchFamily="34" charset="-122"/>
                          <a:cs typeface="Arial" pitchFamily="34" charset="-120"/>
                        </a:rPr>
                        <a:t>Les règles applicables sont-elles respectées ?</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940" dirty="0">
                          <a:solidFill>
                            <a:srgbClr val="5B6575"/>
                          </a:solidFill>
                          <a:latin typeface="Arial" pitchFamily="34" charset="0"/>
                          <a:ea typeface="Arial" pitchFamily="34" charset="-122"/>
                          <a:cs typeface="Arial" pitchFamily="34" charset="-120"/>
                        </a:rPr>
                        <a:t>analyse d’impact (AIPD), lieu d’hébergement, exigences réglementaires, piste d’audit</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r>
              <a:tr h="429768">
                <a:tc>
                  <a:txBody>
                    <a:bodyPr/>
                    <a:lstStyle/>
                    <a:p>
                      <a:pPr indent="0" marL="0">
                        <a:buNone/>
                      </a:pPr>
                      <a:r>
                        <a:rPr lang="en-US" sz="940" b="1" dirty="0">
                          <a:solidFill>
                            <a:srgbClr val="252A3D"/>
                          </a:solidFill>
                          <a:latin typeface="Arial" pitchFamily="34" charset="0"/>
                          <a:ea typeface="Arial" pitchFamily="34" charset="-122"/>
                          <a:cs typeface="Arial" pitchFamily="34" charset="-120"/>
                        </a:rPr>
                        <a:t>Cybersécurité</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40" dirty="0">
                          <a:solidFill>
                            <a:srgbClr val="252A3D"/>
                          </a:solidFill>
                          <a:latin typeface="Arial" pitchFamily="34" charset="0"/>
                          <a:ea typeface="Arial" pitchFamily="34" charset="-122"/>
                          <a:cs typeface="Arial" pitchFamily="34" charset="-120"/>
                        </a:rPr>
                        <a:t>Le niveau de sécurité est-il suffisant ?</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40" dirty="0">
                          <a:solidFill>
                            <a:srgbClr val="5B6575"/>
                          </a:solidFill>
                          <a:latin typeface="Arial" pitchFamily="34" charset="0"/>
                          <a:ea typeface="Arial" pitchFamily="34" charset="-122"/>
                          <a:cs typeface="Arial" pitchFamily="34" charset="-120"/>
                        </a:rPr>
                        <a:t>gestion des accès, accès réseau privé, supervision, vulnérabilités connues</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940" b="1" dirty="0">
                          <a:solidFill>
                            <a:srgbClr val="252A3D"/>
                          </a:solidFill>
                          <a:latin typeface="Arial" pitchFamily="34" charset="0"/>
                          <a:ea typeface="Arial" pitchFamily="34" charset="-122"/>
                          <a:cs typeface="Arial" pitchFamily="34" charset="-120"/>
                        </a:rPr>
                        <a:t>Standardisation technologique</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940" dirty="0">
                          <a:solidFill>
                            <a:srgbClr val="252A3D"/>
                          </a:solidFill>
                          <a:latin typeface="Arial" pitchFamily="34" charset="0"/>
                          <a:ea typeface="Arial" pitchFamily="34" charset="-122"/>
                          <a:cs typeface="Arial" pitchFamily="34" charset="-120"/>
                        </a:rPr>
                        <a:t>Les standards technologiques internes sont-ils respectés ?</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940" dirty="0">
                          <a:solidFill>
                            <a:srgbClr val="5B6575"/>
                          </a:solidFill>
                          <a:latin typeface="Arial" pitchFamily="34" charset="0"/>
                          <a:ea typeface="Arial" pitchFamily="34" charset="-122"/>
                          <a:cs typeface="Arial" pitchFamily="34" charset="-120"/>
                        </a:rPr>
                        <a:t>catalogue des technologies approuvées, capacité, équipe de support, gestion des changements</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r>
              <a:tr h="429768">
                <a:tc>
                  <a:txBody>
                    <a:bodyPr/>
                    <a:lstStyle/>
                    <a:p>
                      <a:pPr indent="0" marL="0">
                        <a:buNone/>
                      </a:pPr>
                      <a:r>
                        <a:rPr lang="en-US" sz="940" b="1" dirty="0">
                          <a:solidFill>
                            <a:srgbClr val="252A3D"/>
                          </a:solidFill>
                          <a:latin typeface="Arial" pitchFamily="34" charset="0"/>
                          <a:ea typeface="Arial" pitchFamily="34" charset="-122"/>
                          <a:cs typeface="Arial" pitchFamily="34" charset="-120"/>
                        </a:rPr>
                        <a:t>Architecture technique</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40" dirty="0">
                          <a:solidFill>
                            <a:srgbClr val="252A3D"/>
                          </a:solidFill>
                          <a:latin typeface="Arial" pitchFamily="34" charset="0"/>
                          <a:ea typeface="Arial" pitchFamily="34" charset="-122"/>
                          <a:cs typeface="Arial" pitchFamily="34" charset="-120"/>
                        </a:rPr>
                        <a:t>Les contraintes techniques sont-elles respectées ?</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40" dirty="0">
                          <a:solidFill>
                            <a:srgbClr val="5B6575"/>
                          </a:solidFill>
                          <a:latin typeface="Arial" pitchFamily="34" charset="0"/>
                          <a:ea typeface="Arial" pitchFamily="34" charset="-122"/>
                          <a:cs typeface="Arial" pitchFamily="34" charset="-120"/>
                        </a:rPr>
                        <a:t>plages IP, interfaces, responsables des données, temps de réponse, réversibilité</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940" b="1" dirty="0">
                          <a:solidFill>
                            <a:srgbClr val="252A3D"/>
                          </a:solidFill>
                          <a:latin typeface="Arial" pitchFamily="34" charset="0"/>
                          <a:ea typeface="Arial" pitchFamily="34" charset="-122"/>
                          <a:cs typeface="Arial" pitchFamily="34" charset="-120"/>
                        </a:rPr>
                        <a:t>Préparation à l’exploitation</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940" dirty="0">
                          <a:solidFill>
                            <a:srgbClr val="252A3D"/>
                          </a:solidFill>
                          <a:latin typeface="Arial" pitchFamily="34" charset="0"/>
                          <a:ea typeface="Arial" pitchFamily="34" charset="-122"/>
                          <a:cs typeface="Arial" pitchFamily="34" charset="-120"/>
                        </a:rPr>
                        <a:t>Le projet est-il prêt à être mis en production ?</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940" dirty="0">
                          <a:solidFill>
                            <a:srgbClr val="5B6575"/>
                          </a:solidFill>
                          <a:latin typeface="Arial" pitchFamily="34" charset="0"/>
                          <a:ea typeface="Arial" pitchFamily="34" charset="-122"/>
                          <a:cs typeface="Arial" pitchFamily="34" charset="-120"/>
                        </a:rPr>
                        <a:t>tests de charge, de sauvegarde et de restauration, plan de reprise, procédure d’exploitation (runbook)</a:t>
                      </a:r>
                    </a:p>
                  </a:txBody>
                  <a:tcPr marL="91440" marR="91440" marT="27432" marB="27432" anchor="ctr">
                    <a:lnL w="0" cap="flat" cmpd="sng" algn="ctr">
                      <a:noFill/>
                    </a:lnL>
                    <a:lnR w="0" cap="flat" cmpd="sng" algn="ctr">
                      <a:noFill/>
                    </a:lnR>
                    <a:lnT w="0" cap="flat" cmpd="sng" algn="ctr">
                      <a:noFill/>
                    </a:lnT>
                    <a:lnB w="0" cap="flat" cmpd="sng" algn="ctr">
                      <a:noFill/>
                    </a:lnB>
                    <a:solidFill>
                      <a:srgbClr val="F3F5F8"/>
                    </a:solidFill>
                  </a:tcPr>
                </a:tc>
              </a:tr>
              <a:tr h="429768">
                <a:tc>
                  <a:txBody>
                    <a:bodyPr/>
                    <a:lstStyle/>
                    <a:p>
                      <a:pPr indent="0" marL="0">
                        <a:buNone/>
                      </a:pPr>
                      <a:r>
                        <a:rPr lang="en-US" sz="940" b="1" dirty="0">
                          <a:solidFill>
                            <a:srgbClr val="252A3D"/>
                          </a:solidFill>
                          <a:latin typeface="Arial" pitchFamily="34" charset="0"/>
                          <a:ea typeface="Arial" pitchFamily="34" charset="-122"/>
                          <a:cs typeface="Arial" pitchFamily="34" charset="-120"/>
                        </a:rPr>
                        <a:t>Validation finale</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40" dirty="0">
                          <a:solidFill>
                            <a:srgbClr val="252A3D"/>
                          </a:solidFill>
                          <a:latin typeface="Arial" pitchFamily="34" charset="0"/>
                          <a:ea typeface="Arial" pitchFamily="34" charset="-122"/>
                          <a:cs typeface="Arial" pitchFamily="34" charset="-120"/>
                        </a:rPr>
                        <a:t>Au vu des revues précédentes, quelle décision finale doit être rendue pour le projet ?</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40" dirty="0">
                          <a:solidFill>
                            <a:srgbClr val="5B6575"/>
                          </a:solidFill>
                          <a:latin typeface="Arial" pitchFamily="34" charset="0"/>
                          <a:ea typeface="Arial" pitchFamily="34" charset="-122"/>
                          <a:cs typeface="Arial" pitchFamily="34" charset="-120"/>
                        </a:rPr>
                        <a:t>décisions précédentes, budget, stratégie, conduite du changement</a:t>
                      </a: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0" name="Shape 7"/>
          <p:cNvSpPr/>
          <p:nvPr/>
        </p:nvSpPr>
        <p:spPr>
          <a:xfrm>
            <a:off x="457200" y="5870448"/>
            <a:ext cx="11274552" cy="603504"/>
          </a:xfrm>
          <a:prstGeom prst="roundRect">
            <a:avLst>
              <a:gd name="adj" fmla="val 15152"/>
            </a:avLst>
          </a:prstGeom>
          <a:solidFill>
            <a:srgbClr val="FFF5BF"/>
          </a:solidFill>
          <a:ln w="12700">
            <a:solidFill>
              <a:srgbClr val="FFF5BF"/>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621792" y="6016752"/>
            <a:ext cx="310896" cy="310896"/>
          </a:xfrm>
          <a:prstGeom prst="rect">
            <a:avLst/>
          </a:prstGeom>
        </p:spPr>
      </p:pic>
      <p:sp>
        <p:nvSpPr>
          <p:cNvPr id="12" name="Text 8"/>
          <p:cNvSpPr txBox="1"/>
          <p:nvPr/>
        </p:nvSpPr>
        <p:spPr>
          <a:xfrm>
            <a:off x="1051560" y="5870448"/>
            <a:ext cx="10469880" cy="603504"/>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Les étapes Cybersécurité et Juridique examinent le même dossier, mais chacune vérifie des risques différents selon son domaine de responsabilité.</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DIGITAL GOVERNANCE FRAMEWORK · POURQUOI LE DGF SE PRÊTE BIEN À L'AUTOMATISATION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Pourquoi le DGF se prête bien à l'automatisation</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Quatre raisons : dossiers récurrents, politiques explicites, résultats transmis entre revues et critères vérifiables.</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DIGITAL GOVERNANCE FRAMEWORK</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07 / 30</a:t>
            </a:r>
            <a:endParaRPr lang="en-US" sz="1000" dirty="0"/>
          </a:p>
        </p:txBody>
      </p:sp>
      <p:sp>
        <p:nvSpPr>
          <p:cNvPr id="9" name="Shape 7"/>
          <p:cNvSpPr/>
          <p:nvPr/>
        </p:nvSpPr>
        <p:spPr>
          <a:xfrm>
            <a:off x="457200" y="1965960"/>
            <a:ext cx="2651760" cy="3246120"/>
          </a:xfrm>
          <a:prstGeom prst="roundRect">
            <a:avLst>
              <a:gd name="adj" fmla="val 3448"/>
            </a:avLst>
          </a:prstGeom>
          <a:solidFill>
            <a:srgbClr val="DDF5FC"/>
          </a:solidFill>
          <a:ln w="12700">
            <a:solidFill>
              <a:srgbClr val="DDF5FC"/>
            </a:solidFill>
            <a:prstDash val="solid"/>
          </a:ln>
        </p:spPr>
        <p:txBody>
          <a:bodyPr/>
          <a:p/>
        </p:txBody>
      </p:sp>
      <p:sp>
        <p:nvSpPr>
          <p:cNvPr id="10" name="Shape 8"/>
          <p:cNvSpPr/>
          <p:nvPr/>
        </p:nvSpPr>
        <p:spPr>
          <a:xfrm>
            <a:off x="621792" y="21305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11" name="Text 9"/>
          <p:cNvSpPr txBox="1"/>
          <p:nvPr/>
        </p:nvSpPr>
        <p:spPr>
          <a:xfrm>
            <a:off x="621792" y="21305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621792" y="2542032"/>
            <a:ext cx="2322576" cy="320040"/>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Le travail est répétitif</a:t>
            </a:r>
            <a:endParaRPr lang="en-US" sz="1300" dirty="0"/>
          </a:p>
        </p:txBody>
      </p:sp>
      <p:sp>
        <p:nvSpPr>
          <p:cNvPr id="13" name="Text 11"/>
          <p:cNvSpPr txBox="1"/>
          <p:nvPr/>
        </p:nvSpPr>
        <p:spPr>
          <a:xfrm>
            <a:off x="621792" y="294436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APPORT POUR L'ÉQUIPE</a:t>
            </a:r>
            <a:endParaRPr lang="en-US" sz="950" dirty="0"/>
          </a:p>
        </p:txBody>
      </p:sp>
      <p:sp>
        <p:nvSpPr>
          <p:cNvPr id="14" name="Text 12"/>
          <p:cNvSpPr txBox="1"/>
          <p:nvPr/>
        </p:nvSpPr>
        <p:spPr>
          <a:xfrm>
            <a:off x="621792" y="3163824"/>
            <a:ext cx="2322576" cy="1143000"/>
          </a:xfrm>
          <a:prstGeom prst="rect">
            <a:avLst/>
          </a:prstGeom>
          <a:noFill/>
          <a:ln/>
        </p:spPr>
        <p:txBody>
          <a:bodyPr wrap="square" lIns="0" tIns="0" rIns="0" bIns="0" rtlCol="0" anchor="t"/>
          <a:lstStyle/>
          <a:p>
            <a:pPr indent="0" marL="0">
              <a:lnSpc>
                <a:spcPct val="105000"/>
              </a:lnSpc>
              <a:buNone/>
            </a:pPr>
            <a:r>
              <a:rPr lang="en-US" sz="960" dirty="0">
                <a:solidFill>
                  <a:srgbClr val="252A3D"/>
                </a:solidFill>
                <a:latin typeface="Arial" pitchFamily="34" charset="0"/>
                <a:ea typeface="Arial" pitchFamily="34" charset="-122"/>
                <a:cs typeface="Arial" pitchFamily="34" charset="-120"/>
              </a:rPr>
              <a:t>Des centaines de projets passent par les mêmes étapes. La même méthode de revue peut être utilisée pour d’autres projets, à condition qu’ils fournissent des informations similaires, suivent des règles comparables et couvrent un périmètre équivalent.</a:t>
            </a:r>
          </a:p>
        </p:txBody>
      </p:sp>
      <p:sp>
        <p:nvSpPr>
          <p:cNvPr id="15" name="Text 13"/>
          <p:cNvSpPr txBox="1"/>
          <p:nvPr/>
        </p:nvSpPr>
        <p:spPr>
          <a:xfrm>
            <a:off x="621792" y="4315968"/>
            <a:ext cx="2322576" cy="201168"/>
          </a:xfrm>
          <a:prstGeom prst="rect">
            <a:avLst/>
          </a:prstGeom>
          <a:noFill/>
          <a:ln/>
        </p:spPr>
        <p:txBody>
          <a:bodyPr wrap="square" lIns="0" tIns="0" rIns="0" bIns="0" rtlCol="0" anchor="t"/>
          <a:lstStyle/>
          <a:p>
            <a:pPr indent="0" marL="0">
              <a:lnSpc>
                <a:spcPct val="105000"/>
              </a:lnSpc>
              <a:buNone/>
            </a:pPr>
            <a:r>
              <a:rPr lang="en-US" sz="800" b="1" spc="30" kern="0" dirty="0">
                <a:solidFill>
                  <a:srgbClr val="C8283E"/>
                </a:solidFill>
                <a:latin typeface="Arial" pitchFamily="34" charset="0"/>
                <a:ea typeface="Arial" pitchFamily="34" charset="-122"/>
                <a:cs typeface="Arial" pitchFamily="34" charset="-120"/>
              </a:rPr>
              <a:t>CE QUI EMPÊCHE L'AUTOMATISATION</a:t>
            </a:r>
            <a:endParaRPr lang="en-US" sz="800" dirty="0"/>
          </a:p>
        </p:txBody>
      </p:sp>
      <p:sp>
        <p:nvSpPr>
          <p:cNvPr id="16" name="Text 14"/>
          <p:cNvSpPr txBox="1"/>
          <p:nvPr/>
        </p:nvSpPr>
        <p:spPr>
          <a:xfrm>
            <a:off x="621792" y="4535424"/>
            <a:ext cx="2322576" cy="658368"/>
          </a:xfrm>
          <a:prstGeom prst="rect">
            <a:avLst/>
          </a:prstGeom>
          <a:noFill/>
          <a:ln/>
        </p:spPr>
        <p:txBody>
          <a:bodyPr wrap="square" lIns="0" tIns="0" rIns="0" bIns="0" rtlCol="0" anchor="t"/>
          <a:lstStyle/>
          <a:p>
            <a:pPr indent="0" marL="0">
              <a:lnSpc>
                <a:spcPct val="105000"/>
              </a:lnSpc>
              <a:buNone/>
            </a:pPr>
            <a:r>
              <a:rPr lang="en-US" sz="700" dirty="0">
                <a:solidFill>
                  <a:srgbClr val="252A3D"/>
                </a:solidFill>
                <a:latin typeface="Arial" pitchFamily="34" charset="0"/>
                <a:ea typeface="Arial" pitchFamily="34" charset="-122"/>
                <a:cs typeface="Arial" pitchFamily="34" charset="-120"/>
              </a:rPr>
              <a:t>Des informations nécessaires à la revue qui ne sont pas documentées, ou des fichiers auxquels la personne chargée de la revue n’a pas accès.</a:t>
            </a:r>
          </a:p>
        </p:txBody>
      </p:sp>
      <p:sp>
        <p:nvSpPr>
          <p:cNvPr id="17" name="Shape 15"/>
          <p:cNvSpPr/>
          <p:nvPr/>
        </p:nvSpPr>
        <p:spPr>
          <a:xfrm>
            <a:off x="3332988" y="1965960"/>
            <a:ext cx="2651760" cy="3246120"/>
          </a:xfrm>
          <a:prstGeom prst="roundRect">
            <a:avLst>
              <a:gd name="adj" fmla="val 3448"/>
            </a:avLst>
          </a:prstGeom>
          <a:solidFill>
            <a:srgbClr val="E5F6E9"/>
          </a:solidFill>
          <a:ln w="12700">
            <a:solidFill>
              <a:srgbClr val="E5F6E9"/>
            </a:solidFill>
            <a:prstDash val="solid"/>
          </a:ln>
        </p:spPr>
        <p:txBody>
          <a:bodyPr/>
          <a:p/>
        </p:txBody>
      </p:sp>
      <p:sp>
        <p:nvSpPr>
          <p:cNvPr id="18" name="Shape 16"/>
          <p:cNvSpPr/>
          <p:nvPr/>
        </p:nvSpPr>
        <p:spPr>
          <a:xfrm>
            <a:off x="3497580" y="21305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19" name="Text 17"/>
          <p:cNvSpPr txBox="1"/>
          <p:nvPr/>
        </p:nvSpPr>
        <p:spPr>
          <a:xfrm>
            <a:off x="3497580" y="21305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20" name="Text 18"/>
          <p:cNvSpPr txBox="1"/>
          <p:nvPr/>
        </p:nvSpPr>
        <p:spPr>
          <a:xfrm>
            <a:off x="3497580" y="2542032"/>
            <a:ext cx="2322576" cy="320040"/>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Les règles sont formalisées</a:t>
            </a:r>
            <a:endParaRPr lang="en-US" sz="1300" dirty="0"/>
          </a:p>
        </p:txBody>
      </p:sp>
      <p:sp>
        <p:nvSpPr>
          <p:cNvPr id="21" name="Text 19"/>
          <p:cNvSpPr txBox="1"/>
          <p:nvPr/>
        </p:nvSpPr>
        <p:spPr>
          <a:xfrm>
            <a:off x="3497580" y="294436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APPORT POUR L'ÉQUIPE</a:t>
            </a:r>
            <a:endParaRPr lang="en-US" sz="950" dirty="0"/>
          </a:p>
        </p:txBody>
      </p:sp>
      <p:sp>
        <p:nvSpPr>
          <p:cNvPr id="22" name="Text 20"/>
          <p:cNvSpPr txBox="1"/>
          <p:nvPr/>
        </p:nvSpPr>
        <p:spPr>
          <a:xfrm>
            <a:off x="3497580" y="3163824"/>
            <a:ext cx="2322576" cy="1143000"/>
          </a:xfrm>
          <a:prstGeom prst="rect">
            <a:avLst/>
          </a:prstGeom>
          <a:noFill/>
          <a:ln/>
        </p:spPr>
        <p:txBody>
          <a:bodyPr wrap="square" lIns="0" tIns="0" rIns="0" bIns="0" rtlCol="0" anchor="t"/>
          <a:lstStyle/>
          <a:p>
            <a:pPr indent="0" marL="0">
              <a:lnSpc>
                <a:spcPct val="105000"/>
              </a:lnSpc>
              <a:buNone/>
            </a:pPr>
            <a:r>
              <a:rPr lang="en-US" sz="750" dirty="0">
                <a:solidFill>
                  <a:srgbClr val="252A3D"/>
                </a:solidFill>
                <a:latin typeface="Arial" pitchFamily="34" charset="0"/>
                <a:ea typeface="Arial" pitchFamily="34" charset="-122"/>
                <a:cs typeface="Arial" pitchFamily="34" charset="-120"/>
              </a:rPr>
              <a:t>Les règles, les seuils et les délégations de décision sont écrits et peuvent être vérifiés. Les contrôles fondés sur des règles précises peuvent être automatisés directement par un logiciel ; l’agent IA intervient lorsque la revue nécessite d’interpréter des informations moins structurées.</a:t>
            </a:r>
          </a:p>
        </p:txBody>
      </p:sp>
      <p:sp>
        <p:nvSpPr>
          <p:cNvPr id="23" name="Text 21"/>
          <p:cNvSpPr txBox="1"/>
          <p:nvPr/>
        </p:nvSpPr>
        <p:spPr>
          <a:xfrm>
            <a:off x="3497580" y="4315968"/>
            <a:ext cx="2322576" cy="201168"/>
          </a:xfrm>
          <a:prstGeom prst="rect">
            <a:avLst/>
          </a:prstGeom>
          <a:noFill/>
          <a:ln/>
        </p:spPr>
        <p:txBody>
          <a:bodyPr wrap="square" lIns="0" tIns="0" rIns="0" bIns="0" rtlCol="0" anchor="t"/>
          <a:lstStyle/>
          <a:p>
            <a:pPr indent="0" marL="0">
              <a:lnSpc>
                <a:spcPct val="105000"/>
              </a:lnSpc>
              <a:buNone/>
            </a:pPr>
            <a:r>
              <a:rPr lang="en-US" sz="800" b="1" spc="30" kern="0" dirty="0">
                <a:solidFill>
                  <a:srgbClr val="C8283E"/>
                </a:solidFill>
                <a:latin typeface="Arial" pitchFamily="34" charset="0"/>
                <a:ea typeface="Arial" pitchFamily="34" charset="-122"/>
                <a:cs typeface="Arial" pitchFamily="34" charset="-120"/>
              </a:rPr>
              <a:t>CE QUI EMPÊCHE L'AUTOMATISATION</a:t>
            </a:r>
            <a:endParaRPr lang="en-US" sz="800" dirty="0"/>
          </a:p>
        </p:txBody>
      </p:sp>
      <p:sp>
        <p:nvSpPr>
          <p:cNvPr id="24" name="Text 22"/>
          <p:cNvSpPr txBox="1"/>
          <p:nvPr/>
        </p:nvSpPr>
        <p:spPr>
          <a:xfrm>
            <a:off x="3497580" y="4535424"/>
            <a:ext cx="2322576" cy="658368"/>
          </a:xfrm>
          <a:prstGeom prst="rect">
            <a:avLst/>
          </a:prstGeom>
          <a:noFill/>
          <a:ln/>
        </p:spPr>
        <p:txBody>
          <a:bodyPr wrap="square" lIns="0" tIns="0" rIns="0" bIns="0" rtlCol="0" anchor="t"/>
          <a:lstStyle/>
          <a:p>
            <a:pPr indent="0" marL="0">
              <a:lnSpc>
                <a:spcPct val="105000"/>
              </a:lnSpc>
              <a:buNone/>
            </a:pPr>
            <a:r>
              <a:rPr lang="en-US" sz="700" dirty="0">
                <a:solidFill>
                  <a:srgbClr val="252A3D"/>
                </a:solidFill>
                <a:latin typeface="Arial" pitchFamily="34" charset="0"/>
                <a:ea typeface="Arial" pitchFamily="34" charset="-122"/>
                <a:cs typeface="Arial" pitchFamily="34" charset="-120"/>
              </a:rPr>
              <a:t>Des règles qui se contredisent, ou des situations dans lesquelles la décision dépend d’un jugement humain qui n’a pas été défini à l’avance dans les règles.</a:t>
            </a:r>
          </a:p>
        </p:txBody>
      </p:sp>
      <p:sp>
        <p:nvSpPr>
          <p:cNvPr id="25" name="Shape 23"/>
          <p:cNvSpPr/>
          <p:nvPr/>
        </p:nvSpPr>
        <p:spPr>
          <a:xfrm>
            <a:off x="6208776" y="1965960"/>
            <a:ext cx="2651760" cy="3246120"/>
          </a:xfrm>
          <a:prstGeom prst="roundRect">
            <a:avLst>
              <a:gd name="adj" fmla="val 3448"/>
            </a:avLst>
          </a:prstGeom>
          <a:solidFill>
            <a:srgbClr val="FFE4E6"/>
          </a:solidFill>
          <a:ln w="12700">
            <a:solidFill>
              <a:srgbClr val="FFE4E6"/>
            </a:solidFill>
            <a:prstDash val="solid"/>
          </a:ln>
        </p:spPr>
        <p:txBody>
          <a:bodyPr/>
          <a:p/>
        </p:txBody>
      </p:sp>
      <p:sp>
        <p:nvSpPr>
          <p:cNvPr id="26" name="Shape 24"/>
          <p:cNvSpPr/>
          <p:nvPr/>
        </p:nvSpPr>
        <p:spPr>
          <a:xfrm>
            <a:off x="6373368" y="21305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27" name="Text 25"/>
          <p:cNvSpPr txBox="1"/>
          <p:nvPr/>
        </p:nvSpPr>
        <p:spPr>
          <a:xfrm>
            <a:off x="6373368" y="21305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6373368" y="2542032"/>
            <a:ext cx="2322576" cy="320040"/>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Chaque revue transmet son résultat à la suivante</a:t>
            </a:r>
          </a:p>
        </p:txBody>
      </p:sp>
      <p:sp>
        <p:nvSpPr>
          <p:cNvPr id="29" name="Text 27"/>
          <p:cNvSpPr txBox="1"/>
          <p:nvPr/>
        </p:nvSpPr>
        <p:spPr>
          <a:xfrm>
            <a:off x="6373368" y="294436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APPORT POUR L'ÉQUIPE</a:t>
            </a:r>
            <a:endParaRPr lang="en-US" sz="950" dirty="0"/>
          </a:p>
        </p:txBody>
      </p:sp>
      <p:sp>
        <p:nvSpPr>
          <p:cNvPr id="30" name="Text 28"/>
          <p:cNvSpPr txBox="1"/>
          <p:nvPr/>
        </p:nvSpPr>
        <p:spPr>
          <a:xfrm>
            <a:off x="6373368" y="3163824"/>
            <a:ext cx="2322576" cy="1143000"/>
          </a:xfrm>
          <a:prstGeom prst="rect">
            <a:avLst/>
          </a:prstGeom>
          <a:noFill/>
          <a:ln/>
        </p:spPr>
        <p:txBody>
          <a:bodyPr wrap="square" lIns="0" tIns="0" rIns="0" bIns="0" rtlCol="0" anchor="t"/>
          <a:lstStyle/>
          <a:p>
            <a:pPr indent="0" marL="0">
              <a:lnSpc>
                <a:spcPct val="105000"/>
              </a:lnSpc>
              <a:buNone/>
            </a:pPr>
            <a:r>
              <a:rPr lang="en-US" sz="850" dirty="0">
                <a:solidFill>
                  <a:srgbClr val="252A3D"/>
                </a:solidFill>
                <a:latin typeface="Arial" pitchFamily="34" charset="0"/>
                <a:ea typeface="Arial" pitchFamily="34" charset="-122"/>
                <a:cs typeface="Arial" pitchFamily="34" charset="-120"/>
              </a:rPr>
              <a:t>À la fin de chaque revue, un résultat structuré est enregistré : la décision prise, les problèmes identifiés, les actions à réaliser et les sources utilisées. Ces informations peuvent ensuite être consultées par l’étape de revue suivante.</a:t>
            </a:r>
          </a:p>
        </p:txBody>
      </p:sp>
      <p:sp>
        <p:nvSpPr>
          <p:cNvPr id="31" name="Text 29"/>
          <p:cNvSpPr txBox="1"/>
          <p:nvPr/>
        </p:nvSpPr>
        <p:spPr>
          <a:xfrm>
            <a:off x="6373368" y="4315968"/>
            <a:ext cx="2322576" cy="201168"/>
          </a:xfrm>
          <a:prstGeom prst="rect">
            <a:avLst/>
          </a:prstGeom>
          <a:noFill/>
          <a:ln/>
        </p:spPr>
        <p:txBody>
          <a:bodyPr wrap="square" lIns="0" tIns="0" rIns="0" bIns="0" rtlCol="0" anchor="t"/>
          <a:lstStyle/>
          <a:p>
            <a:pPr indent="0" marL="0">
              <a:lnSpc>
                <a:spcPct val="105000"/>
              </a:lnSpc>
              <a:buNone/>
            </a:pPr>
            <a:r>
              <a:rPr lang="en-US" sz="800" b="1" spc="30" kern="0" dirty="0">
                <a:solidFill>
                  <a:srgbClr val="C8283E"/>
                </a:solidFill>
                <a:latin typeface="Arial" pitchFamily="34" charset="0"/>
                <a:ea typeface="Arial" pitchFamily="34" charset="-122"/>
                <a:cs typeface="Arial" pitchFamily="34" charset="-120"/>
              </a:rPr>
              <a:t>CE QUI EMPÊCHE L'AUTOMATISATION</a:t>
            </a:r>
            <a:endParaRPr lang="en-US" sz="800" dirty="0"/>
          </a:p>
        </p:txBody>
      </p:sp>
      <p:sp>
        <p:nvSpPr>
          <p:cNvPr id="32" name="Text 30"/>
          <p:cNvSpPr txBox="1"/>
          <p:nvPr/>
        </p:nvSpPr>
        <p:spPr>
          <a:xfrm>
            <a:off x="6373368" y="4535424"/>
            <a:ext cx="2322576" cy="658368"/>
          </a:xfrm>
          <a:prstGeom prst="rect">
            <a:avLst/>
          </a:prstGeom>
          <a:noFill/>
          <a:ln/>
        </p:spPr>
        <p:txBody>
          <a:bodyPr wrap="square" lIns="0" tIns="0" rIns="0" bIns="0" rtlCol="0" anchor="t"/>
          <a:lstStyle/>
          <a:p>
            <a:pPr indent="0" marL="0">
              <a:lnSpc>
                <a:spcPct val="105000"/>
              </a:lnSpc>
              <a:buNone/>
            </a:pPr>
            <a:r>
              <a:rPr lang="en-US" sz="700" dirty="0">
                <a:solidFill>
                  <a:srgbClr val="252A3D"/>
                </a:solidFill>
                <a:latin typeface="Arial" pitchFamily="34" charset="0"/>
                <a:ea typeface="Arial" pitchFamily="34" charset="-122"/>
                <a:cs typeface="Arial" pitchFamily="34" charset="-120"/>
              </a:rPr>
              <a:t>Des informations qui doivent être saisies manuellement plusieurs fois, qui risquent d’être perdues ou qui doivent être vérifiées à nouveau à chaque étape.</a:t>
            </a:r>
          </a:p>
        </p:txBody>
      </p:sp>
      <p:sp>
        <p:nvSpPr>
          <p:cNvPr id="33" name="Shape 31"/>
          <p:cNvSpPr/>
          <p:nvPr/>
        </p:nvSpPr>
        <p:spPr>
          <a:xfrm>
            <a:off x="9084564" y="1965960"/>
            <a:ext cx="2651760" cy="3246120"/>
          </a:xfrm>
          <a:prstGeom prst="roundRect">
            <a:avLst>
              <a:gd name="adj" fmla="val 3448"/>
            </a:avLst>
          </a:prstGeom>
          <a:solidFill>
            <a:srgbClr val="FFF5BF"/>
          </a:solidFill>
          <a:ln w="12700">
            <a:solidFill>
              <a:srgbClr val="FFF5BF"/>
            </a:solidFill>
            <a:prstDash val="solid"/>
          </a:ln>
        </p:spPr>
        <p:txBody>
          <a:bodyPr/>
          <a:p/>
        </p:txBody>
      </p:sp>
      <p:sp>
        <p:nvSpPr>
          <p:cNvPr id="34" name="Shape 32"/>
          <p:cNvSpPr/>
          <p:nvPr/>
        </p:nvSpPr>
        <p:spPr>
          <a:xfrm>
            <a:off x="9249156" y="21305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35" name="Text 33"/>
          <p:cNvSpPr txBox="1"/>
          <p:nvPr/>
        </p:nvSpPr>
        <p:spPr>
          <a:xfrm>
            <a:off x="9249156" y="21305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4</a:t>
            </a:r>
            <a:endParaRPr lang="en-US" sz="1000" dirty="0"/>
          </a:p>
        </p:txBody>
      </p:sp>
      <p:sp>
        <p:nvSpPr>
          <p:cNvPr id="36" name="Text 34"/>
          <p:cNvSpPr txBox="1"/>
          <p:nvPr/>
        </p:nvSpPr>
        <p:spPr>
          <a:xfrm>
            <a:off x="9249156" y="2542032"/>
            <a:ext cx="2322576" cy="320040"/>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Le résultat est vérifiable</a:t>
            </a:r>
            <a:endParaRPr lang="en-US" sz="1300" dirty="0"/>
          </a:p>
        </p:txBody>
      </p:sp>
      <p:sp>
        <p:nvSpPr>
          <p:cNvPr id="37" name="Text 35"/>
          <p:cNvSpPr txBox="1"/>
          <p:nvPr/>
        </p:nvSpPr>
        <p:spPr>
          <a:xfrm>
            <a:off x="9249156" y="294436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APPORT POUR L'ÉQUIPE</a:t>
            </a:r>
            <a:endParaRPr lang="en-US" sz="950" dirty="0"/>
          </a:p>
        </p:txBody>
      </p:sp>
      <p:sp>
        <p:nvSpPr>
          <p:cNvPr id="38" name="Text 36"/>
          <p:cNvSpPr txBox="1"/>
          <p:nvPr/>
        </p:nvSpPr>
        <p:spPr>
          <a:xfrm>
            <a:off x="9249156" y="3163824"/>
            <a:ext cx="2322576" cy="1143000"/>
          </a:xfrm>
          <a:prstGeom prst="rect">
            <a:avLst/>
          </a:prstGeom>
          <a:noFill/>
          <a:ln/>
        </p:spPr>
        <p:txBody>
          <a:bodyPr wrap="square" lIns="0" tIns="0" rIns="0" bIns="0" rtlCol="0" anchor="t"/>
          <a:lstStyle/>
          <a:p>
            <a:pPr indent="0" marL="0">
              <a:lnSpc>
                <a:spcPct val="105000"/>
              </a:lnSpc>
              <a:buNone/>
            </a:pPr>
            <a:r>
              <a:rPr lang="en-US" sz="960" dirty="0">
                <a:solidFill>
                  <a:srgbClr val="252A3D"/>
                </a:solidFill>
                <a:latin typeface="Arial" pitchFamily="34" charset="0"/>
                <a:ea typeface="Arial" pitchFamily="34" charset="-122"/>
                <a:cs typeface="Arial" pitchFamily="34" charset="-120"/>
              </a:rPr>
              <a:t>On peut vérifier si la réponse d’un agent IA respecte les critères définis pour cette revue. La performance peut donc être mesurée sur un jeu de tests avant le déploiement.</a:t>
            </a:r>
          </a:p>
        </p:txBody>
      </p:sp>
      <p:sp>
        <p:nvSpPr>
          <p:cNvPr id="39" name="Text 37"/>
          <p:cNvSpPr txBox="1"/>
          <p:nvPr/>
        </p:nvSpPr>
        <p:spPr>
          <a:xfrm>
            <a:off x="9249156" y="4315968"/>
            <a:ext cx="2322576" cy="201168"/>
          </a:xfrm>
          <a:prstGeom prst="rect">
            <a:avLst/>
          </a:prstGeom>
          <a:noFill/>
          <a:ln/>
        </p:spPr>
        <p:txBody>
          <a:bodyPr wrap="square" lIns="0" tIns="0" rIns="0" bIns="0" rtlCol="0" anchor="t"/>
          <a:lstStyle/>
          <a:p>
            <a:pPr indent="0" marL="0">
              <a:lnSpc>
                <a:spcPct val="105000"/>
              </a:lnSpc>
              <a:buNone/>
            </a:pPr>
            <a:r>
              <a:rPr lang="en-US" sz="800" b="1" spc="30" kern="0" dirty="0">
                <a:solidFill>
                  <a:srgbClr val="C8283E"/>
                </a:solidFill>
                <a:latin typeface="Arial" pitchFamily="34" charset="0"/>
                <a:ea typeface="Arial" pitchFamily="34" charset="-122"/>
                <a:cs typeface="Arial" pitchFamily="34" charset="-120"/>
              </a:rPr>
              <a:t>CE QUI EMPÊCHE L'AUTOMATISATION</a:t>
            </a:r>
            <a:endParaRPr lang="en-US" sz="800" dirty="0"/>
          </a:p>
        </p:txBody>
      </p:sp>
      <p:sp>
        <p:nvSpPr>
          <p:cNvPr id="40" name="Text 38"/>
          <p:cNvSpPr txBox="1"/>
          <p:nvPr/>
        </p:nvSpPr>
        <p:spPr>
          <a:xfrm>
            <a:off x="9249156" y="4535424"/>
            <a:ext cx="2322576" cy="658368"/>
          </a:xfrm>
          <a:prstGeom prst="rect">
            <a:avLst/>
          </a:prstGeom>
          <a:noFill/>
          <a:ln/>
        </p:spPr>
        <p:txBody>
          <a:bodyPr wrap="square" lIns="0" tIns="0" rIns="0" bIns="0" rtlCol="0" anchor="t"/>
          <a:lstStyle/>
          <a:p>
            <a:pPr indent="0" marL="0">
              <a:lnSpc>
                <a:spcPct val="105000"/>
              </a:lnSpc>
              <a:buNone/>
            </a:pPr>
            <a:r>
              <a:rPr lang="en-US" sz="750" dirty="0">
                <a:solidFill>
                  <a:srgbClr val="252A3D"/>
                </a:solidFill>
                <a:latin typeface="Arial" pitchFamily="34" charset="0"/>
                <a:ea typeface="Arial" pitchFamily="34" charset="-122"/>
                <a:cs typeface="Arial" pitchFamily="34" charset="-120"/>
              </a:rPr>
              <a:t>Un système de notation qui donne un bon score à une réponse bien rédigée, même si la décision prise ou les contrôles effectués sont incorrects.</a:t>
            </a:r>
          </a:p>
        </p:txBody>
      </p:sp>
      <p:sp>
        <p:nvSpPr>
          <p:cNvPr id="41" name="Shape 39"/>
          <p:cNvSpPr/>
          <p:nvPr/>
        </p:nvSpPr>
        <p:spPr>
          <a:xfrm>
            <a:off x="457200" y="5413248"/>
            <a:ext cx="11274552" cy="1005840"/>
          </a:xfrm>
          <a:prstGeom prst="roundRect">
            <a:avLst>
              <a:gd name="adj" fmla="val 9091"/>
            </a:avLst>
          </a:prstGeom>
          <a:solidFill>
            <a:srgbClr val="FFF5BF"/>
          </a:solidFill>
          <a:ln w="12700">
            <a:solidFill>
              <a:srgbClr val="FFF5BF"/>
            </a:solidFill>
            <a:prstDash val="solid"/>
          </a:ln>
        </p:spPr>
        <p:txBody>
          <a:bodyPr/>
          <a:p/>
        </p:txBody>
      </p:sp>
      <p:pic>
        <p:nvPicPr>
          <p:cNvPr id="42" name="Image 0" descr="preencoded.png">    </p:cNvPr>
          <p:cNvPicPr>
            <a:picLocks noChangeAspect="1"/>
          </p:cNvPicPr>
          <p:nvPr/>
        </p:nvPicPr>
        <p:blipFill>
          <a:blip r:embed="rId1"/>
          <a:stretch>
            <a:fillRect/>
          </a:stretch>
        </p:blipFill>
        <p:spPr>
          <a:xfrm>
            <a:off x="621792" y="5760720"/>
            <a:ext cx="310896" cy="310896"/>
          </a:xfrm>
          <a:prstGeom prst="rect">
            <a:avLst/>
          </a:prstGeom>
        </p:spPr>
      </p:pic>
      <p:sp>
        <p:nvSpPr>
          <p:cNvPr id="43" name="Text 40"/>
          <p:cNvSpPr txBox="1"/>
          <p:nvPr/>
        </p:nvSpPr>
        <p:spPr>
          <a:xfrm>
            <a:off x="1051560" y="5413248"/>
            <a:ext cx="10469880" cy="100584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Les projets d’IA déployés par des FDE doivent eux aussi passer par les revues du DGF. </a:t>
            </a:r>
            <a:r>
              <a:rPr lang="en-US" sz="1150" dirty="0">
                <a:solidFill>
                  <a:srgbClr val="252A3D"/>
                </a:solidFill>
                <a:latin typeface="Arial" pitchFamily="34" charset="0"/>
                <a:ea typeface="Arial" pitchFamily="34" charset="-122"/>
                <a:cs typeface="Arial" pitchFamily="34" charset="-120"/>
              </a:rPr>
              <a:t>Une fois ces revues automatisées, les projets suivants menés par les FDE peuvent franchir le DGF plus rapidement. Deux conditions : un responsable doit rester en charge de l’ensemble du processus, au-delà d’une seule équipe, et le temps consacré par les FDE doit être inclus dans le coût.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L’IDÉE · CE QUE L’ÉTUDE VEUT MONTRER</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Ce que l’étude veut montrer</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350" dirty="0">
                <a:solidFill>
                  <a:srgbClr val="5B6575"/>
                </a:solidFill>
                <a:latin typeface="Arial" pitchFamily="34" charset="0"/>
                <a:ea typeface="Arial" pitchFamily="34" charset="-122"/>
                <a:cs typeface="Arial" pitchFamily="34" charset="-120"/>
              </a:rPr>
              <a:t>Chaque projet doit toujours passer les contrôles prévus. Ces contrôles peuvent être réalisés par un spécialiste humain ou par un agent IA.</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L'IDÉE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08 / 30</a:t>
            </a:r>
            <a:endParaRPr lang="en-US" sz="1000" dirty="0"/>
          </a:p>
        </p:txBody>
      </p:sp>
      <p:sp>
        <p:nvSpPr>
          <p:cNvPr id="9" name="Shape 7"/>
          <p:cNvSpPr/>
          <p:nvPr/>
        </p:nvSpPr>
        <p:spPr>
          <a:xfrm>
            <a:off x="457200" y="1965960"/>
            <a:ext cx="3557016" cy="3063240"/>
          </a:xfrm>
          <a:prstGeom prst="roundRect">
            <a:avLst>
              <a:gd name="adj" fmla="val 2985"/>
            </a:avLst>
          </a:prstGeom>
          <a:solidFill>
            <a:srgbClr val="DDF5FC"/>
          </a:solidFill>
          <a:ln w="12700">
            <a:solidFill>
              <a:srgbClr val="DDF5FC"/>
            </a:solidFill>
            <a:prstDash val="solid"/>
          </a:ln>
        </p:spPr>
        <p:txBody>
          <a:bodyPr/>
          <a:p/>
        </p:txBody>
      </p:sp>
      <p:sp>
        <p:nvSpPr>
          <p:cNvPr id="10" name="Shape 8"/>
          <p:cNvSpPr/>
          <p:nvPr/>
        </p:nvSpPr>
        <p:spPr>
          <a:xfrm>
            <a:off x="658368" y="2148840"/>
            <a:ext cx="384048" cy="274320"/>
          </a:xfrm>
          <a:prstGeom prst="roundRect">
            <a:avLst>
              <a:gd name="adj" fmla="val 16667"/>
            </a:avLst>
          </a:prstGeom>
          <a:solidFill>
            <a:srgbClr val="FFFFFF"/>
          </a:solidFill>
          <a:ln w="12700">
            <a:solidFill>
              <a:srgbClr val="FFFFFF"/>
            </a:solidFill>
            <a:prstDash val="solid"/>
          </a:ln>
        </p:spPr>
        <p:txBody>
          <a:bodyPr/>
          <a:p/>
        </p:txBody>
      </p:sp>
      <p:sp>
        <p:nvSpPr>
          <p:cNvPr id="11" name="Text 9"/>
          <p:cNvSpPr txBox="1"/>
          <p:nvPr/>
        </p:nvSpPr>
        <p:spPr>
          <a:xfrm>
            <a:off x="658368" y="214884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667512" y="2542032"/>
            <a:ext cx="3154680" cy="566928"/>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L’agent IA doit pouvoir consulter les informations utiles</a:t>
            </a:r>
          </a:p>
        </p:txBody>
      </p:sp>
      <p:sp>
        <p:nvSpPr>
          <p:cNvPr id="13" name="Text 11"/>
          <p:cNvSpPr txBox="1"/>
          <p:nvPr/>
        </p:nvSpPr>
        <p:spPr>
          <a:xfrm>
            <a:off x="667512" y="3154680"/>
            <a:ext cx="3154680" cy="1371600"/>
          </a:xfrm>
          <a:prstGeom prst="rect">
            <a:avLst/>
          </a:prstGeom>
          <a:noFill/>
          <a:ln/>
        </p:spPr>
        <p:txBody>
          <a:bodyPr wrap="square" lIns="0" tIns="0" rIns="0" bIns="0" rtlCol="0" anchor="t"/>
          <a:lstStyle/>
          <a:p>
            <a:pPr indent="0" marL="0">
              <a:lnSpc>
                <a:spcPct val="105000"/>
              </a:lnSpc>
              <a:buNone/>
            </a:pPr>
            <a:r>
              <a:rPr lang="en-US" sz="1000" dirty="0">
                <a:solidFill>
                  <a:srgbClr val="252A3D"/>
                </a:solidFill>
                <a:latin typeface="Arial" pitchFamily="34" charset="0"/>
                <a:ea typeface="Arial" pitchFamily="34" charset="-122"/>
                <a:cs typeface="Arial" pitchFamily="34" charset="-120"/>
              </a:rPr>
              <a:t>Pour vérifier le dossier, l’agent doit avoir accès aux informations nécessaires à chaque contrôle. S’il lui manque une information, il doit la demander ou expliquer qu’il ne peut pas décider. Il ne doit pas inventer ce qu’il ne sait pas.</a:t>
            </a:r>
          </a:p>
        </p:txBody>
      </p:sp>
      <p:sp>
        <p:nvSpPr>
          <p:cNvPr id="14" name="Shape 12"/>
          <p:cNvSpPr/>
          <p:nvPr/>
        </p:nvSpPr>
        <p:spPr>
          <a:xfrm>
            <a:off x="3337560" y="4352544"/>
            <a:ext cx="493776" cy="493776"/>
          </a:xfrm>
          <a:prstGeom prst="ellipse">
            <a:avLst/>
          </a:prstGeom>
          <a:solidFill>
            <a:srgbClr val="FFFFFF"/>
          </a:solidFill>
          <a:ln w="12700">
            <a:solidFill>
              <a:srgbClr val="FFFFFF"/>
            </a:solidFill>
            <a:prstDash val="solid"/>
          </a:ln>
        </p:spPr>
        <p:txBody>
          <a:bodyPr/>
          <a:p/>
        </p:txBody>
      </p:sp>
      <p:pic>
        <p:nvPicPr>
          <p:cNvPr id="15" name="Image 0" descr="preencoded.png">    </p:cNvPr>
          <p:cNvPicPr>
            <a:picLocks noChangeAspect="1"/>
          </p:cNvPicPr>
          <p:nvPr/>
        </p:nvPicPr>
        <p:blipFill>
          <a:blip r:embed="rId1"/>
          <a:stretch>
            <a:fillRect/>
          </a:stretch>
        </p:blipFill>
        <p:spPr>
          <a:xfrm>
            <a:off x="3447288" y="4462272"/>
            <a:ext cx="274320" cy="274320"/>
          </a:xfrm>
          <a:prstGeom prst="rect">
            <a:avLst/>
          </a:prstGeom>
        </p:spPr>
      </p:pic>
      <p:sp>
        <p:nvSpPr>
          <p:cNvPr id="16" name="Shape 13"/>
          <p:cNvSpPr/>
          <p:nvPr/>
        </p:nvSpPr>
        <p:spPr>
          <a:xfrm>
            <a:off x="4315968" y="1965960"/>
            <a:ext cx="3557016" cy="3063240"/>
          </a:xfrm>
          <a:prstGeom prst="roundRect">
            <a:avLst>
              <a:gd name="adj" fmla="val 2985"/>
            </a:avLst>
          </a:prstGeom>
          <a:solidFill>
            <a:srgbClr val="FFE4E6"/>
          </a:solidFill>
          <a:ln w="12700">
            <a:solidFill>
              <a:srgbClr val="FFE4E6"/>
            </a:solidFill>
            <a:prstDash val="solid"/>
          </a:ln>
        </p:spPr>
        <p:txBody>
          <a:bodyPr/>
          <a:p/>
        </p:txBody>
      </p:sp>
      <p:sp>
        <p:nvSpPr>
          <p:cNvPr id="17" name="Shape 14"/>
          <p:cNvSpPr/>
          <p:nvPr/>
        </p:nvSpPr>
        <p:spPr>
          <a:xfrm>
            <a:off x="4517136" y="2148840"/>
            <a:ext cx="384048" cy="274320"/>
          </a:xfrm>
          <a:prstGeom prst="roundRect">
            <a:avLst>
              <a:gd name="adj" fmla="val 16667"/>
            </a:avLst>
          </a:prstGeom>
          <a:solidFill>
            <a:srgbClr val="FFFFFF"/>
          </a:solidFill>
          <a:ln w="12700">
            <a:solidFill>
              <a:srgbClr val="FFFFFF"/>
            </a:solidFill>
            <a:prstDash val="solid"/>
          </a:ln>
        </p:spPr>
        <p:txBody>
          <a:bodyPr/>
          <a:p/>
        </p:txBody>
      </p:sp>
      <p:sp>
        <p:nvSpPr>
          <p:cNvPr id="18" name="Text 15"/>
          <p:cNvSpPr txBox="1"/>
          <p:nvPr/>
        </p:nvSpPr>
        <p:spPr>
          <a:xfrm>
            <a:off x="4517136" y="214884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19" name="Text 16"/>
          <p:cNvSpPr txBox="1"/>
          <p:nvPr/>
        </p:nvSpPr>
        <p:spPr>
          <a:xfrm>
            <a:off x="4526280" y="2542032"/>
            <a:ext cx="3154680" cy="566928"/>
          </a:xfrm>
          <a:prstGeom prst="rect">
            <a:avLst/>
          </a:prstGeom>
          <a:noFill/>
          <a:ln/>
        </p:spPr>
        <p:txBody>
          <a:bodyPr wrap="square" lIns="0" tIns="0" rIns="0" bIns="0" rtlCol="0" anchor="t"/>
          <a:lstStyle/>
          <a:p>
            <a:pPr indent="0" marL="0">
              <a:lnSpc>
                <a:spcPct val="105000"/>
              </a:lnSpc>
              <a:buNone/>
            </a:pPr>
            <a:r>
              <a:rPr lang="en-US" sz="1350" b="1" dirty="0">
                <a:solidFill>
                  <a:srgbClr val="252A3D"/>
                </a:solidFill>
                <a:latin typeface="Arial" pitchFamily="34" charset="0"/>
                <a:ea typeface="Arial" pitchFamily="34" charset="-122"/>
                <a:cs typeface="Arial" pitchFamily="34" charset="-120"/>
              </a:rPr>
              <a:t>On doit pouvoir se fier au travail de l’agent</a:t>
            </a:r>
          </a:p>
        </p:txBody>
      </p:sp>
      <p:sp>
        <p:nvSpPr>
          <p:cNvPr id="20" name="Text 17"/>
          <p:cNvSpPr txBox="1"/>
          <p:nvPr/>
        </p:nvSpPr>
        <p:spPr>
          <a:xfrm>
            <a:off x="4526280" y="3154680"/>
            <a:ext cx="3154680" cy="1371600"/>
          </a:xfrm>
          <a:prstGeom prst="rect">
            <a:avLst/>
          </a:prstGeom>
          <a:noFill/>
          <a:ln/>
        </p:spPr>
        <p:txBody>
          <a:bodyPr wrap="square" lIns="0" tIns="0" rIns="0" bIns="0" rtlCol="0" anchor="t"/>
          <a:lstStyle/>
          <a:p>
            <a:pPr indent="0" marL="0">
              <a:lnSpc>
                <a:spcPct val="105000"/>
              </a:lnSpc>
              <a:buNone/>
            </a:pPr>
            <a:r>
              <a:rPr lang="en-US" sz="1000" dirty="0">
                <a:solidFill>
                  <a:srgbClr val="252A3D"/>
                </a:solidFill>
                <a:latin typeface="Arial" pitchFamily="34" charset="0"/>
                <a:ea typeface="Arial" pitchFamily="34" charset="-122"/>
                <a:cs typeface="Arial" pitchFamily="34" charset="-120"/>
              </a:rPr>
              <a:t>L’agent doit savoir traiter les dossiers simples, complexes ou incomplets, et refuser ceux qui doivent l’être. Il doit préciser d’où viennent les informations qu’il utilise.</a:t>
            </a:r>
          </a:p>
        </p:txBody>
      </p:sp>
      <p:sp>
        <p:nvSpPr>
          <p:cNvPr id="21" name="Shape 18"/>
          <p:cNvSpPr/>
          <p:nvPr/>
        </p:nvSpPr>
        <p:spPr>
          <a:xfrm>
            <a:off x="7196328" y="4352544"/>
            <a:ext cx="493776" cy="493776"/>
          </a:xfrm>
          <a:prstGeom prst="ellipse">
            <a:avLst/>
          </a:prstGeom>
          <a:solidFill>
            <a:srgbClr val="FFFFFF"/>
          </a:solidFill>
          <a:ln w="12700">
            <a:solidFill>
              <a:srgbClr val="FFFFFF"/>
            </a:solidFill>
            <a:prstDash val="solid"/>
          </a:ln>
        </p:spPr>
        <p:txBody>
          <a:bodyPr/>
          <a:p/>
        </p:txBody>
      </p:sp>
      <p:pic>
        <p:nvPicPr>
          <p:cNvPr id="22" name="Image 1" descr="preencoded.png">    </p:cNvPr>
          <p:cNvPicPr>
            <a:picLocks noChangeAspect="1"/>
          </p:cNvPicPr>
          <p:nvPr/>
        </p:nvPicPr>
        <p:blipFill>
          <a:blip r:embed="rId2"/>
          <a:stretch>
            <a:fillRect/>
          </a:stretch>
        </p:blipFill>
        <p:spPr>
          <a:xfrm>
            <a:off x="7306056" y="4462272"/>
            <a:ext cx="274320" cy="274320"/>
          </a:xfrm>
          <a:prstGeom prst="rect">
            <a:avLst/>
          </a:prstGeom>
        </p:spPr>
      </p:pic>
      <p:sp>
        <p:nvSpPr>
          <p:cNvPr id="23" name="Shape 19"/>
          <p:cNvSpPr/>
          <p:nvPr/>
        </p:nvSpPr>
        <p:spPr>
          <a:xfrm>
            <a:off x="8174736" y="1965960"/>
            <a:ext cx="3557016" cy="3063240"/>
          </a:xfrm>
          <a:prstGeom prst="roundRect">
            <a:avLst>
              <a:gd name="adj" fmla="val 2985"/>
            </a:avLst>
          </a:prstGeom>
          <a:solidFill>
            <a:srgbClr val="FFF5BF"/>
          </a:solidFill>
          <a:ln w="12700">
            <a:solidFill>
              <a:srgbClr val="FFF5BF"/>
            </a:solidFill>
            <a:prstDash val="solid"/>
          </a:ln>
        </p:spPr>
        <p:txBody>
          <a:bodyPr/>
          <a:p/>
        </p:txBody>
      </p:sp>
      <p:sp>
        <p:nvSpPr>
          <p:cNvPr id="24" name="Shape 20"/>
          <p:cNvSpPr/>
          <p:nvPr/>
        </p:nvSpPr>
        <p:spPr>
          <a:xfrm>
            <a:off x="8375904" y="2148840"/>
            <a:ext cx="384048" cy="274320"/>
          </a:xfrm>
          <a:prstGeom prst="roundRect">
            <a:avLst>
              <a:gd name="adj" fmla="val 16667"/>
            </a:avLst>
          </a:prstGeom>
          <a:solidFill>
            <a:srgbClr val="FFFFFF"/>
          </a:solidFill>
          <a:ln w="12700">
            <a:solidFill>
              <a:srgbClr val="FFFFFF"/>
            </a:solidFill>
            <a:prstDash val="solid"/>
          </a:ln>
        </p:spPr>
        <p:txBody>
          <a:bodyPr/>
          <a:p/>
        </p:txBody>
      </p:sp>
      <p:sp>
        <p:nvSpPr>
          <p:cNvPr id="25" name="Text 21"/>
          <p:cNvSpPr txBox="1"/>
          <p:nvPr/>
        </p:nvSpPr>
        <p:spPr>
          <a:xfrm>
            <a:off x="8375904" y="214884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6" name="Text 22"/>
          <p:cNvSpPr txBox="1"/>
          <p:nvPr/>
        </p:nvSpPr>
        <p:spPr>
          <a:xfrm>
            <a:off x="8385048" y="2542032"/>
            <a:ext cx="3154680" cy="566928"/>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L’agent doit respecter les limites de ses autorisations</a:t>
            </a:r>
          </a:p>
        </p:txBody>
      </p:sp>
      <p:sp>
        <p:nvSpPr>
          <p:cNvPr id="27" name="Text 23"/>
          <p:cNvSpPr txBox="1"/>
          <p:nvPr/>
        </p:nvSpPr>
        <p:spPr>
          <a:xfrm>
            <a:off x="8385048" y="3154680"/>
            <a:ext cx="3154680" cy="1371600"/>
          </a:xfrm>
          <a:prstGeom prst="rect">
            <a:avLst/>
          </a:prstGeom>
          <a:noFill/>
          <a:ln/>
        </p:spPr>
        <p:txBody>
          <a:bodyPr wrap="square" lIns="0" tIns="0" rIns="0" bIns="0" rtlCol="0" anchor="t"/>
          <a:lstStyle/>
          <a:p>
            <a:pPr indent="0" marL="0">
              <a:lnSpc>
                <a:spcPct val="105000"/>
              </a:lnSpc>
              <a:buNone/>
            </a:pPr>
            <a:r>
              <a:rPr lang="en-US" sz="1000" dirty="0">
                <a:solidFill>
                  <a:srgbClr val="252A3D"/>
                </a:solidFill>
                <a:latin typeface="Arial" pitchFamily="34" charset="0"/>
                <a:ea typeface="Arial" pitchFamily="34" charset="-122"/>
                <a:cs typeface="Arial" pitchFamily="34" charset="-120"/>
              </a:rPr>
              <a:t>L’agent ne peut proposer ou prendre une décision que si on l’y a autorisé. Un contrôle séparé bloque les décisions qui dépassent ses autorisations.</a:t>
            </a:r>
          </a:p>
        </p:txBody>
      </p:sp>
      <p:sp>
        <p:nvSpPr>
          <p:cNvPr id="28" name="Shape 24"/>
          <p:cNvSpPr/>
          <p:nvPr/>
        </p:nvSpPr>
        <p:spPr>
          <a:xfrm>
            <a:off x="11055096" y="4352544"/>
            <a:ext cx="493776" cy="493776"/>
          </a:xfrm>
          <a:prstGeom prst="ellipse">
            <a:avLst/>
          </a:prstGeom>
          <a:solidFill>
            <a:srgbClr val="FFFFFF"/>
          </a:solidFill>
          <a:ln w="12700">
            <a:solidFill>
              <a:srgbClr val="FFFFFF"/>
            </a:solidFill>
            <a:prstDash val="solid"/>
          </a:ln>
        </p:spPr>
        <p:txBody>
          <a:bodyPr/>
          <a:p/>
        </p:txBody>
      </p:sp>
      <p:pic>
        <p:nvPicPr>
          <p:cNvPr id="29" name="Image 2" descr="preencoded.png">    </p:cNvPr>
          <p:cNvPicPr>
            <a:picLocks noChangeAspect="1"/>
          </p:cNvPicPr>
          <p:nvPr/>
        </p:nvPicPr>
        <p:blipFill>
          <a:blip r:embed="rId3"/>
          <a:stretch>
            <a:fillRect/>
          </a:stretch>
        </p:blipFill>
        <p:spPr>
          <a:xfrm>
            <a:off x="11164824" y="4462272"/>
            <a:ext cx="274320" cy="274320"/>
          </a:xfrm>
          <a:prstGeom prst="rect">
            <a:avLst/>
          </a:prstGeom>
        </p:spPr>
      </p:pic>
      <p:sp>
        <p:nvSpPr>
          <p:cNvPr id="30" name="Shape 25"/>
          <p:cNvSpPr/>
          <p:nvPr/>
        </p:nvSpPr>
        <p:spPr>
          <a:xfrm>
            <a:off x="457200" y="5193792"/>
            <a:ext cx="11274552" cy="658368"/>
          </a:xfrm>
          <a:prstGeom prst="roundRect">
            <a:avLst>
              <a:gd name="adj" fmla="val 13889"/>
            </a:avLst>
          </a:prstGeom>
          <a:solidFill>
            <a:srgbClr val="E5F6E9"/>
          </a:solidFill>
          <a:ln w="12700">
            <a:solidFill>
              <a:srgbClr val="E5F6E9"/>
            </a:solidFill>
            <a:prstDash val="solid"/>
          </a:ln>
        </p:spPr>
        <p:txBody>
          <a:bodyPr/>
          <a:p/>
        </p:txBody>
      </p:sp>
      <p:sp>
        <p:nvSpPr>
          <p:cNvPr id="31" name="Text 26"/>
          <p:cNvSpPr txBox="1"/>
          <p:nvPr/>
        </p:nvSpPr>
        <p:spPr>
          <a:xfrm>
            <a:off x="658368" y="5193792"/>
            <a:ext cx="10872216" cy="658368"/>
          </a:xfrm>
          <a:prstGeom prst="rect">
            <a:avLst/>
          </a:prstGeom>
          <a:noFill/>
          <a:ln/>
        </p:spPr>
        <p:txBody>
          <a:bodyPr wrap="square" lIns="0" tIns="0" rIns="0" bIns="0" rtlCol="0" anchor="ctr"/>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Pour réduire le travail humain, il ne suffit pas de transférer une tâche à une autre équipe. </a:t>
            </a:r>
            <a:r>
              <a:rPr lang="en-US" sz="1050" dirty="0">
                <a:solidFill>
                  <a:srgbClr val="252A3D"/>
                </a:solidFill>
                <a:latin typeface="Arial" pitchFamily="34" charset="0"/>
                <a:ea typeface="Arial" pitchFamily="34" charset="-122"/>
                <a:cs typeface="Arial" pitchFamily="34" charset="-120"/>
              </a:rPr>
              <a:t>Il faut réduire le nombre total d’heures travaillées.</a:t>
            </a:r>
          </a:p>
        </p:txBody>
      </p:sp>
      <p:sp>
        <p:nvSpPr>
          <p:cNvPr id="32" name="Shape 27"/>
          <p:cNvSpPr/>
          <p:nvPr/>
        </p:nvSpPr>
        <p:spPr>
          <a:xfrm>
            <a:off x="457200" y="5989320"/>
            <a:ext cx="11274552" cy="548640"/>
          </a:xfrm>
          <a:prstGeom prst="roundRect">
            <a:avLst>
              <a:gd name="adj" fmla="val 16667"/>
            </a:avLst>
          </a:prstGeom>
          <a:solidFill>
            <a:srgbClr val="FFF5BF"/>
          </a:solidFill>
          <a:ln w="12700">
            <a:solidFill>
              <a:srgbClr val="FFF5BF"/>
            </a:solidFill>
            <a:prstDash val="solid"/>
          </a:ln>
        </p:spPr>
        <p:txBody>
          <a:bodyPr/>
          <a:p/>
        </p:txBody>
      </p:sp>
      <p:pic>
        <p:nvPicPr>
          <p:cNvPr id="33" name="Image 3" descr="preencoded.png">    </p:cNvPr>
          <p:cNvPicPr>
            <a:picLocks noChangeAspect="1"/>
          </p:cNvPicPr>
          <p:nvPr/>
        </p:nvPicPr>
        <p:blipFill>
          <a:blip r:embed="rId4"/>
          <a:stretch>
            <a:fillRect/>
          </a:stretch>
        </p:blipFill>
        <p:spPr>
          <a:xfrm>
            <a:off x="621792" y="6108192"/>
            <a:ext cx="310896" cy="310896"/>
          </a:xfrm>
          <a:prstGeom prst="rect">
            <a:avLst/>
          </a:prstGeom>
        </p:spPr>
      </p:pic>
      <p:sp>
        <p:nvSpPr>
          <p:cNvPr id="34" name="Text 28"/>
          <p:cNvSpPr txBox="1"/>
          <p:nvPr/>
        </p:nvSpPr>
        <p:spPr>
          <a:xfrm>
            <a:off x="1051560" y="5989320"/>
            <a:ext cx="10469880" cy="54864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Si un spécialiste doit reprendre le brouillon de l’agent, l’IA l’aide, mais ne fait pas la revue à sa place. </a:t>
            </a:r>
            <a:r>
              <a:rPr lang="en-US" sz="1150" dirty="0">
                <a:solidFill>
                  <a:srgbClr val="252A3D"/>
                </a:solidFill>
                <a:latin typeface="Arial" pitchFamily="34" charset="0"/>
                <a:ea typeface="Arial" pitchFamily="34" charset="-122"/>
                <a:cs typeface="Arial" pitchFamily="34" charset="-120"/>
              </a:rPr>
              <a:t>Si la revue de l’agent est acceptée comme définitive sans être reprise, elle remplace bien le travail du spécialiste.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000" b="1" dirty="0">
                <a:solidFill>
                  <a:srgbClr val="5B6575"/>
                </a:solidFill>
                <a:latin typeface="Arial" pitchFamily="34" charset="0"/>
                <a:ea typeface="Arial" pitchFamily="34" charset="-122"/>
                <a:cs typeface="Arial" pitchFamily="34" charset="-120"/>
              </a:rPr>
              <a:t>L’EXPÉRIENCE · COMMENT LES TESTS SONT MENÉS</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350" b="1" dirty="0">
                <a:solidFill>
                  <a:srgbClr val="252A3D"/>
                </a:solidFill>
                <a:latin typeface="Arial" pitchFamily="34" charset="0"/>
                <a:ea typeface="Arial" pitchFamily="34" charset="-122"/>
                <a:cs typeface="Arial" pitchFamily="34" charset="-120"/>
              </a:rPr>
              <a:t>Comment se déroule l’expérience</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200" dirty="0">
                <a:solidFill>
                  <a:srgbClr val="5B6575"/>
                </a:solidFill>
                <a:latin typeface="Arial" pitchFamily="34" charset="0"/>
                <a:ea typeface="Arial" pitchFamily="34" charset="-122"/>
                <a:cs typeface="Arial" pitchFamily="34" charset="-120"/>
              </a:rPr>
              <a:t>Un programme crée le dossier et prépare les réponses pour le test. L’agent examine le dossier, puis un autre programme compare ses réponses à celles préparées au départ.</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09 / 30</a:t>
            </a:r>
            <a:endParaRPr lang="en-US" sz="1000" dirty="0"/>
          </a:p>
        </p:txBody>
      </p:sp>
      <p:sp>
        <p:nvSpPr>
          <p:cNvPr id="9" name="Shape 7"/>
          <p:cNvSpPr/>
          <p:nvPr/>
        </p:nvSpPr>
        <p:spPr>
          <a:xfrm>
            <a:off x="457200" y="1965960"/>
            <a:ext cx="3566160" cy="1417320"/>
          </a:xfrm>
          <a:prstGeom prst="roundRect">
            <a:avLst>
              <a:gd name="adj" fmla="val 6452"/>
            </a:avLst>
          </a:prstGeom>
          <a:solidFill>
            <a:srgbClr val="DDF5FC"/>
          </a:solidFill>
          <a:ln w="12700">
            <a:solidFill>
              <a:srgbClr val="DDF5FC"/>
            </a:solidFill>
            <a:prstDash val="solid"/>
          </a:ln>
        </p:spPr>
        <p:txBody>
          <a:bodyPr/>
          <a:p/>
        </p:txBody>
      </p:sp>
      <p:sp>
        <p:nvSpPr>
          <p:cNvPr id="10" name="Text 8"/>
          <p:cNvSpPr txBox="1"/>
          <p:nvPr/>
        </p:nvSpPr>
        <p:spPr>
          <a:xfrm>
            <a:off x="640080" y="2093976"/>
            <a:ext cx="3200400"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01 / CRÉER LE PROJET</a:t>
            </a:r>
          </a:p>
        </p:txBody>
      </p:sp>
      <p:sp>
        <p:nvSpPr>
          <p:cNvPr id="11" name="Text 9"/>
          <p:cNvSpPr txBox="1"/>
          <p:nvPr/>
        </p:nvSpPr>
        <p:spPr>
          <a:xfrm>
            <a:off x="640080" y="2295144"/>
            <a:ext cx="3200400" cy="274320"/>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Le programme définit un projet fictif</a:t>
            </a:r>
          </a:p>
        </p:txBody>
      </p:sp>
      <p:sp>
        <p:nvSpPr>
          <p:cNvPr id="12" name="Text 10"/>
          <p:cNvSpPr txBox="1"/>
          <p:nvPr/>
        </p:nvSpPr>
        <p:spPr>
          <a:xfrm>
            <a:off x="640080" y="2624328"/>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850" dirty="0">
                <a:solidFill>
                  <a:srgbClr val="252A3D"/>
                </a:solidFill>
                <a:latin typeface="Arial" pitchFamily="34" charset="0"/>
                <a:ea typeface="Arial" pitchFamily="34" charset="-122"/>
                <a:cs typeface="Arial" pitchFamily="34" charset="-120"/>
              </a:rPr>
              <a:t>achat d’un logiciel, intégration ou développement</a:t>
            </a:r>
          </a:p>
          <a:p>
            <a:pPr marL="127000" indent="-127000">
              <a:lnSpc>
                <a:spcPct val="105000"/>
              </a:lnSpc>
              <a:spcAft>
                <a:spcPts val="200"/>
              </a:spcAft>
              <a:buSzPct val="100000"/>
              <a:buChar char="•"/>
            </a:pPr>
            <a:r>
              <a:rPr lang="en-US" sz="850" dirty="0">
                <a:solidFill>
                  <a:srgbClr val="252A3D"/>
                </a:solidFill>
                <a:latin typeface="Arial" pitchFamily="34" charset="0"/>
                <a:ea typeface="Arial" pitchFamily="34" charset="-122"/>
                <a:cs typeface="Arial" pitchFamily="34" charset="-120"/>
              </a:rPr>
              <a:t>budget, personnes responsables et calendrier</a:t>
            </a:r>
          </a:p>
          <a:p>
            <a:pPr marL="127000" indent="-127000">
              <a:lnSpc>
                <a:spcPct val="105000"/>
              </a:lnSpc>
              <a:spcAft>
                <a:spcPts val="200"/>
              </a:spcAft>
              <a:buSzPct val="100000"/>
              <a:buChar char="•"/>
            </a:pPr>
            <a:r>
              <a:rPr lang="en-US" sz="850" dirty="0">
                <a:solidFill>
                  <a:srgbClr val="252A3D"/>
                </a:solidFill>
                <a:latin typeface="Arial" pitchFamily="34" charset="0"/>
                <a:ea typeface="Arial" pitchFamily="34" charset="-122"/>
                <a:cs typeface="Arial" pitchFamily="34" charset="-120"/>
              </a:rPr>
              <a:t>niveau de confidentialité des données</a:t>
            </a:r>
          </a:p>
        </p:txBody>
      </p:sp>
      <p:sp>
        <p:nvSpPr>
          <p:cNvPr id="13" name="Shape 11"/>
          <p:cNvSpPr/>
          <p:nvPr/>
        </p:nvSpPr>
        <p:spPr>
          <a:xfrm>
            <a:off x="4069080" y="2674620"/>
            <a:ext cx="196596" cy="0"/>
          </a:xfrm>
          <a:prstGeom prst="line">
            <a:avLst/>
          </a:prstGeom>
          <a:noFill/>
          <a:ln w="15875">
            <a:solidFill>
              <a:srgbClr val="252A3D"/>
            </a:solidFill>
            <a:prstDash val="solid"/>
            <a:tailEnd type="triangle"/>
          </a:ln>
        </p:spPr>
        <p:txBody>
          <a:bodyPr/>
          <a:p/>
        </p:txBody>
      </p:sp>
      <p:sp>
        <p:nvSpPr>
          <p:cNvPr id="14" name="Shape 12"/>
          <p:cNvSpPr/>
          <p:nvPr/>
        </p:nvSpPr>
        <p:spPr>
          <a:xfrm>
            <a:off x="4311396" y="1965960"/>
            <a:ext cx="3566160" cy="1417320"/>
          </a:xfrm>
          <a:prstGeom prst="roundRect">
            <a:avLst>
              <a:gd name="adj" fmla="val 6452"/>
            </a:avLst>
          </a:prstGeom>
          <a:solidFill>
            <a:srgbClr val="DDF5FC"/>
          </a:solidFill>
          <a:ln w="12700">
            <a:solidFill>
              <a:srgbClr val="DDF5FC"/>
            </a:solidFill>
            <a:prstDash val="solid"/>
          </a:ln>
        </p:spPr>
        <p:txBody>
          <a:bodyPr/>
          <a:p/>
        </p:txBody>
      </p:sp>
      <p:sp>
        <p:nvSpPr>
          <p:cNvPr id="15" name="Text 13"/>
          <p:cNvSpPr txBox="1"/>
          <p:nvPr/>
        </p:nvSpPr>
        <p:spPr>
          <a:xfrm>
            <a:off x="4494276" y="2093976"/>
            <a:ext cx="3200400" cy="182880"/>
          </a:xfrm>
          <a:prstGeom prst="rect">
            <a:avLst/>
          </a:prstGeom>
          <a:noFill/>
          <a:ln/>
        </p:spPr>
        <p:txBody>
          <a:bodyPr wrap="square" lIns="0" tIns="0" rIns="0" bIns="0" rtlCol="0" anchor="t"/>
          <a:lstStyle/>
          <a:p>
            <a:pPr indent="0" marL="0">
              <a:lnSpc>
                <a:spcPct val="105000"/>
              </a:lnSpc>
              <a:buNone/>
            </a:pPr>
            <a:r>
              <a:rPr lang="en-US" sz="700" b="1" spc="50" kern="0" dirty="0">
                <a:solidFill>
                  <a:srgbClr val="5B6575"/>
                </a:solidFill>
                <a:latin typeface="Arial" pitchFamily="34" charset="0"/>
                <a:ea typeface="Arial" pitchFamily="34" charset="-122"/>
                <a:cs typeface="Arial" pitchFamily="34" charset="-120"/>
              </a:rPr>
              <a:t>02 / DÉFINIR L’ARCHITECTURE</a:t>
            </a:r>
          </a:p>
        </p:txBody>
      </p:sp>
      <p:sp>
        <p:nvSpPr>
          <p:cNvPr id="16" name="Text 14"/>
          <p:cNvSpPr txBox="1"/>
          <p:nvPr/>
        </p:nvSpPr>
        <p:spPr>
          <a:xfrm>
            <a:off x="4494276" y="2295144"/>
            <a:ext cx="3200400" cy="274320"/>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Il décrit les choix techniques</a:t>
            </a:r>
          </a:p>
        </p:txBody>
      </p:sp>
      <p:sp>
        <p:nvSpPr>
          <p:cNvPr id="17" name="Text 15"/>
          <p:cNvSpPr txBox="1"/>
          <p:nvPr/>
        </p:nvSpPr>
        <p:spPr>
          <a:xfrm>
            <a:off x="4494276" y="2624328"/>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00" dirty="0">
                <a:solidFill>
                  <a:srgbClr val="252A3D"/>
                </a:solidFill>
                <a:latin typeface="Arial" pitchFamily="34" charset="0"/>
                <a:ea typeface="Arial" pitchFamily="34" charset="-122"/>
                <a:cs typeface="Arial" pitchFamily="34" charset="-120"/>
              </a:rPr>
              <a:t>applications, réseaux et droits d’accès</a:t>
            </a:r>
          </a:p>
          <a:p>
            <a:pPr marL="127000" indent="-127000">
              <a:lnSpc>
                <a:spcPct val="105000"/>
              </a:lnSpc>
              <a:spcAft>
                <a:spcPts val="200"/>
              </a:spcAft>
              <a:buSzPct val="100000"/>
              <a:buChar char="•"/>
            </a:pPr>
            <a:r>
              <a:rPr lang="en-US" sz="900" dirty="0">
                <a:solidFill>
                  <a:srgbClr val="252A3D"/>
                </a:solidFill>
                <a:latin typeface="Arial" pitchFamily="34" charset="0"/>
                <a:ea typeface="Arial" pitchFamily="34" charset="-122"/>
                <a:cs typeface="Arial" pitchFamily="34" charset="-120"/>
              </a:rPr>
              <a:t>lieux de stockage et circulation des données</a:t>
            </a:r>
          </a:p>
          <a:p>
            <a:pPr marL="127000" indent="-127000">
              <a:lnSpc>
                <a:spcPct val="105000"/>
              </a:lnSpc>
              <a:spcAft>
                <a:spcPts val="200"/>
              </a:spcAft>
              <a:buSzPct val="100000"/>
              <a:buChar char="•"/>
            </a:pPr>
            <a:r>
              <a:rPr lang="en-US" sz="900" dirty="0">
                <a:solidFill>
                  <a:srgbClr val="252A3D"/>
                </a:solidFill>
                <a:latin typeface="Arial" pitchFamily="34" charset="0"/>
                <a:ea typeface="Arial" pitchFamily="34" charset="-122"/>
                <a:cs typeface="Arial" pitchFamily="34" charset="-120"/>
              </a:rPr>
              <a:t>sauvegardes et redémarrage après une panne</a:t>
            </a:r>
          </a:p>
        </p:txBody>
      </p:sp>
      <p:sp>
        <p:nvSpPr>
          <p:cNvPr id="18" name="Shape 16"/>
          <p:cNvSpPr/>
          <p:nvPr/>
        </p:nvSpPr>
        <p:spPr>
          <a:xfrm>
            <a:off x="7923276" y="2674620"/>
            <a:ext cx="196596" cy="0"/>
          </a:xfrm>
          <a:prstGeom prst="line">
            <a:avLst/>
          </a:prstGeom>
          <a:noFill/>
          <a:ln w="15875">
            <a:solidFill>
              <a:srgbClr val="252A3D"/>
            </a:solidFill>
            <a:prstDash val="solid"/>
            <a:tailEnd type="triangle"/>
          </a:ln>
        </p:spPr>
        <p:txBody>
          <a:bodyPr/>
          <a:p/>
        </p:txBody>
      </p:sp>
      <p:sp>
        <p:nvSpPr>
          <p:cNvPr id="19" name="Shape 17"/>
          <p:cNvSpPr/>
          <p:nvPr/>
        </p:nvSpPr>
        <p:spPr>
          <a:xfrm>
            <a:off x="8165592" y="1965960"/>
            <a:ext cx="3566160" cy="1417320"/>
          </a:xfrm>
          <a:prstGeom prst="roundRect">
            <a:avLst>
              <a:gd name="adj" fmla="val 6452"/>
            </a:avLst>
          </a:prstGeom>
          <a:solidFill>
            <a:srgbClr val="DDF5FC"/>
          </a:solidFill>
          <a:ln w="12700">
            <a:solidFill>
              <a:srgbClr val="DDF5FC"/>
            </a:solidFill>
            <a:prstDash val="solid"/>
          </a:ln>
        </p:spPr>
        <p:txBody>
          <a:bodyPr/>
          <a:p/>
        </p:txBody>
      </p:sp>
      <p:sp>
        <p:nvSpPr>
          <p:cNvPr id="20" name="Text 18"/>
          <p:cNvSpPr txBox="1"/>
          <p:nvPr/>
        </p:nvSpPr>
        <p:spPr>
          <a:xfrm>
            <a:off x="8348472" y="2093976"/>
            <a:ext cx="3200400" cy="182880"/>
          </a:xfrm>
          <a:prstGeom prst="rect">
            <a:avLst/>
          </a:prstGeom>
          <a:noFill/>
          <a:ln/>
        </p:spPr>
        <p:txBody>
          <a:bodyPr wrap="square" lIns="0" tIns="0" rIns="0" bIns="0" rtlCol="0" anchor="t"/>
          <a:lstStyle/>
          <a:p>
            <a:pPr indent="0" marL="0">
              <a:lnSpc>
                <a:spcPct val="105000"/>
              </a:lnSpc>
              <a:buNone/>
            </a:pPr>
            <a:r>
              <a:rPr lang="en-US" sz="700" b="1" spc="50" kern="0" dirty="0">
                <a:solidFill>
                  <a:srgbClr val="5B6575"/>
                </a:solidFill>
                <a:latin typeface="Arial" pitchFamily="34" charset="0"/>
                <a:ea typeface="Arial" pitchFamily="34" charset="-122"/>
                <a:cs typeface="Arial" pitchFamily="34" charset="-120"/>
              </a:rPr>
              <a:t>03 / PRÉPARER LE DOSSIER</a:t>
            </a:r>
          </a:p>
        </p:txBody>
      </p:sp>
      <p:sp>
        <p:nvSpPr>
          <p:cNvPr id="21" name="Text 19"/>
          <p:cNvSpPr txBox="1"/>
          <p:nvPr/>
        </p:nvSpPr>
        <p:spPr>
          <a:xfrm>
            <a:off x="8348472" y="2295144"/>
            <a:ext cx="3200400" cy="274320"/>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Il prépare les documents du projet</a:t>
            </a:r>
          </a:p>
        </p:txBody>
      </p:sp>
      <p:sp>
        <p:nvSpPr>
          <p:cNvPr id="22" name="Text 20"/>
          <p:cNvSpPr txBox="1"/>
          <p:nvPr/>
        </p:nvSpPr>
        <p:spPr>
          <a:xfrm>
            <a:off x="8348472" y="2624328"/>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00" dirty="0">
                <a:solidFill>
                  <a:srgbClr val="252A3D"/>
                </a:solidFill>
                <a:latin typeface="Arial" pitchFamily="34" charset="0"/>
                <a:ea typeface="Arial" pitchFamily="34" charset="-122"/>
                <a:cs typeface="Arial" pitchFamily="34" charset="-120"/>
              </a:rPr>
              <a:t>présentation du projet, contrats, rapports et schémas</a:t>
            </a:r>
          </a:p>
          <a:p>
            <a:pPr marL="127000" indent="-127000">
              <a:lnSpc>
                <a:spcPct val="105000"/>
              </a:lnSpc>
              <a:spcAft>
                <a:spcPts val="200"/>
              </a:spcAft>
              <a:buSzPct val="100000"/>
              <a:buChar char="•"/>
            </a:pPr>
            <a:r>
              <a:rPr lang="en-US" sz="900" dirty="0">
                <a:solidFill>
                  <a:srgbClr val="252A3D"/>
                </a:solidFill>
                <a:latin typeface="Arial" pitchFamily="34" charset="0"/>
                <a:ea typeface="Arial" pitchFamily="34" charset="-122"/>
                <a:cs typeface="Arial" pitchFamily="34" charset="-120"/>
              </a:rPr>
              <a:t>certains documents manquent volontairement</a:t>
            </a:r>
          </a:p>
          <a:p>
            <a:pPr marL="127000" indent="-127000">
              <a:lnSpc>
                <a:spcPct val="105000"/>
              </a:lnSpc>
              <a:spcAft>
                <a:spcPts val="200"/>
              </a:spcAft>
              <a:buSzPct val="100000"/>
              <a:buChar char="•"/>
            </a:pPr>
            <a:r>
              <a:rPr lang="en-US" sz="900" dirty="0">
                <a:solidFill>
                  <a:srgbClr val="252A3D"/>
                </a:solidFill>
                <a:latin typeface="Arial" pitchFamily="34" charset="0"/>
                <a:ea typeface="Arial" pitchFamily="34" charset="-122"/>
                <a:cs typeface="Arial" pitchFamily="34" charset="-120"/>
              </a:rPr>
              <a:t>les informations officielles sont conservées séparément</a:t>
            </a:r>
          </a:p>
        </p:txBody>
      </p:sp>
      <p:sp>
        <p:nvSpPr>
          <p:cNvPr id="23" name="Shape 21"/>
          <p:cNvSpPr/>
          <p:nvPr/>
        </p:nvSpPr>
        <p:spPr>
          <a:xfrm>
            <a:off x="457200" y="3593592"/>
            <a:ext cx="3566160" cy="1417320"/>
          </a:xfrm>
          <a:prstGeom prst="roundRect">
            <a:avLst>
              <a:gd name="adj" fmla="val 6452"/>
            </a:avLst>
          </a:prstGeom>
          <a:solidFill>
            <a:srgbClr val="FFF5BF"/>
          </a:solidFill>
          <a:ln w="12700">
            <a:solidFill>
              <a:srgbClr val="FFF5BF"/>
            </a:solidFill>
            <a:prstDash val="solid"/>
          </a:ln>
        </p:spPr>
        <p:txBody>
          <a:bodyPr/>
          <a:p/>
        </p:txBody>
      </p:sp>
      <p:sp>
        <p:nvSpPr>
          <p:cNvPr id="24" name="Text 22"/>
          <p:cNvSpPr txBox="1"/>
          <p:nvPr/>
        </p:nvSpPr>
        <p:spPr>
          <a:xfrm>
            <a:off x="640080" y="3721608"/>
            <a:ext cx="3200400"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04 / EXAMINER LE DOSSIER</a:t>
            </a:r>
          </a:p>
        </p:txBody>
      </p:sp>
      <p:sp>
        <p:nvSpPr>
          <p:cNvPr id="25" name="Text 23"/>
          <p:cNvSpPr txBox="1"/>
          <p:nvPr/>
        </p:nvSpPr>
        <p:spPr>
          <a:xfrm>
            <a:off x="640080" y="3922776"/>
            <a:ext cx="3200400" cy="274320"/>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L’agent lit le dossier et vérifie son contenu</a:t>
            </a:r>
          </a:p>
        </p:txBody>
      </p:sp>
      <p:sp>
        <p:nvSpPr>
          <p:cNvPr id="26" name="Text 24"/>
          <p:cNvSpPr txBox="1"/>
          <p:nvPr/>
        </p:nvSpPr>
        <p:spPr>
          <a:xfrm>
            <a:off x="640080" y="4251960"/>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50" dirty="0">
                <a:solidFill>
                  <a:srgbClr val="252A3D"/>
                </a:solidFill>
                <a:latin typeface="Arial" pitchFamily="34" charset="0"/>
                <a:ea typeface="Arial" pitchFamily="34" charset="-122"/>
                <a:cs typeface="Arial" pitchFamily="34" charset="-120"/>
              </a:rPr>
              <a:t>il ouvre les documents</a:t>
            </a:r>
          </a:p>
          <a:p>
            <a:pPr marL="127000" indent="-127000">
              <a:lnSpc>
                <a:spcPct val="105000"/>
              </a:lnSpc>
              <a:spcAft>
                <a:spcPts val="200"/>
              </a:spcAft>
              <a:buSzPct val="100000"/>
              <a:buChar char="•"/>
            </a:pPr>
            <a:r>
              <a:rPr lang="en-US" sz="950" dirty="0">
                <a:solidFill>
                  <a:srgbClr val="252A3D"/>
                </a:solidFill>
                <a:latin typeface="Arial" pitchFamily="34" charset="0"/>
                <a:ea typeface="Arial" pitchFamily="34" charset="-122"/>
                <a:cs typeface="Arial" pitchFamily="34" charset="-120"/>
              </a:rPr>
              <a:t>il vérifie les informations dans les sources officielles de l’entreprise</a:t>
            </a:r>
          </a:p>
          <a:p>
            <a:pPr marL="127000" indent="-127000">
              <a:lnSpc>
                <a:spcPct val="105000"/>
              </a:lnSpc>
              <a:spcAft>
                <a:spcPts val="200"/>
              </a:spcAft>
              <a:buSzPct val="100000"/>
              <a:buChar char="•"/>
            </a:pPr>
            <a:r>
              <a:rPr lang="en-US" sz="950" dirty="0">
                <a:solidFill>
                  <a:srgbClr val="252A3D"/>
                </a:solidFill>
                <a:latin typeface="Arial" pitchFamily="34" charset="0"/>
                <a:ea typeface="Arial" pitchFamily="34" charset="-122"/>
                <a:cs typeface="Arial" pitchFamily="34" charset="-120"/>
              </a:rPr>
              <a:t>il demande ce qui manque</a:t>
            </a:r>
          </a:p>
        </p:txBody>
      </p:sp>
      <p:sp>
        <p:nvSpPr>
          <p:cNvPr id="27" name="Shape 25"/>
          <p:cNvSpPr/>
          <p:nvPr/>
        </p:nvSpPr>
        <p:spPr>
          <a:xfrm>
            <a:off x="4069080" y="4302252"/>
            <a:ext cx="196596" cy="0"/>
          </a:xfrm>
          <a:prstGeom prst="line">
            <a:avLst/>
          </a:prstGeom>
          <a:noFill/>
          <a:ln w="15875">
            <a:solidFill>
              <a:srgbClr val="252A3D"/>
            </a:solidFill>
            <a:prstDash val="solid"/>
            <a:tailEnd type="triangle"/>
          </a:ln>
        </p:spPr>
        <p:txBody>
          <a:bodyPr/>
          <a:p/>
        </p:txBody>
      </p:sp>
      <p:sp>
        <p:nvSpPr>
          <p:cNvPr id="28" name="Shape 26"/>
          <p:cNvSpPr/>
          <p:nvPr/>
        </p:nvSpPr>
        <p:spPr>
          <a:xfrm>
            <a:off x="4311396" y="3593592"/>
            <a:ext cx="3566160" cy="1417320"/>
          </a:xfrm>
          <a:prstGeom prst="roundRect">
            <a:avLst>
              <a:gd name="adj" fmla="val 6452"/>
            </a:avLst>
          </a:prstGeom>
          <a:solidFill>
            <a:srgbClr val="FFF5BF"/>
          </a:solidFill>
          <a:ln w="12700">
            <a:solidFill>
              <a:srgbClr val="FFF5BF"/>
            </a:solidFill>
            <a:prstDash val="solid"/>
          </a:ln>
        </p:spPr>
        <p:txBody>
          <a:bodyPr/>
          <a:p/>
        </p:txBody>
      </p:sp>
      <p:sp>
        <p:nvSpPr>
          <p:cNvPr id="29" name="Text 27"/>
          <p:cNvSpPr txBox="1"/>
          <p:nvPr/>
        </p:nvSpPr>
        <p:spPr>
          <a:xfrm>
            <a:off x="4494276" y="3721608"/>
            <a:ext cx="3200400"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05 / RENDRE UNE DÉCISION</a:t>
            </a:r>
          </a:p>
        </p:txBody>
      </p:sp>
      <p:sp>
        <p:nvSpPr>
          <p:cNvPr id="30" name="Text 28"/>
          <p:cNvSpPr txBox="1"/>
          <p:nvPr/>
        </p:nvSpPr>
        <p:spPr>
          <a:xfrm>
            <a:off x="4494276" y="3922776"/>
            <a:ext cx="3200400" cy="274320"/>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L’agent présente ses conclusions</a:t>
            </a:r>
          </a:p>
        </p:txBody>
      </p:sp>
      <p:sp>
        <p:nvSpPr>
          <p:cNvPr id="31" name="Text 29"/>
          <p:cNvSpPr txBox="1"/>
          <p:nvPr/>
        </p:nvSpPr>
        <p:spPr>
          <a:xfrm>
            <a:off x="4494276" y="4251960"/>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50" dirty="0">
                <a:solidFill>
                  <a:srgbClr val="252A3D"/>
                </a:solidFill>
                <a:latin typeface="Arial" pitchFamily="34" charset="0"/>
                <a:ea typeface="Arial" pitchFamily="34" charset="-122"/>
                <a:cs typeface="Arial" pitchFamily="34" charset="-120"/>
              </a:rPr>
              <a:t>la décision qu’il prend</a:t>
            </a:r>
          </a:p>
          <a:p>
            <a:pPr marL="127000" indent="-127000">
              <a:lnSpc>
                <a:spcPct val="105000"/>
              </a:lnSpc>
              <a:spcAft>
                <a:spcPts val="200"/>
              </a:spcAft>
              <a:buSzPct val="100000"/>
              <a:buChar char="•"/>
            </a:pPr>
            <a:r>
              <a:rPr lang="en-US" sz="950" dirty="0">
                <a:solidFill>
                  <a:srgbClr val="252A3D"/>
                </a:solidFill>
                <a:latin typeface="Arial" pitchFamily="34" charset="0"/>
                <a:ea typeface="Arial" pitchFamily="34" charset="-122"/>
                <a:cs typeface="Arial" pitchFamily="34" charset="-120"/>
              </a:rPr>
              <a:t>les problèmes qu’il a repérés</a:t>
            </a:r>
          </a:p>
          <a:p>
            <a:pPr marL="127000" indent="-127000">
              <a:lnSpc>
                <a:spcPct val="105000"/>
              </a:lnSpc>
              <a:spcAft>
                <a:spcPts val="200"/>
              </a:spcAft>
              <a:buSzPct val="100000"/>
              <a:buChar char="•"/>
            </a:pPr>
            <a:r>
              <a:rPr lang="en-US" sz="950" dirty="0">
                <a:solidFill>
                  <a:srgbClr val="252A3D"/>
                </a:solidFill>
                <a:latin typeface="Arial" pitchFamily="34" charset="0"/>
                <a:ea typeface="Arial" pitchFamily="34" charset="-122"/>
                <a:cs typeface="Arial" pitchFamily="34" charset="-120"/>
              </a:rPr>
              <a:t>les corrections qu’il demande</a:t>
            </a:r>
          </a:p>
          <a:p>
            <a:pPr marL="127000" indent="-127000">
              <a:lnSpc>
                <a:spcPct val="105000"/>
              </a:lnSpc>
              <a:spcAft>
                <a:spcPts val="200"/>
              </a:spcAft>
              <a:buSzPct val="100000"/>
              <a:buChar char="•"/>
            </a:pPr>
            <a:r>
              <a:rPr lang="en-US" sz="950" dirty="0">
                <a:solidFill>
                  <a:srgbClr val="252A3D"/>
                </a:solidFill>
                <a:latin typeface="Arial" pitchFamily="34" charset="0"/>
                <a:ea typeface="Arial" pitchFamily="34" charset="-122"/>
                <a:cs typeface="Arial" pitchFamily="34" charset="-120"/>
              </a:rPr>
              <a:t>les sources sur lesquelles il s’appuie</a:t>
            </a:r>
          </a:p>
        </p:txBody>
      </p:sp>
      <p:sp>
        <p:nvSpPr>
          <p:cNvPr id="32" name="Shape 30"/>
          <p:cNvSpPr/>
          <p:nvPr/>
        </p:nvSpPr>
        <p:spPr>
          <a:xfrm>
            <a:off x="7923276" y="4302252"/>
            <a:ext cx="196596" cy="0"/>
          </a:xfrm>
          <a:prstGeom prst="line">
            <a:avLst/>
          </a:prstGeom>
          <a:noFill/>
          <a:ln w="15875">
            <a:solidFill>
              <a:srgbClr val="252A3D"/>
            </a:solidFill>
            <a:prstDash val="solid"/>
            <a:tailEnd type="triangle"/>
          </a:ln>
        </p:spPr>
        <p:txBody>
          <a:bodyPr/>
          <a:p/>
        </p:txBody>
      </p:sp>
      <p:sp>
        <p:nvSpPr>
          <p:cNvPr id="33" name="Shape 31"/>
          <p:cNvSpPr/>
          <p:nvPr/>
        </p:nvSpPr>
        <p:spPr>
          <a:xfrm>
            <a:off x="8165592" y="3593592"/>
            <a:ext cx="3566160" cy="1417320"/>
          </a:xfrm>
          <a:prstGeom prst="roundRect">
            <a:avLst>
              <a:gd name="adj" fmla="val 6452"/>
            </a:avLst>
          </a:prstGeom>
          <a:solidFill>
            <a:srgbClr val="E5F6E9"/>
          </a:solidFill>
          <a:ln w="12700">
            <a:solidFill>
              <a:srgbClr val="E5F6E9"/>
            </a:solidFill>
            <a:prstDash val="solid"/>
          </a:ln>
        </p:spPr>
        <p:txBody>
          <a:bodyPr/>
          <a:p/>
        </p:txBody>
      </p:sp>
      <p:sp>
        <p:nvSpPr>
          <p:cNvPr id="34" name="Text 32"/>
          <p:cNvSpPr txBox="1"/>
          <p:nvPr/>
        </p:nvSpPr>
        <p:spPr>
          <a:xfrm>
            <a:off x="8348472" y="3721608"/>
            <a:ext cx="3200400" cy="182880"/>
          </a:xfrm>
          <a:prstGeom prst="rect">
            <a:avLst/>
          </a:prstGeom>
          <a:noFill/>
          <a:ln/>
        </p:spPr>
        <p:txBody>
          <a:bodyPr wrap="square" lIns="0" tIns="0" rIns="0" bIns="0" rtlCol="0" anchor="t"/>
          <a:lstStyle/>
          <a:p>
            <a:pPr indent="0" marL="0">
              <a:lnSpc>
                <a:spcPct val="105000"/>
              </a:lnSpc>
              <a:buNone/>
            </a:pPr>
            <a:r>
              <a:rPr lang="en-US" sz="700" b="1" spc="50" kern="0" dirty="0">
                <a:solidFill>
                  <a:srgbClr val="5B6575"/>
                </a:solidFill>
                <a:latin typeface="Arial" pitchFamily="34" charset="0"/>
                <a:ea typeface="Arial" pitchFamily="34" charset="-122"/>
                <a:cs typeface="Arial" pitchFamily="34" charset="-120"/>
              </a:rPr>
              <a:t>06 / ÉVALUER LA RÉPONSE</a:t>
            </a:r>
          </a:p>
        </p:txBody>
      </p:sp>
      <p:sp>
        <p:nvSpPr>
          <p:cNvPr id="35" name="Text 33"/>
          <p:cNvSpPr txBox="1"/>
          <p:nvPr/>
        </p:nvSpPr>
        <p:spPr>
          <a:xfrm>
            <a:off x="8348472" y="3922776"/>
            <a:ext cx="3200400" cy="274320"/>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Un programme évalue le travail de l’agent</a:t>
            </a:r>
          </a:p>
        </p:txBody>
      </p:sp>
      <p:sp>
        <p:nvSpPr>
          <p:cNvPr id="36" name="Text 34"/>
          <p:cNvSpPr txBox="1"/>
          <p:nvPr/>
        </p:nvSpPr>
        <p:spPr>
          <a:xfrm>
            <a:off x="8348472" y="4251960"/>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700" dirty="0">
                <a:solidFill>
                  <a:srgbClr val="252A3D"/>
                </a:solidFill>
                <a:latin typeface="Arial" pitchFamily="34" charset="0"/>
                <a:ea typeface="Arial" pitchFamily="34" charset="-122"/>
                <a:cs typeface="Arial" pitchFamily="34" charset="-120"/>
              </a:rPr>
              <a:t>il compare la réponse de l’agent aux réponses préparées pour le test</a:t>
            </a:r>
          </a:p>
          <a:p>
            <a:pPr marL="127000" indent="-127000">
              <a:lnSpc>
                <a:spcPct val="105000"/>
              </a:lnSpc>
              <a:spcAft>
                <a:spcPts val="200"/>
              </a:spcAft>
              <a:buSzPct val="100000"/>
              <a:buChar char="•"/>
            </a:pPr>
            <a:r>
              <a:rPr lang="en-US" sz="700" dirty="0">
                <a:solidFill>
                  <a:srgbClr val="252A3D"/>
                </a:solidFill>
                <a:latin typeface="Arial" pitchFamily="34" charset="0"/>
                <a:ea typeface="Arial" pitchFamily="34" charset="-122"/>
                <a:cs typeface="Arial" pitchFamily="34" charset="-120"/>
              </a:rPr>
              <a:t>il vérifie la décision, les problèmes signalés, les corrections demandées, les sources citées et les autorisations</a:t>
            </a:r>
          </a:p>
          <a:p>
            <a:pPr marL="127000" indent="-127000">
              <a:lnSpc>
                <a:spcPct val="105000"/>
              </a:lnSpc>
              <a:spcAft>
                <a:spcPts val="200"/>
              </a:spcAft>
              <a:buSzPct val="100000"/>
              <a:buChar char="•"/>
            </a:pPr>
            <a:r>
              <a:rPr lang="en-US" sz="700" dirty="0">
                <a:solidFill>
                  <a:srgbClr val="252A3D"/>
                </a:solidFill>
                <a:latin typeface="Arial" pitchFamily="34" charset="0"/>
                <a:ea typeface="Arial" pitchFamily="34" charset="-122"/>
                <a:cs typeface="Arial" pitchFamily="34" charset="-120"/>
              </a:rPr>
              <a:t>il enregistre le coût des appels et les incidents</a:t>
            </a:r>
          </a:p>
        </p:txBody>
      </p:sp>
      <p:sp>
        <p:nvSpPr>
          <p:cNvPr id="37" name="Shape 35"/>
          <p:cNvSpPr/>
          <p:nvPr/>
        </p:nvSpPr>
        <p:spPr>
          <a:xfrm>
            <a:off x="11338560" y="3383280"/>
            <a:ext cx="0" cy="100584"/>
          </a:xfrm>
          <a:prstGeom prst="line">
            <a:avLst/>
          </a:prstGeom>
          <a:noFill/>
          <a:ln w="15875">
            <a:solidFill>
              <a:srgbClr val="252A3D"/>
            </a:solidFill>
            <a:prstDash val="solid"/>
          </a:ln>
        </p:spPr>
        <p:txBody>
          <a:bodyPr/>
          <a:p/>
        </p:txBody>
      </p:sp>
      <p:sp>
        <p:nvSpPr>
          <p:cNvPr id="38" name="Shape 36"/>
          <p:cNvSpPr/>
          <p:nvPr/>
        </p:nvSpPr>
        <p:spPr>
          <a:xfrm>
            <a:off x="2240280" y="3483864"/>
            <a:ext cx="9098280" cy="0"/>
          </a:xfrm>
          <a:prstGeom prst="line">
            <a:avLst/>
          </a:prstGeom>
          <a:noFill/>
          <a:ln w="15875">
            <a:solidFill>
              <a:srgbClr val="252A3D"/>
            </a:solidFill>
            <a:prstDash val="solid"/>
          </a:ln>
        </p:spPr>
        <p:txBody>
          <a:bodyPr/>
          <a:p/>
        </p:txBody>
      </p:sp>
      <p:sp>
        <p:nvSpPr>
          <p:cNvPr id="39" name="Shape 37"/>
          <p:cNvSpPr/>
          <p:nvPr/>
        </p:nvSpPr>
        <p:spPr>
          <a:xfrm>
            <a:off x="2240280" y="3483864"/>
            <a:ext cx="0" cy="82296"/>
          </a:xfrm>
          <a:prstGeom prst="line">
            <a:avLst/>
          </a:prstGeom>
          <a:noFill/>
          <a:ln w="15875">
            <a:solidFill>
              <a:srgbClr val="252A3D"/>
            </a:solidFill>
            <a:prstDash val="solid"/>
            <a:tailEnd type="triangle"/>
          </a:ln>
        </p:spPr>
        <p:txBody>
          <a:bodyPr/>
          <a:p/>
        </p:txBody>
      </p:sp>
      <p:sp>
        <p:nvSpPr>
          <p:cNvPr id="40" name="Shape 38"/>
          <p:cNvSpPr/>
          <p:nvPr/>
        </p:nvSpPr>
        <p:spPr>
          <a:xfrm>
            <a:off x="457200" y="5349240"/>
            <a:ext cx="11274552" cy="1143000"/>
          </a:xfrm>
          <a:prstGeom prst="roundRect">
            <a:avLst>
              <a:gd name="adj" fmla="val 8000"/>
            </a:avLst>
          </a:prstGeom>
          <a:solidFill>
            <a:srgbClr val="FFF5BF"/>
          </a:solidFill>
          <a:ln w="12700">
            <a:solidFill>
              <a:srgbClr val="FFF5BF"/>
            </a:solidFill>
            <a:prstDash val="solid"/>
          </a:ln>
        </p:spPr>
        <p:txBody>
          <a:bodyPr/>
          <a:p/>
        </p:txBody>
      </p:sp>
      <p:pic>
        <p:nvPicPr>
          <p:cNvPr id="41" name="Image 0" descr="preencoded.png">    </p:cNvPr>
          <p:cNvPicPr>
            <a:picLocks noChangeAspect="1"/>
          </p:cNvPicPr>
          <p:nvPr/>
        </p:nvPicPr>
        <p:blipFill>
          <a:blip r:embed="rId1"/>
          <a:stretch>
            <a:fillRect/>
          </a:stretch>
        </p:blipFill>
        <p:spPr>
          <a:xfrm>
            <a:off x="621792" y="5765292"/>
            <a:ext cx="310896" cy="310896"/>
          </a:xfrm>
          <a:prstGeom prst="rect">
            <a:avLst/>
          </a:prstGeom>
        </p:spPr>
      </p:pic>
      <p:sp>
        <p:nvSpPr>
          <p:cNvPr id="42" name="Text 39"/>
          <p:cNvSpPr txBox="1"/>
          <p:nvPr/>
        </p:nvSpPr>
        <p:spPr>
          <a:xfrm>
            <a:off x="1051560" y="5349240"/>
            <a:ext cx="10469880" cy="114300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Tous les projets sont fictifs. </a:t>
            </a:r>
            <a:r>
              <a:rPr lang="en-US" sz="1150" dirty="0">
                <a:solidFill>
                  <a:srgbClr val="252A3D"/>
                </a:solidFill>
                <a:latin typeface="Arial" pitchFamily="34" charset="0"/>
                <a:ea typeface="Arial" pitchFamily="34" charset="-122"/>
                <a:cs typeface="Arial" pitchFamily="34" charset="-120"/>
              </a:rPr>
              <a:t>Aucun ne contient de données confidentielles d’une entreprise réelle. Pour chaque projet, le programme prépare la décision à prendre et les problèmes à signaler. Il compare ensuite les réponses de l’agent à celles qu’il a préparées, sans les lui montrer. Les trois modèles sont notés de la même manière, avec les mêmes critères.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000" b="1" dirty="0">
                <a:solidFill>
                  <a:srgbClr val="5B6575"/>
                </a:solidFill>
                <a:latin typeface="Arial" pitchFamily="34" charset="0"/>
                <a:ea typeface="Arial" pitchFamily="34" charset="-122"/>
                <a:cs typeface="Arial" pitchFamily="34" charset="-120"/>
              </a:rPr>
              <a:t>L’EXPÉRIENCE · COMMENT LE TRAVAIL DE L’AGENT EST VÉRIFIÉ</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Ce que fait l’agent, étape par étape</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50" dirty="0">
                <a:solidFill>
                  <a:srgbClr val="5B6575"/>
                </a:solidFill>
                <a:latin typeface="Arial" pitchFamily="34" charset="0"/>
                <a:ea typeface="Arial" pitchFamily="34" charset="-122"/>
                <a:cs typeface="Arial" pitchFamily="34" charset="-120"/>
              </a:rPr>
              <a:t>Pendant les revues, les outils vérifient les demandes de l’agent. Une fois toutes les revues terminées, un programme évalue ses réponses.</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10 / 30</a:t>
            </a:r>
            <a:endParaRPr lang="en-US" sz="1000" dirty="0"/>
          </a:p>
        </p:txBody>
      </p:sp>
      <p:sp>
        <p:nvSpPr>
          <p:cNvPr id="9" name="Shape 7"/>
          <p:cNvSpPr/>
          <p:nvPr/>
        </p:nvSpPr>
        <p:spPr>
          <a:xfrm>
            <a:off x="457200" y="1965960"/>
            <a:ext cx="7498080" cy="640080"/>
          </a:xfrm>
          <a:prstGeom prst="roundRect">
            <a:avLst>
              <a:gd name="adj" fmla="val 14286"/>
            </a:avLst>
          </a:prstGeom>
          <a:solidFill>
            <a:srgbClr val="DDF5FC"/>
          </a:solidFill>
          <a:ln w="12700">
            <a:solidFill>
              <a:srgbClr val="DDF5FC"/>
            </a:solidFill>
            <a:prstDash val="solid"/>
          </a:ln>
        </p:spPr>
        <p:txBody>
          <a:bodyPr/>
          <a:p/>
        </p:txBody>
      </p:sp>
      <p:sp>
        <p:nvSpPr>
          <p:cNvPr id="10" name="Shape 8"/>
          <p:cNvSpPr/>
          <p:nvPr/>
        </p:nvSpPr>
        <p:spPr>
          <a:xfrm>
            <a:off x="603504" y="2075688"/>
            <a:ext cx="384048" cy="274320"/>
          </a:xfrm>
          <a:prstGeom prst="roundRect">
            <a:avLst>
              <a:gd name="adj" fmla="val 16667"/>
            </a:avLst>
          </a:prstGeom>
          <a:solidFill>
            <a:srgbClr val="FFFFFF"/>
          </a:solidFill>
          <a:ln w="12700">
            <a:solidFill>
              <a:srgbClr val="FFFFFF"/>
            </a:solidFill>
            <a:prstDash val="solid"/>
          </a:ln>
        </p:spPr>
        <p:txBody>
          <a:bodyPr/>
          <a:p/>
        </p:txBody>
      </p:sp>
      <p:sp>
        <p:nvSpPr>
          <p:cNvPr id="11" name="Text 9"/>
          <p:cNvSpPr txBox="1"/>
          <p:nvPr/>
        </p:nvSpPr>
        <p:spPr>
          <a:xfrm>
            <a:off x="603504" y="207568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1115568" y="2029968"/>
            <a:ext cx="6720840" cy="201168"/>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L’agent présente les problèmes qu’il a repérés</a:t>
            </a:r>
          </a:p>
        </p:txBody>
      </p:sp>
      <p:sp>
        <p:nvSpPr>
          <p:cNvPr id="13" name="Text 11"/>
          <p:cNvSpPr txBox="1"/>
          <p:nvPr/>
        </p:nvSpPr>
        <p:spPr>
          <a:xfrm>
            <a:off x="1115568" y="2240280"/>
            <a:ext cx="6720840" cy="365760"/>
          </a:xfrm>
          <a:prstGeom prst="rect">
            <a:avLst/>
          </a:prstGeom>
          <a:noFill/>
          <a:ln/>
        </p:spPr>
        <p:txBody>
          <a:bodyPr wrap="square" lIns="0" tIns="0" rIns="0" bIns="0" rtlCol="0" anchor="t"/>
          <a:lstStyle/>
          <a:p>
            <a:pPr indent="0" marL="0">
              <a:lnSpc>
                <a:spcPct val="105000"/>
              </a:lnSpc>
              <a:buNone/>
            </a:pPr>
            <a:r>
              <a:rPr lang="en-US" sz="750" dirty="0">
                <a:solidFill>
                  <a:srgbClr val="252A3D"/>
                </a:solidFill>
                <a:latin typeface="Arial" pitchFamily="34" charset="0"/>
                <a:ea typeface="Arial" pitchFamily="34" charset="-122"/>
                <a:cs typeface="Arial" pitchFamily="34" charset="-120"/>
              </a:rPr>
              <a:t>Pour chaque problème, il indique la source utilisée et la correction à apporter.</a:t>
            </a:r>
          </a:p>
          <a:p>
            <a:pPr indent="0" marL="0">
              <a:lnSpc>
                <a:spcPct val="105000"/>
              </a:lnSpc>
              <a:buNone/>
            </a:pPr>
            <a:r>
              <a:rPr lang="en-US" sz="750" dirty="0">
                <a:solidFill>
                  <a:srgbClr val="252A3D"/>
                </a:solidFill>
                <a:latin typeface="Arial" pitchFamily="34" charset="0"/>
                <a:ea typeface="Arial" pitchFamily="34" charset="-122"/>
                <a:cs typeface="Arial" pitchFamily="34" charset="-120"/>
              </a:rPr>
              <a:t>Exemple : « Aucun résultat ne montre qu’une sauvegarde a été restaurée avec succès. Il faut effectuer ce test. »</a:t>
            </a:r>
          </a:p>
        </p:txBody>
      </p:sp>
      <p:sp>
        <p:nvSpPr>
          <p:cNvPr id="14" name="Shape 12"/>
          <p:cNvSpPr/>
          <p:nvPr/>
        </p:nvSpPr>
        <p:spPr>
          <a:xfrm>
            <a:off x="457200" y="2697480"/>
            <a:ext cx="7498080" cy="640080"/>
          </a:xfrm>
          <a:prstGeom prst="roundRect">
            <a:avLst>
              <a:gd name="adj" fmla="val 14286"/>
            </a:avLst>
          </a:prstGeom>
          <a:solidFill>
            <a:srgbClr val="FFF5BF"/>
          </a:solidFill>
          <a:ln w="12700">
            <a:solidFill>
              <a:srgbClr val="FFF5BF"/>
            </a:solidFill>
            <a:prstDash val="solid"/>
          </a:ln>
        </p:spPr>
        <p:txBody>
          <a:bodyPr/>
          <a:p/>
        </p:txBody>
      </p:sp>
      <p:sp>
        <p:nvSpPr>
          <p:cNvPr id="15" name="Shape 13"/>
          <p:cNvSpPr/>
          <p:nvPr/>
        </p:nvSpPr>
        <p:spPr>
          <a:xfrm>
            <a:off x="603504" y="2807208"/>
            <a:ext cx="384048" cy="274320"/>
          </a:xfrm>
          <a:prstGeom prst="roundRect">
            <a:avLst>
              <a:gd name="adj" fmla="val 16667"/>
            </a:avLst>
          </a:prstGeom>
          <a:solidFill>
            <a:srgbClr val="FFFFFF"/>
          </a:solidFill>
          <a:ln w="12700">
            <a:solidFill>
              <a:srgbClr val="FFFFFF"/>
            </a:solidFill>
            <a:prstDash val="solid"/>
          </a:ln>
        </p:spPr>
        <p:txBody>
          <a:bodyPr/>
          <a:p/>
        </p:txBody>
      </p:sp>
      <p:sp>
        <p:nvSpPr>
          <p:cNvPr id="16" name="Text 14"/>
          <p:cNvSpPr txBox="1"/>
          <p:nvPr/>
        </p:nvSpPr>
        <p:spPr>
          <a:xfrm>
            <a:off x="603504" y="280720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17" name="Text 15"/>
          <p:cNvSpPr txBox="1"/>
          <p:nvPr/>
        </p:nvSpPr>
        <p:spPr>
          <a:xfrm>
            <a:off x="1115568" y="2761488"/>
            <a:ext cx="6720840" cy="201168"/>
          </a:xfrm>
          <a:prstGeom prst="rect">
            <a:avLst/>
          </a:prstGeom>
          <a:noFill/>
          <a:ln/>
        </p:spPr>
        <p:txBody>
          <a:bodyPr wrap="square" lIns="0" tIns="0" rIns="0" bIns="0" rtlCol="0" anchor="t"/>
          <a:lstStyle/>
          <a:p>
            <a:pPr indent="0" marL="0">
              <a:lnSpc>
                <a:spcPct val="105000"/>
              </a:lnSpc>
              <a:buNone/>
            </a:pPr>
            <a:r>
              <a:rPr lang="en-US" sz="800" b="1" dirty="0">
                <a:solidFill>
                  <a:srgbClr val="252A3D"/>
                </a:solidFill>
                <a:latin typeface="Arial" pitchFamily="34" charset="0"/>
                <a:ea typeface="Arial" pitchFamily="34" charset="-122"/>
                <a:cs typeface="Arial" pitchFamily="34" charset="-120"/>
              </a:rPr>
              <a:t>Il choisit la décision à rendre</a:t>
            </a:r>
          </a:p>
        </p:txBody>
      </p:sp>
      <p:sp>
        <p:nvSpPr>
          <p:cNvPr id="18" name="Text 16"/>
          <p:cNvSpPr txBox="1"/>
          <p:nvPr/>
        </p:nvSpPr>
        <p:spPr>
          <a:xfrm>
            <a:off x="1115568" y="2971800"/>
            <a:ext cx="6720840" cy="36576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Il choisit parmi cinq réponses : APPROUVÉ, APPROUVÉ SOUS CONDITIONS, À CORRIGER, EN ATTENTE ou REFUSÉ.</a:t>
            </a:r>
          </a:p>
          <a:p>
            <a:pPr indent="0" marL="0">
              <a:lnSpc>
                <a:spcPct val="105000"/>
              </a:lnSpc>
              <a:buNone/>
            </a:pPr>
            <a:r>
              <a:rPr lang="en-US" sz="860" dirty="0">
                <a:solidFill>
                  <a:srgbClr val="252A3D"/>
                </a:solidFill>
                <a:latin typeface="Arial" pitchFamily="34" charset="0"/>
                <a:ea typeface="Arial" pitchFamily="34" charset="-122"/>
                <a:cs typeface="Arial" pitchFamily="34" charset="-120"/>
              </a:rPr>
              <a:t>Ici, il doit répondre À CORRIGER (REWORK).</a:t>
            </a:r>
          </a:p>
        </p:txBody>
      </p:sp>
      <p:sp>
        <p:nvSpPr>
          <p:cNvPr id="19" name="Shape 17"/>
          <p:cNvSpPr/>
          <p:nvPr/>
        </p:nvSpPr>
        <p:spPr>
          <a:xfrm>
            <a:off x="457200" y="3429000"/>
            <a:ext cx="7498080" cy="640080"/>
          </a:xfrm>
          <a:prstGeom prst="roundRect">
            <a:avLst>
              <a:gd name="adj" fmla="val 14286"/>
            </a:avLst>
          </a:prstGeom>
          <a:solidFill>
            <a:srgbClr val="FFE4E6"/>
          </a:solidFill>
          <a:ln w="12700">
            <a:solidFill>
              <a:srgbClr val="FFE4E6"/>
            </a:solidFill>
            <a:prstDash val="solid"/>
          </a:ln>
        </p:spPr>
        <p:txBody>
          <a:bodyPr/>
          <a:p/>
        </p:txBody>
      </p:sp>
      <p:sp>
        <p:nvSpPr>
          <p:cNvPr id="20" name="Shape 18"/>
          <p:cNvSpPr/>
          <p:nvPr/>
        </p:nvSpPr>
        <p:spPr>
          <a:xfrm>
            <a:off x="603504" y="3538728"/>
            <a:ext cx="384048" cy="274320"/>
          </a:xfrm>
          <a:prstGeom prst="roundRect">
            <a:avLst>
              <a:gd name="adj" fmla="val 16667"/>
            </a:avLst>
          </a:prstGeom>
          <a:solidFill>
            <a:srgbClr val="FFFFFF"/>
          </a:solidFill>
          <a:ln w="12700">
            <a:solidFill>
              <a:srgbClr val="FFFFFF"/>
            </a:solidFill>
            <a:prstDash val="solid"/>
          </a:ln>
        </p:spPr>
        <p:txBody>
          <a:bodyPr/>
          <a:p/>
        </p:txBody>
      </p:sp>
      <p:sp>
        <p:nvSpPr>
          <p:cNvPr id="21" name="Text 19"/>
          <p:cNvSpPr txBox="1"/>
          <p:nvPr/>
        </p:nvSpPr>
        <p:spPr>
          <a:xfrm>
            <a:off x="603504" y="353872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2" name="Text 20"/>
          <p:cNvSpPr txBox="1"/>
          <p:nvPr/>
        </p:nvSpPr>
        <p:spPr>
          <a:xfrm>
            <a:off x="1115568" y="3493008"/>
            <a:ext cx="6720840" cy="201168"/>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Toute demande d’approbation sous conditions est vérifiée sur-le-champ</a:t>
            </a:r>
          </a:p>
        </p:txBody>
      </p:sp>
      <p:sp>
        <p:nvSpPr>
          <p:cNvPr id="23" name="Text 21"/>
          <p:cNvSpPr txBox="1"/>
          <p:nvPr/>
        </p:nvSpPr>
        <p:spPr>
          <a:xfrm>
            <a:off x="1115568" y="3703320"/>
            <a:ext cx="6720840" cy="365760"/>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Un contrôle automatique vérifie que l’agent a le droit d’approuver le projet sous conditions et que les risques signalés peuvent être acceptés. Il autorise ou refuse ensuite la demande.</a:t>
            </a:r>
          </a:p>
        </p:txBody>
      </p:sp>
      <p:sp>
        <p:nvSpPr>
          <p:cNvPr id="24" name="Shape 22"/>
          <p:cNvSpPr/>
          <p:nvPr/>
        </p:nvSpPr>
        <p:spPr>
          <a:xfrm>
            <a:off x="457200" y="4160520"/>
            <a:ext cx="7498080" cy="640080"/>
          </a:xfrm>
          <a:prstGeom prst="roundRect">
            <a:avLst>
              <a:gd name="adj" fmla="val 14286"/>
            </a:avLst>
          </a:prstGeom>
          <a:solidFill>
            <a:srgbClr val="E5F6E9"/>
          </a:solidFill>
          <a:ln w="12700">
            <a:solidFill>
              <a:srgbClr val="E5F6E9"/>
            </a:solidFill>
            <a:prstDash val="solid"/>
          </a:ln>
        </p:spPr>
        <p:txBody>
          <a:bodyPr/>
          <a:p/>
        </p:txBody>
      </p:sp>
      <p:sp>
        <p:nvSpPr>
          <p:cNvPr id="25" name="Shape 23"/>
          <p:cNvSpPr/>
          <p:nvPr/>
        </p:nvSpPr>
        <p:spPr>
          <a:xfrm>
            <a:off x="603504" y="4270248"/>
            <a:ext cx="384048" cy="274320"/>
          </a:xfrm>
          <a:prstGeom prst="roundRect">
            <a:avLst>
              <a:gd name="adj" fmla="val 16667"/>
            </a:avLst>
          </a:prstGeom>
          <a:solidFill>
            <a:srgbClr val="FFFFFF"/>
          </a:solidFill>
          <a:ln w="12700">
            <a:solidFill>
              <a:srgbClr val="FFFFFF"/>
            </a:solidFill>
            <a:prstDash val="solid"/>
          </a:ln>
        </p:spPr>
        <p:txBody>
          <a:bodyPr/>
          <a:p/>
        </p:txBody>
      </p:sp>
      <p:sp>
        <p:nvSpPr>
          <p:cNvPr id="26" name="Text 24"/>
          <p:cNvSpPr txBox="1"/>
          <p:nvPr/>
        </p:nvSpPr>
        <p:spPr>
          <a:xfrm>
            <a:off x="603504" y="427024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4</a:t>
            </a:r>
            <a:endParaRPr lang="en-US" sz="1000" dirty="0"/>
          </a:p>
        </p:txBody>
      </p:sp>
      <p:sp>
        <p:nvSpPr>
          <p:cNvPr id="27" name="Text 25"/>
          <p:cNvSpPr txBox="1"/>
          <p:nvPr/>
        </p:nvSpPr>
        <p:spPr>
          <a:xfrm>
            <a:off x="1115568" y="4224528"/>
            <a:ext cx="6720840" cy="201168"/>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Les conclusions sont transmises à la revue suivante</a:t>
            </a:r>
          </a:p>
        </p:txBody>
      </p:sp>
      <p:sp>
        <p:nvSpPr>
          <p:cNvPr id="28" name="Text 26"/>
          <p:cNvSpPr txBox="1"/>
          <p:nvPr/>
        </p:nvSpPr>
        <p:spPr>
          <a:xfrm>
            <a:off x="1115568" y="4434840"/>
            <a:ext cx="6720840" cy="365760"/>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La revue suivante reprend ces conclusions sans les modifier, même si elles contiennent des erreurs.</a:t>
            </a:r>
          </a:p>
          <a:p>
            <a:pPr indent="0" marL="0">
              <a:lnSpc>
                <a:spcPct val="105000"/>
              </a:lnSpc>
              <a:buNone/>
            </a:pPr>
            <a:r>
              <a:rPr lang="en-US" sz="800" dirty="0">
                <a:solidFill>
                  <a:srgbClr val="252A3D"/>
                </a:solidFill>
                <a:latin typeface="Arial" pitchFamily="34" charset="0"/>
                <a:ea typeface="Arial" pitchFamily="34" charset="-122"/>
                <a:cs typeface="Arial" pitchFamily="34" charset="-120"/>
              </a:rPr>
              <a:t>Dans l’expérience, les revues se poursuivent même après un refus. La Validation finale rassemble ensuite toutes leurs conclusions.</a:t>
            </a:r>
          </a:p>
        </p:txBody>
      </p:sp>
      <p:sp>
        <p:nvSpPr>
          <p:cNvPr id="29" name="Shape 27"/>
          <p:cNvSpPr/>
          <p:nvPr/>
        </p:nvSpPr>
        <p:spPr>
          <a:xfrm>
            <a:off x="457200" y="4892040"/>
            <a:ext cx="7498080" cy="640080"/>
          </a:xfrm>
          <a:prstGeom prst="roundRect">
            <a:avLst>
              <a:gd name="adj" fmla="val 14286"/>
            </a:avLst>
          </a:prstGeom>
          <a:solidFill>
            <a:srgbClr val="EFE8FA"/>
          </a:solidFill>
          <a:ln w="12700">
            <a:solidFill>
              <a:srgbClr val="EFE8FA"/>
            </a:solidFill>
            <a:prstDash val="solid"/>
          </a:ln>
        </p:spPr>
        <p:txBody>
          <a:bodyPr/>
          <a:p/>
        </p:txBody>
      </p:sp>
      <p:sp>
        <p:nvSpPr>
          <p:cNvPr id="30" name="Shape 28"/>
          <p:cNvSpPr/>
          <p:nvPr/>
        </p:nvSpPr>
        <p:spPr>
          <a:xfrm>
            <a:off x="603504" y="5001768"/>
            <a:ext cx="384048" cy="274320"/>
          </a:xfrm>
          <a:prstGeom prst="roundRect">
            <a:avLst>
              <a:gd name="adj" fmla="val 16667"/>
            </a:avLst>
          </a:prstGeom>
          <a:solidFill>
            <a:srgbClr val="FFFFFF"/>
          </a:solidFill>
          <a:ln w="12700">
            <a:solidFill>
              <a:srgbClr val="FFFFFF"/>
            </a:solidFill>
            <a:prstDash val="solid"/>
          </a:ln>
        </p:spPr>
        <p:txBody>
          <a:bodyPr/>
          <a:p/>
        </p:txBody>
      </p:sp>
      <p:sp>
        <p:nvSpPr>
          <p:cNvPr id="31" name="Text 29"/>
          <p:cNvSpPr txBox="1"/>
          <p:nvPr/>
        </p:nvSpPr>
        <p:spPr>
          <a:xfrm>
            <a:off x="603504" y="500176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5</a:t>
            </a:r>
            <a:endParaRPr lang="en-US" sz="1000" dirty="0"/>
          </a:p>
        </p:txBody>
      </p:sp>
      <p:sp>
        <p:nvSpPr>
          <p:cNvPr id="32" name="Text 30"/>
          <p:cNvSpPr txBox="1"/>
          <p:nvPr/>
        </p:nvSpPr>
        <p:spPr>
          <a:xfrm>
            <a:off x="1115568" y="4956048"/>
            <a:ext cx="6720840" cy="201168"/>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À la fin du parcours, un programme évalue chaque revue</a:t>
            </a:r>
          </a:p>
        </p:txBody>
      </p:sp>
      <p:sp>
        <p:nvSpPr>
          <p:cNvPr id="33" name="Text 31"/>
          <p:cNvSpPr txBox="1"/>
          <p:nvPr/>
        </p:nvSpPr>
        <p:spPr>
          <a:xfrm>
            <a:off x="1115568" y="5166360"/>
            <a:ext cx="6720840" cy="365760"/>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Le programme vérifie si l’agent a pris la bonne décision, signalé les problèmes prévus, demandé les corrections nécessaires, cité les bonnes sources et respecté ses autorisations.</a:t>
            </a:r>
          </a:p>
        </p:txBody>
      </p:sp>
      <p:sp>
        <p:nvSpPr>
          <p:cNvPr id="34" name="Shape 32"/>
          <p:cNvSpPr/>
          <p:nvPr/>
        </p:nvSpPr>
        <p:spPr>
          <a:xfrm>
            <a:off x="8138160" y="1965960"/>
            <a:ext cx="3593592" cy="3566160"/>
          </a:xfrm>
          <a:prstGeom prst="roundRect">
            <a:avLst>
              <a:gd name="adj" fmla="val 2564"/>
            </a:avLst>
          </a:prstGeom>
          <a:solidFill>
            <a:srgbClr val="F3F5F8"/>
          </a:solidFill>
          <a:ln w="12700">
            <a:solidFill>
              <a:srgbClr val="F3F5F8"/>
            </a:solidFill>
            <a:prstDash val="solid"/>
          </a:ln>
        </p:spPr>
        <p:txBody>
          <a:bodyPr/>
          <a:p/>
        </p:txBody>
      </p:sp>
      <p:pic>
        <p:nvPicPr>
          <p:cNvPr id="35" name="Image 0" descr="preencoded.png">    </p:cNvPr>
          <p:cNvPicPr>
            <a:picLocks noChangeAspect="1"/>
          </p:cNvPicPr>
          <p:nvPr/>
        </p:nvPicPr>
        <p:blipFill>
          <a:blip r:embed="rId1"/>
          <a:stretch>
            <a:fillRect/>
          </a:stretch>
        </p:blipFill>
        <p:spPr>
          <a:xfrm>
            <a:off x="11338560" y="2084832"/>
            <a:ext cx="292608" cy="292608"/>
          </a:xfrm>
          <a:prstGeom prst="rect">
            <a:avLst/>
          </a:prstGeom>
        </p:spPr>
      </p:pic>
      <p:sp>
        <p:nvSpPr>
          <p:cNvPr id="36" name="Text 33"/>
          <p:cNvSpPr txBox="1"/>
          <p:nvPr/>
        </p:nvSpPr>
        <p:spPr>
          <a:xfrm>
            <a:off x="8302752" y="2103120"/>
            <a:ext cx="29260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C8283E"/>
                </a:solidFill>
                <a:latin typeface="Arial" pitchFamily="34" charset="0"/>
                <a:ea typeface="Arial" pitchFamily="34" charset="-122"/>
                <a:cs typeface="Arial" pitchFamily="34" charset="-120"/>
              </a:rPr>
              <a:t>CE QUE L’EXPÉRIENCE NE VÉRIFIE PAS</a:t>
            </a:r>
          </a:p>
        </p:txBody>
      </p:sp>
      <p:sp>
        <p:nvSpPr>
          <p:cNvPr id="37" name="Text 34"/>
          <p:cNvSpPr txBox="1"/>
          <p:nvPr/>
        </p:nvSpPr>
        <p:spPr>
          <a:xfrm>
            <a:off x="8302752" y="2432304"/>
            <a:ext cx="3291840" cy="301752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Demander une correction ne veut pas dire la réaliser.</a:t>
            </a:r>
          </a:p>
          <a:p>
            <a:pPr indent="0" marL="0">
              <a:lnSpc>
                <a:spcPct val="105000"/>
              </a:lnSpc>
              <a:buNone/>
            </a:pPr>
            <a:r>
              <a:rPr lang="en-US" sz="920" dirty="0">
                <a:solidFill>
                  <a:srgbClr val="252A3D"/>
                </a:solidFill>
                <a:latin typeface="Arial" pitchFamily="34" charset="0"/>
                <a:ea typeface="Arial" pitchFamily="34" charset="-122"/>
                <a:cs typeface="Arial" pitchFamily="34" charset="-120"/>
              </a:rPr>
              <a:t>L’agent peut demander un test de restauration, mais l’expérience ne va pas restaurer une sauvegarde sur un système réel.</a:t>
            </a:r>
          </a:p>
          <a:p>
            <a:pPr indent="0" marL="0">
              <a:lnSpc>
                <a:spcPct val="105000"/>
              </a:lnSpc>
              <a:buNone/>
            </a:pPr>
            <a:r>
              <a:rPr lang="en-US" sz="920" dirty="0">
                <a:solidFill>
                  <a:srgbClr val="252A3D"/>
                </a:solidFill>
                <a:latin typeface="Arial" pitchFamily="34" charset="0"/>
                <a:ea typeface="Arial" pitchFamily="34" charset="-122"/>
                <a:cs typeface="Arial" pitchFamily="34" charset="-120"/>
              </a:rPr>
              <a:t>Le test vérifie seulement si l’agent a bien examiné le dossier et pris la bonne décision.</a:t>
            </a:r>
          </a:p>
          <a:p>
            <a:pPr indent="0" marL="0">
              <a:lnSpc>
                <a:spcPct val="105000"/>
              </a:lnSpc>
              <a:buNone/>
            </a:pPr>
            <a:r>
              <a:rPr lang="en-US" sz="920" dirty="0">
                <a:solidFill>
                  <a:srgbClr val="252A3D"/>
                </a:solidFill>
                <a:latin typeface="Arial" pitchFamily="34" charset="0"/>
                <a:ea typeface="Arial" pitchFamily="34" charset="-122"/>
                <a:cs typeface="Arial" pitchFamily="34" charset="-120"/>
              </a:rPr>
              <a:t>Pour automatiser aussi les corrections, il faudrait réaliser l’action autorisée, en recueillir le résultat, puis examiner à nouveau le dossier.</a:t>
            </a:r>
          </a:p>
        </p:txBody>
      </p:sp>
      <p:sp>
        <p:nvSpPr>
          <p:cNvPr id="38" name="Shape 35"/>
          <p:cNvSpPr/>
          <p:nvPr/>
        </p:nvSpPr>
        <p:spPr>
          <a:xfrm>
            <a:off x="457200" y="5687568"/>
            <a:ext cx="11274552" cy="731520"/>
          </a:xfrm>
          <a:prstGeom prst="roundRect">
            <a:avLst>
              <a:gd name="adj" fmla="val 12500"/>
            </a:avLst>
          </a:prstGeom>
          <a:solidFill>
            <a:srgbClr val="FFF5BF"/>
          </a:solidFill>
          <a:ln w="12700">
            <a:solidFill>
              <a:srgbClr val="FFF5BF"/>
            </a:solidFill>
            <a:prstDash val="solid"/>
          </a:ln>
        </p:spPr>
        <p:txBody>
          <a:bodyPr/>
          <a:p/>
        </p:txBody>
      </p:sp>
      <p:pic>
        <p:nvPicPr>
          <p:cNvPr id="39" name="Image 1" descr="preencoded.png">    </p:cNvPr>
          <p:cNvPicPr>
            <a:picLocks noChangeAspect="1"/>
          </p:cNvPicPr>
          <p:nvPr/>
        </p:nvPicPr>
        <p:blipFill>
          <a:blip r:embed="rId2"/>
          <a:stretch>
            <a:fillRect/>
          </a:stretch>
        </p:blipFill>
        <p:spPr>
          <a:xfrm>
            <a:off x="621792" y="5897880"/>
            <a:ext cx="310896" cy="310896"/>
          </a:xfrm>
          <a:prstGeom prst="rect">
            <a:avLst/>
          </a:prstGeom>
        </p:spPr>
      </p:pic>
      <p:sp>
        <p:nvSpPr>
          <p:cNvPr id="40" name="Text 36"/>
          <p:cNvSpPr txBox="1"/>
          <p:nvPr/>
        </p:nvSpPr>
        <p:spPr>
          <a:xfrm>
            <a:off x="1051560" y="5687568"/>
            <a:ext cx="10469880" cy="73152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Les outils vérifient les demandes de l’agent pendant son travail. </a:t>
            </a:r>
            <a:r>
              <a:rPr lang="en-US" sz="1150" dirty="0">
                <a:solidFill>
                  <a:srgbClr val="252A3D"/>
                </a:solidFill>
                <a:latin typeface="Arial" pitchFamily="34" charset="0"/>
                <a:ea typeface="Arial" pitchFamily="34" charset="-122"/>
                <a:cs typeface="Arial" pitchFamily="34" charset="-120"/>
              </a:rPr>
              <a:t>Le programme de notation évalue ses réponses une fois le parcours terminé.</a:t>
            </a:r>
          </a:p>
          <a:p>
            <a:pPr indent="0" marL="0">
              <a:lnSpc>
                <a:spcPct val="105000"/>
              </a:lnSpc>
              <a:buNone/>
            </a:pPr>
            <a:r>
              <a:rPr lang="en-US" sz="1150" dirty="0">
                <a:solidFill>
                  <a:srgbClr val="252A3D"/>
                </a:solidFill>
                <a:latin typeface="Arial" pitchFamily="34" charset="0"/>
                <a:ea typeface="Arial" pitchFamily="34" charset="-122"/>
                <a:cs typeface="Arial" pitchFamily="34" charset="-120"/>
              </a:rPr>
              <a:t>Personne ne corrige les réponses de l’agent entre ces deux moments.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L’EXPÉRIENCE · COMMENT LES RÉPONSES SONT NOTÉES</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Quelles réponses faut-il donner pour réussir le test ?</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Le programme crée le dossier et prépare les réponses qui serviront à noter l’agent, selon les mêmes règles. Ces réponses restent cachées à l’agent.</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11 / 30</a:t>
            </a:r>
            <a:endParaRPr lang="en-US" sz="1000" dirty="0"/>
          </a:p>
        </p:txBody>
      </p:sp>
      <p:sp>
        <p:nvSpPr>
          <p:cNvPr id="9" name="Shape 7"/>
          <p:cNvSpPr/>
          <p:nvPr/>
        </p:nvSpPr>
        <p:spPr>
          <a:xfrm>
            <a:off x="457200" y="1965960"/>
            <a:ext cx="3703320" cy="3611880"/>
          </a:xfrm>
          <a:prstGeom prst="roundRect">
            <a:avLst>
              <a:gd name="adj" fmla="val 2532"/>
            </a:avLst>
          </a:prstGeom>
          <a:solidFill>
            <a:srgbClr val="DDF5FC"/>
          </a:solidFill>
          <a:ln w="12700">
            <a:solidFill>
              <a:srgbClr val="DDF5FC"/>
            </a:solidFill>
            <a:prstDash val="solid"/>
          </a:ln>
        </p:spPr>
        <p:txBody>
          <a:bodyPr/>
          <a:p/>
        </p:txBody>
      </p:sp>
      <p:sp>
        <p:nvSpPr>
          <p:cNvPr id="10" name="Text 8"/>
          <p:cNvSpPr txBox="1"/>
          <p:nvPr/>
        </p:nvSpPr>
        <p:spPr>
          <a:xfrm>
            <a:off x="621792" y="2103120"/>
            <a:ext cx="3383280" cy="201168"/>
          </a:xfrm>
          <a:prstGeom prst="rect">
            <a:avLst/>
          </a:prstGeom>
          <a:noFill/>
          <a:ln/>
        </p:spPr>
        <p:txBody>
          <a:bodyPr wrap="square" lIns="0" tIns="0" rIns="0" bIns="0" rtlCol="0" anchor="t"/>
          <a:lstStyle/>
          <a:p>
            <a:pPr indent="0" marL="0">
              <a:lnSpc>
                <a:spcPct val="105000"/>
              </a:lnSpc>
              <a:buNone/>
            </a:pPr>
            <a:r>
              <a:rPr lang="en-US" sz="830" b="1" spc="50" kern="0" dirty="0">
                <a:solidFill>
                  <a:srgbClr val="1B6E93"/>
                </a:solidFill>
                <a:latin typeface="Arial" pitchFamily="34" charset="0"/>
                <a:ea typeface="Arial" pitchFamily="34" charset="-122"/>
                <a:cs typeface="Arial" pitchFamily="34" charset="-120"/>
              </a:rPr>
              <a:t>LES RÉPONSES DU TEST · 99_hidden_ground_truth.json</a:t>
            </a:r>
          </a:p>
        </p:txBody>
      </p:sp>
      <p:sp>
        <p:nvSpPr>
          <p:cNvPr id="11" name="Text 9"/>
          <p:cNvSpPr txBox="1"/>
          <p:nvPr/>
        </p:nvSpPr>
        <p:spPr>
          <a:xfrm>
            <a:off x="621792" y="2395728"/>
            <a:ext cx="3383280" cy="310896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750" dirty="0">
                <a:solidFill>
                  <a:srgbClr val="252A3D"/>
                </a:solidFill>
                <a:latin typeface="Arial" pitchFamily="34" charset="0"/>
                <a:ea typeface="Arial" pitchFamily="34" charset="-122"/>
                <a:cs typeface="Arial" pitchFamily="34" charset="-120"/>
              </a:rPr>
              <a:t>Chaque dossier fictif possède son propre fichier de réponses pour la notation.</a:t>
            </a:r>
          </a:p>
          <a:p>
            <a:pPr marL="127000" indent="-127000">
              <a:lnSpc>
                <a:spcPct val="105000"/>
              </a:lnSpc>
              <a:spcAft>
                <a:spcPts val="400"/>
              </a:spcAft>
              <a:buSzPct val="100000"/>
              <a:buChar char="•"/>
            </a:pPr>
            <a:r>
              <a:rPr lang="en-US" sz="750" b="1" dirty="0">
                <a:solidFill>
                  <a:srgbClr val="252A3D"/>
                </a:solidFill>
                <a:latin typeface="Arial" pitchFamily="34" charset="0"/>
                <a:ea typeface="Arial" pitchFamily="34" charset="-122"/>
                <a:cs typeface="Arial" pitchFamily="34" charset="-120"/>
              </a:rPr>
              <a:t>canonical_truth : </a:t>
            </a:r>
            <a:r>
              <a:rPr lang="en-US" sz="750" dirty="0">
                <a:solidFill>
                  <a:srgbClr val="252A3D"/>
                </a:solidFill>
                <a:latin typeface="Arial" pitchFamily="34" charset="0"/>
                <a:ea typeface="Arial" pitchFamily="34" charset="-122"/>
                <a:cs typeface="Arial" pitchFamily="34" charset="-120"/>
              </a:rPr>
              <a:t>ce qui est vrai dans le projet fictif.</a:t>
            </a:r>
          </a:p>
          <a:p>
            <a:pPr marL="127000" indent="-127000">
              <a:lnSpc>
                <a:spcPct val="105000"/>
              </a:lnSpc>
              <a:spcAft>
                <a:spcPts val="400"/>
              </a:spcAft>
              <a:buSzPct val="100000"/>
              <a:buChar char="•"/>
            </a:pPr>
            <a:r>
              <a:rPr lang="en-US" sz="750" b="1" dirty="0">
                <a:solidFill>
                  <a:srgbClr val="252A3D"/>
                </a:solidFill>
                <a:latin typeface="Arial" pitchFamily="34" charset="0"/>
                <a:ea typeface="Arial" pitchFamily="34" charset="-122"/>
                <a:cs typeface="Arial" pitchFamily="34" charset="-120"/>
              </a:rPr>
              <a:t>reference_decisions : </a:t>
            </a:r>
            <a:r>
              <a:rPr lang="en-US" sz="750" dirty="0">
                <a:solidFill>
                  <a:srgbClr val="252A3D"/>
                </a:solidFill>
                <a:latin typeface="Arial" pitchFamily="34" charset="0"/>
                <a:ea typeface="Arial" pitchFamily="34" charset="-122"/>
                <a:cs typeface="Arial" pitchFamily="34" charset="-120"/>
              </a:rPr>
              <a:t>pour chaque revue, la décision à prendre, les problèmes à signaler, les corrections à demander et les autorisations nécessaires.</a:t>
            </a:r>
          </a:p>
          <a:p>
            <a:pPr marL="127000" indent="-127000">
              <a:lnSpc>
                <a:spcPct val="105000"/>
              </a:lnSpc>
              <a:spcAft>
                <a:spcPts val="400"/>
              </a:spcAft>
              <a:buSzPct val="100000"/>
              <a:buChar char="•"/>
            </a:pPr>
            <a:r>
              <a:rPr lang="en-US" sz="750" dirty="0">
                <a:solidFill>
                  <a:srgbClr val="252A3D"/>
                </a:solidFill>
                <a:latin typeface="Arial" pitchFamily="34" charset="0"/>
                <a:ea typeface="Arial" pitchFamily="34" charset="-122"/>
                <a:cs typeface="Arial" pitchFamily="34" charset="-120"/>
              </a:rPr>
              <a:t>Pour chaque dossier de test, le programme indique à l’avance la décision à prendre et les problèmes à signaler. Il les enregistre dans un fichier, puis vérifie si l’agent IA prend la même décision et repère les mêmes problèmes.</a:t>
            </a:r>
          </a:p>
          <a:p>
            <a:pPr marL="127000" indent="-127000">
              <a:lnSpc>
                <a:spcPct val="105000"/>
              </a:lnSpc>
              <a:spcAft>
                <a:spcPts val="400"/>
              </a:spcAft>
              <a:buSzPct val="100000"/>
              <a:buChar char="•"/>
            </a:pPr>
            <a:r>
              <a:rPr lang="en-US" sz="750" dirty="0">
                <a:solidFill>
                  <a:srgbClr val="252A3D"/>
                </a:solidFill>
                <a:latin typeface="Arial" pitchFamily="34" charset="0"/>
                <a:ea typeface="Arial" pitchFamily="34" charset="-122"/>
                <a:cs typeface="Arial" pitchFamily="34" charset="-120"/>
              </a:rPr>
              <a:t>Le programme prépare ces réponses automatiquement. Aucun évaluateur humain ne les rédige.</a:t>
            </a:r>
          </a:p>
          <a:p>
            <a:pPr marL="127000" indent="-127000">
              <a:lnSpc>
                <a:spcPct val="105000"/>
              </a:lnSpc>
              <a:spcAft>
                <a:spcPts val="400"/>
              </a:spcAft>
              <a:buSzPct val="100000"/>
              <a:buChar char="•"/>
            </a:pPr>
            <a:r>
              <a:rPr lang="en-US" sz="750" dirty="0">
                <a:solidFill>
                  <a:srgbClr val="252A3D"/>
                </a:solidFill>
                <a:latin typeface="Arial" pitchFamily="34" charset="0"/>
                <a:ea typeface="Arial" pitchFamily="34" charset="-122"/>
                <a:cs typeface="Arial" pitchFamily="34" charset="-120"/>
              </a:rPr>
              <a:t>L’agent peut lire les documents du projet et les règles à appliquer, et consulter les informations mises à sa disposition. Il ne peut pas ouvrir le fichier contenant les réponses du test.</a:t>
            </a:r>
          </a:p>
          <a:p>
            <a:pPr marL="127000" indent="-127000">
              <a:lnSpc>
                <a:spcPct val="105000"/>
              </a:lnSpc>
              <a:spcAft>
                <a:spcPts val="400"/>
              </a:spcAft>
              <a:buSzPct val="100000"/>
              <a:buChar char="•"/>
            </a:pPr>
            <a:r>
              <a:rPr lang="en-US" sz="750" dirty="0">
                <a:solidFill>
                  <a:srgbClr val="252A3D"/>
                </a:solidFill>
                <a:latin typeface="Arial" pitchFamily="34" charset="0"/>
                <a:ea typeface="Arial" pitchFamily="34" charset="-122"/>
                <a:cs typeface="Arial" pitchFamily="34" charset="-120"/>
              </a:rPr>
              <a:t>Le programme de notation consulte ensuite ce fichier. Il tient aussi compte des approbations sous conditions que le système a autorisées pendant la revue.</a:t>
            </a:r>
          </a:p>
        </p:txBody>
      </p:sp>
      <p:sp>
        <p:nvSpPr>
          <p:cNvPr id="12" name="Shape 10"/>
          <p:cNvSpPr/>
          <p:nvPr/>
        </p:nvSpPr>
        <p:spPr>
          <a:xfrm>
            <a:off x="4315968" y="1965960"/>
            <a:ext cx="3703320" cy="3611880"/>
          </a:xfrm>
          <a:prstGeom prst="roundRect">
            <a:avLst>
              <a:gd name="adj" fmla="val 2532"/>
            </a:avLst>
          </a:prstGeom>
          <a:solidFill>
            <a:srgbClr val="E5F6E9"/>
          </a:solidFill>
          <a:ln w="12700">
            <a:solidFill>
              <a:srgbClr val="E5F6E9"/>
            </a:solidFill>
            <a:prstDash val="solid"/>
          </a:ln>
        </p:spPr>
        <p:txBody>
          <a:bodyPr/>
          <a:p/>
        </p:txBody>
      </p:sp>
      <p:sp>
        <p:nvSpPr>
          <p:cNvPr id="13" name="Text 11"/>
          <p:cNvSpPr txBox="1"/>
          <p:nvPr/>
        </p:nvSpPr>
        <p:spPr>
          <a:xfrm>
            <a:off x="4480560" y="2103120"/>
            <a:ext cx="3383280" cy="201168"/>
          </a:xfrm>
          <a:prstGeom prst="rect">
            <a:avLst/>
          </a:prstGeom>
          <a:noFill/>
          <a:ln/>
        </p:spPr>
        <p:txBody>
          <a:bodyPr wrap="square" lIns="0" tIns="0" rIns="0" bIns="0" rtlCol="0" anchor="t"/>
          <a:lstStyle/>
          <a:p>
            <a:pPr indent="0" marL="0">
              <a:lnSpc>
                <a:spcPct val="105000"/>
              </a:lnSpc>
              <a:buNone/>
            </a:pPr>
            <a:r>
              <a:rPr lang="en-US" sz="840" b="1" spc="50" kern="0" dirty="0">
                <a:solidFill>
                  <a:srgbClr val="1E7A3C"/>
                </a:solidFill>
                <a:latin typeface="Arial" pitchFamily="34" charset="0"/>
                <a:ea typeface="Arial" pitchFamily="34" charset="-122"/>
                <a:cs typeface="Arial" pitchFamily="34" charset="-120"/>
              </a:rPr>
              <a:t>CINQ CRITÈRES POUR RÉUSSIR LE TEST D’UNE REVUE</a:t>
            </a:r>
          </a:p>
        </p:txBody>
      </p:sp>
      <p:sp>
        <p:nvSpPr>
          <p:cNvPr id="14" name="Text 12"/>
          <p:cNvSpPr txBox="1"/>
          <p:nvPr/>
        </p:nvSpPr>
        <p:spPr>
          <a:xfrm>
            <a:off x="4480560" y="2395728"/>
            <a:ext cx="3383280" cy="310896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252A3D"/>
                </a:solidFill>
                <a:latin typeface="Arial" pitchFamily="34" charset="0"/>
                <a:ea typeface="Arial" pitchFamily="34" charset="-122"/>
                <a:cs typeface="Arial" pitchFamily="34" charset="-120"/>
              </a:rPr>
              <a:t>Prendre la bonne décision ne suffit pas. Il faut aussi signaler les bons problèmes, demander les bonnes corrections, citer les bonnes sources et respecter les autorisations accordées.</a:t>
            </a:r>
          </a:p>
          <a:p>
            <a:pPr marL="127000" indent="-127000">
              <a:lnSpc>
                <a:spcPct val="105000"/>
              </a:lnSpc>
              <a:spcAft>
                <a:spcPts val="400"/>
              </a:spcAft>
              <a:buSzPct val="100000"/>
              <a:buChar char="•"/>
            </a:pPr>
            <a:r>
              <a:rPr lang="en-US" sz="800" dirty="0">
                <a:solidFill>
                  <a:srgbClr val="252A3D"/>
                </a:solidFill>
                <a:latin typeface="Arial" pitchFamily="34" charset="0"/>
                <a:ea typeface="Arial" pitchFamily="34" charset="-122"/>
                <a:cs typeface="Arial" pitchFamily="34" charset="-120"/>
              </a:rPr>
              <a:t>Refuser un projet peut donc être une bonne réponse, si ce projet doit être refusé.</a:t>
            </a:r>
          </a:p>
          <a:p>
            <a:pPr marL="127000" indent="-127000">
              <a:lnSpc>
                <a:spcPct val="105000"/>
              </a:lnSpc>
              <a:spcAft>
                <a:spcPts val="400"/>
              </a:spcAft>
              <a:buSzPct val="100000"/>
              <a:buChar char="•"/>
            </a:pPr>
            <a:r>
              <a:rPr lang="en-US" sz="800" dirty="0">
                <a:solidFill>
                  <a:srgbClr val="252A3D"/>
                </a:solidFill>
                <a:latin typeface="Arial" pitchFamily="34" charset="0"/>
                <a:ea typeface="Arial" pitchFamily="34" charset="-122"/>
                <a:cs typeface="Arial" pitchFamily="34" charset="-120"/>
              </a:rPr>
              <a:t>Le programme vérifie quels documents l’agent a consultés pour s’assurer qu’il a bien lu les sources citées. Il vérifie aussi que les citations reprennent mot pour mot les passages prévus pour le test.</a:t>
            </a:r>
          </a:p>
          <a:p>
            <a:pPr marL="127000" indent="-127000">
              <a:lnSpc>
                <a:spcPct val="105000"/>
              </a:lnSpc>
              <a:spcAft>
                <a:spcPts val="400"/>
              </a:spcAft>
              <a:buSzPct val="100000"/>
              <a:buChar char="•"/>
            </a:pPr>
            <a:r>
              <a:rPr lang="en-US" sz="800" dirty="0">
                <a:solidFill>
                  <a:srgbClr val="252A3D"/>
                </a:solidFill>
                <a:latin typeface="Arial" pitchFamily="34" charset="0"/>
                <a:ea typeface="Arial" pitchFamily="34" charset="-122"/>
                <a:cs typeface="Arial" pitchFamily="34" charset="-120"/>
              </a:rPr>
              <a:t>Le test d’un projet est réussi seulement si toutes ses revues réussissent.</a:t>
            </a:r>
          </a:p>
          <a:p>
            <a:pPr marL="127000" indent="-127000">
              <a:lnSpc>
                <a:spcPct val="105000"/>
              </a:lnSpc>
              <a:spcAft>
                <a:spcPts val="400"/>
              </a:spcAft>
              <a:buSzPct val="100000"/>
              <a:buChar char="•"/>
            </a:pPr>
            <a:r>
              <a:rPr lang="en-US" sz="800" dirty="0">
                <a:solidFill>
                  <a:srgbClr val="252A3D"/>
                </a:solidFill>
                <a:latin typeface="Arial" pitchFamily="34" charset="0"/>
                <a:ea typeface="Arial" pitchFamily="34" charset="-122"/>
                <a:cs typeface="Arial" pitchFamily="34" charset="-120"/>
              </a:rPr>
              <a:t>Pour approuver sous conditions, l’agent doit être autorisé à le faire pour la revue et la phase concernées. Sa demande doit couvrir tous les problèmes non résolus, qui doivent pouvoir être acceptés sous conditions. Il doit préciser au moins une condition. Le test vérifie qu’elle est présente, pas qu’elle sera efficace en pratique.</a:t>
            </a:r>
          </a:p>
        </p:txBody>
      </p:sp>
      <p:sp>
        <p:nvSpPr>
          <p:cNvPr id="15" name="Shape 13"/>
          <p:cNvSpPr/>
          <p:nvPr/>
        </p:nvSpPr>
        <p:spPr>
          <a:xfrm>
            <a:off x="8174736" y="1965960"/>
            <a:ext cx="3557016" cy="3611880"/>
          </a:xfrm>
          <a:prstGeom prst="roundRect">
            <a:avLst>
              <a:gd name="adj" fmla="val 2571"/>
            </a:avLst>
          </a:prstGeom>
          <a:solidFill>
            <a:srgbClr val="FFF5BF"/>
          </a:solidFill>
          <a:ln w="12700">
            <a:solidFill>
              <a:srgbClr val="FFF5BF"/>
            </a:solidFill>
            <a:prstDash val="solid"/>
          </a:ln>
        </p:spPr>
        <p:txBody>
          <a:bodyPr/>
          <a:p/>
        </p:txBody>
      </p:sp>
      <p:sp>
        <p:nvSpPr>
          <p:cNvPr id="16" name="Text 14"/>
          <p:cNvSpPr txBox="1"/>
          <p:nvPr/>
        </p:nvSpPr>
        <p:spPr>
          <a:xfrm>
            <a:off x="8339328" y="2103120"/>
            <a:ext cx="3200400" cy="201168"/>
          </a:xfrm>
          <a:prstGeom prst="rect">
            <a:avLst/>
          </a:prstGeom>
          <a:noFill/>
          <a:ln/>
        </p:spPr>
        <p:txBody>
          <a:bodyPr wrap="square" lIns="0" tIns="0" rIns="0" bIns="0" rtlCol="0" anchor="t"/>
          <a:lstStyle/>
          <a:p>
            <a:pPr indent="0" marL="0">
              <a:lnSpc>
                <a:spcPct val="105000"/>
              </a:lnSpc>
              <a:buNone/>
            </a:pPr>
            <a:r>
              <a:rPr lang="en-US" sz="800" b="1" spc="50" kern="0" dirty="0">
                <a:solidFill>
                  <a:srgbClr val="8A6D00"/>
                </a:solidFill>
                <a:latin typeface="Arial" pitchFamily="34" charset="0"/>
                <a:ea typeface="Arial" pitchFamily="34" charset="-122"/>
                <a:cs typeface="Arial" pitchFamily="34" charset="-120"/>
              </a:rPr>
              <a:t>UN EXEMPLE TIRÉ DES TESTS · PROJET FALCON</a:t>
            </a:r>
          </a:p>
        </p:txBody>
      </p:sp>
      <p:sp>
        <p:nvSpPr>
          <p:cNvPr id="17" name="Text 15"/>
          <p:cNvSpPr txBox="1"/>
          <p:nvPr/>
        </p:nvSpPr>
        <p:spPr>
          <a:xfrm>
            <a:off x="8339328" y="2395728"/>
            <a:ext cx="3246120" cy="3108960"/>
          </a:xfrm>
          <a:prstGeom prst="rect">
            <a:avLst/>
          </a:prstGeom>
          <a:noFill/>
          <a:ln/>
        </p:spPr>
        <p:txBody>
          <a:bodyPr wrap="square" lIns="0" tIns="0" rIns="0" bIns="0" rtlCol="0" anchor="t"/>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Dossier DGF-BLD-035200_build, revue Préparation à l’exploitation (BUILD-04-TECH_READINESS-1).</a:t>
            </a:r>
          </a:p>
          <a:p>
            <a:pPr indent="0" marL="0">
              <a:lnSpc>
                <a:spcPct val="105000"/>
              </a:lnSpc>
              <a:buNone/>
            </a:pPr>
            <a:r>
              <a:rPr lang="en-US" sz="900" dirty="0">
                <a:solidFill>
                  <a:srgbClr val="252A3D"/>
                </a:solidFill>
                <a:latin typeface="Arial" pitchFamily="34" charset="0"/>
                <a:ea typeface="Arial" pitchFamily="34" charset="-122"/>
                <a:cs typeface="Arial" pitchFamily="34" charset="-120"/>
              </a:rPr>
              <a:t>Pour ce dossier, le fichier indique :</a:t>
            </a:r>
          </a:p>
          <a:p>
            <a:pPr indent="0" marL="0">
              <a:lnSpc>
                <a:spcPct val="105000"/>
              </a:lnSpc>
              <a:buNone/>
            </a:pPr>
            <a:r>
              <a:rPr lang="en-US" sz="900" b="1" dirty="0">
                <a:solidFill>
                  <a:srgbClr val="252A3D"/>
                </a:solidFill>
                <a:latin typeface="Arial" pitchFamily="34" charset="0"/>
                <a:ea typeface="Arial" pitchFamily="34" charset="-122"/>
                <a:cs typeface="Arial" pitchFamily="34" charset="-120"/>
              </a:rPr>
              <a:t>Problème à repérer : </a:t>
            </a:r>
            <a:r>
              <a:rPr lang="en-US" sz="900" dirty="0">
                <a:solidFill>
                  <a:srgbClr val="252A3D"/>
                </a:solidFill>
                <a:latin typeface="Arial" pitchFamily="34" charset="0"/>
                <a:ea typeface="Arial" pitchFamily="34" charset="-122"/>
                <a:cs typeface="Arial" pitchFamily="34" charset="-120"/>
              </a:rPr>
              <a:t>le dossier remis à l’équipe d’exploitation est incomplet (TR-OPS-001).</a:t>
            </a:r>
          </a:p>
          <a:p>
            <a:pPr indent="0" marL="0">
              <a:lnSpc>
                <a:spcPct val="105000"/>
              </a:lnSpc>
              <a:buNone/>
            </a:pPr>
            <a:r>
              <a:rPr lang="en-US" sz="900" b="1" dirty="0">
                <a:solidFill>
                  <a:srgbClr val="252A3D"/>
                </a:solidFill>
                <a:latin typeface="Arial" pitchFamily="34" charset="0"/>
                <a:ea typeface="Arial" pitchFamily="34" charset="-122"/>
                <a:cs typeface="Arial" pitchFamily="34" charset="-120"/>
              </a:rPr>
              <a:t>Correction à demander : </a:t>
            </a:r>
            <a:r>
              <a:rPr lang="en-US" sz="900" dirty="0">
                <a:solidFill>
                  <a:srgbClr val="252A3D"/>
                </a:solidFill>
                <a:latin typeface="Arial" pitchFamily="34" charset="0"/>
                <a:ea typeface="Arial" pitchFamily="34" charset="-122"/>
                <a:cs typeface="Arial" pitchFamily="34" charset="-120"/>
              </a:rPr>
              <a:t>compléter les éléments à transmettre à l’équipe d’exploitation (COMPLETE_OPERATIONAL_HANDOVER).</a:t>
            </a:r>
          </a:p>
          <a:p>
            <a:pPr indent="0" marL="0">
              <a:lnSpc>
                <a:spcPct val="105000"/>
              </a:lnSpc>
              <a:buNone/>
            </a:pPr>
            <a:r>
              <a:rPr lang="en-US" sz="900" b="1" dirty="0">
                <a:solidFill>
                  <a:srgbClr val="252A3D"/>
                </a:solidFill>
                <a:latin typeface="Arial" pitchFamily="34" charset="0"/>
                <a:ea typeface="Arial" pitchFamily="34" charset="-122"/>
                <a:cs typeface="Arial" pitchFamily="34" charset="-120"/>
              </a:rPr>
              <a:t>Décision à rendre : </a:t>
            </a:r>
            <a:r>
              <a:rPr lang="en-US" sz="900" dirty="0">
                <a:solidFill>
                  <a:srgbClr val="252A3D"/>
                </a:solidFill>
                <a:latin typeface="Arial" pitchFamily="34" charset="0"/>
                <a:ea typeface="Arial" pitchFamily="34" charset="-122"/>
                <a:cs typeface="Arial" pitchFamily="34" charset="-120"/>
              </a:rPr>
              <a:t>APPROUVÉ SOUS CONDITIONS (GO_WITH_RESERVATIONS).</a:t>
            </a:r>
          </a:p>
          <a:p>
            <a:pPr indent="0" marL="0">
              <a:lnSpc>
                <a:spcPct val="105000"/>
              </a:lnSpc>
              <a:buNone/>
            </a:pPr>
            <a:r>
              <a:rPr lang="en-US" sz="900" b="1" dirty="0">
                <a:solidFill>
                  <a:srgbClr val="252A3D"/>
                </a:solidFill>
                <a:latin typeface="Arial" pitchFamily="34" charset="0"/>
                <a:ea typeface="Arial" pitchFamily="34" charset="-122"/>
                <a:cs typeface="Arial" pitchFamily="34" charset="-120"/>
              </a:rPr>
              <a:t>L’agent doit obtenir une autorisation : </a:t>
            </a:r>
            <a:r>
              <a:rPr lang="en-US" sz="900" dirty="0">
                <a:solidFill>
                  <a:srgbClr val="252A3D"/>
                </a:solidFill>
                <a:latin typeface="Arial" pitchFamily="34" charset="0"/>
                <a:ea typeface="Arial" pitchFamily="34" charset="-122"/>
                <a:cs typeface="Arial" pitchFamily="34" charset="-120"/>
              </a:rPr>
              <a:t>oui.</a:t>
            </a:r>
          </a:p>
          <a:p>
            <a:pPr indent="0" marL="0">
              <a:lnSpc>
                <a:spcPct val="105000"/>
              </a:lnSpc>
              <a:buNone/>
            </a:pPr>
            <a:r>
              <a:rPr lang="en-US" sz="700" dirty="0">
                <a:solidFill>
                  <a:srgbClr val="5B6575"/>
                </a:solidFill>
                <a:latin typeface="Courier New" pitchFamily="34" charset="0"/>
                <a:ea typeface="Courier New" pitchFamily="34" charset="-122"/>
                <a:cs typeface="Courier New" pitchFamily="34" charset="-120"/>
              </a:rPr>
              <a:t>experiments/preflight_balanced_300_20260922/dataset/DGF-BLD-035200_build/99_hidden_ground_truth.json</a:t>
            </a:r>
          </a:p>
          <a:p>
            <a:pPr indent="0" marL="0">
              <a:lnSpc>
                <a:spcPct val="105000"/>
              </a:lnSpc>
              <a:buNone/>
            </a:pPr>
            <a:r>
              <a:rPr lang="en-US" sz="720" dirty="0">
                <a:solidFill>
                  <a:srgbClr val="5B6575"/>
                </a:solidFill>
                <a:latin typeface="Arial" pitchFamily="34" charset="0"/>
                <a:ea typeface="Arial" pitchFamily="34" charset="-122"/>
                <a:cs typeface="Arial" pitchFamily="34" charset="-120"/>
              </a:rPr>
              <a:t>score_submission.py note les réponses · synthetic_environment.py vérifie les demandes d’action · openrouter_eval/benchmark_runner.py enchaîne les revues</a:t>
            </a:r>
          </a:p>
        </p:txBody>
      </p:sp>
      <p:sp>
        <p:nvSpPr>
          <p:cNvPr id="18" name="Shape 16"/>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19"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20" name="Text 17"/>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Le programme prépare à la fois les dossiers et les réponses du test. </a:t>
            </a:r>
            <a:r>
              <a:rPr lang="en-US" sz="1150" dirty="0">
                <a:solidFill>
                  <a:srgbClr val="252A3D"/>
                </a:solidFill>
                <a:latin typeface="Arial" pitchFamily="34" charset="0"/>
                <a:ea typeface="Arial" pitchFamily="34" charset="-122"/>
                <a:cs typeface="Arial" pitchFamily="34" charset="-120"/>
              </a:rPr>
              <a:t>L’agent réussit s’il respecte les règles prévues, pas s’il convainc un évaluateur humain.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L’EXPÉRIENCE · DES DOSSIERS FICTIFS POUR LES TESTS</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500" b="1" dirty="0">
                <a:solidFill>
                  <a:srgbClr val="252A3D"/>
                </a:solidFill>
                <a:latin typeface="Arial" pitchFamily="34" charset="0"/>
                <a:ea typeface="Arial" pitchFamily="34" charset="-122"/>
                <a:cs typeface="Arial" pitchFamily="34" charset="-120"/>
              </a:rPr>
              <a:t>Des dossiers fictifs pour tester les agents</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Le programme crée des dossiers imaginaires qui ressemblent à de vrais projets d’entreprise.</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12 / 30</a:t>
            </a:r>
            <a:endParaRPr lang="en-US" sz="1000" dirty="0"/>
          </a:p>
        </p:txBody>
      </p:sp>
      <p:sp>
        <p:nvSpPr>
          <p:cNvPr id="9" name="Shape 7"/>
          <p:cNvSpPr/>
          <p:nvPr/>
        </p:nvSpPr>
        <p:spPr>
          <a:xfrm>
            <a:off x="457200" y="1965960"/>
            <a:ext cx="4343400" cy="3246120"/>
          </a:xfrm>
          <a:prstGeom prst="roundRect">
            <a:avLst>
              <a:gd name="adj" fmla="val 2817"/>
            </a:avLst>
          </a:prstGeom>
          <a:solidFill>
            <a:srgbClr val="FFFFFF"/>
          </a:solidFill>
          <a:ln w="12700">
            <a:solidFill>
              <a:srgbClr val="D4DAE3"/>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548640" y="2057400"/>
            <a:ext cx="4160520" cy="2770632"/>
          </a:xfrm>
          <a:prstGeom prst="rect">
            <a:avLst/>
          </a:prstGeom>
        </p:spPr>
      </p:pic>
      <p:sp>
        <p:nvSpPr>
          <p:cNvPr id="11" name="Text 8"/>
          <p:cNvSpPr txBox="1"/>
          <p:nvPr/>
        </p:nvSpPr>
        <p:spPr>
          <a:xfrm>
            <a:off x="594360" y="4846320"/>
            <a:ext cx="4069080" cy="378333"/>
          </a:xfrm>
          <a:prstGeom prst="rect">
            <a:avLst/>
          </a:prstGeom>
          <a:noFill/>
          <a:ln/>
        </p:spPr>
        <p:txBody>
          <a:bodyPr wrap="square" lIns="0" tIns="0" rIns="0" bIns="0" rtlCol="0" anchor="t"/>
          <a:lstStyle/>
          <a:p>
            <a:pPr indent="0" marL="0">
              <a:lnSpc>
                <a:spcPct val="105000"/>
              </a:lnSpc>
              <a:buNone/>
            </a:pPr>
            <a:r>
              <a:rPr lang="en-US" sz="750" b="1" dirty="0">
                <a:solidFill>
                  <a:srgbClr val="5B6575"/>
                </a:solidFill>
                <a:latin typeface="Arial" pitchFamily="34" charset="0"/>
                <a:ea typeface="Arial" pitchFamily="34" charset="-122"/>
                <a:cs typeface="Arial" pitchFamily="34" charset="-120"/>
              </a:rPr>
              <a:t>Exemple : </a:t>
            </a:r>
            <a:r>
              <a:rPr lang="en-US" sz="750" dirty="0">
                <a:solidFill>
                  <a:srgbClr val="5B6575"/>
                </a:solidFill>
                <a:latin typeface="Arial" pitchFamily="34" charset="0"/>
                <a:ea typeface="Arial" pitchFamily="34" charset="-122"/>
                <a:cs typeface="Arial" pitchFamily="34" charset="-120"/>
              </a:rPr>
              <a:t>le projet Falcon, un site interne fictif pour les ressources humaines. Le schéma fait partie du dossier à vérifier. Rien ne garantit encore que l’architecture présentée soit correcte.</a:t>
            </a:r>
          </a:p>
        </p:txBody>
      </p:sp>
      <p:sp>
        <p:nvSpPr>
          <p:cNvPr id="12" name="Shape 9"/>
          <p:cNvSpPr/>
          <p:nvPr/>
        </p:nvSpPr>
        <p:spPr>
          <a:xfrm>
            <a:off x="4983480" y="1965960"/>
            <a:ext cx="6748272" cy="731520"/>
          </a:xfrm>
          <a:prstGeom prst="roundRect">
            <a:avLst>
              <a:gd name="adj" fmla="val 12500"/>
            </a:avLst>
          </a:prstGeom>
          <a:solidFill>
            <a:srgbClr val="DDF5FC"/>
          </a:solidFill>
          <a:ln w="12700">
            <a:solidFill>
              <a:srgbClr val="DDF5FC"/>
            </a:solidFill>
            <a:prstDash val="solid"/>
          </a:ln>
        </p:spPr>
        <p:txBody>
          <a:bodyPr/>
          <a:p/>
        </p:txBody>
      </p:sp>
      <p:sp>
        <p:nvSpPr>
          <p:cNvPr id="13" name="Shape 10"/>
          <p:cNvSpPr/>
          <p:nvPr/>
        </p:nvSpPr>
        <p:spPr>
          <a:xfrm>
            <a:off x="5111496" y="2075688"/>
            <a:ext cx="384048" cy="274320"/>
          </a:xfrm>
          <a:prstGeom prst="roundRect">
            <a:avLst>
              <a:gd name="adj" fmla="val 16667"/>
            </a:avLst>
          </a:prstGeom>
          <a:solidFill>
            <a:srgbClr val="FFFFFF"/>
          </a:solidFill>
          <a:ln w="12700">
            <a:solidFill>
              <a:srgbClr val="FFFFFF"/>
            </a:solidFill>
            <a:prstDash val="solid"/>
          </a:ln>
        </p:spPr>
        <p:txBody>
          <a:bodyPr/>
          <a:p/>
        </p:txBody>
      </p:sp>
      <p:sp>
        <p:nvSpPr>
          <p:cNvPr id="14" name="Text 11"/>
          <p:cNvSpPr txBox="1"/>
          <p:nvPr/>
        </p:nvSpPr>
        <p:spPr>
          <a:xfrm>
            <a:off x="5111496" y="207568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5" name="Text 12"/>
          <p:cNvSpPr txBox="1"/>
          <p:nvPr/>
        </p:nvSpPr>
        <p:spPr>
          <a:xfrm>
            <a:off x="5623560" y="2020824"/>
            <a:ext cx="5971032" cy="201168"/>
          </a:xfrm>
          <a:prstGeom prst="rect">
            <a:avLst/>
          </a:prstGeom>
          <a:noFill/>
          <a:ln/>
        </p:spPr>
        <p:txBody>
          <a:bodyPr wrap="square" lIns="0" tIns="0" rIns="0" bIns="0" rtlCol="0" anchor="t"/>
          <a:lstStyle/>
          <a:p>
            <a:pPr indent="0" marL="0">
              <a:lnSpc>
                <a:spcPct val="105000"/>
              </a:lnSpc>
              <a:buNone/>
            </a:pPr>
            <a:r>
              <a:rPr lang="en-US" sz="800" b="1" dirty="0">
                <a:solidFill>
                  <a:srgbClr val="252A3D"/>
                </a:solidFill>
                <a:latin typeface="Arial" pitchFamily="34" charset="0"/>
                <a:ea typeface="Arial" pitchFamily="34" charset="-122"/>
                <a:cs typeface="Arial" pitchFamily="34" charset="-120"/>
              </a:rPr>
              <a:t>Définir la situation du projet</a:t>
            </a:r>
          </a:p>
        </p:txBody>
      </p:sp>
      <p:sp>
        <p:nvSpPr>
          <p:cNvPr id="16" name="Text 13"/>
          <p:cNvSpPr txBox="1"/>
          <p:nvPr/>
        </p:nvSpPr>
        <p:spPr>
          <a:xfrm>
            <a:off x="5623560" y="2231136"/>
            <a:ext cx="5971032" cy="457200"/>
          </a:xfrm>
          <a:prstGeom prst="rect">
            <a:avLst/>
          </a:prstGeom>
          <a:noFill/>
          <a:ln/>
        </p:spPr>
        <p:txBody>
          <a:bodyPr wrap="square" lIns="0" tIns="0" rIns="0" bIns="0" rtlCol="0" anchor="t"/>
          <a:lstStyle/>
          <a:p>
            <a:pPr indent="0" marL="0">
              <a:lnSpc>
                <a:spcPct val="105000"/>
              </a:lnSpc>
              <a:buNone/>
            </a:pPr>
            <a:r>
              <a:rPr lang="en-US" sz="820" dirty="0">
                <a:solidFill>
                  <a:srgbClr val="252A3D"/>
                </a:solidFill>
                <a:latin typeface="Arial" pitchFamily="34" charset="0"/>
                <a:ea typeface="Arial" pitchFamily="34" charset="-122"/>
                <a:cs typeface="Arial" pitchFamily="34" charset="-120"/>
              </a:rPr>
              <a:t>Le programme définit le budget et le responsable du projet. Il décide aussi si le contrat est signé, si la sauvegarde a été testée et si le fournisseur a été contrôlé.</a:t>
            </a:r>
          </a:p>
        </p:txBody>
      </p:sp>
      <p:sp>
        <p:nvSpPr>
          <p:cNvPr id="17" name="Shape 14"/>
          <p:cNvSpPr/>
          <p:nvPr/>
        </p:nvSpPr>
        <p:spPr>
          <a:xfrm>
            <a:off x="4983480" y="2793492"/>
            <a:ext cx="6748272" cy="731520"/>
          </a:xfrm>
          <a:prstGeom prst="roundRect">
            <a:avLst>
              <a:gd name="adj" fmla="val 12500"/>
            </a:avLst>
          </a:prstGeom>
          <a:solidFill>
            <a:srgbClr val="FFF5BF"/>
          </a:solidFill>
          <a:ln w="12700">
            <a:solidFill>
              <a:srgbClr val="FFF5BF"/>
            </a:solidFill>
            <a:prstDash val="solid"/>
          </a:ln>
        </p:spPr>
        <p:txBody>
          <a:bodyPr/>
          <a:p/>
        </p:txBody>
      </p:sp>
      <p:sp>
        <p:nvSpPr>
          <p:cNvPr id="18" name="Shape 15"/>
          <p:cNvSpPr/>
          <p:nvPr/>
        </p:nvSpPr>
        <p:spPr>
          <a:xfrm>
            <a:off x="5111496" y="2903220"/>
            <a:ext cx="384048" cy="274320"/>
          </a:xfrm>
          <a:prstGeom prst="roundRect">
            <a:avLst>
              <a:gd name="adj" fmla="val 16667"/>
            </a:avLst>
          </a:prstGeom>
          <a:solidFill>
            <a:srgbClr val="FFFFFF"/>
          </a:solidFill>
          <a:ln w="12700">
            <a:solidFill>
              <a:srgbClr val="FFFFFF"/>
            </a:solidFill>
            <a:prstDash val="solid"/>
          </a:ln>
        </p:spPr>
        <p:txBody>
          <a:bodyPr/>
          <a:p/>
        </p:txBody>
      </p:sp>
      <p:sp>
        <p:nvSpPr>
          <p:cNvPr id="19" name="Text 16"/>
          <p:cNvSpPr txBox="1"/>
          <p:nvPr/>
        </p:nvSpPr>
        <p:spPr>
          <a:xfrm>
            <a:off x="5111496" y="290322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20" name="Text 17"/>
          <p:cNvSpPr txBox="1"/>
          <p:nvPr/>
        </p:nvSpPr>
        <p:spPr>
          <a:xfrm>
            <a:off x="5623560" y="2848356"/>
            <a:ext cx="5971032" cy="201168"/>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Dessiner l’architecture technique</a:t>
            </a:r>
          </a:p>
        </p:txBody>
      </p:sp>
      <p:sp>
        <p:nvSpPr>
          <p:cNvPr id="21" name="Text 18"/>
          <p:cNvSpPr txBox="1"/>
          <p:nvPr/>
        </p:nvSpPr>
        <p:spPr>
          <a:xfrm>
            <a:off x="5623560" y="3058668"/>
            <a:ext cx="5971032" cy="457200"/>
          </a:xfrm>
          <a:prstGeom prst="rect">
            <a:avLst/>
          </a:prstGeom>
          <a:noFill/>
          <a:ln/>
        </p:spPr>
        <p:txBody>
          <a:bodyPr wrap="square" lIns="0" tIns="0" rIns="0" bIns="0" rtlCol="0" anchor="t"/>
          <a:lstStyle/>
          <a:p>
            <a:pPr indent="0" marL="0">
              <a:lnSpc>
                <a:spcPct val="105000"/>
              </a:lnSpc>
              <a:buNone/>
            </a:pPr>
            <a:r>
              <a:rPr lang="en-US" sz="820" dirty="0">
                <a:solidFill>
                  <a:srgbClr val="252A3D"/>
                </a:solidFill>
                <a:latin typeface="Arial" pitchFamily="34" charset="0"/>
                <a:ea typeface="Arial" pitchFamily="34" charset="-122"/>
                <a:cs typeface="Arial" pitchFamily="34" charset="-120"/>
              </a:rPr>
              <a:t>Le programme dessine une architecture cloud réaliste. Il y ajoute parfois un défaut à repérer : une base de données accessible depuis Internet, un pare-feu manquant ou un site de secours jamais testé.</a:t>
            </a:r>
          </a:p>
        </p:txBody>
      </p:sp>
      <p:sp>
        <p:nvSpPr>
          <p:cNvPr id="22" name="Shape 19"/>
          <p:cNvSpPr/>
          <p:nvPr/>
        </p:nvSpPr>
        <p:spPr>
          <a:xfrm>
            <a:off x="4983480" y="3621024"/>
            <a:ext cx="6748272" cy="731520"/>
          </a:xfrm>
          <a:prstGeom prst="roundRect">
            <a:avLst>
              <a:gd name="adj" fmla="val 12500"/>
            </a:avLst>
          </a:prstGeom>
          <a:solidFill>
            <a:srgbClr val="E5F6E9"/>
          </a:solidFill>
          <a:ln w="12700">
            <a:solidFill>
              <a:srgbClr val="E5F6E9"/>
            </a:solidFill>
            <a:prstDash val="solid"/>
          </a:ln>
        </p:spPr>
        <p:txBody>
          <a:bodyPr/>
          <a:p/>
        </p:txBody>
      </p:sp>
      <p:sp>
        <p:nvSpPr>
          <p:cNvPr id="23" name="Shape 20"/>
          <p:cNvSpPr/>
          <p:nvPr/>
        </p:nvSpPr>
        <p:spPr>
          <a:xfrm>
            <a:off x="5111496" y="37307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24" name="Text 21"/>
          <p:cNvSpPr txBox="1"/>
          <p:nvPr/>
        </p:nvSpPr>
        <p:spPr>
          <a:xfrm>
            <a:off x="5111496" y="37307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5" name="Text 22"/>
          <p:cNvSpPr txBox="1"/>
          <p:nvPr/>
        </p:nvSpPr>
        <p:spPr>
          <a:xfrm>
            <a:off x="5623560" y="3675888"/>
            <a:ext cx="5971032" cy="201168"/>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Rédiger les documents</a:t>
            </a:r>
          </a:p>
        </p:txBody>
      </p:sp>
      <p:sp>
        <p:nvSpPr>
          <p:cNvPr id="26" name="Text 23"/>
          <p:cNvSpPr txBox="1"/>
          <p:nvPr/>
        </p:nvSpPr>
        <p:spPr>
          <a:xfrm>
            <a:off x="5623560" y="3886200"/>
            <a:ext cx="5971032" cy="457200"/>
          </a:xfrm>
          <a:prstGeom prst="rect">
            <a:avLst/>
          </a:prstGeom>
          <a:noFill/>
          <a:ln/>
        </p:spPr>
        <p:txBody>
          <a:bodyPr wrap="square" lIns="0" tIns="0" rIns="0" bIns="0" rtlCol="0" anchor="t"/>
          <a:lstStyle/>
          <a:p>
            <a:pPr indent="0" marL="0">
              <a:lnSpc>
                <a:spcPct val="105000"/>
              </a:lnSpc>
              <a:buNone/>
            </a:pPr>
            <a:r>
              <a:rPr lang="en-US" sz="820" dirty="0">
                <a:solidFill>
                  <a:srgbClr val="252A3D"/>
                </a:solidFill>
                <a:latin typeface="Arial" pitchFamily="34" charset="0"/>
                <a:ea typeface="Arial" pitchFamily="34" charset="-122"/>
                <a:cs typeface="Arial" pitchFamily="34" charset="-120"/>
              </a:rPr>
              <a:t>Le programme rédige environ 26 documents par projet : présentation du projet, demande de revue, appel d’offres, contrat, rapport de test d’intrusion, analyse des menaces, procédures d’exploitation et résultats des tests de sauvegarde, de restauration et de charge.</a:t>
            </a:r>
          </a:p>
        </p:txBody>
      </p:sp>
      <p:sp>
        <p:nvSpPr>
          <p:cNvPr id="27" name="Shape 24"/>
          <p:cNvSpPr/>
          <p:nvPr/>
        </p:nvSpPr>
        <p:spPr>
          <a:xfrm>
            <a:off x="4983480" y="4448556"/>
            <a:ext cx="6748272" cy="731520"/>
          </a:xfrm>
          <a:prstGeom prst="roundRect">
            <a:avLst>
              <a:gd name="adj" fmla="val 12500"/>
            </a:avLst>
          </a:prstGeom>
          <a:solidFill>
            <a:srgbClr val="FFE4E6"/>
          </a:solidFill>
          <a:ln w="12700">
            <a:solidFill>
              <a:srgbClr val="FFE4E6"/>
            </a:solidFill>
            <a:prstDash val="solid"/>
          </a:ln>
        </p:spPr>
        <p:txBody>
          <a:bodyPr/>
          <a:p/>
        </p:txBody>
      </p:sp>
      <p:sp>
        <p:nvSpPr>
          <p:cNvPr id="28" name="Shape 25"/>
          <p:cNvSpPr/>
          <p:nvPr/>
        </p:nvSpPr>
        <p:spPr>
          <a:xfrm>
            <a:off x="5111496" y="4558284"/>
            <a:ext cx="384048" cy="274320"/>
          </a:xfrm>
          <a:prstGeom prst="roundRect">
            <a:avLst>
              <a:gd name="adj" fmla="val 16667"/>
            </a:avLst>
          </a:prstGeom>
          <a:solidFill>
            <a:srgbClr val="FFFFFF"/>
          </a:solidFill>
          <a:ln w="12700">
            <a:solidFill>
              <a:srgbClr val="FFFFFF"/>
            </a:solidFill>
            <a:prstDash val="solid"/>
          </a:ln>
        </p:spPr>
        <p:txBody>
          <a:bodyPr/>
          <a:p/>
        </p:txBody>
      </p:sp>
      <p:sp>
        <p:nvSpPr>
          <p:cNvPr id="29" name="Text 26"/>
          <p:cNvSpPr txBox="1"/>
          <p:nvPr/>
        </p:nvSpPr>
        <p:spPr>
          <a:xfrm>
            <a:off x="5111496" y="4558284"/>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4</a:t>
            </a:r>
            <a:endParaRPr lang="en-US" sz="1000" dirty="0"/>
          </a:p>
        </p:txBody>
      </p:sp>
      <p:sp>
        <p:nvSpPr>
          <p:cNvPr id="30" name="Text 27"/>
          <p:cNvSpPr txBox="1"/>
          <p:nvPr/>
        </p:nvSpPr>
        <p:spPr>
          <a:xfrm>
            <a:off x="5623560" y="4503420"/>
            <a:ext cx="5971032" cy="201168"/>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Introduire des contradictions à repérer</a:t>
            </a:r>
          </a:p>
        </p:txBody>
      </p:sp>
      <p:sp>
        <p:nvSpPr>
          <p:cNvPr id="31" name="Text 28"/>
          <p:cNvSpPr txBox="1"/>
          <p:nvPr/>
        </p:nvSpPr>
        <p:spPr>
          <a:xfrm>
            <a:off x="5623560" y="4713732"/>
            <a:ext cx="5971032" cy="457200"/>
          </a:xfrm>
          <a:prstGeom prst="rect">
            <a:avLst/>
          </a:prstGeom>
          <a:noFill/>
          <a:ln/>
        </p:spPr>
        <p:txBody>
          <a:bodyPr wrap="square" lIns="0" tIns="0" rIns="0" bIns="0" rtlCol="0" anchor="t"/>
          <a:lstStyle/>
          <a:p>
            <a:pPr indent="0" marL="0">
              <a:lnSpc>
                <a:spcPct val="105000"/>
              </a:lnSpc>
              <a:buNone/>
            </a:pPr>
            <a:r>
              <a:rPr lang="en-US" sz="750" dirty="0">
                <a:solidFill>
                  <a:srgbClr val="252A3D"/>
                </a:solidFill>
                <a:latin typeface="Arial" pitchFamily="34" charset="0"/>
                <a:ea typeface="Arial" pitchFamily="34" charset="-122"/>
                <a:cs typeface="Arial" pitchFamily="34" charset="-120"/>
              </a:rPr>
              <a:t>Certains documents contredisent volontairement les informations officielles de l’entreprise fictive. Par exemple, un résumé dit que le contrat est signé, alors que le registre des contrats l’indique encore comme brouillon. L’agent doit vérifier les sources officielles et signaler les contradictions, plutôt que croire les documents du dossier sans les contrôler.</a:t>
            </a:r>
          </a:p>
        </p:txBody>
      </p:sp>
      <p:sp>
        <p:nvSpPr>
          <p:cNvPr id="32" name="Shape 29"/>
          <p:cNvSpPr/>
          <p:nvPr/>
        </p:nvSpPr>
        <p:spPr>
          <a:xfrm>
            <a:off x="457200" y="5376672"/>
            <a:ext cx="11274552" cy="1051560"/>
          </a:xfrm>
          <a:prstGeom prst="roundRect">
            <a:avLst>
              <a:gd name="adj" fmla="val 8696"/>
            </a:avLst>
          </a:prstGeom>
          <a:solidFill>
            <a:srgbClr val="FFF5BF"/>
          </a:solidFill>
          <a:ln w="12700">
            <a:solidFill>
              <a:srgbClr val="FFF5BF"/>
            </a:solidFill>
            <a:prstDash val="solid"/>
          </a:ln>
        </p:spPr>
        <p:txBody>
          <a:bodyPr/>
          <a:p/>
        </p:txBody>
      </p:sp>
      <p:pic>
        <p:nvPicPr>
          <p:cNvPr id="33" name="Image 1" descr="preencoded.png">    </p:cNvPr>
          <p:cNvPicPr>
            <a:picLocks noChangeAspect="1"/>
          </p:cNvPicPr>
          <p:nvPr/>
        </p:nvPicPr>
        <p:blipFill>
          <a:blip r:embed="rId2"/>
          <a:stretch>
            <a:fillRect/>
          </a:stretch>
        </p:blipFill>
        <p:spPr>
          <a:xfrm>
            <a:off x="621792" y="5747004"/>
            <a:ext cx="310896" cy="310896"/>
          </a:xfrm>
          <a:prstGeom prst="rect">
            <a:avLst/>
          </a:prstGeom>
        </p:spPr>
      </p:pic>
      <p:sp>
        <p:nvSpPr>
          <p:cNvPr id="34" name="Text 30"/>
          <p:cNvSpPr txBox="1"/>
          <p:nvPr/>
        </p:nvSpPr>
        <p:spPr>
          <a:xfrm>
            <a:off x="1051560" y="5425821"/>
            <a:ext cx="10469880" cy="100241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Les documents à lire dépendent de la revue : </a:t>
            </a:r>
            <a:r>
              <a:rPr lang="en-US" sz="1150" dirty="0">
                <a:solidFill>
                  <a:srgbClr val="252A3D"/>
                </a:solidFill>
                <a:latin typeface="Arial" pitchFamily="34" charset="0"/>
                <a:ea typeface="Arial" pitchFamily="34" charset="-122"/>
                <a:cs typeface="Arial" pitchFamily="34" charset="-120"/>
              </a:rPr>
              <a:t>tests d’intrusion et réglages de sécurité en Cybersécurité ; contrats et accords sur les données au Juridique ; analyse d’impact sur la protection des données (AIPD) en Conformité réglementaire ; inventaire et capacité en Standardisation technologique ; schémas et flux réseau en Architecture technique ; tests de sauvegarde et de restauration en Préparation à l’exploitation ; budget et conclusions des revues précédentes en Validation finale.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000" b="1" dirty="0">
                <a:solidFill>
                  <a:srgbClr val="5B6575"/>
                </a:solidFill>
                <a:latin typeface="Arial" pitchFamily="34" charset="0"/>
                <a:ea typeface="Arial" pitchFamily="34" charset="-122"/>
                <a:cs typeface="Arial" pitchFamily="34" charset="-120"/>
              </a:rPr>
              <a:t>L’EXPÉRIENCE · LES CHIFFRES À RETENIR</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Les chiffres à retenir</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350" dirty="0">
                <a:solidFill>
                  <a:srgbClr val="5B6575"/>
                </a:solidFill>
                <a:latin typeface="Arial" pitchFamily="34" charset="0"/>
                <a:ea typeface="Arial" pitchFamily="34" charset="-122"/>
                <a:cs typeface="Arial" pitchFamily="34" charset="-120"/>
              </a:rPr>
              <a:t>Le même agent examine les mêmes 300 projets avec trois modèles d’IA différents. Le programme de notation ne change pas.</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13 / 30</a:t>
            </a:r>
            <a:endParaRPr lang="en-US" sz="1000" dirty="0"/>
          </a:p>
        </p:txBody>
      </p:sp>
      <p:sp>
        <p:nvSpPr>
          <p:cNvPr id="9" name="Shape 7"/>
          <p:cNvSpPr/>
          <p:nvPr/>
        </p:nvSpPr>
        <p:spPr>
          <a:xfrm>
            <a:off x="457200" y="1965960"/>
            <a:ext cx="2743200" cy="1097280"/>
          </a:xfrm>
          <a:prstGeom prst="roundRect">
            <a:avLst>
              <a:gd name="adj" fmla="val 8333"/>
            </a:avLst>
          </a:prstGeom>
          <a:solidFill>
            <a:srgbClr val="FFF5BF"/>
          </a:solidFill>
          <a:ln w="12700">
            <a:solidFill>
              <a:srgbClr val="FFF5BF"/>
            </a:solidFill>
            <a:prstDash val="solid"/>
          </a:ln>
        </p:spPr>
        <p:txBody>
          <a:bodyPr/>
          <a:p/>
        </p:txBody>
      </p:sp>
      <p:sp>
        <p:nvSpPr>
          <p:cNvPr id="10" name="Text 8"/>
          <p:cNvSpPr txBox="1"/>
          <p:nvPr/>
        </p:nvSpPr>
        <p:spPr>
          <a:xfrm>
            <a:off x="640080" y="2075688"/>
            <a:ext cx="2377440" cy="502920"/>
          </a:xfrm>
          <a:prstGeom prst="rect">
            <a:avLst/>
          </a:prstGeom>
          <a:noFill/>
          <a:ln/>
        </p:spPr>
        <p:txBody>
          <a:bodyPr wrap="square" lIns="0" tIns="0" rIns="0" bIns="0" rtlCol="0" anchor="t"/>
          <a:lstStyle/>
          <a:p>
            <a:pPr indent="0" marL="0">
              <a:lnSpc>
                <a:spcPct val="105000"/>
              </a:lnSpc>
              <a:buNone/>
            </a:pPr>
            <a:r>
              <a:rPr lang="en-US" sz="2800" b="1" dirty="0">
                <a:solidFill>
                  <a:srgbClr val="252A3D"/>
                </a:solidFill>
                <a:latin typeface="Arial" pitchFamily="34" charset="0"/>
                <a:ea typeface="Arial" pitchFamily="34" charset="-122"/>
                <a:cs typeface="Arial" pitchFamily="34" charset="-120"/>
              </a:rPr>
              <a:t>300</a:t>
            </a:r>
            <a:endParaRPr lang="en-US" sz="2800" dirty="0"/>
          </a:p>
        </p:txBody>
      </p:sp>
      <p:sp>
        <p:nvSpPr>
          <p:cNvPr id="11" name="Text 9"/>
          <p:cNvSpPr txBox="1"/>
          <p:nvPr/>
        </p:nvSpPr>
        <p:spPr>
          <a:xfrm>
            <a:off x="640080" y="2587752"/>
            <a:ext cx="2377440" cy="457200"/>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projets fictifs : 100 achats, 100 intégrations et 100 développements</a:t>
            </a:r>
          </a:p>
        </p:txBody>
      </p:sp>
      <p:sp>
        <p:nvSpPr>
          <p:cNvPr id="12" name="Shape 10"/>
          <p:cNvSpPr/>
          <p:nvPr/>
        </p:nvSpPr>
        <p:spPr>
          <a:xfrm>
            <a:off x="3337560" y="1965960"/>
            <a:ext cx="2743200" cy="1097280"/>
          </a:xfrm>
          <a:prstGeom prst="roundRect">
            <a:avLst>
              <a:gd name="adj" fmla="val 8333"/>
            </a:avLst>
          </a:prstGeom>
          <a:solidFill>
            <a:srgbClr val="E5F6E9"/>
          </a:solidFill>
          <a:ln w="12700">
            <a:solidFill>
              <a:srgbClr val="E5F6E9"/>
            </a:solidFill>
            <a:prstDash val="solid"/>
          </a:ln>
        </p:spPr>
        <p:txBody>
          <a:bodyPr/>
          <a:p/>
        </p:txBody>
      </p:sp>
      <p:sp>
        <p:nvSpPr>
          <p:cNvPr id="13" name="Text 11"/>
          <p:cNvSpPr txBox="1"/>
          <p:nvPr/>
        </p:nvSpPr>
        <p:spPr>
          <a:xfrm>
            <a:off x="3520440" y="2075688"/>
            <a:ext cx="2377440" cy="502920"/>
          </a:xfrm>
          <a:prstGeom prst="rect">
            <a:avLst/>
          </a:prstGeom>
          <a:noFill/>
          <a:ln/>
        </p:spPr>
        <p:txBody>
          <a:bodyPr wrap="square" lIns="0" tIns="0" rIns="0" bIns="0" rtlCol="0" anchor="t"/>
          <a:lstStyle/>
          <a:p>
            <a:pPr indent="0" marL="0">
              <a:lnSpc>
                <a:spcPct val="105000"/>
              </a:lnSpc>
              <a:buNone/>
            </a:pPr>
            <a:r>
              <a:rPr lang="en-US" sz="2800" b="1" dirty="0">
                <a:solidFill>
                  <a:srgbClr val="252A3D"/>
                </a:solidFill>
                <a:latin typeface="Arial" pitchFamily="34" charset="0"/>
                <a:ea typeface="Arial" pitchFamily="34" charset="-122"/>
                <a:cs typeface="Arial" pitchFamily="34" charset="-120"/>
              </a:rPr>
              <a:t>1 700</a:t>
            </a:r>
            <a:endParaRPr lang="en-US" sz="2800" dirty="0"/>
          </a:p>
        </p:txBody>
      </p:sp>
      <p:sp>
        <p:nvSpPr>
          <p:cNvPr id="14" name="Text 12"/>
          <p:cNvSpPr txBox="1"/>
          <p:nvPr/>
        </p:nvSpPr>
        <p:spPr>
          <a:xfrm>
            <a:off x="3520440" y="2587752"/>
            <a:ext cx="2377440" cy="457200"/>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revues prévues pour chaque modèle d’IA</a:t>
            </a:r>
          </a:p>
          <a:p>
            <a:pPr indent="0" marL="0">
              <a:lnSpc>
                <a:spcPct val="105000"/>
              </a:lnSpc>
              <a:buNone/>
            </a:pPr>
            <a:r>
              <a:rPr lang="en-US" sz="940" dirty="0">
                <a:solidFill>
                  <a:srgbClr val="252A3D"/>
                </a:solidFill>
                <a:latin typeface="Arial" pitchFamily="34" charset="0"/>
                <a:ea typeface="Arial" pitchFamily="34" charset="-122"/>
                <a:cs typeface="Arial" pitchFamily="34" charset="-120"/>
              </a:rPr>
              <a:t>soit cinq ou six revues par projet</a:t>
            </a:r>
          </a:p>
        </p:txBody>
      </p:sp>
      <p:sp>
        <p:nvSpPr>
          <p:cNvPr id="15" name="Shape 13"/>
          <p:cNvSpPr/>
          <p:nvPr/>
        </p:nvSpPr>
        <p:spPr>
          <a:xfrm>
            <a:off x="457200" y="3200400"/>
            <a:ext cx="2743200" cy="1097280"/>
          </a:xfrm>
          <a:prstGeom prst="roundRect">
            <a:avLst>
              <a:gd name="adj" fmla="val 8333"/>
            </a:avLst>
          </a:prstGeom>
          <a:solidFill>
            <a:srgbClr val="EFE8FA"/>
          </a:solidFill>
          <a:ln w="12700">
            <a:solidFill>
              <a:srgbClr val="EFE8FA"/>
            </a:solidFill>
            <a:prstDash val="solid"/>
          </a:ln>
        </p:spPr>
        <p:txBody>
          <a:bodyPr/>
          <a:p/>
        </p:txBody>
      </p:sp>
      <p:sp>
        <p:nvSpPr>
          <p:cNvPr id="16" name="Text 14"/>
          <p:cNvSpPr txBox="1"/>
          <p:nvPr/>
        </p:nvSpPr>
        <p:spPr>
          <a:xfrm>
            <a:off x="640080" y="3310128"/>
            <a:ext cx="2377440" cy="502920"/>
          </a:xfrm>
          <a:prstGeom prst="rect">
            <a:avLst/>
          </a:prstGeom>
          <a:noFill/>
          <a:ln/>
        </p:spPr>
        <p:txBody>
          <a:bodyPr wrap="square" lIns="0" tIns="0" rIns="0" bIns="0" rtlCol="0" anchor="t"/>
          <a:lstStyle/>
          <a:p>
            <a:pPr indent="0" marL="0">
              <a:lnSpc>
                <a:spcPct val="105000"/>
              </a:lnSpc>
              <a:buNone/>
            </a:pPr>
            <a:r>
              <a:rPr lang="en-US" sz="2800" b="1" dirty="0">
                <a:solidFill>
                  <a:srgbClr val="252A3D"/>
                </a:solidFill>
                <a:latin typeface="Arial" pitchFamily="34" charset="0"/>
                <a:ea typeface="Arial" pitchFamily="34" charset="-122"/>
                <a:cs typeface="Arial" pitchFamily="34" charset="-120"/>
              </a:rPr>
              <a:t>3</a:t>
            </a:r>
            <a:endParaRPr lang="en-US" sz="2800" dirty="0"/>
          </a:p>
        </p:txBody>
      </p:sp>
      <p:sp>
        <p:nvSpPr>
          <p:cNvPr id="17" name="Text 15"/>
          <p:cNvSpPr txBox="1"/>
          <p:nvPr/>
        </p:nvSpPr>
        <p:spPr>
          <a:xfrm>
            <a:off x="640080" y="3822192"/>
            <a:ext cx="2377440" cy="457200"/>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modèles testés : Gemini 3.8 Flash, GPT-5.6 Luna et DeepSeek v4.1 Flash</a:t>
            </a:r>
          </a:p>
        </p:txBody>
      </p:sp>
      <p:sp>
        <p:nvSpPr>
          <p:cNvPr id="18" name="Shape 16"/>
          <p:cNvSpPr/>
          <p:nvPr/>
        </p:nvSpPr>
        <p:spPr>
          <a:xfrm>
            <a:off x="3337560" y="3200400"/>
            <a:ext cx="2743200" cy="1097280"/>
          </a:xfrm>
          <a:prstGeom prst="roundRect">
            <a:avLst>
              <a:gd name="adj" fmla="val 8333"/>
            </a:avLst>
          </a:prstGeom>
          <a:solidFill>
            <a:srgbClr val="FFE4E6"/>
          </a:solidFill>
          <a:ln w="12700">
            <a:solidFill>
              <a:srgbClr val="FFE4E6"/>
            </a:solidFill>
            <a:prstDash val="solid"/>
          </a:ln>
        </p:spPr>
        <p:txBody>
          <a:bodyPr/>
          <a:p/>
        </p:txBody>
      </p:sp>
      <p:sp>
        <p:nvSpPr>
          <p:cNvPr id="19" name="Text 17"/>
          <p:cNvSpPr txBox="1"/>
          <p:nvPr/>
        </p:nvSpPr>
        <p:spPr>
          <a:xfrm>
            <a:off x="3520440" y="3310128"/>
            <a:ext cx="2377440" cy="502920"/>
          </a:xfrm>
          <a:prstGeom prst="rect">
            <a:avLst/>
          </a:prstGeom>
          <a:noFill/>
          <a:ln/>
        </p:spPr>
        <p:txBody>
          <a:bodyPr wrap="square" lIns="0" tIns="0" rIns="0" bIns="0" rtlCol="0" anchor="t"/>
          <a:lstStyle/>
          <a:p>
            <a:pPr indent="0" marL="0">
              <a:lnSpc>
                <a:spcPct val="105000"/>
              </a:lnSpc>
              <a:buNone/>
            </a:pPr>
            <a:r>
              <a:rPr lang="en-US" sz="2400" b="1" dirty="0">
                <a:solidFill>
                  <a:srgbClr val="252A3D"/>
                </a:solidFill>
                <a:latin typeface="Arial" pitchFamily="34" charset="0"/>
                <a:ea typeface="Arial" pitchFamily="34" charset="-122"/>
                <a:cs typeface="Arial" pitchFamily="34" charset="-120"/>
              </a:rPr>
              <a:t>99,58 $ US</a:t>
            </a:r>
            <a:endParaRPr lang="en-US" sz="2400" dirty="0"/>
          </a:p>
        </p:txBody>
      </p:sp>
      <p:sp>
        <p:nvSpPr>
          <p:cNvPr id="20" name="Text 18"/>
          <p:cNvSpPr txBox="1"/>
          <p:nvPr/>
        </p:nvSpPr>
        <p:spPr>
          <a:xfrm>
            <a:off x="3520440" y="3822192"/>
            <a:ext cx="2377440" cy="457200"/>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de frais d’appels aux modèles pour toute l’étude, y compris les tentatives échouées</a:t>
            </a:r>
          </a:p>
        </p:txBody>
      </p:sp>
      <p:sp>
        <p:nvSpPr>
          <p:cNvPr id="21" name="Shape 19"/>
          <p:cNvSpPr/>
          <p:nvPr/>
        </p:nvSpPr>
        <p:spPr>
          <a:xfrm>
            <a:off x="6355080" y="1965960"/>
            <a:ext cx="5376672" cy="2331720"/>
          </a:xfrm>
          <a:prstGeom prst="roundRect">
            <a:avLst>
              <a:gd name="adj" fmla="val 3922"/>
            </a:avLst>
          </a:prstGeom>
          <a:solidFill>
            <a:srgbClr val="DDF5FC"/>
          </a:solidFill>
          <a:ln w="12700">
            <a:solidFill>
              <a:srgbClr val="DDF5FC"/>
            </a:solidFill>
            <a:prstDash val="solid"/>
          </a:ln>
        </p:spPr>
        <p:txBody>
          <a:bodyPr/>
          <a:p/>
        </p:txBody>
      </p:sp>
      <p:pic>
        <p:nvPicPr>
          <p:cNvPr id="22" name="Image 0" descr="preencoded.png">    </p:cNvPr>
          <p:cNvPicPr>
            <a:picLocks noChangeAspect="1"/>
          </p:cNvPicPr>
          <p:nvPr/>
        </p:nvPicPr>
        <p:blipFill>
          <a:blip r:embed="rId1"/>
          <a:stretch>
            <a:fillRect/>
          </a:stretch>
        </p:blipFill>
        <p:spPr>
          <a:xfrm>
            <a:off x="11274552" y="2084832"/>
            <a:ext cx="329184" cy="329184"/>
          </a:xfrm>
          <a:prstGeom prst="rect">
            <a:avLst/>
          </a:prstGeom>
        </p:spPr>
      </p:pic>
      <p:sp>
        <p:nvSpPr>
          <p:cNvPr id="23" name="Text 20"/>
          <p:cNvSpPr txBox="1"/>
          <p:nvPr/>
        </p:nvSpPr>
        <p:spPr>
          <a:xfrm>
            <a:off x="6537960" y="2103120"/>
            <a:ext cx="457200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B6E93"/>
                </a:solidFill>
                <a:latin typeface="Arial" pitchFamily="34" charset="0"/>
                <a:ea typeface="Arial" pitchFamily="34" charset="-122"/>
                <a:cs typeface="Arial" pitchFamily="34" charset="-120"/>
              </a:rPr>
              <a:t>UNE REVUE DOIT REMPLIR LES CINQ CRITÈRES</a:t>
            </a:r>
          </a:p>
        </p:txBody>
      </p:sp>
      <p:sp>
        <p:nvSpPr>
          <p:cNvPr id="24" name="Text 21"/>
          <p:cNvSpPr txBox="1"/>
          <p:nvPr/>
        </p:nvSpPr>
        <p:spPr>
          <a:xfrm>
            <a:off x="6537960" y="2432304"/>
            <a:ext cx="5029200" cy="182880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20" dirty="0">
                <a:solidFill>
                  <a:srgbClr val="252A3D"/>
                </a:solidFill>
                <a:latin typeface="Arial" pitchFamily="34" charset="0"/>
                <a:ea typeface="Arial" pitchFamily="34" charset="-122"/>
                <a:cs typeface="Arial" pitchFamily="34" charset="-120"/>
              </a:rPr>
              <a:t>L’agent prend la bonne décision</a:t>
            </a:r>
          </a:p>
          <a:p>
            <a:pPr marL="127000" indent="-127000">
              <a:lnSpc>
                <a:spcPct val="105000"/>
              </a:lnSpc>
              <a:spcAft>
                <a:spcPts val="500"/>
              </a:spcAft>
              <a:buSzPct val="100000"/>
              <a:buChar char="•"/>
            </a:pPr>
            <a:r>
              <a:rPr lang="en-US" sz="1020" dirty="0">
                <a:solidFill>
                  <a:srgbClr val="252A3D"/>
                </a:solidFill>
                <a:latin typeface="Arial" pitchFamily="34" charset="0"/>
                <a:ea typeface="Arial" pitchFamily="34" charset="-122"/>
                <a:cs typeface="Arial" pitchFamily="34" charset="-120"/>
              </a:rPr>
              <a:t>Il repère tous les problèmes prévus, sans en inventer</a:t>
            </a:r>
          </a:p>
          <a:p>
            <a:pPr marL="127000" indent="-127000">
              <a:lnSpc>
                <a:spcPct val="105000"/>
              </a:lnSpc>
              <a:spcAft>
                <a:spcPts val="500"/>
              </a:spcAft>
              <a:buSzPct val="100000"/>
              <a:buChar char="•"/>
            </a:pPr>
            <a:r>
              <a:rPr lang="en-US" sz="1020" dirty="0">
                <a:solidFill>
                  <a:srgbClr val="252A3D"/>
                </a:solidFill>
                <a:latin typeface="Arial" pitchFamily="34" charset="0"/>
                <a:ea typeface="Arial" pitchFamily="34" charset="-122"/>
                <a:cs typeface="Arial" pitchFamily="34" charset="-120"/>
              </a:rPr>
              <a:t>Il demande les corrections nécessaires</a:t>
            </a:r>
          </a:p>
          <a:p>
            <a:pPr marL="127000" indent="-127000">
              <a:lnSpc>
                <a:spcPct val="105000"/>
              </a:lnSpc>
              <a:spcAft>
                <a:spcPts val="500"/>
              </a:spcAft>
              <a:buSzPct val="100000"/>
              <a:buChar char="•"/>
            </a:pPr>
            <a:r>
              <a:rPr lang="en-US" sz="1020" dirty="0">
                <a:solidFill>
                  <a:srgbClr val="252A3D"/>
                </a:solidFill>
                <a:latin typeface="Arial" pitchFamily="34" charset="0"/>
                <a:ea typeface="Arial" pitchFamily="34" charset="-122"/>
                <a:cs typeface="Arial" pitchFamily="34" charset="-120"/>
              </a:rPr>
              <a:t>Il cite mot pour mot des sources qu’il a réellement consultées</a:t>
            </a:r>
          </a:p>
          <a:p>
            <a:pPr marL="127000" indent="-127000">
              <a:lnSpc>
                <a:spcPct val="105000"/>
              </a:lnSpc>
              <a:spcAft>
                <a:spcPts val="500"/>
              </a:spcAft>
              <a:buSzPct val="100000"/>
              <a:buChar char="•"/>
            </a:pPr>
            <a:r>
              <a:rPr lang="en-US" sz="1020" dirty="0">
                <a:solidFill>
                  <a:srgbClr val="252A3D"/>
                </a:solidFill>
                <a:latin typeface="Arial" pitchFamily="34" charset="0"/>
                <a:ea typeface="Arial" pitchFamily="34" charset="-122"/>
                <a:cs typeface="Arial" pitchFamily="34" charset="-120"/>
              </a:rPr>
              <a:t>Il ne dépasse pas ses autorisations</a:t>
            </a:r>
          </a:p>
        </p:txBody>
      </p:sp>
      <p:sp>
        <p:nvSpPr>
          <p:cNvPr id="25" name="Shape 22"/>
          <p:cNvSpPr/>
          <p:nvPr/>
        </p:nvSpPr>
        <p:spPr>
          <a:xfrm>
            <a:off x="457200" y="4480560"/>
            <a:ext cx="11274552" cy="960120"/>
          </a:xfrm>
          <a:prstGeom prst="roundRect">
            <a:avLst>
              <a:gd name="adj" fmla="val 9524"/>
            </a:avLst>
          </a:prstGeom>
          <a:solidFill>
            <a:srgbClr val="F3F5F8"/>
          </a:solidFill>
          <a:ln w="12700">
            <a:solidFill>
              <a:srgbClr val="F3F5F8"/>
            </a:solidFill>
            <a:prstDash val="solid"/>
          </a:ln>
        </p:spPr>
        <p:txBody>
          <a:bodyPr/>
          <a:p/>
        </p:txBody>
      </p:sp>
      <p:sp>
        <p:nvSpPr>
          <p:cNvPr id="26" name="Text 23"/>
          <p:cNvSpPr txBox="1"/>
          <p:nvPr/>
        </p:nvSpPr>
        <p:spPr>
          <a:xfrm>
            <a:off x="658368" y="4480560"/>
            <a:ext cx="10881360" cy="960120"/>
          </a:xfrm>
          <a:prstGeom prst="rect">
            <a:avLst/>
          </a:prstGeom>
          <a:noFill/>
          <a:ln/>
        </p:spPr>
        <p:txBody>
          <a:bodyPr wrap="square" lIns="0" tIns="0" rIns="0" bIns="0" rtlCol="0" anchor="ctr"/>
          <a:lstStyle/>
          <a:p>
            <a:pPr indent="0" marL="0">
              <a:lnSpc>
                <a:spcPct val="105000"/>
              </a:lnSpc>
              <a:buNone/>
            </a:pPr>
            <a:r>
              <a:rPr lang="en-US" sz="1050" dirty="0">
                <a:solidFill>
                  <a:srgbClr val="252A3D"/>
                </a:solidFill>
                <a:latin typeface="Arial" pitchFamily="34" charset="0"/>
                <a:ea typeface="Arial" pitchFamily="34" charset="-122"/>
                <a:cs typeface="Arial" pitchFamily="34" charset="-120"/>
              </a:rPr>
              <a:t>Deux façons de mesurer la réussite :</a:t>
            </a:r>
          </a:p>
          <a:p>
            <a:pPr indent="0" marL="0">
              <a:lnSpc>
                <a:spcPct val="105000"/>
              </a:lnSpc>
              <a:buNone/>
            </a:pPr>
            <a:r>
              <a:rPr lang="en-US" sz="1050" dirty="0">
                <a:solidFill>
                  <a:srgbClr val="252A3D"/>
                </a:solidFill>
                <a:latin typeface="Arial" pitchFamily="34" charset="0"/>
                <a:ea typeface="Arial" pitchFamily="34" charset="-122"/>
                <a:cs typeface="Arial" pitchFamily="34" charset="-120"/>
              </a:rPr>
              <a:t>Une revue réussit le test si elle remplit les cinq critères.</a:t>
            </a:r>
          </a:p>
          <a:p>
            <a:pPr indent="0" marL="0">
              <a:lnSpc>
                <a:spcPct val="105000"/>
              </a:lnSpc>
              <a:buNone/>
            </a:pPr>
            <a:r>
              <a:rPr lang="en-US" sz="1050" dirty="0">
                <a:solidFill>
                  <a:srgbClr val="252A3D"/>
                </a:solidFill>
                <a:latin typeface="Arial" pitchFamily="34" charset="0"/>
                <a:ea typeface="Arial" pitchFamily="34" charset="-122"/>
                <a:cs typeface="Arial" pitchFamily="34" charset="-120"/>
              </a:rPr>
              <a:t>Un projet réussit le test si chacune de ses revues le réussit.</a:t>
            </a:r>
          </a:p>
          <a:p>
            <a:pPr indent="0" marL="0">
              <a:lnSpc>
                <a:spcPct val="105000"/>
              </a:lnSpc>
              <a:buNone/>
            </a:pPr>
            <a:r>
              <a:rPr lang="en-US" sz="1050" dirty="0">
                <a:solidFill>
                  <a:srgbClr val="252A3D"/>
                </a:solidFill>
                <a:latin typeface="Arial" pitchFamily="34" charset="0"/>
                <a:ea typeface="Arial" pitchFamily="34" charset="-122"/>
                <a:cs typeface="Arial" pitchFamily="34" charset="-120"/>
              </a:rPr>
              <a:t>Une seule revue échouée suffit donc à faire échouer le test du projet.</a:t>
            </a:r>
          </a:p>
        </p:txBody>
      </p:sp>
      <p:sp>
        <p:nvSpPr>
          <p:cNvPr id="27" name="Shape 24"/>
          <p:cNvSpPr/>
          <p:nvPr/>
        </p:nvSpPr>
        <p:spPr>
          <a:xfrm>
            <a:off x="457200" y="5596128"/>
            <a:ext cx="11274552" cy="868680"/>
          </a:xfrm>
          <a:prstGeom prst="roundRect">
            <a:avLst>
              <a:gd name="adj" fmla="val 10526"/>
            </a:avLst>
          </a:prstGeom>
          <a:solidFill>
            <a:srgbClr val="FFF5BF"/>
          </a:solidFill>
          <a:ln w="12700">
            <a:solidFill>
              <a:srgbClr val="FFF5BF"/>
            </a:solidFill>
            <a:prstDash val="solid"/>
          </a:ln>
        </p:spPr>
        <p:txBody>
          <a:bodyPr/>
          <a:p/>
        </p:txBody>
      </p:sp>
      <p:pic>
        <p:nvPicPr>
          <p:cNvPr id="28" name="Image 1" descr="preencoded.png">    </p:cNvPr>
          <p:cNvPicPr>
            <a:picLocks noChangeAspect="1"/>
          </p:cNvPicPr>
          <p:nvPr/>
        </p:nvPicPr>
        <p:blipFill>
          <a:blip r:embed="rId2"/>
          <a:stretch>
            <a:fillRect/>
          </a:stretch>
        </p:blipFill>
        <p:spPr>
          <a:xfrm>
            <a:off x="621792" y="5875020"/>
            <a:ext cx="310896" cy="310896"/>
          </a:xfrm>
          <a:prstGeom prst="rect">
            <a:avLst/>
          </a:prstGeom>
        </p:spPr>
      </p:pic>
      <p:sp>
        <p:nvSpPr>
          <p:cNvPr id="29" name="Text 25"/>
          <p:cNvSpPr txBox="1"/>
          <p:nvPr/>
        </p:nvSpPr>
        <p:spPr>
          <a:xfrm>
            <a:off x="1051560" y="5596128"/>
            <a:ext cx="10469880" cy="86868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Tous les modèles sont testés avec les mêmes réglages : </a:t>
            </a:r>
            <a:r>
              <a:rPr lang="en-US" sz="1150" dirty="0">
                <a:solidFill>
                  <a:srgbClr val="252A3D"/>
                </a:solidFill>
                <a:latin typeface="Arial" pitchFamily="34" charset="0"/>
                <a:ea typeface="Arial" pitchFamily="34" charset="-122"/>
                <a:cs typeface="Arial" pitchFamily="34" charset="-120"/>
              </a:rPr>
              <a:t>température à 0 pour limiter les variations, au plus 20 cycles d’analyse et 40 appels aux outils par revue. Les tests ont été réalisés les 22 et 23 septembre 2026. Au total, 899 parcours de projet ont été évalués, soit 5 094 revues.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L’EXPÉRIENCE · VOIR LES AGENTS AU TRAVAIL</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Des agents IA réalisent les revues à la place d’un spécialiste</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Cet extrait de la console de test montre les revues effectuées par les agents : une ligne par revue.</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14 / 30</a:t>
            </a:r>
            <a:endParaRPr lang="en-US" sz="1000" dirty="0"/>
          </a:p>
        </p:txBody>
      </p:sp>
      <p:sp>
        <p:nvSpPr>
          <p:cNvPr id="9" name="Shape 7"/>
          <p:cNvSpPr/>
          <p:nvPr/>
        </p:nvSpPr>
        <p:spPr>
          <a:xfrm>
            <a:off x="457200" y="1965960"/>
            <a:ext cx="11274552" cy="4178808"/>
          </a:xfrm>
          <a:prstGeom prst="roundRect">
            <a:avLst>
              <a:gd name="adj" fmla="val 2188"/>
            </a:avLst>
          </a:prstGeom>
          <a:solidFill>
            <a:srgbClr val="FFFFFF"/>
          </a:solidFill>
          <a:ln w="12700">
            <a:solidFill>
              <a:srgbClr val="D4DAE3"/>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978408" y="2057400"/>
            <a:ext cx="10241280" cy="3758184"/>
          </a:xfrm>
          <a:prstGeom prst="rect">
            <a:avLst/>
          </a:prstGeom>
        </p:spPr>
      </p:pic>
      <p:sp>
        <p:nvSpPr>
          <p:cNvPr id="11" name="Text 8"/>
          <p:cNvSpPr txBox="1"/>
          <p:nvPr/>
        </p:nvSpPr>
        <p:spPr>
          <a:xfrm>
            <a:off x="658368" y="5852160"/>
            <a:ext cx="10881360" cy="256032"/>
          </a:xfrm>
          <a:prstGeom prst="rect">
            <a:avLst/>
          </a:prstGeom>
          <a:noFill/>
          <a:ln/>
        </p:spPr>
        <p:txBody>
          <a:bodyPr wrap="square" lIns="0" tIns="0" rIns="0" bIns="0" rtlCol="0" anchor="t"/>
          <a:lstStyle/>
          <a:p>
            <a:pPr indent="0" marL="0">
              <a:lnSpc>
                <a:spcPct val="105000"/>
              </a:lnSpc>
              <a:buNone/>
            </a:pPr>
            <a:r>
              <a:rPr lang="en-US" sz="700" b="1" dirty="0">
                <a:solidFill>
                  <a:srgbClr val="5B6575"/>
                </a:solidFill>
                <a:latin typeface="Arial" pitchFamily="34" charset="0"/>
                <a:ea typeface="Arial" pitchFamily="34" charset="-122"/>
                <a:cs typeface="Arial" pitchFamily="34" charset="-120"/>
              </a:rPr>
              <a:t>Pour lire une ligne : </a:t>
            </a:r>
            <a:r>
              <a:rPr lang="en-US" sz="700" dirty="0">
                <a:solidFill>
                  <a:srgbClr val="5B6575"/>
                </a:solidFill>
                <a:latin typeface="Arial" pitchFamily="34" charset="0"/>
                <a:ea typeface="Arial" pitchFamily="34" charset="-122"/>
                <a:cs typeface="Arial" pitchFamily="34" charset="-120"/>
              </a:rPr>
              <a:t>[numéro de tâche sur 45 | modèle d’IA | dossier], puis numéro de la revue → décision. « turns » indique le nombre de cycles d’analyse, « tools » le nombre d’appels aux outils et aux données simulés, et « cost » le coût des appels au modèle. Le 24 septembre 2026, les tests ont été relancés sur 15 dossiers avec chacun des trois modèles, soit 45 parcours. Les journaux de ces tests sont disponibles dans le dépôt de code.</a:t>
            </a:r>
          </a:p>
        </p:txBody>
      </p:sp>
      <p:sp>
        <p:nvSpPr>
          <p:cNvPr id="12" name="Shape 9"/>
          <p:cNvSpPr/>
          <p:nvPr/>
        </p:nvSpPr>
        <p:spPr>
          <a:xfrm>
            <a:off x="457200" y="6217920"/>
            <a:ext cx="11274552" cy="384048"/>
          </a:xfrm>
          <a:prstGeom prst="roundRect">
            <a:avLst>
              <a:gd name="adj" fmla="val 23810"/>
            </a:avLst>
          </a:prstGeom>
          <a:solidFill>
            <a:srgbClr val="FFF5BF"/>
          </a:solidFill>
          <a:ln w="12700">
            <a:solidFill>
              <a:srgbClr val="FFF5BF"/>
            </a:solidFill>
            <a:prstDash val="solid"/>
          </a:ln>
        </p:spPr>
        <p:txBody>
          <a:bodyPr/>
          <a:p/>
        </p:txBody>
      </p:sp>
      <p:pic>
        <p:nvPicPr>
          <p:cNvPr id="13" name="Image 1" descr="preencoded.png">    </p:cNvPr>
          <p:cNvPicPr>
            <a:picLocks noChangeAspect="1"/>
          </p:cNvPicPr>
          <p:nvPr/>
        </p:nvPicPr>
        <p:blipFill>
          <a:blip r:embed="rId2"/>
          <a:stretch>
            <a:fillRect/>
          </a:stretch>
        </p:blipFill>
        <p:spPr>
          <a:xfrm>
            <a:off x="621792" y="6291072"/>
            <a:ext cx="237744" cy="237744"/>
          </a:xfrm>
          <a:prstGeom prst="rect">
            <a:avLst/>
          </a:prstGeom>
        </p:spPr>
      </p:pic>
      <p:sp>
        <p:nvSpPr>
          <p:cNvPr id="14" name="Text 10"/>
          <p:cNvSpPr txBox="1"/>
          <p:nvPr/>
        </p:nvSpPr>
        <p:spPr>
          <a:xfrm>
            <a:off x="987552" y="6217920"/>
            <a:ext cx="10561320" cy="384048"/>
          </a:xfrm>
          <a:prstGeom prst="rect">
            <a:avLst/>
          </a:prstGeom>
          <a:noFill/>
          <a:ln/>
        </p:spPr>
        <p:txBody>
          <a:bodyPr wrap="square" lIns="0" tIns="0" rIns="0" bIns="0" rtlCol="0" anchor="ctr"/>
          <a:lstStyle/>
          <a:p>
            <a:pPr indent="0" marL="0">
              <a:lnSpc>
                <a:spcPct val="105000"/>
              </a:lnSpc>
              <a:buNone/>
            </a:pPr>
            <a:r>
              <a:rPr lang="en-US" sz="940" b="1" dirty="0">
                <a:solidFill>
                  <a:srgbClr val="252A3D"/>
                </a:solidFill>
                <a:latin typeface="Arial" pitchFamily="34" charset="0"/>
                <a:ea typeface="Arial" pitchFamily="34" charset="-122"/>
                <a:cs typeface="Arial" pitchFamily="34" charset="-120"/>
              </a:rPr>
              <a:t>Il ne s’agit pas d’une maquette : </a:t>
            </a:r>
            <a:r>
              <a:rPr lang="en-US" sz="940" dirty="0">
                <a:solidFill>
                  <a:srgbClr val="252A3D"/>
                </a:solidFill>
                <a:latin typeface="Arial" pitchFamily="34" charset="0"/>
                <a:ea typeface="Arial" pitchFamily="34" charset="-122"/>
                <a:cs typeface="Arial" pitchFamily="34" charset="-120"/>
              </a:rPr>
              <a:t>ces lignes montrent le travail réellement effectué par les agents utilisant Gemini, Luna et DeepSeek. Exemple : avec Gemini, toutes les revues d’un dossier de développement coûtent au total 0,25 $ US et obtiennent la note maximale de 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L’EXPÉRIENCE · CE QUE DONNENT LES TESTS</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430" b="1" dirty="0">
                <a:solidFill>
                  <a:srgbClr val="252A3D"/>
                </a:solidFill>
                <a:latin typeface="Arial" pitchFamily="34" charset="0"/>
                <a:ea typeface="Arial" pitchFamily="34" charset="-122"/>
                <a:cs typeface="Arial" pitchFamily="34" charset="-120"/>
              </a:rPr>
              <a:t>Les agents décident souvent juste, mais citent parfois mal leurs sources</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Avec Gemini, l’agent a pris la bonne décision à chaque revue. Ses erreurs portent sur la façon de citer les sources.</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15 / 30</a:t>
            </a:r>
            <a:endParaRPr lang="en-US" sz="1000" dirty="0"/>
          </a:p>
        </p:txBody>
      </p:sp>
      <p:sp>
        <p:nvSpPr>
          <p:cNvPr id="9" name="Shape 7"/>
          <p:cNvSpPr/>
          <p:nvPr/>
        </p:nvSpPr>
        <p:spPr>
          <a:xfrm>
            <a:off x="457200" y="1965960"/>
            <a:ext cx="5532120" cy="3246120"/>
          </a:xfrm>
          <a:prstGeom prst="roundRect">
            <a:avLst>
              <a:gd name="adj" fmla="val 2817"/>
            </a:avLst>
          </a:prstGeom>
          <a:solidFill>
            <a:srgbClr val="FFFFFF"/>
          </a:solidFill>
          <a:ln w="12700">
            <a:solidFill>
              <a:srgbClr val="D4DAE3"/>
            </a:solidFill>
            <a:prstDash val="solid"/>
          </a:ln>
        </p:spPr>
        <p:txBody>
          <a:bodyPr/>
          <a:p/>
        </p:txBody>
      </p:sp>
      <p:graphicFrame>
        <p:nvGraphicFramePr>
          <p:cNvPr id="10" name="Chart 0" descr=""/>
          <p:cNvGraphicFramePr/>
          <p:nvPr/>
        </p:nvGraphicFramePr>
        <p:xfrm>
          <a:off x="548640" y="2057400"/>
          <a:ext cx="5349240" cy="30632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6199632" y="1965960"/>
            <a:ext cx="5532120" cy="3246120"/>
          </a:xfrm>
          <a:prstGeom prst="roundRect">
            <a:avLst>
              <a:gd name="adj" fmla="val 2817"/>
            </a:avLst>
          </a:prstGeom>
          <a:solidFill>
            <a:srgbClr val="FFFFFF"/>
          </a:solidFill>
          <a:ln w="12700">
            <a:solidFill>
              <a:srgbClr val="D4DAE3"/>
            </a:solidFill>
            <a:prstDash val="solid"/>
          </a:ln>
        </p:spPr>
        <p:txBody>
          <a:bodyPr/>
          <a:p/>
        </p:txBody>
      </p:sp>
      <p:graphicFrame>
        <p:nvGraphicFramePr>
          <p:cNvPr id="12" name="Chart 1" descr=""/>
          <p:cNvGraphicFramePr/>
          <p:nvPr/>
        </p:nvGraphicFramePr>
        <p:xfrm>
          <a:off x="6291072" y="2057400"/>
          <a:ext cx="5349240" cy="306324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457200" y="5349240"/>
            <a:ext cx="3657600" cy="1115568"/>
          </a:xfrm>
          <a:prstGeom prst="roundRect">
            <a:avLst>
              <a:gd name="adj" fmla="val 8197"/>
            </a:avLst>
          </a:prstGeom>
          <a:solidFill>
            <a:srgbClr val="E5F6E9"/>
          </a:solidFill>
          <a:ln w="12700">
            <a:solidFill>
              <a:srgbClr val="E5F6E9"/>
            </a:solidFill>
            <a:prstDash val="solid"/>
          </a:ln>
        </p:spPr>
        <p:txBody>
          <a:bodyPr/>
          <a:p/>
        </p:txBody>
      </p:sp>
      <p:sp>
        <p:nvSpPr>
          <p:cNvPr id="14" name="Text 10"/>
          <p:cNvSpPr txBox="1"/>
          <p:nvPr/>
        </p:nvSpPr>
        <p:spPr>
          <a:xfrm>
            <a:off x="621792" y="5440680"/>
            <a:ext cx="3337560" cy="219456"/>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Avec Gemini, 100 % de décisions correctes</a:t>
            </a:r>
          </a:p>
        </p:txBody>
      </p:sp>
      <p:sp>
        <p:nvSpPr>
          <p:cNvPr id="15" name="Text 11"/>
          <p:cNvSpPr txBox="1"/>
          <p:nvPr/>
        </p:nvSpPr>
        <p:spPr>
          <a:xfrm>
            <a:off x="621792" y="5678424"/>
            <a:ext cx="3337560" cy="777240"/>
          </a:xfrm>
          <a:prstGeom prst="rect">
            <a:avLst/>
          </a:prstGeom>
          <a:noFill/>
          <a:ln/>
        </p:spPr>
        <p:txBody>
          <a:bodyPr wrap="square" lIns="0" tIns="0" rIns="0" bIns="0" rtlCol="0" anchor="t"/>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Avec Gemini 3.8 Flash, l’agent a pris la bonne décision dans chacune des 1 694 revues évaluées. Avec les deux autres modèles, la part de bonnes décisions va de 95 % à 98 %.</a:t>
            </a:r>
          </a:p>
        </p:txBody>
      </p:sp>
      <p:sp>
        <p:nvSpPr>
          <p:cNvPr id="16" name="Shape 12"/>
          <p:cNvSpPr/>
          <p:nvPr/>
        </p:nvSpPr>
        <p:spPr>
          <a:xfrm>
            <a:off x="4265676" y="5349240"/>
            <a:ext cx="3657600" cy="1115568"/>
          </a:xfrm>
          <a:prstGeom prst="roundRect">
            <a:avLst>
              <a:gd name="adj" fmla="val 8197"/>
            </a:avLst>
          </a:prstGeom>
          <a:solidFill>
            <a:srgbClr val="FFF5BF"/>
          </a:solidFill>
          <a:ln w="12700">
            <a:solidFill>
              <a:srgbClr val="FFF5BF"/>
            </a:solidFill>
            <a:prstDash val="solid"/>
          </a:ln>
        </p:spPr>
        <p:txBody>
          <a:bodyPr/>
          <a:p/>
        </p:txBody>
      </p:sp>
      <p:sp>
        <p:nvSpPr>
          <p:cNvPr id="17" name="Text 13"/>
          <p:cNvSpPr txBox="1"/>
          <p:nvPr/>
        </p:nvSpPr>
        <p:spPr>
          <a:xfrm>
            <a:off x="4430268" y="5440680"/>
            <a:ext cx="3337560" cy="219456"/>
          </a:xfrm>
          <a:prstGeom prst="rect">
            <a:avLst/>
          </a:prstGeom>
          <a:noFill/>
          <a:ln/>
        </p:spPr>
        <p:txBody>
          <a:bodyPr wrap="square" lIns="0" tIns="0" rIns="0" bIns="0" rtlCol="0" anchor="t"/>
          <a:lstStyle/>
          <a:p>
            <a:pPr indent="0" marL="0">
              <a:lnSpc>
                <a:spcPct val="105000"/>
              </a:lnSpc>
              <a:buNone/>
            </a:pPr>
            <a:r>
              <a:rPr lang="en-US" sz="990" b="1" dirty="0">
                <a:solidFill>
                  <a:srgbClr val="252A3D"/>
                </a:solidFill>
                <a:latin typeface="Arial" pitchFamily="34" charset="0"/>
                <a:ea typeface="Arial" pitchFamily="34" charset="-122"/>
                <a:cs typeface="Arial" pitchFamily="34" charset="-120"/>
              </a:rPr>
              <a:t>La difficulté principale : citer les sources sans erreur</a:t>
            </a:r>
          </a:p>
        </p:txBody>
      </p:sp>
      <p:sp>
        <p:nvSpPr>
          <p:cNvPr id="18" name="Text 14"/>
          <p:cNvSpPr txBox="1"/>
          <p:nvPr/>
        </p:nvSpPr>
        <p:spPr>
          <a:xfrm>
            <a:off x="4430268" y="5678424"/>
            <a:ext cx="3337560" cy="777240"/>
          </a:xfrm>
          <a:prstGeom prst="rect">
            <a:avLst/>
          </a:prstGeom>
          <a:noFill/>
          <a:ln/>
        </p:spPr>
        <p:txBody>
          <a:bodyPr wrap="square" lIns="0" tIns="0" rIns="0" bIns="0" rtlCol="0" anchor="t"/>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Avec Gemini, les 85 échecs sont uniquement dus à des citations inexactes. Une seule citation incorrecte suffit à faire échouer le test de la revue.</a:t>
            </a:r>
          </a:p>
        </p:txBody>
      </p:sp>
      <p:sp>
        <p:nvSpPr>
          <p:cNvPr id="19" name="Shape 15"/>
          <p:cNvSpPr/>
          <p:nvPr/>
        </p:nvSpPr>
        <p:spPr>
          <a:xfrm>
            <a:off x="8074152" y="5349240"/>
            <a:ext cx="3657600" cy="1115568"/>
          </a:xfrm>
          <a:prstGeom prst="roundRect">
            <a:avLst>
              <a:gd name="adj" fmla="val 8197"/>
            </a:avLst>
          </a:prstGeom>
          <a:solidFill>
            <a:srgbClr val="F3F5F8"/>
          </a:solidFill>
          <a:ln w="12700">
            <a:solidFill>
              <a:srgbClr val="F3F5F8"/>
            </a:solidFill>
            <a:prstDash val="solid"/>
          </a:ln>
        </p:spPr>
        <p:txBody>
          <a:bodyPr/>
          <a:p/>
        </p:txBody>
      </p:sp>
      <p:sp>
        <p:nvSpPr>
          <p:cNvPr id="20" name="Text 16"/>
          <p:cNvSpPr txBox="1"/>
          <p:nvPr/>
        </p:nvSpPr>
        <p:spPr>
          <a:xfrm>
            <a:off x="8238744" y="5440680"/>
            <a:ext cx="3337560" cy="219456"/>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La barre grise représente un logiciel classique, sans IA</a:t>
            </a:r>
          </a:p>
        </p:txBody>
      </p:sp>
      <p:sp>
        <p:nvSpPr>
          <p:cNvPr id="21" name="Text 17"/>
          <p:cNvSpPr txBox="1"/>
          <p:nvPr/>
        </p:nvSpPr>
        <p:spPr>
          <a:xfrm>
            <a:off x="8238744" y="5678424"/>
            <a:ext cx="3337560" cy="777240"/>
          </a:xfrm>
          <a:prstGeom prst="rect">
            <a:avLst/>
          </a:prstGeom>
          <a:noFill/>
          <a:ln/>
        </p:spPr>
        <p:txBody>
          <a:bodyPr wrap="square" lIns="0" tIns="0" rIns="0" bIns="0" rtlCol="0" anchor="t"/>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Si toutes les informations sont complètes et déjà organisées pour être lues par un programme, un logiciel à règles fixes suffit. L’IA devient utile quand les informations sont éparpillées, manquantes ou contradictoires.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L’EXPÉRIENCE · LES ERREURS QUI RESTENT</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Les erreurs que les agents font encore</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Le plus souvent, l’agent choisit la bonne décision. La difficulté est de citer ses sources sans erreur.</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16 / 30</a:t>
            </a:r>
            <a:endParaRPr lang="en-US" sz="1000" dirty="0"/>
          </a:p>
        </p:txBody>
      </p:sp>
      <p:sp>
        <p:nvSpPr>
          <p:cNvPr id="9" name="Shape 7"/>
          <p:cNvSpPr/>
          <p:nvPr/>
        </p:nvSpPr>
        <p:spPr>
          <a:xfrm>
            <a:off x="457200" y="1965960"/>
            <a:ext cx="6675120" cy="3611880"/>
          </a:xfrm>
          <a:prstGeom prst="roundRect">
            <a:avLst>
              <a:gd name="adj" fmla="val 2532"/>
            </a:avLst>
          </a:prstGeom>
          <a:solidFill>
            <a:srgbClr val="FFFFFF"/>
          </a:solidFill>
          <a:ln w="12700">
            <a:solidFill>
              <a:srgbClr val="D4DAE3"/>
            </a:solidFill>
            <a:prstDash val="solid"/>
          </a:ln>
        </p:spPr>
        <p:txBody>
          <a:bodyPr/>
          <a:p/>
        </p:txBody>
      </p:sp>
      <p:graphicFrame>
        <p:nvGraphicFramePr>
          <p:cNvPr id="10" name="Chart 0" descr=""/>
          <p:cNvGraphicFramePr/>
          <p:nvPr/>
        </p:nvGraphicFramePr>
        <p:xfrm>
          <a:off x="548640" y="2029968"/>
          <a:ext cx="6492240" cy="347472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7360920" y="1965960"/>
            <a:ext cx="4370832" cy="1143000"/>
          </a:xfrm>
          <a:prstGeom prst="roundRect">
            <a:avLst>
              <a:gd name="adj" fmla="val 8000"/>
            </a:avLst>
          </a:prstGeom>
          <a:solidFill>
            <a:srgbClr val="FFF5BF"/>
          </a:solidFill>
          <a:ln w="12700">
            <a:solidFill>
              <a:srgbClr val="FFF5BF"/>
            </a:solidFill>
            <a:prstDash val="solid"/>
          </a:ln>
        </p:spPr>
        <p:txBody>
          <a:bodyPr/>
          <a:p/>
        </p:txBody>
      </p:sp>
      <p:sp>
        <p:nvSpPr>
          <p:cNvPr id="12" name="Text 9"/>
          <p:cNvSpPr txBox="1"/>
          <p:nvPr/>
        </p:nvSpPr>
        <p:spPr>
          <a:xfrm>
            <a:off x="7543800" y="2075688"/>
            <a:ext cx="4023360" cy="201168"/>
          </a:xfrm>
          <a:prstGeom prst="rect">
            <a:avLst/>
          </a:prstGeom>
          <a:noFill/>
          <a:ln/>
        </p:spPr>
        <p:txBody>
          <a:bodyPr wrap="square" lIns="0" tIns="0" rIns="0" bIns="0" rtlCol="0" anchor="t"/>
          <a:lstStyle/>
          <a:p>
            <a:pPr indent="0" marL="0">
              <a:lnSpc>
                <a:spcPct val="105000"/>
              </a:lnSpc>
              <a:buNone/>
            </a:pPr>
            <a:r>
              <a:rPr lang="en-US" sz="700" b="1" spc="50" kern="0" dirty="0">
                <a:solidFill>
                  <a:srgbClr val="8A6D00"/>
                </a:solidFill>
                <a:latin typeface="Arial" pitchFamily="34" charset="0"/>
                <a:ea typeface="Arial" pitchFamily="34" charset="-122"/>
                <a:cs typeface="Arial" pitchFamily="34" charset="-120"/>
              </a:rPr>
              <a:t>POURQUOI LES RÉSULTATS SONT MOINS BONS AUX ACHATS</a:t>
            </a:r>
          </a:p>
        </p:txBody>
      </p:sp>
      <p:sp>
        <p:nvSpPr>
          <p:cNvPr id="13" name="Text 10"/>
          <p:cNvSpPr txBox="1"/>
          <p:nvPr/>
        </p:nvSpPr>
        <p:spPr>
          <a:xfrm>
            <a:off x="7543800" y="2295144"/>
            <a:ext cx="4023360" cy="77724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Pour la revue Achats, les agents utilisant Luna ou DeepSeek prennent la bonne décision dans 96 à 97 % des cas. Pourtant, seules 33 à 43 % des revues passent tous les tests : les agents citent un tableur que le programme de notation n’accepte pas comme source.</a:t>
            </a:r>
          </a:p>
        </p:txBody>
      </p:sp>
      <p:sp>
        <p:nvSpPr>
          <p:cNvPr id="14" name="Shape 11"/>
          <p:cNvSpPr/>
          <p:nvPr/>
        </p:nvSpPr>
        <p:spPr>
          <a:xfrm>
            <a:off x="7360920" y="3223260"/>
            <a:ext cx="4370832" cy="1143000"/>
          </a:xfrm>
          <a:prstGeom prst="roundRect">
            <a:avLst>
              <a:gd name="adj" fmla="val 8000"/>
            </a:avLst>
          </a:prstGeom>
          <a:solidFill>
            <a:srgbClr val="FFE4E6"/>
          </a:solidFill>
          <a:ln w="12700">
            <a:solidFill>
              <a:srgbClr val="FFE4E6"/>
            </a:solidFill>
            <a:prstDash val="solid"/>
          </a:ln>
        </p:spPr>
        <p:txBody>
          <a:bodyPr/>
          <a:p/>
        </p:txBody>
      </p:sp>
      <p:sp>
        <p:nvSpPr>
          <p:cNvPr id="15" name="Text 12"/>
          <p:cNvSpPr txBox="1"/>
          <p:nvPr/>
        </p:nvSpPr>
        <p:spPr>
          <a:xfrm>
            <a:off x="7543800" y="3332988"/>
            <a:ext cx="402336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C8283E"/>
                </a:solidFill>
                <a:latin typeface="Arial" pitchFamily="34" charset="0"/>
                <a:ea typeface="Arial" pitchFamily="34" charset="-122"/>
                <a:cs typeface="Arial" pitchFamily="34" charset="-120"/>
              </a:rPr>
              <a:t>TRÈS PEU DE PROJETS APPROUVÉS À TORT</a:t>
            </a:r>
          </a:p>
        </p:txBody>
      </p:sp>
      <p:sp>
        <p:nvSpPr>
          <p:cNvPr id="16" name="Text 13"/>
          <p:cNvSpPr txBox="1"/>
          <p:nvPr/>
        </p:nvSpPr>
        <p:spPr>
          <a:xfrm>
            <a:off x="7543800" y="3552444"/>
            <a:ext cx="4023360" cy="77724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Sur environ 5 100 revues, aucun projet non conforme n’a été approuvé à tort avec Gemini. Il y a eu une telle erreur avec Luna et une avec DeepSeek.</a:t>
            </a:r>
          </a:p>
        </p:txBody>
      </p:sp>
      <p:sp>
        <p:nvSpPr>
          <p:cNvPr id="17" name="Shape 14"/>
          <p:cNvSpPr/>
          <p:nvPr/>
        </p:nvSpPr>
        <p:spPr>
          <a:xfrm>
            <a:off x="7360920" y="4480560"/>
            <a:ext cx="4370832" cy="1143000"/>
          </a:xfrm>
          <a:prstGeom prst="roundRect">
            <a:avLst>
              <a:gd name="adj" fmla="val 8000"/>
            </a:avLst>
          </a:prstGeom>
          <a:solidFill>
            <a:srgbClr val="E5F6E9"/>
          </a:solidFill>
          <a:ln w="12700">
            <a:solidFill>
              <a:srgbClr val="E5F6E9"/>
            </a:solidFill>
            <a:prstDash val="solid"/>
          </a:ln>
        </p:spPr>
        <p:txBody>
          <a:bodyPr/>
          <a:p/>
        </p:txBody>
      </p:sp>
      <p:sp>
        <p:nvSpPr>
          <p:cNvPr id="18" name="Text 15"/>
          <p:cNvSpPr txBox="1"/>
          <p:nvPr/>
        </p:nvSpPr>
        <p:spPr>
          <a:xfrm>
            <a:off x="7543800" y="4590288"/>
            <a:ext cx="402336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LES RÉSULTATS CHANGENT SELON LA REVUE</a:t>
            </a:r>
          </a:p>
        </p:txBody>
      </p:sp>
      <p:sp>
        <p:nvSpPr>
          <p:cNvPr id="19" name="Text 16"/>
          <p:cNvSpPr txBox="1"/>
          <p:nvPr/>
        </p:nvSpPr>
        <p:spPr>
          <a:xfrm>
            <a:off x="7543800" y="4809744"/>
            <a:ext cx="4023360" cy="77724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Luna obtient de meilleurs résultats que Gemini en Architecture technique et en Préparation à l’exploitation, mais de moins bons résultats aux Achats et en Validation finale. Aucun modèle ne devance les autres dans tous les domaines.</a:t>
            </a:r>
          </a:p>
        </p:txBody>
      </p:sp>
      <p:sp>
        <p:nvSpPr>
          <p:cNvPr id="20" name="Shape 17"/>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1" name="Image 0"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22" name="Text 18"/>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Dans ces tests, les agents prennent généralement la bonne décision. </a:t>
            </a:r>
            <a:r>
              <a:rPr lang="en-US" sz="1150" dirty="0">
                <a:solidFill>
                  <a:srgbClr val="252A3D"/>
                </a:solidFill>
                <a:latin typeface="Arial" pitchFamily="34" charset="0"/>
                <a:ea typeface="Arial" pitchFamily="34" charset="-122"/>
                <a:cs typeface="Arial" pitchFamily="34" charset="-120"/>
              </a:rPr>
              <a:t>Il reste surtout à mieux retrouver et recopier les passages qui justifient leurs conclusions.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L’EXPÉRIENCE · DEUX EXEMPLES TIRÉS DES TESTS</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Deux exemples concrets</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300" dirty="0">
                <a:solidFill>
                  <a:srgbClr val="5B6575"/>
                </a:solidFill>
                <a:latin typeface="Arial" pitchFamily="34" charset="0"/>
                <a:ea typeface="Arial" pitchFamily="34" charset="-122"/>
                <a:cs typeface="Arial" pitchFamily="34" charset="-120"/>
              </a:rPr>
              <a:t>Dans le premier cas, la revue réussit tous les tests. Dans le second, la décision est bonne, mais une citation incorrecte fait échouer la revue.</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17 / 30</a:t>
            </a:r>
            <a:endParaRPr lang="en-US" sz="1000" dirty="0"/>
          </a:p>
        </p:txBody>
      </p:sp>
      <p:sp>
        <p:nvSpPr>
          <p:cNvPr id="9" name="Shape 7"/>
          <p:cNvSpPr/>
          <p:nvPr/>
        </p:nvSpPr>
        <p:spPr>
          <a:xfrm>
            <a:off x="457200" y="1965960"/>
            <a:ext cx="5532120" cy="3611880"/>
          </a:xfrm>
          <a:prstGeom prst="roundRect">
            <a:avLst>
              <a:gd name="adj" fmla="val 2532"/>
            </a:avLst>
          </a:prstGeom>
          <a:solidFill>
            <a:srgbClr val="E5F6E9"/>
          </a:solidFill>
          <a:ln w="12700">
            <a:solidFill>
              <a:srgbClr val="E5F6E9"/>
            </a:solidFill>
            <a:prstDash val="solid"/>
          </a:ln>
        </p:spPr>
        <p:txBody>
          <a:bodyPr/>
          <a:p/>
        </p:txBody>
      </p:sp>
      <p:sp>
        <p:nvSpPr>
          <p:cNvPr id="10" name="Text 8"/>
          <p:cNvSpPr txBox="1"/>
          <p:nvPr/>
        </p:nvSpPr>
        <p:spPr>
          <a:xfrm>
            <a:off x="658368" y="2103120"/>
            <a:ext cx="51206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PROJET FALCON · PORTAIL RH · TEST RÉUSSI</a:t>
            </a:r>
          </a:p>
        </p:txBody>
      </p:sp>
      <p:sp>
        <p:nvSpPr>
          <p:cNvPr id="11" name="Text 9"/>
          <p:cNvSpPr txBox="1"/>
          <p:nvPr/>
        </p:nvSpPr>
        <p:spPr>
          <a:xfrm>
            <a:off x="658368" y="2395728"/>
            <a:ext cx="5120640" cy="219456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Lors de la revue Préparation à l’exploitation, l’agent découvre que le document expliquant comment exploiter le système, le runbook, est encore à l’état de brouillon.</a:t>
            </a:r>
          </a:p>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Il demande de terminer ce document et cite le passage qui montre qu’il n’est pas finalisé.</a:t>
            </a:r>
          </a:p>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Le système autorise l’agent à approuver le projet sous conditions.</a:t>
            </a:r>
          </a:p>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L’agent répond : APPROUVÉ SOUS CONDITIONS.</a:t>
            </a:r>
          </a:p>
        </p:txBody>
      </p:sp>
      <p:sp>
        <p:nvSpPr>
          <p:cNvPr id="12" name="Shape 10"/>
          <p:cNvSpPr/>
          <p:nvPr/>
        </p:nvSpPr>
        <p:spPr>
          <a:xfrm>
            <a:off x="658368" y="4663440"/>
            <a:ext cx="5129784" cy="777240"/>
          </a:xfrm>
          <a:prstGeom prst="roundRect">
            <a:avLst>
              <a:gd name="adj" fmla="val 11765"/>
            </a:avLst>
          </a:prstGeom>
          <a:solidFill>
            <a:srgbClr val="FFFFFF"/>
          </a:solidFill>
          <a:ln w="12700">
            <a:solidFill>
              <a:srgbClr val="FFFFFF"/>
            </a:solidFill>
            <a:prstDash val="solid"/>
          </a:ln>
        </p:spPr>
        <p:txBody>
          <a:bodyPr/>
          <a:p/>
        </p:txBody>
      </p:sp>
      <p:sp>
        <p:nvSpPr>
          <p:cNvPr id="13" name="Text 11"/>
          <p:cNvSpPr txBox="1"/>
          <p:nvPr/>
        </p:nvSpPr>
        <p:spPr>
          <a:xfrm>
            <a:off x="804672" y="4663440"/>
            <a:ext cx="4846320" cy="777240"/>
          </a:xfrm>
          <a:prstGeom prst="rect">
            <a:avLst/>
          </a:prstGeom>
          <a:noFill/>
          <a:ln/>
        </p:spPr>
        <p:txBody>
          <a:bodyPr wrap="square" lIns="0" tIns="0" rIns="0" bIns="0" rtlCol="0" anchor="ctr"/>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C’est bien la réponse prévue pour ce dossier. </a:t>
            </a:r>
            <a:r>
              <a:rPr lang="en-US" sz="1000" dirty="0">
                <a:solidFill>
                  <a:srgbClr val="252A3D"/>
                </a:solidFill>
                <a:latin typeface="Arial" pitchFamily="34" charset="0"/>
                <a:ea typeface="Arial" pitchFamily="34" charset="-122"/>
                <a:cs typeface="Arial" pitchFamily="34" charset="-120"/>
              </a:rPr>
              <a:t>Chacun des trois modèles a permis à l’agent de réussir les tests des cinq revues de Falcon.</a:t>
            </a:r>
          </a:p>
        </p:txBody>
      </p:sp>
      <p:sp>
        <p:nvSpPr>
          <p:cNvPr id="14" name="Shape 12"/>
          <p:cNvSpPr/>
          <p:nvPr/>
        </p:nvSpPr>
        <p:spPr>
          <a:xfrm>
            <a:off x="6199632" y="1965960"/>
            <a:ext cx="5532120" cy="3611880"/>
          </a:xfrm>
          <a:prstGeom prst="roundRect">
            <a:avLst>
              <a:gd name="adj" fmla="val 2532"/>
            </a:avLst>
          </a:prstGeom>
          <a:solidFill>
            <a:srgbClr val="FFE4E6"/>
          </a:solidFill>
          <a:ln w="12700">
            <a:solidFill>
              <a:srgbClr val="FFE4E6"/>
            </a:solidFill>
            <a:prstDash val="solid"/>
          </a:ln>
        </p:spPr>
        <p:txBody>
          <a:bodyPr/>
          <a:p/>
        </p:txBody>
      </p:sp>
      <p:sp>
        <p:nvSpPr>
          <p:cNvPr id="15" name="Text 13"/>
          <p:cNvSpPr txBox="1"/>
          <p:nvPr/>
        </p:nvSpPr>
        <p:spPr>
          <a:xfrm>
            <a:off x="6400800" y="2103120"/>
            <a:ext cx="5120640" cy="201168"/>
          </a:xfrm>
          <a:prstGeom prst="rect">
            <a:avLst/>
          </a:prstGeom>
          <a:noFill/>
          <a:ln/>
        </p:spPr>
        <p:txBody>
          <a:bodyPr wrap="square" lIns="0" tIns="0" rIns="0" bIns="0" rtlCol="0" anchor="t"/>
          <a:lstStyle/>
          <a:p>
            <a:pPr indent="0" marL="0">
              <a:lnSpc>
                <a:spcPct val="105000"/>
              </a:lnSpc>
              <a:buNone/>
            </a:pPr>
            <a:r>
              <a:rPr lang="en-US" sz="900" b="1" spc="50" kern="0" dirty="0">
                <a:solidFill>
                  <a:srgbClr val="C8283E"/>
                </a:solidFill>
                <a:latin typeface="Arial" pitchFamily="34" charset="0"/>
                <a:ea typeface="Arial" pitchFamily="34" charset="-122"/>
                <a:cs typeface="Arial" pitchFamily="34" charset="-120"/>
              </a:rPr>
              <a:t>PROJET MERIDIAN · BONNE DÉCISION, CITATION INCORRECTE</a:t>
            </a:r>
          </a:p>
        </p:txBody>
      </p:sp>
      <p:sp>
        <p:nvSpPr>
          <p:cNvPr id="16" name="Text 14"/>
          <p:cNvSpPr txBox="1"/>
          <p:nvPr/>
        </p:nvSpPr>
        <p:spPr>
          <a:xfrm>
            <a:off x="6400800" y="2395728"/>
            <a:ext cx="5120640" cy="219456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L’agent repère deux problèmes :</a:t>
            </a:r>
          </a:p>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la passerelle d’API n’est pas en place ;</a:t>
            </a:r>
          </a:p>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le temps de réponse de l’application est de 55 ms, alors qu’il ne doit pas dépasser 20 ms.</a:t>
            </a:r>
          </a:p>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Il demande de corriger ces deux problèmes et classe le projet À CORRIGER.</a:t>
            </a:r>
          </a:p>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Sa décision est correcte, mais il inverse l’ordre de deux informations dans une citation.</a:t>
            </a:r>
          </a:p>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Le test exige de reprendre le texte mot pour mot. La revue est donc considérée comme échouée.</a:t>
            </a:r>
          </a:p>
        </p:txBody>
      </p:sp>
      <p:sp>
        <p:nvSpPr>
          <p:cNvPr id="17" name="Shape 15"/>
          <p:cNvSpPr/>
          <p:nvPr/>
        </p:nvSpPr>
        <p:spPr>
          <a:xfrm>
            <a:off x="6400800" y="4663440"/>
            <a:ext cx="5129784" cy="777240"/>
          </a:xfrm>
          <a:prstGeom prst="roundRect">
            <a:avLst>
              <a:gd name="adj" fmla="val 11765"/>
            </a:avLst>
          </a:prstGeom>
          <a:solidFill>
            <a:srgbClr val="FFFFFF"/>
          </a:solidFill>
          <a:ln w="12700">
            <a:solidFill>
              <a:srgbClr val="FFFFFF"/>
            </a:solidFill>
            <a:prstDash val="solid"/>
          </a:ln>
        </p:spPr>
        <p:txBody>
          <a:bodyPr/>
          <a:p/>
        </p:txBody>
      </p:sp>
      <p:sp>
        <p:nvSpPr>
          <p:cNvPr id="18" name="Text 16"/>
          <p:cNvSpPr txBox="1"/>
          <p:nvPr/>
        </p:nvSpPr>
        <p:spPr>
          <a:xfrm>
            <a:off x="6547104" y="4663440"/>
            <a:ext cx="4846320" cy="777240"/>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L’agent a pourtant pris la bonne décision, repéré les bons problèmes et demandé les bonnes corrections. </a:t>
            </a:r>
            <a:r>
              <a:rPr lang="en-US" sz="900" dirty="0">
                <a:solidFill>
                  <a:srgbClr val="252A3D"/>
                </a:solidFill>
                <a:latin typeface="Arial" pitchFamily="34" charset="0"/>
                <a:ea typeface="Arial" pitchFamily="34" charset="-122"/>
                <a:cs typeface="Arial" pitchFamily="34" charset="-120"/>
              </a:rPr>
              <a:t>La revue échoue uniquement parce qu’une citation n’est pas exacte.</a:t>
            </a:r>
          </a:p>
        </p:txBody>
      </p:sp>
      <p:sp>
        <p:nvSpPr>
          <p:cNvPr id="19" name="Shape 17"/>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0"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21" name="Text 18"/>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Dans cet exemple, le raisonnement de l’agent n’est pas en cause. </a:t>
            </a:r>
            <a:r>
              <a:rPr lang="en-US" sz="1150" dirty="0">
                <a:solidFill>
                  <a:srgbClr val="252A3D"/>
                </a:solidFill>
                <a:latin typeface="Arial" pitchFamily="34" charset="0"/>
                <a:ea typeface="Arial" pitchFamily="34" charset="-122"/>
                <a:cs typeface="Arial" pitchFamily="34" charset="-120"/>
              </a:rPr>
              <a:t>Il faudrait relier automatiquement chaque problème au passage exact qui permet de le constater.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L’EXPÉRIENCE · QUE SE PASSE-T-IL QUAND ON REFAIT LES TESTS ?</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500" b="1" dirty="0">
                <a:solidFill>
                  <a:srgbClr val="252A3D"/>
                </a:solidFill>
                <a:latin typeface="Arial" pitchFamily="34" charset="0"/>
                <a:ea typeface="Arial" pitchFamily="34" charset="-122"/>
                <a:cs typeface="Arial" pitchFamily="34" charset="-120"/>
              </a:rPr>
              <a:t>L’agent réussit-il encore quand on refait le test ?</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Sur le même dossier, l’agent peut réussir un essai et échouer au suivant.</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18 / 30</a:t>
            </a:r>
            <a:endParaRPr lang="en-US" sz="1000" dirty="0"/>
          </a:p>
        </p:txBody>
      </p:sp>
      <p:sp>
        <p:nvSpPr>
          <p:cNvPr id="9" name="Shape 7"/>
          <p:cNvSpPr/>
          <p:nvPr/>
        </p:nvSpPr>
        <p:spPr>
          <a:xfrm>
            <a:off x="457200" y="1965960"/>
            <a:ext cx="2084832" cy="3611880"/>
          </a:xfrm>
          <a:prstGeom prst="roundRect">
            <a:avLst>
              <a:gd name="adj" fmla="val 4386"/>
            </a:avLst>
          </a:prstGeom>
          <a:solidFill>
            <a:srgbClr val="DDF5FC"/>
          </a:solidFill>
          <a:ln w="12700">
            <a:solidFill>
              <a:srgbClr val="DDF5FC"/>
            </a:solidFill>
            <a:prstDash val="solid"/>
          </a:ln>
        </p:spPr>
        <p:txBody>
          <a:bodyPr/>
          <a:p/>
        </p:txBody>
      </p:sp>
      <p:sp>
        <p:nvSpPr>
          <p:cNvPr id="10" name="Text 8"/>
          <p:cNvSpPr txBox="1"/>
          <p:nvPr/>
        </p:nvSpPr>
        <p:spPr>
          <a:xfrm>
            <a:off x="603504" y="2112264"/>
            <a:ext cx="1792224" cy="256032"/>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Gemini 3.8 Flash</a:t>
            </a:r>
            <a:endParaRPr lang="en-US" sz="1150" dirty="0"/>
          </a:p>
        </p:txBody>
      </p:sp>
      <p:sp>
        <p:nvSpPr>
          <p:cNvPr id="11" name="Text 9"/>
          <p:cNvSpPr txBox="1"/>
          <p:nvPr/>
        </p:nvSpPr>
        <p:spPr>
          <a:xfrm>
            <a:off x="603504" y="2468880"/>
            <a:ext cx="1792224" cy="457200"/>
          </a:xfrm>
          <a:prstGeom prst="rect">
            <a:avLst/>
          </a:prstGeom>
          <a:noFill/>
          <a:ln/>
        </p:spPr>
        <p:txBody>
          <a:bodyPr wrap="square" lIns="0" tIns="0" rIns="0" bIns="0" rtlCol="0" anchor="t"/>
          <a:lstStyle/>
          <a:p>
            <a:pPr indent="0" marL="0">
              <a:lnSpc>
                <a:spcPct val="105000"/>
              </a:lnSpc>
              <a:buNone/>
            </a:pPr>
            <a:r>
              <a:rPr lang="en-US" sz="2400" b="1" dirty="0">
                <a:solidFill>
                  <a:srgbClr val="252A3D"/>
                </a:solidFill>
                <a:latin typeface="Arial" pitchFamily="34" charset="0"/>
                <a:ea typeface="Arial" pitchFamily="34" charset="-122"/>
                <a:cs typeface="Arial" pitchFamily="34" charset="-120"/>
              </a:rPr>
              <a:t>9 sur 15</a:t>
            </a:r>
            <a:endParaRPr lang="en-US" sz="2400" dirty="0"/>
          </a:p>
        </p:txBody>
      </p:sp>
      <p:sp>
        <p:nvSpPr>
          <p:cNvPr id="12" name="Text 10"/>
          <p:cNvSpPr txBox="1"/>
          <p:nvPr/>
        </p:nvSpPr>
        <p:spPr>
          <a:xfrm>
            <a:off x="603504" y="2944368"/>
            <a:ext cx="1792224" cy="365760"/>
          </a:xfrm>
          <a:prstGeom prst="rect">
            <a:avLst/>
          </a:prstGeom>
          <a:noFill/>
          <a:ln/>
        </p:spPr>
        <p:txBody>
          <a:bodyPr wrap="square" lIns="0" tIns="0" rIns="0" bIns="0" rtlCol="0" anchor="t"/>
          <a:lstStyle/>
          <a:p>
            <a:pPr indent="0" marL="0">
              <a:lnSpc>
                <a:spcPct val="105000"/>
              </a:lnSpc>
              <a:buNone/>
            </a:pPr>
            <a:r>
              <a:rPr lang="en-US" sz="700" dirty="0">
                <a:solidFill>
                  <a:srgbClr val="5B6575"/>
                </a:solidFill>
                <a:latin typeface="Arial" pitchFamily="34" charset="0"/>
                <a:ea typeface="Arial" pitchFamily="34" charset="-122"/>
                <a:cs typeface="Arial" pitchFamily="34" charset="-120"/>
              </a:rPr>
              <a:t>projets dont toutes les revues ont réussi lors de chacun des trois essais</a:t>
            </a:r>
          </a:p>
        </p:txBody>
      </p:sp>
      <p:sp>
        <p:nvSpPr>
          <p:cNvPr id="13" name="Text 11"/>
          <p:cNvSpPr txBox="1"/>
          <p:nvPr/>
        </p:nvSpPr>
        <p:spPr>
          <a:xfrm>
            <a:off x="603504" y="3429000"/>
            <a:ext cx="1792224" cy="457200"/>
          </a:xfrm>
          <a:prstGeom prst="rect">
            <a:avLst/>
          </a:prstGeom>
          <a:noFill/>
          <a:ln/>
        </p:spPr>
        <p:txBody>
          <a:bodyPr wrap="square" lIns="0" tIns="0" rIns="0" bIns="0" rtlCol="0" anchor="t"/>
          <a:lstStyle/>
          <a:p>
            <a:pPr indent="0" marL="0">
              <a:lnSpc>
                <a:spcPct val="105000"/>
              </a:lnSpc>
              <a:buNone/>
            </a:pPr>
            <a:r>
              <a:rPr lang="en-US" sz="2400" b="1" dirty="0">
                <a:solidFill>
                  <a:srgbClr val="252A3D"/>
                </a:solidFill>
                <a:latin typeface="Arial" pitchFamily="34" charset="0"/>
                <a:ea typeface="Arial" pitchFamily="34" charset="-122"/>
                <a:cs typeface="Arial" pitchFamily="34" charset="-120"/>
              </a:rPr>
              <a:t>35 sur 45</a:t>
            </a:r>
            <a:endParaRPr lang="en-US" sz="2400" dirty="0"/>
          </a:p>
        </p:txBody>
      </p:sp>
      <p:sp>
        <p:nvSpPr>
          <p:cNvPr id="14" name="Text 12"/>
          <p:cNvSpPr txBox="1"/>
          <p:nvPr/>
        </p:nvSpPr>
        <p:spPr>
          <a:xfrm>
            <a:off x="603504" y="3904488"/>
            <a:ext cx="1792224" cy="365760"/>
          </a:xfrm>
          <a:prstGeom prst="rect">
            <a:avLst/>
          </a:prstGeom>
          <a:noFill/>
          <a:ln/>
        </p:spPr>
        <p:txBody>
          <a:bodyPr wrap="square" lIns="0" tIns="0" rIns="0" bIns="0" rtlCol="0" anchor="t"/>
          <a:lstStyle/>
          <a:p>
            <a:pPr indent="0" marL="0">
              <a:lnSpc>
                <a:spcPct val="105000"/>
              </a:lnSpc>
              <a:buNone/>
            </a:pPr>
            <a:r>
              <a:rPr lang="en-US" sz="850" dirty="0">
                <a:solidFill>
                  <a:srgbClr val="5B6575"/>
                </a:solidFill>
                <a:latin typeface="Arial" pitchFamily="34" charset="0"/>
                <a:ea typeface="Arial" pitchFamily="34" charset="-122"/>
                <a:cs typeface="Arial" pitchFamily="34" charset="-120"/>
              </a:rPr>
              <a:t>essais où toutes les revues du projet ont réussi</a:t>
            </a:r>
          </a:p>
        </p:txBody>
      </p:sp>
      <p:sp>
        <p:nvSpPr>
          <p:cNvPr id="15" name="Text 13"/>
          <p:cNvSpPr txBox="1"/>
          <p:nvPr/>
        </p:nvSpPr>
        <p:spPr>
          <a:xfrm>
            <a:off x="603504" y="4389120"/>
            <a:ext cx="1792224" cy="365760"/>
          </a:xfrm>
          <a:prstGeom prst="rect">
            <a:avLst/>
          </a:prstGeom>
          <a:noFill/>
          <a:ln/>
        </p:spPr>
        <p:txBody>
          <a:bodyPr wrap="square" lIns="0" tIns="0" rIns="0" bIns="0" rtlCol="0" anchor="t"/>
          <a:lstStyle/>
          <a:p>
            <a:pPr indent="0" marL="0">
              <a:lnSpc>
                <a:spcPct val="105000"/>
              </a:lnSpc>
              <a:buNone/>
            </a:pPr>
            <a:r>
              <a:rPr lang="en-US" sz="1800" b="1" dirty="0">
                <a:solidFill>
                  <a:srgbClr val="252A3D"/>
                </a:solidFill>
                <a:latin typeface="Arial" pitchFamily="34" charset="0"/>
                <a:ea typeface="Arial" pitchFamily="34" charset="-122"/>
                <a:cs typeface="Arial" pitchFamily="34" charset="-120"/>
              </a:rPr>
              <a:t>96 %</a:t>
            </a:r>
            <a:endParaRPr lang="en-US" sz="1800" dirty="0"/>
          </a:p>
        </p:txBody>
      </p:sp>
      <p:sp>
        <p:nvSpPr>
          <p:cNvPr id="16" name="Text 14"/>
          <p:cNvSpPr txBox="1"/>
          <p:nvPr/>
        </p:nvSpPr>
        <p:spPr>
          <a:xfrm>
            <a:off x="603504" y="4764024"/>
            <a:ext cx="1792224" cy="365760"/>
          </a:xfrm>
          <a:prstGeom prst="rect">
            <a:avLst/>
          </a:prstGeom>
          <a:noFill/>
          <a:ln/>
        </p:spPr>
        <p:txBody>
          <a:bodyPr wrap="square" lIns="0" tIns="0" rIns="0" bIns="0" rtlCol="0" anchor="t"/>
          <a:lstStyle/>
          <a:p>
            <a:pPr indent="0" marL="0">
              <a:lnSpc>
                <a:spcPct val="105000"/>
              </a:lnSpc>
              <a:buNone/>
            </a:pPr>
            <a:r>
              <a:rPr lang="en-US" sz="850" dirty="0">
                <a:solidFill>
                  <a:srgbClr val="5B6575"/>
                </a:solidFill>
                <a:latin typeface="Arial" pitchFamily="34" charset="0"/>
                <a:ea typeface="Arial" pitchFamily="34" charset="-122"/>
                <a:cs typeface="Arial" pitchFamily="34" charset="-120"/>
              </a:rPr>
              <a:t>des revues ont réussi, tous nouveaux essais confondus</a:t>
            </a:r>
          </a:p>
        </p:txBody>
      </p:sp>
      <p:sp>
        <p:nvSpPr>
          <p:cNvPr id="17" name="Shape 15"/>
          <p:cNvSpPr/>
          <p:nvPr/>
        </p:nvSpPr>
        <p:spPr>
          <a:xfrm>
            <a:off x="2688336" y="1965960"/>
            <a:ext cx="2084832" cy="3611880"/>
          </a:xfrm>
          <a:prstGeom prst="roundRect">
            <a:avLst>
              <a:gd name="adj" fmla="val 4386"/>
            </a:avLst>
          </a:prstGeom>
          <a:solidFill>
            <a:srgbClr val="EFE8FA"/>
          </a:solidFill>
          <a:ln w="12700">
            <a:solidFill>
              <a:srgbClr val="EFE8FA"/>
            </a:solidFill>
            <a:prstDash val="solid"/>
          </a:ln>
        </p:spPr>
        <p:txBody>
          <a:bodyPr/>
          <a:p/>
        </p:txBody>
      </p:sp>
      <p:sp>
        <p:nvSpPr>
          <p:cNvPr id="18" name="Text 16"/>
          <p:cNvSpPr txBox="1"/>
          <p:nvPr/>
        </p:nvSpPr>
        <p:spPr>
          <a:xfrm>
            <a:off x="2834640" y="2112264"/>
            <a:ext cx="1792224" cy="256032"/>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GPT-5.6 Luna</a:t>
            </a:r>
            <a:endParaRPr lang="en-US" sz="1150" dirty="0"/>
          </a:p>
        </p:txBody>
      </p:sp>
      <p:sp>
        <p:nvSpPr>
          <p:cNvPr id="19" name="Text 17"/>
          <p:cNvSpPr txBox="1"/>
          <p:nvPr/>
        </p:nvSpPr>
        <p:spPr>
          <a:xfrm>
            <a:off x="2834640" y="2468880"/>
            <a:ext cx="1792224" cy="457200"/>
          </a:xfrm>
          <a:prstGeom prst="rect">
            <a:avLst/>
          </a:prstGeom>
          <a:noFill/>
          <a:ln/>
        </p:spPr>
        <p:txBody>
          <a:bodyPr wrap="square" lIns="0" tIns="0" rIns="0" bIns="0" rtlCol="0" anchor="t"/>
          <a:lstStyle/>
          <a:p>
            <a:pPr indent="0" marL="0">
              <a:lnSpc>
                <a:spcPct val="105000"/>
              </a:lnSpc>
              <a:buNone/>
            </a:pPr>
            <a:r>
              <a:rPr lang="en-US" sz="2400" b="1" dirty="0">
                <a:solidFill>
                  <a:srgbClr val="252A3D"/>
                </a:solidFill>
                <a:latin typeface="Arial" pitchFamily="34" charset="0"/>
                <a:ea typeface="Arial" pitchFamily="34" charset="-122"/>
                <a:cs typeface="Arial" pitchFamily="34" charset="-120"/>
              </a:rPr>
              <a:t>3 sur 15</a:t>
            </a:r>
            <a:endParaRPr lang="en-US" sz="2400" dirty="0"/>
          </a:p>
        </p:txBody>
      </p:sp>
      <p:sp>
        <p:nvSpPr>
          <p:cNvPr id="20" name="Text 18"/>
          <p:cNvSpPr txBox="1"/>
          <p:nvPr/>
        </p:nvSpPr>
        <p:spPr>
          <a:xfrm>
            <a:off x="2834640" y="2944368"/>
            <a:ext cx="1792224" cy="365760"/>
          </a:xfrm>
          <a:prstGeom prst="rect">
            <a:avLst/>
          </a:prstGeom>
          <a:noFill/>
          <a:ln/>
        </p:spPr>
        <p:txBody>
          <a:bodyPr wrap="square" lIns="0" tIns="0" rIns="0" bIns="0" rtlCol="0" anchor="t"/>
          <a:lstStyle/>
          <a:p>
            <a:pPr indent="0" marL="0">
              <a:lnSpc>
                <a:spcPct val="105000"/>
              </a:lnSpc>
              <a:buNone/>
            </a:pPr>
            <a:r>
              <a:rPr lang="en-US" sz="700" dirty="0">
                <a:solidFill>
                  <a:srgbClr val="5B6575"/>
                </a:solidFill>
                <a:latin typeface="Arial" pitchFamily="34" charset="0"/>
                <a:ea typeface="Arial" pitchFamily="34" charset="-122"/>
                <a:cs typeface="Arial" pitchFamily="34" charset="-120"/>
              </a:rPr>
              <a:t>projets dont toutes les revues ont réussi lors de chacun des trois essais</a:t>
            </a:r>
          </a:p>
        </p:txBody>
      </p:sp>
      <p:sp>
        <p:nvSpPr>
          <p:cNvPr id="21" name="Text 19"/>
          <p:cNvSpPr txBox="1"/>
          <p:nvPr/>
        </p:nvSpPr>
        <p:spPr>
          <a:xfrm>
            <a:off x="2834640" y="3429000"/>
            <a:ext cx="1792224" cy="457200"/>
          </a:xfrm>
          <a:prstGeom prst="rect">
            <a:avLst/>
          </a:prstGeom>
          <a:noFill/>
          <a:ln/>
        </p:spPr>
        <p:txBody>
          <a:bodyPr wrap="square" lIns="0" tIns="0" rIns="0" bIns="0" rtlCol="0" anchor="t"/>
          <a:lstStyle/>
          <a:p>
            <a:pPr indent="0" marL="0">
              <a:lnSpc>
                <a:spcPct val="105000"/>
              </a:lnSpc>
              <a:buNone/>
            </a:pPr>
            <a:r>
              <a:rPr lang="en-US" sz="2400" b="1" dirty="0">
                <a:solidFill>
                  <a:srgbClr val="252A3D"/>
                </a:solidFill>
                <a:latin typeface="Arial" pitchFamily="34" charset="0"/>
                <a:ea typeface="Arial" pitchFamily="34" charset="-122"/>
                <a:cs typeface="Arial" pitchFamily="34" charset="-120"/>
              </a:rPr>
              <a:t>19 sur 45</a:t>
            </a:r>
            <a:endParaRPr lang="en-US" sz="2400" dirty="0"/>
          </a:p>
        </p:txBody>
      </p:sp>
      <p:sp>
        <p:nvSpPr>
          <p:cNvPr id="22" name="Text 20"/>
          <p:cNvSpPr txBox="1"/>
          <p:nvPr/>
        </p:nvSpPr>
        <p:spPr>
          <a:xfrm>
            <a:off x="2834640" y="3904488"/>
            <a:ext cx="1792224" cy="365760"/>
          </a:xfrm>
          <a:prstGeom prst="rect">
            <a:avLst/>
          </a:prstGeom>
          <a:noFill/>
          <a:ln/>
        </p:spPr>
        <p:txBody>
          <a:bodyPr wrap="square" lIns="0" tIns="0" rIns="0" bIns="0" rtlCol="0" anchor="t"/>
          <a:lstStyle/>
          <a:p>
            <a:pPr indent="0" marL="0">
              <a:lnSpc>
                <a:spcPct val="105000"/>
              </a:lnSpc>
              <a:buNone/>
            </a:pPr>
            <a:r>
              <a:rPr lang="en-US" sz="850" dirty="0">
                <a:solidFill>
                  <a:srgbClr val="5B6575"/>
                </a:solidFill>
                <a:latin typeface="Arial" pitchFamily="34" charset="0"/>
                <a:ea typeface="Arial" pitchFamily="34" charset="-122"/>
                <a:cs typeface="Arial" pitchFamily="34" charset="-120"/>
              </a:rPr>
              <a:t>essais où toutes les revues du projet ont réussi</a:t>
            </a:r>
          </a:p>
        </p:txBody>
      </p:sp>
      <p:sp>
        <p:nvSpPr>
          <p:cNvPr id="23" name="Text 21"/>
          <p:cNvSpPr txBox="1"/>
          <p:nvPr/>
        </p:nvSpPr>
        <p:spPr>
          <a:xfrm>
            <a:off x="2834640" y="4389120"/>
            <a:ext cx="1792224" cy="365760"/>
          </a:xfrm>
          <a:prstGeom prst="rect">
            <a:avLst/>
          </a:prstGeom>
          <a:noFill/>
          <a:ln/>
        </p:spPr>
        <p:txBody>
          <a:bodyPr wrap="square" lIns="0" tIns="0" rIns="0" bIns="0" rtlCol="0" anchor="t"/>
          <a:lstStyle/>
          <a:p>
            <a:pPr indent="0" marL="0">
              <a:lnSpc>
                <a:spcPct val="105000"/>
              </a:lnSpc>
              <a:buNone/>
            </a:pPr>
            <a:r>
              <a:rPr lang="en-US" sz="1800" b="1" dirty="0">
                <a:solidFill>
                  <a:srgbClr val="252A3D"/>
                </a:solidFill>
                <a:latin typeface="Arial" pitchFamily="34" charset="0"/>
                <a:ea typeface="Arial" pitchFamily="34" charset="-122"/>
                <a:cs typeface="Arial" pitchFamily="34" charset="-120"/>
              </a:rPr>
              <a:t>83 %</a:t>
            </a:r>
            <a:endParaRPr lang="en-US" sz="1800" dirty="0"/>
          </a:p>
        </p:txBody>
      </p:sp>
      <p:sp>
        <p:nvSpPr>
          <p:cNvPr id="24" name="Text 22"/>
          <p:cNvSpPr txBox="1"/>
          <p:nvPr/>
        </p:nvSpPr>
        <p:spPr>
          <a:xfrm>
            <a:off x="2834640" y="4764024"/>
            <a:ext cx="1792224" cy="365760"/>
          </a:xfrm>
          <a:prstGeom prst="rect">
            <a:avLst/>
          </a:prstGeom>
          <a:noFill/>
          <a:ln/>
        </p:spPr>
        <p:txBody>
          <a:bodyPr wrap="square" lIns="0" tIns="0" rIns="0" bIns="0" rtlCol="0" anchor="t"/>
          <a:lstStyle/>
          <a:p>
            <a:pPr indent="0" marL="0">
              <a:lnSpc>
                <a:spcPct val="105000"/>
              </a:lnSpc>
              <a:buNone/>
            </a:pPr>
            <a:r>
              <a:rPr lang="en-US" sz="850" dirty="0">
                <a:solidFill>
                  <a:srgbClr val="5B6575"/>
                </a:solidFill>
                <a:latin typeface="Arial" pitchFamily="34" charset="0"/>
                <a:ea typeface="Arial" pitchFamily="34" charset="-122"/>
                <a:cs typeface="Arial" pitchFamily="34" charset="-120"/>
              </a:rPr>
              <a:t>des revues ont réussi, tous nouveaux essais confondus</a:t>
            </a:r>
          </a:p>
        </p:txBody>
      </p:sp>
      <p:sp>
        <p:nvSpPr>
          <p:cNvPr id="25" name="Shape 23"/>
          <p:cNvSpPr/>
          <p:nvPr/>
        </p:nvSpPr>
        <p:spPr>
          <a:xfrm>
            <a:off x="4919472" y="1965960"/>
            <a:ext cx="2084832" cy="3611880"/>
          </a:xfrm>
          <a:prstGeom prst="roundRect">
            <a:avLst>
              <a:gd name="adj" fmla="val 4386"/>
            </a:avLst>
          </a:prstGeom>
          <a:solidFill>
            <a:srgbClr val="FFF5BF"/>
          </a:solidFill>
          <a:ln w="12700">
            <a:solidFill>
              <a:srgbClr val="FFF5BF"/>
            </a:solidFill>
            <a:prstDash val="solid"/>
          </a:ln>
        </p:spPr>
        <p:txBody>
          <a:bodyPr/>
          <a:p/>
        </p:txBody>
      </p:sp>
      <p:sp>
        <p:nvSpPr>
          <p:cNvPr id="26" name="Text 24"/>
          <p:cNvSpPr txBox="1"/>
          <p:nvPr/>
        </p:nvSpPr>
        <p:spPr>
          <a:xfrm>
            <a:off x="5065776" y="2112264"/>
            <a:ext cx="1792224" cy="256032"/>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DeepSeek v4.1 Flash</a:t>
            </a:r>
            <a:endParaRPr lang="en-US" sz="1150" dirty="0"/>
          </a:p>
        </p:txBody>
      </p:sp>
      <p:sp>
        <p:nvSpPr>
          <p:cNvPr id="27" name="Text 25"/>
          <p:cNvSpPr txBox="1"/>
          <p:nvPr/>
        </p:nvSpPr>
        <p:spPr>
          <a:xfrm>
            <a:off x="5065776" y="2468880"/>
            <a:ext cx="1792224" cy="457200"/>
          </a:xfrm>
          <a:prstGeom prst="rect">
            <a:avLst/>
          </a:prstGeom>
          <a:noFill/>
          <a:ln/>
        </p:spPr>
        <p:txBody>
          <a:bodyPr wrap="square" lIns="0" tIns="0" rIns="0" bIns="0" rtlCol="0" anchor="t"/>
          <a:lstStyle/>
          <a:p>
            <a:pPr indent="0" marL="0">
              <a:lnSpc>
                <a:spcPct val="105000"/>
              </a:lnSpc>
              <a:buNone/>
            </a:pPr>
            <a:r>
              <a:rPr lang="en-US" sz="2400" b="1" dirty="0">
                <a:solidFill>
                  <a:srgbClr val="C8283E"/>
                </a:solidFill>
                <a:latin typeface="Arial" pitchFamily="34" charset="0"/>
                <a:ea typeface="Arial" pitchFamily="34" charset="-122"/>
                <a:cs typeface="Arial" pitchFamily="34" charset="-120"/>
              </a:rPr>
              <a:t>0 sur 15</a:t>
            </a:r>
            <a:endParaRPr lang="en-US" sz="2400" dirty="0"/>
          </a:p>
        </p:txBody>
      </p:sp>
      <p:sp>
        <p:nvSpPr>
          <p:cNvPr id="28" name="Text 26"/>
          <p:cNvSpPr txBox="1"/>
          <p:nvPr/>
        </p:nvSpPr>
        <p:spPr>
          <a:xfrm>
            <a:off x="5065776" y="2944368"/>
            <a:ext cx="1792224" cy="365760"/>
          </a:xfrm>
          <a:prstGeom prst="rect">
            <a:avLst/>
          </a:prstGeom>
          <a:noFill/>
          <a:ln/>
        </p:spPr>
        <p:txBody>
          <a:bodyPr wrap="square" lIns="0" tIns="0" rIns="0" bIns="0" rtlCol="0" anchor="t"/>
          <a:lstStyle/>
          <a:p>
            <a:pPr indent="0" marL="0">
              <a:lnSpc>
                <a:spcPct val="105000"/>
              </a:lnSpc>
              <a:buNone/>
            </a:pPr>
            <a:r>
              <a:rPr lang="en-US" sz="700" dirty="0">
                <a:solidFill>
                  <a:srgbClr val="5B6575"/>
                </a:solidFill>
                <a:latin typeface="Arial" pitchFamily="34" charset="0"/>
                <a:ea typeface="Arial" pitchFamily="34" charset="-122"/>
                <a:cs typeface="Arial" pitchFamily="34" charset="-120"/>
              </a:rPr>
              <a:t>projets dont toutes les revues ont réussi lors de chacun des trois essais</a:t>
            </a:r>
          </a:p>
        </p:txBody>
      </p:sp>
      <p:sp>
        <p:nvSpPr>
          <p:cNvPr id="29" name="Text 27"/>
          <p:cNvSpPr txBox="1"/>
          <p:nvPr/>
        </p:nvSpPr>
        <p:spPr>
          <a:xfrm>
            <a:off x="5065776" y="3429000"/>
            <a:ext cx="1792224" cy="457200"/>
          </a:xfrm>
          <a:prstGeom prst="rect">
            <a:avLst/>
          </a:prstGeom>
          <a:noFill/>
          <a:ln/>
        </p:spPr>
        <p:txBody>
          <a:bodyPr wrap="square" lIns="0" tIns="0" rIns="0" bIns="0" rtlCol="0" anchor="t"/>
          <a:lstStyle/>
          <a:p>
            <a:pPr indent="0" marL="0">
              <a:lnSpc>
                <a:spcPct val="105000"/>
              </a:lnSpc>
              <a:buNone/>
            </a:pPr>
            <a:r>
              <a:rPr lang="en-US" sz="2400" b="1" dirty="0">
                <a:solidFill>
                  <a:srgbClr val="252A3D"/>
                </a:solidFill>
                <a:latin typeface="Arial" pitchFamily="34" charset="0"/>
                <a:ea typeface="Arial" pitchFamily="34" charset="-122"/>
                <a:cs typeface="Arial" pitchFamily="34" charset="-120"/>
              </a:rPr>
              <a:t>11 sur 45</a:t>
            </a:r>
            <a:endParaRPr lang="en-US" sz="2400" dirty="0"/>
          </a:p>
        </p:txBody>
      </p:sp>
      <p:sp>
        <p:nvSpPr>
          <p:cNvPr id="30" name="Text 28"/>
          <p:cNvSpPr txBox="1"/>
          <p:nvPr/>
        </p:nvSpPr>
        <p:spPr>
          <a:xfrm>
            <a:off x="5065776" y="3904488"/>
            <a:ext cx="1792224" cy="365760"/>
          </a:xfrm>
          <a:prstGeom prst="rect">
            <a:avLst/>
          </a:prstGeom>
          <a:noFill/>
          <a:ln/>
        </p:spPr>
        <p:txBody>
          <a:bodyPr wrap="square" lIns="0" tIns="0" rIns="0" bIns="0" rtlCol="0" anchor="t"/>
          <a:lstStyle/>
          <a:p>
            <a:pPr indent="0" marL="0">
              <a:lnSpc>
                <a:spcPct val="105000"/>
              </a:lnSpc>
              <a:buNone/>
            </a:pPr>
            <a:r>
              <a:rPr lang="en-US" sz="850" dirty="0">
                <a:solidFill>
                  <a:srgbClr val="5B6575"/>
                </a:solidFill>
                <a:latin typeface="Arial" pitchFamily="34" charset="0"/>
                <a:ea typeface="Arial" pitchFamily="34" charset="-122"/>
                <a:cs typeface="Arial" pitchFamily="34" charset="-120"/>
              </a:rPr>
              <a:t>essais où toutes les revues du projet ont réussi</a:t>
            </a:r>
          </a:p>
        </p:txBody>
      </p:sp>
      <p:sp>
        <p:nvSpPr>
          <p:cNvPr id="31" name="Text 29"/>
          <p:cNvSpPr txBox="1"/>
          <p:nvPr/>
        </p:nvSpPr>
        <p:spPr>
          <a:xfrm>
            <a:off x="5065776" y="4389120"/>
            <a:ext cx="1792224" cy="365760"/>
          </a:xfrm>
          <a:prstGeom prst="rect">
            <a:avLst/>
          </a:prstGeom>
          <a:noFill/>
          <a:ln/>
        </p:spPr>
        <p:txBody>
          <a:bodyPr wrap="square" lIns="0" tIns="0" rIns="0" bIns="0" rtlCol="0" anchor="t"/>
          <a:lstStyle/>
          <a:p>
            <a:pPr indent="0" marL="0">
              <a:lnSpc>
                <a:spcPct val="105000"/>
              </a:lnSpc>
              <a:buNone/>
            </a:pPr>
            <a:r>
              <a:rPr lang="en-US" sz="1800" b="1" dirty="0">
                <a:solidFill>
                  <a:srgbClr val="252A3D"/>
                </a:solidFill>
                <a:latin typeface="Arial" pitchFamily="34" charset="0"/>
                <a:ea typeface="Arial" pitchFamily="34" charset="-122"/>
                <a:cs typeface="Arial" pitchFamily="34" charset="-120"/>
              </a:rPr>
              <a:t>73 %</a:t>
            </a:r>
            <a:endParaRPr lang="en-US" sz="1800" dirty="0"/>
          </a:p>
        </p:txBody>
      </p:sp>
      <p:sp>
        <p:nvSpPr>
          <p:cNvPr id="32" name="Text 30"/>
          <p:cNvSpPr txBox="1"/>
          <p:nvPr/>
        </p:nvSpPr>
        <p:spPr>
          <a:xfrm>
            <a:off x="5065776" y="4764024"/>
            <a:ext cx="1792224" cy="365760"/>
          </a:xfrm>
          <a:prstGeom prst="rect">
            <a:avLst/>
          </a:prstGeom>
          <a:noFill/>
          <a:ln/>
        </p:spPr>
        <p:txBody>
          <a:bodyPr wrap="square" lIns="0" tIns="0" rIns="0" bIns="0" rtlCol="0" anchor="t"/>
          <a:lstStyle/>
          <a:p>
            <a:pPr indent="0" marL="0">
              <a:lnSpc>
                <a:spcPct val="105000"/>
              </a:lnSpc>
              <a:buNone/>
            </a:pPr>
            <a:r>
              <a:rPr lang="en-US" sz="850" dirty="0">
                <a:solidFill>
                  <a:srgbClr val="5B6575"/>
                </a:solidFill>
                <a:latin typeface="Arial" pitchFamily="34" charset="0"/>
                <a:ea typeface="Arial" pitchFamily="34" charset="-122"/>
                <a:cs typeface="Arial" pitchFamily="34" charset="-120"/>
              </a:rPr>
              <a:t>des revues ont réussi, tous nouveaux essais confondus</a:t>
            </a:r>
          </a:p>
        </p:txBody>
      </p:sp>
      <p:sp>
        <p:nvSpPr>
          <p:cNvPr id="33" name="Shape 31"/>
          <p:cNvSpPr/>
          <p:nvPr/>
        </p:nvSpPr>
        <p:spPr>
          <a:xfrm>
            <a:off x="7269480" y="1965960"/>
            <a:ext cx="4462272" cy="3611880"/>
          </a:xfrm>
          <a:prstGeom prst="roundRect">
            <a:avLst>
              <a:gd name="adj" fmla="val 2532"/>
            </a:avLst>
          </a:prstGeom>
          <a:solidFill>
            <a:srgbClr val="F3F5F8"/>
          </a:solidFill>
          <a:ln w="12700">
            <a:solidFill>
              <a:srgbClr val="F3F5F8"/>
            </a:solidFill>
            <a:prstDash val="solid"/>
          </a:ln>
        </p:spPr>
        <p:txBody>
          <a:bodyPr/>
          <a:p/>
        </p:txBody>
      </p:sp>
      <p:pic>
        <p:nvPicPr>
          <p:cNvPr id="34" name="Image 0" descr="preencoded.png">    </p:cNvPr>
          <p:cNvPicPr>
            <a:picLocks noChangeAspect="1"/>
          </p:cNvPicPr>
          <p:nvPr/>
        </p:nvPicPr>
        <p:blipFill>
          <a:blip r:embed="rId1"/>
          <a:stretch>
            <a:fillRect/>
          </a:stretch>
        </p:blipFill>
        <p:spPr>
          <a:xfrm>
            <a:off x="11247120" y="2084832"/>
            <a:ext cx="310896" cy="310896"/>
          </a:xfrm>
          <a:prstGeom prst="rect">
            <a:avLst/>
          </a:prstGeom>
        </p:spPr>
      </p:pic>
      <p:sp>
        <p:nvSpPr>
          <p:cNvPr id="35" name="Text 32"/>
          <p:cNvSpPr txBox="1"/>
          <p:nvPr/>
        </p:nvSpPr>
        <p:spPr>
          <a:xfrm>
            <a:off x="7452360" y="2103120"/>
            <a:ext cx="3931920" cy="201168"/>
          </a:xfrm>
          <a:prstGeom prst="rect">
            <a:avLst/>
          </a:prstGeom>
          <a:noFill/>
          <a:ln/>
        </p:spPr>
        <p:txBody>
          <a:bodyPr wrap="square" lIns="0" tIns="0" rIns="0" bIns="0" rtlCol="0" anchor="t"/>
          <a:lstStyle/>
          <a:p>
            <a:pPr indent="0" marL="0">
              <a:lnSpc>
                <a:spcPct val="105000"/>
              </a:lnSpc>
              <a:buNone/>
            </a:pPr>
            <a:r>
              <a:rPr lang="en-US" sz="850" b="1" spc="50" kern="0" dirty="0">
                <a:solidFill>
                  <a:srgbClr val="5B3F9E"/>
                </a:solidFill>
                <a:latin typeface="Arial" pitchFamily="34" charset="0"/>
                <a:ea typeface="Arial" pitchFamily="34" charset="-122"/>
                <a:cs typeface="Arial" pitchFamily="34" charset="-120"/>
              </a:rPr>
              <a:t>L’AGENT DEMANDE L’AUTORISATION D’APPROUVER</a:t>
            </a:r>
          </a:p>
        </p:txBody>
      </p:sp>
      <p:sp>
        <p:nvSpPr>
          <p:cNvPr id="36" name="Text 33"/>
          <p:cNvSpPr txBox="1"/>
          <p:nvPr/>
        </p:nvSpPr>
        <p:spPr>
          <a:xfrm>
            <a:off x="7452360" y="2377440"/>
            <a:ext cx="4114800" cy="713232"/>
          </a:xfrm>
          <a:prstGeom prst="rect">
            <a:avLst/>
          </a:prstGeom>
          <a:noFill/>
          <a:ln/>
        </p:spPr>
        <p:txBody>
          <a:bodyPr wrap="square" lIns="0" tIns="0" rIns="0" bIns="0" rtlCol="0" anchor="t"/>
          <a:lstStyle/>
          <a:p>
            <a:pPr indent="0" marL="0">
              <a:lnSpc>
                <a:spcPct val="105000"/>
              </a:lnSpc>
              <a:buNone/>
            </a:pPr>
            <a:r>
              <a:rPr lang="en-US" sz="850" dirty="0">
                <a:solidFill>
                  <a:srgbClr val="252A3D"/>
                </a:solidFill>
                <a:latin typeface="Arial" pitchFamily="34" charset="0"/>
                <a:ea typeface="Arial" pitchFamily="34" charset="-122"/>
                <a:cs typeface="Arial" pitchFamily="34" charset="-120"/>
              </a:rPr>
              <a:t>L’agent peut demander à approuver un projet malgré un problème, si les règles permettent d’en accepter le risque sous certaines conditions. Un contrôle automatique vérifie ses autorisations, puis accepte ou refuse sa demande.</a:t>
            </a:r>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452360" y="3154680"/>
          <a:ext cx="4096512" cy="914400"/>
        </p:xfrm>
        <a:graphic>
          <a:graphicData uri="http://schemas.openxmlformats.org/drawingml/2006/table">
            <a:tbl>
              <a:tblPr/>
              <a:tblGrid>
                <a:gridCol w="2084832"/>
                <a:gridCol w="658368"/>
                <a:gridCol w="621792"/>
                <a:gridCol w="731520"/>
              </a:tblGrid>
              <a:tr h="274320">
                <a:tc>
                  <a:txBody>
                    <a:bodyPr/>
                    <a:lstStyle/>
                    <a:p>
                      <a:pPr algn="l" indent="0" marL="0">
                        <a:buNone/>
                      </a:pPr>
                      <a:endParaRPr lang="en-US" sz="8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5B6575"/>
                          </a:solidFill>
                          <a:latin typeface="Arial" pitchFamily="34" charset="0"/>
                          <a:ea typeface="Arial" pitchFamily="34" charset="-122"/>
                          <a:cs typeface="Arial" pitchFamily="34" charset="-120"/>
                        </a:rPr>
                        <a:t>Gemini</a:t>
                      </a:r>
                      <a:endParaRPr lang="en-US" sz="8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5B6575"/>
                          </a:solidFill>
                          <a:latin typeface="Arial" pitchFamily="34" charset="0"/>
                          <a:ea typeface="Arial" pitchFamily="34" charset="-122"/>
                          <a:cs typeface="Arial" pitchFamily="34" charset="-120"/>
                        </a:rPr>
                        <a:t>Luna</a:t>
                      </a:r>
                      <a:endParaRPr lang="en-US" sz="8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5B6575"/>
                          </a:solidFill>
                          <a:latin typeface="Arial" pitchFamily="34" charset="0"/>
                          <a:ea typeface="Arial" pitchFamily="34" charset="-122"/>
                          <a:cs typeface="Arial" pitchFamily="34" charset="-120"/>
                        </a:rPr>
                        <a:t>DeepSeek</a:t>
                      </a:r>
                      <a:endParaRPr lang="en-US" sz="8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r>
                        <a:rPr lang="en-US" sz="750" dirty="0">
                          <a:solidFill>
                            <a:srgbClr val="000000"/>
                          </a:solidFill>
                          <a:latin typeface="Arial" pitchFamily="34" charset="0"/>
                          <a:ea typeface="Arial" pitchFamily="34" charset="-122"/>
                          <a:cs typeface="Arial" pitchFamily="34" charset="-120"/>
                        </a:rPr>
                        <a:t>Demandes envoyées pour approuver un projet sous conditions</a:t>
                      </a: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00" b="1" dirty="0">
                          <a:solidFill>
                            <a:srgbClr val="000000"/>
                          </a:solidFill>
                          <a:latin typeface="Arial" pitchFamily="34" charset="0"/>
                          <a:ea typeface="Arial" pitchFamily="34" charset="-122"/>
                          <a:cs typeface="Arial" pitchFamily="34" charset="-120"/>
                        </a:rPr>
                        <a:t>864</a:t>
                      </a:r>
                      <a:endParaRPr lang="en-US" sz="90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00" b="1" dirty="0">
                          <a:solidFill>
                            <a:srgbClr val="000000"/>
                          </a:solidFill>
                          <a:latin typeface="Arial" pitchFamily="34" charset="0"/>
                          <a:ea typeface="Arial" pitchFamily="34" charset="-122"/>
                          <a:cs typeface="Arial" pitchFamily="34" charset="-120"/>
                        </a:rPr>
                        <a:t>394</a:t>
                      </a:r>
                      <a:endParaRPr lang="en-US" sz="90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00" b="1" dirty="0">
                          <a:solidFill>
                            <a:srgbClr val="000000"/>
                          </a:solidFill>
                          <a:latin typeface="Arial" pitchFamily="34" charset="0"/>
                          <a:ea typeface="Arial" pitchFamily="34" charset="-122"/>
                          <a:cs typeface="Arial" pitchFamily="34" charset="-120"/>
                        </a:rPr>
                        <a:t>216</a:t>
                      </a:r>
                      <a:endParaRPr lang="en-US" sz="90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Demandes refusées par le contrôle automatique</a:t>
                      </a:r>
                    </a:p>
                  </a:txBody>
                  <a:tcPr marL="54864" marR="54864"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algn="r" indent="0" marL="0">
                        <a:buNone/>
                      </a:pPr>
                      <a:r>
                        <a:rPr lang="en-US" sz="900" b="1" dirty="0">
                          <a:solidFill>
                            <a:srgbClr val="000000"/>
                          </a:solidFill>
                          <a:latin typeface="Arial" pitchFamily="34" charset="0"/>
                          <a:ea typeface="Arial" pitchFamily="34" charset="-122"/>
                          <a:cs typeface="Arial" pitchFamily="34" charset="-120"/>
                        </a:rPr>
                        <a:t>466</a:t>
                      </a:r>
                      <a:endParaRPr lang="en-US" sz="90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algn="r" indent="0" marL="0">
                        <a:buNone/>
                      </a:pPr>
                      <a:r>
                        <a:rPr lang="en-US" sz="900" b="1" dirty="0">
                          <a:solidFill>
                            <a:srgbClr val="000000"/>
                          </a:solidFill>
                          <a:latin typeface="Arial" pitchFamily="34" charset="0"/>
                          <a:ea typeface="Arial" pitchFamily="34" charset="-122"/>
                          <a:cs typeface="Arial" pitchFamily="34" charset="-120"/>
                        </a:rPr>
                        <a:t>40</a:t>
                      </a:r>
                      <a:endParaRPr lang="en-US" sz="90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algn="r" indent="0" marL="0">
                        <a:buNone/>
                      </a:pPr>
                      <a:r>
                        <a:rPr lang="en-US" sz="900" b="1" dirty="0">
                          <a:solidFill>
                            <a:srgbClr val="000000"/>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3F5F8"/>
                    </a:solidFill>
                  </a:tcPr>
                </a:tc>
              </a:tr>
              <a:tr h="274320">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Approbations sous conditions retenues dans les décisions finales</a:t>
                      </a: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00" b="1" dirty="0">
                          <a:solidFill>
                            <a:srgbClr val="000000"/>
                          </a:solidFill>
                          <a:latin typeface="Arial" pitchFamily="34" charset="0"/>
                          <a:ea typeface="Arial" pitchFamily="34" charset="-122"/>
                          <a:cs typeface="Arial" pitchFamily="34" charset="-120"/>
                        </a:rPr>
                        <a:t>398</a:t>
                      </a:r>
                      <a:endParaRPr lang="en-US" sz="90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00" b="1" dirty="0">
                          <a:solidFill>
                            <a:srgbClr val="000000"/>
                          </a:solidFill>
                          <a:latin typeface="Arial" pitchFamily="34" charset="0"/>
                          <a:ea typeface="Arial" pitchFamily="34" charset="-122"/>
                          <a:cs typeface="Arial" pitchFamily="34" charset="-120"/>
                        </a:rPr>
                        <a:t>353</a:t>
                      </a:r>
                      <a:endParaRPr lang="en-US" sz="90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00" b="1" dirty="0">
                          <a:solidFill>
                            <a:srgbClr val="000000"/>
                          </a:solidFill>
                          <a:latin typeface="Arial" pitchFamily="34" charset="0"/>
                          <a:ea typeface="Arial" pitchFamily="34" charset="-122"/>
                          <a:cs typeface="Arial" pitchFamily="34" charset="-120"/>
                        </a:rPr>
                        <a:t>202</a:t>
                      </a:r>
                      <a:endParaRPr lang="en-US" sz="90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8" name="Text 34"/>
          <p:cNvSpPr txBox="1"/>
          <p:nvPr/>
        </p:nvSpPr>
        <p:spPr>
          <a:xfrm>
            <a:off x="7452360" y="4370832"/>
            <a:ext cx="4096512" cy="1143000"/>
          </a:xfrm>
          <a:prstGeom prst="rect">
            <a:avLst/>
          </a:prstGeom>
          <a:noFill/>
          <a:ln/>
        </p:spPr>
        <p:txBody>
          <a:bodyPr wrap="square" lIns="0" tIns="0" rIns="0" bIns="0" rtlCol="0" anchor="t"/>
          <a:lstStyle/>
          <a:p>
            <a:pPr indent="0" marL="0">
              <a:lnSpc>
                <a:spcPct val="105000"/>
              </a:lnSpc>
              <a:buNone/>
            </a:pPr>
            <a:r>
              <a:rPr lang="en-US" sz="940" b="1" dirty="0">
                <a:solidFill>
                  <a:srgbClr val="252A3D"/>
                </a:solidFill>
                <a:latin typeface="Arial" pitchFamily="34" charset="0"/>
                <a:ea typeface="Arial" pitchFamily="34" charset="-122"/>
                <a:cs typeface="Arial" pitchFamily="34" charset="-120"/>
              </a:rPr>
              <a:t>Avec Gemini, l’agent demande plus souvent à approuver sous conditions. </a:t>
            </a:r>
            <a:r>
              <a:rPr lang="en-US" sz="940" dirty="0">
                <a:solidFill>
                  <a:srgbClr val="252A3D"/>
                </a:solidFill>
                <a:latin typeface="Arial" pitchFamily="34" charset="0"/>
                <a:ea typeface="Arial" pitchFamily="34" charset="-122"/>
                <a:cs typeface="Arial" pitchFamily="34" charset="-120"/>
              </a:rPr>
              <a:t>C’est aussi avec ce modèle que le système refuse le plus de demandes. Le contrôle automatique empêche l’agent de prendre une décision qui dépasse ses autorisations.</a:t>
            </a:r>
          </a:p>
        </p:txBody>
      </p:sp>
      <p:sp>
        <p:nvSpPr>
          <p:cNvPr id="39" name="Shape 35"/>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40" name="Image 1"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41" name="Text 36"/>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Un seul essai réussi ne prouve pas que l’agent est fiable. </a:t>
            </a:r>
            <a:r>
              <a:rPr lang="en-US" sz="1150" dirty="0">
                <a:solidFill>
                  <a:srgbClr val="252A3D"/>
                </a:solidFill>
                <a:latin typeface="Arial" pitchFamily="34" charset="0"/>
                <a:ea typeface="Arial" pitchFamily="34" charset="-122"/>
                <a:cs typeface="Arial" pitchFamily="34" charset="-120"/>
              </a:rPr>
              <a:t>Avant de l’utiliser en entreprise, il faut refaire les tests pour vérifier qu’il reste fiable et qu’il ne peut pas prendre de décisions non autorisées.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L’EXPÉRIENCE · QUAND UNE INFORMATION MANQUANTE CHANGE TOUT</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650" b="1" dirty="0">
                <a:solidFill>
                  <a:srgbClr val="252A3D"/>
                </a:solidFill>
                <a:latin typeface="Arial" pitchFamily="34" charset="0"/>
                <a:ea typeface="Arial" pitchFamily="34" charset="-122"/>
                <a:cs typeface="Arial" pitchFamily="34" charset="-120"/>
              </a:rPr>
              <a:t>Une information manquante peut changer la décision</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00" dirty="0">
                <a:solidFill>
                  <a:srgbClr val="5B6575"/>
                </a:solidFill>
                <a:latin typeface="Arial" pitchFamily="34" charset="0"/>
                <a:ea typeface="Arial" pitchFamily="34" charset="-122"/>
                <a:cs typeface="Arial" pitchFamily="34" charset="-120"/>
              </a:rPr>
              <a:t>Deux projets peuvent avoir les mêmes documents et demander des décisions opposées. Une seule information officielle, conservée ailleurs, fait la différence.</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L'EXPÉRIENCE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19 / 30</a:t>
            </a:r>
            <a:endParaRPr lang="en-US" sz="1000" dirty="0"/>
          </a:p>
        </p:txBody>
      </p:sp>
      <p:sp>
        <p:nvSpPr>
          <p:cNvPr id="9" name="Shape 7"/>
          <p:cNvSpPr/>
          <p:nvPr/>
        </p:nvSpPr>
        <p:spPr>
          <a:xfrm>
            <a:off x="457200" y="1965960"/>
            <a:ext cx="4572000" cy="3063240"/>
          </a:xfrm>
          <a:prstGeom prst="roundRect">
            <a:avLst>
              <a:gd name="adj" fmla="val 2985"/>
            </a:avLst>
          </a:prstGeom>
          <a:solidFill>
            <a:srgbClr val="DDF5FC"/>
          </a:solidFill>
          <a:ln w="12700">
            <a:solidFill>
              <a:srgbClr val="DDF5FC"/>
            </a:solidFill>
            <a:prstDash val="solid"/>
          </a:ln>
        </p:spPr>
        <p:txBody>
          <a:bodyPr/>
          <a:p/>
        </p:txBody>
      </p:sp>
      <p:sp>
        <p:nvSpPr>
          <p:cNvPr id="10" name="Text 8"/>
          <p:cNvSpPr txBox="1"/>
          <p:nvPr/>
        </p:nvSpPr>
        <p:spPr>
          <a:xfrm>
            <a:off x="658368" y="2103120"/>
            <a:ext cx="2743200" cy="256032"/>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PROJET A</a:t>
            </a:r>
            <a:endParaRPr lang="en-US" sz="1300" dirty="0"/>
          </a:p>
        </p:txBody>
      </p:sp>
      <p:sp>
        <p:nvSpPr>
          <p:cNvPr id="11" name="Shape 9"/>
          <p:cNvSpPr/>
          <p:nvPr/>
        </p:nvSpPr>
        <p:spPr>
          <a:xfrm>
            <a:off x="658368" y="2468880"/>
            <a:ext cx="4169664" cy="713232"/>
          </a:xfrm>
          <a:prstGeom prst="roundRect">
            <a:avLst>
              <a:gd name="adj" fmla="val 12821"/>
            </a:avLst>
          </a:prstGeom>
          <a:solidFill>
            <a:srgbClr val="FFFFFF"/>
          </a:solidFill>
          <a:ln w="12700">
            <a:solidFill>
              <a:srgbClr val="D4DAE3"/>
            </a:solidFill>
            <a:prstDash val="solid"/>
          </a:ln>
        </p:spPr>
        <p:txBody>
          <a:bodyPr/>
          <a:p/>
        </p:txBody>
      </p:sp>
      <p:pic>
        <p:nvPicPr>
          <p:cNvPr id="12" name="Image 0" descr="preencoded.png">    </p:cNvPr>
          <p:cNvPicPr>
            <a:picLocks noChangeAspect="1"/>
          </p:cNvPicPr>
          <p:nvPr/>
        </p:nvPicPr>
        <p:blipFill>
          <a:blip r:embed="rId1"/>
          <a:stretch>
            <a:fillRect/>
          </a:stretch>
        </p:blipFill>
        <p:spPr>
          <a:xfrm>
            <a:off x="804672" y="2670048"/>
            <a:ext cx="310896" cy="310896"/>
          </a:xfrm>
          <a:prstGeom prst="rect">
            <a:avLst/>
          </a:prstGeom>
        </p:spPr>
      </p:pic>
      <p:sp>
        <p:nvSpPr>
          <p:cNvPr id="13" name="Text 10"/>
          <p:cNvSpPr txBox="1"/>
          <p:nvPr/>
        </p:nvSpPr>
        <p:spPr>
          <a:xfrm>
            <a:off x="1261872" y="2468880"/>
            <a:ext cx="3474720" cy="713232"/>
          </a:xfrm>
          <a:prstGeom prst="rect">
            <a:avLst/>
          </a:prstGeom>
          <a:noFill/>
          <a:ln/>
        </p:spPr>
        <p:txBody>
          <a:bodyPr wrap="square" lIns="0" tIns="0" rIns="0" bIns="0" rtlCol="0" anchor="ctr"/>
          <a:lstStyle/>
          <a:p>
            <a:pPr indent="0" marL="0">
              <a:lnSpc>
                <a:spcPct val="105000"/>
              </a:lnSpc>
              <a:buNone/>
            </a:pPr>
            <a:r>
              <a:rPr lang="en-US" sz="1000" dirty="0">
                <a:solidFill>
                  <a:srgbClr val="252A3D"/>
                </a:solidFill>
                <a:latin typeface="Arial" pitchFamily="34" charset="0"/>
                <a:ea typeface="Arial" pitchFamily="34" charset="-122"/>
                <a:cs typeface="Arial" pitchFamily="34" charset="-120"/>
              </a:rPr>
              <a:t>26 documents Word</a:t>
            </a:r>
          </a:p>
          <a:p>
            <a:pPr indent="0" marL="0">
              <a:lnSpc>
                <a:spcPct val="105000"/>
              </a:lnSpc>
              <a:buNone/>
            </a:pPr>
            <a:r>
              <a:rPr lang="en-US" sz="1000" dirty="0">
                <a:solidFill>
                  <a:srgbClr val="252A3D"/>
                </a:solidFill>
                <a:latin typeface="Arial" pitchFamily="34" charset="0"/>
                <a:ea typeface="Arial" pitchFamily="34" charset="-122"/>
                <a:cs typeface="Arial" pitchFamily="34" charset="-120"/>
              </a:rPr>
              <a:t>exactement les mêmes que pour l’autre projet</a:t>
            </a:r>
          </a:p>
        </p:txBody>
      </p:sp>
      <p:sp>
        <p:nvSpPr>
          <p:cNvPr id="14" name="Shape 11"/>
          <p:cNvSpPr/>
          <p:nvPr/>
        </p:nvSpPr>
        <p:spPr>
          <a:xfrm>
            <a:off x="658368" y="3291840"/>
            <a:ext cx="4169664" cy="713232"/>
          </a:xfrm>
          <a:prstGeom prst="roundRect">
            <a:avLst>
              <a:gd name="adj" fmla="val 12821"/>
            </a:avLst>
          </a:prstGeom>
          <a:solidFill>
            <a:srgbClr val="FFFFFF"/>
          </a:solidFill>
          <a:ln w="12700">
            <a:solidFill>
              <a:srgbClr val="D4DAE3"/>
            </a:solidFill>
            <a:prstDash val="solid"/>
          </a:ln>
        </p:spPr>
        <p:txBody>
          <a:bodyPr/>
          <a:p/>
        </p:txBody>
      </p:sp>
      <p:pic>
        <p:nvPicPr>
          <p:cNvPr id="15" name="Image 1" descr="preencoded.png">    </p:cNvPr>
          <p:cNvPicPr>
            <a:picLocks noChangeAspect="1"/>
          </p:cNvPicPr>
          <p:nvPr/>
        </p:nvPicPr>
        <p:blipFill>
          <a:blip r:embed="rId2"/>
          <a:stretch>
            <a:fillRect/>
          </a:stretch>
        </p:blipFill>
        <p:spPr>
          <a:xfrm>
            <a:off x="804672" y="3493008"/>
            <a:ext cx="310896" cy="310896"/>
          </a:xfrm>
          <a:prstGeom prst="rect">
            <a:avLst/>
          </a:prstGeom>
        </p:spPr>
      </p:pic>
      <p:sp>
        <p:nvSpPr>
          <p:cNvPr id="16" name="Text 12"/>
          <p:cNvSpPr txBox="1"/>
          <p:nvPr/>
        </p:nvSpPr>
        <p:spPr>
          <a:xfrm>
            <a:off x="1261872" y="3291840"/>
            <a:ext cx="3474720" cy="713232"/>
          </a:xfrm>
          <a:prstGeom prst="rect">
            <a:avLst/>
          </a:prstGeom>
          <a:noFill/>
          <a:ln/>
        </p:spPr>
        <p:txBody>
          <a:bodyPr wrap="square" lIns="0" tIns="0" rIns="0" bIns="0" rtlCol="0" anchor="ctr"/>
          <a:lstStyle/>
          <a:p>
            <a:pPr indent="0" marL="0">
              <a:lnSpc>
                <a:spcPct val="105000"/>
              </a:lnSpc>
              <a:buNone/>
            </a:pPr>
            <a:r>
              <a:rPr lang="en-US" sz="960" b="1" dirty="0">
                <a:solidFill>
                  <a:srgbClr val="252A3D"/>
                </a:solidFill>
                <a:latin typeface="Arial" pitchFamily="34" charset="0"/>
                <a:ea typeface="Arial" pitchFamily="34" charset="-122"/>
                <a:cs typeface="Arial" pitchFamily="34" charset="-120"/>
              </a:rPr>
              <a:t>Dans le tableur officiel de l’entreprise :</a:t>
            </a:r>
          </a:p>
          <a:p>
            <a:pPr indent="0" marL="0">
              <a:lnSpc>
                <a:spcPct val="105000"/>
              </a:lnSpc>
              <a:buNone/>
            </a:pPr>
            <a:r>
              <a:rPr lang="en-US" sz="960" b="1" dirty="0">
                <a:solidFill>
                  <a:srgbClr val="1E7A3C"/>
                </a:solidFill>
                <a:latin typeface="Arial" pitchFamily="34" charset="0"/>
                <a:ea typeface="Arial" pitchFamily="34" charset="-122"/>
                <a:cs typeface="Arial" pitchFamily="34" charset="-120"/>
              </a:rPr>
              <a:t>le fournisseur a été contrôlé</a:t>
            </a:r>
          </a:p>
        </p:txBody>
      </p:sp>
      <p:sp>
        <p:nvSpPr>
          <p:cNvPr id="17" name="Shape 13"/>
          <p:cNvSpPr/>
          <p:nvPr/>
        </p:nvSpPr>
        <p:spPr>
          <a:xfrm>
            <a:off x="658368" y="4114800"/>
            <a:ext cx="4169664" cy="749808"/>
          </a:xfrm>
          <a:prstGeom prst="roundRect">
            <a:avLst>
              <a:gd name="adj" fmla="val 12195"/>
            </a:avLst>
          </a:prstGeom>
          <a:solidFill>
            <a:srgbClr val="FFFFFF"/>
          </a:solidFill>
          <a:ln w="19050">
            <a:solidFill>
              <a:srgbClr val="1E7A3C"/>
            </a:solidFill>
            <a:prstDash val="solid"/>
          </a:ln>
        </p:spPr>
        <p:txBody>
          <a:bodyPr/>
          <a:p/>
        </p:txBody>
      </p:sp>
      <p:sp>
        <p:nvSpPr>
          <p:cNvPr id="18" name="Text 14"/>
          <p:cNvSpPr txBox="1"/>
          <p:nvPr/>
        </p:nvSpPr>
        <p:spPr>
          <a:xfrm>
            <a:off x="822960" y="4187952"/>
            <a:ext cx="2377440" cy="182880"/>
          </a:xfrm>
          <a:prstGeom prst="rect">
            <a:avLst/>
          </a:prstGeom>
          <a:noFill/>
          <a:ln/>
        </p:spPr>
        <p:txBody>
          <a:bodyPr wrap="square" lIns="0" tIns="0" rIns="0" bIns="0" rtlCol="0" anchor="t"/>
          <a:lstStyle/>
          <a:p>
            <a:pPr indent="0" marL="0">
              <a:lnSpc>
                <a:spcPct val="105000"/>
              </a:lnSpc>
              <a:buNone/>
            </a:pPr>
            <a:r>
              <a:rPr lang="en-US" sz="750" b="1" dirty="0">
                <a:solidFill>
                  <a:srgbClr val="5B6575"/>
                </a:solidFill>
                <a:latin typeface="Arial" pitchFamily="34" charset="0"/>
                <a:ea typeface="Arial" pitchFamily="34" charset="-122"/>
                <a:cs typeface="Arial" pitchFamily="34" charset="-120"/>
              </a:rPr>
              <a:t>LA DÉCISION À PRENDRE</a:t>
            </a:r>
          </a:p>
        </p:txBody>
      </p:sp>
      <p:sp>
        <p:nvSpPr>
          <p:cNvPr id="19" name="Text 15"/>
          <p:cNvSpPr txBox="1"/>
          <p:nvPr/>
        </p:nvSpPr>
        <p:spPr>
          <a:xfrm>
            <a:off x="822960" y="4370832"/>
            <a:ext cx="3657600" cy="457200"/>
          </a:xfrm>
          <a:prstGeom prst="rect">
            <a:avLst/>
          </a:prstGeom>
          <a:noFill/>
          <a:ln/>
        </p:spPr>
        <p:txBody>
          <a:bodyPr wrap="square" lIns="0" tIns="0" rIns="0" bIns="0" rtlCol="0" anchor="t"/>
          <a:lstStyle/>
          <a:p>
            <a:pPr indent="0" marL="0">
              <a:lnSpc>
                <a:spcPct val="105000"/>
              </a:lnSpc>
              <a:buNone/>
            </a:pPr>
            <a:r>
              <a:rPr lang="en-US" sz="2000" b="1" dirty="0">
                <a:solidFill>
                  <a:srgbClr val="1E7A3C"/>
                </a:solidFill>
                <a:latin typeface="Arial" pitchFamily="34" charset="0"/>
                <a:ea typeface="Arial" pitchFamily="34" charset="-122"/>
                <a:cs typeface="Arial" pitchFamily="34" charset="-120"/>
              </a:rPr>
              <a:t>APPROUVÉ (GO)</a:t>
            </a:r>
            <a:endParaRPr lang="en-US" sz="2000" dirty="0"/>
          </a:p>
        </p:txBody>
      </p:sp>
      <p:sp>
        <p:nvSpPr>
          <p:cNvPr id="20" name="Shape 16"/>
          <p:cNvSpPr/>
          <p:nvPr/>
        </p:nvSpPr>
        <p:spPr>
          <a:xfrm>
            <a:off x="7159752" y="1965960"/>
            <a:ext cx="4572000" cy="3063240"/>
          </a:xfrm>
          <a:prstGeom prst="roundRect">
            <a:avLst>
              <a:gd name="adj" fmla="val 2985"/>
            </a:avLst>
          </a:prstGeom>
          <a:solidFill>
            <a:srgbClr val="FFE4E6"/>
          </a:solidFill>
          <a:ln w="12700">
            <a:solidFill>
              <a:srgbClr val="FFE4E6"/>
            </a:solidFill>
            <a:prstDash val="solid"/>
          </a:ln>
        </p:spPr>
        <p:txBody>
          <a:bodyPr/>
          <a:p/>
        </p:txBody>
      </p:sp>
      <p:sp>
        <p:nvSpPr>
          <p:cNvPr id="21" name="Text 17"/>
          <p:cNvSpPr txBox="1"/>
          <p:nvPr/>
        </p:nvSpPr>
        <p:spPr>
          <a:xfrm>
            <a:off x="7360920" y="2103120"/>
            <a:ext cx="2743200" cy="256032"/>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PROJET B</a:t>
            </a:r>
            <a:endParaRPr lang="en-US" sz="1300" dirty="0"/>
          </a:p>
        </p:txBody>
      </p:sp>
      <p:sp>
        <p:nvSpPr>
          <p:cNvPr id="22" name="Shape 18"/>
          <p:cNvSpPr/>
          <p:nvPr/>
        </p:nvSpPr>
        <p:spPr>
          <a:xfrm>
            <a:off x="7360920" y="2468880"/>
            <a:ext cx="4169664" cy="713232"/>
          </a:xfrm>
          <a:prstGeom prst="roundRect">
            <a:avLst>
              <a:gd name="adj" fmla="val 12821"/>
            </a:avLst>
          </a:prstGeom>
          <a:solidFill>
            <a:srgbClr val="FFFFFF"/>
          </a:solidFill>
          <a:ln w="12700">
            <a:solidFill>
              <a:srgbClr val="D4DAE3"/>
            </a:solidFill>
            <a:prstDash val="solid"/>
          </a:ln>
        </p:spPr>
        <p:txBody>
          <a:bodyPr/>
          <a:p/>
        </p:txBody>
      </p:sp>
      <p:pic>
        <p:nvPicPr>
          <p:cNvPr id="23" name="Image 2" descr="preencoded.png">    </p:cNvPr>
          <p:cNvPicPr>
            <a:picLocks noChangeAspect="1"/>
          </p:cNvPicPr>
          <p:nvPr/>
        </p:nvPicPr>
        <p:blipFill>
          <a:blip r:embed="rId3"/>
          <a:stretch>
            <a:fillRect/>
          </a:stretch>
        </p:blipFill>
        <p:spPr>
          <a:xfrm>
            <a:off x="7507224" y="2670048"/>
            <a:ext cx="310896" cy="310896"/>
          </a:xfrm>
          <a:prstGeom prst="rect">
            <a:avLst/>
          </a:prstGeom>
        </p:spPr>
      </p:pic>
      <p:sp>
        <p:nvSpPr>
          <p:cNvPr id="24" name="Text 19"/>
          <p:cNvSpPr txBox="1"/>
          <p:nvPr/>
        </p:nvSpPr>
        <p:spPr>
          <a:xfrm>
            <a:off x="7964424" y="2468880"/>
            <a:ext cx="3474720" cy="713232"/>
          </a:xfrm>
          <a:prstGeom prst="rect">
            <a:avLst/>
          </a:prstGeom>
          <a:noFill/>
          <a:ln/>
        </p:spPr>
        <p:txBody>
          <a:bodyPr wrap="square" lIns="0" tIns="0" rIns="0" bIns="0" rtlCol="0" anchor="ctr"/>
          <a:lstStyle/>
          <a:p>
            <a:pPr indent="0" marL="0">
              <a:lnSpc>
                <a:spcPct val="105000"/>
              </a:lnSpc>
              <a:buNone/>
            </a:pPr>
            <a:r>
              <a:rPr lang="en-US" sz="1000" dirty="0">
                <a:solidFill>
                  <a:srgbClr val="252A3D"/>
                </a:solidFill>
                <a:latin typeface="Arial" pitchFamily="34" charset="0"/>
                <a:ea typeface="Arial" pitchFamily="34" charset="-122"/>
                <a:cs typeface="Arial" pitchFamily="34" charset="-120"/>
              </a:rPr>
              <a:t>26 documents Word</a:t>
            </a:r>
          </a:p>
          <a:p>
            <a:pPr indent="0" marL="0">
              <a:lnSpc>
                <a:spcPct val="105000"/>
              </a:lnSpc>
              <a:buNone/>
            </a:pPr>
            <a:r>
              <a:rPr lang="en-US" sz="1000" dirty="0">
                <a:solidFill>
                  <a:srgbClr val="252A3D"/>
                </a:solidFill>
                <a:latin typeface="Arial" pitchFamily="34" charset="0"/>
                <a:ea typeface="Arial" pitchFamily="34" charset="-122"/>
                <a:cs typeface="Arial" pitchFamily="34" charset="-120"/>
              </a:rPr>
              <a:t>exactement les mêmes que pour l’autre projet</a:t>
            </a:r>
          </a:p>
        </p:txBody>
      </p:sp>
      <p:sp>
        <p:nvSpPr>
          <p:cNvPr id="25" name="Shape 20"/>
          <p:cNvSpPr/>
          <p:nvPr/>
        </p:nvSpPr>
        <p:spPr>
          <a:xfrm>
            <a:off x="7360920" y="3291840"/>
            <a:ext cx="4169664" cy="713232"/>
          </a:xfrm>
          <a:prstGeom prst="roundRect">
            <a:avLst>
              <a:gd name="adj" fmla="val 12821"/>
            </a:avLst>
          </a:prstGeom>
          <a:solidFill>
            <a:srgbClr val="FFFFFF"/>
          </a:solidFill>
          <a:ln w="12700">
            <a:solidFill>
              <a:srgbClr val="D4DAE3"/>
            </a:solidFill>
            <a:prstDash val="solid"/>
          </a:ln>
        </p:spPr>
        <p:txBody>
          <a:bodyPr/>
          <a:p/>
        </p:txBody>
      </p:sp>
      <p:pic>
        <p:nvPicPr>
          <p:cNvPr id="26" name="Image 3" descr="preencoded.png">    </p:cNvPr>
          <p:cNvPicPr>
            <a:picLocks noChangeAspect="1"/>
          </p:cNvPicPr>
          <p:nvPr/>
        </p:nvPicPr>
        <p:blipFill>
          <a:blip r:embed="rId4"/>
          <a:stretch>
            <a:fillRect/>
          </a:stretch>
        </p:blipFill>
        <p:spPr>
          <a:xfrm>
            <a:off x="7507224" y="3493008"/>
            <a:ext cx="310896" cy="310896"/>
          </a:xfrm>
          <a:prstGeom prst="rect">
            <a:avLst/>
          </a:prstGeom>
        </p:spPr>
      </p:pic>
      <p:sp>
        <p:nvSpPr>
          <p:cNvPr id="27" name="Text 21"/>
          <p:cNvSpPr txBox="1"/>
          <p:nvPr/>
        </p:nvSpPr>
        <p:spPr>
          <a:xfrm>
            <a:off x="7964424" y="3291840"/>
            <a:ext cx="3474720" cy="713232"/>
          </a:xfrm>
          <a:prstGeom prst="rect">
            <a:avLst/>
          </a:prstGeom>
          <a:noFill/>
          <a:ln/>
        </p:spPr>
        <p:txBody>
          <a:bodyPr wrap="square" lIns="0" tIns="0" rIns="0" bIns="0" rtlCol="0" anchor="ctr"/>
          <a:lstStyle/>
          <a:p>
            <a:pPr indent="0" marL="0">
              <a:lnSpc>
                <a:spcPct val="105000"/>
              </a:lnSpc>
              <a:buNone/>
            </a:pPr>
            <a:r>
              <a:rPr lang="en-US" sz="960" b="1" dirty="0">
                <a:solidFill>
                  <a:srgbClr val="252A3D"/>
                </a:solidFill>
                <a:latin typeface="Arial" pitchFamily="34" charset="0"/>
                <a:ea typeface="Arial" pitchFamily="34" charset="-122"/>
                <a:cs typeface="Arial" pitchFamily="34" charset="-120"/>
              </a:rPr>
              <a:t>Dans le tableur officiel de l’entreprise :</a:t>
            </a:r>
          </a:p>
          <a:p>
            <a:pPr indent="0" marL="0">
              <a:lnSpc>
                <a:spcPct val="105000"/>
              </a:lnSpc>
              <a:buNone/>
            </a:pPr>
            <a:r>
              <a:rPr lang="en-US" sz="960" b="1" dirty="0">
                <a:solidFill>
                  <a:srgbClr val="C8283E"/>
                </a:solidFill>
                <a:latin typeface="Arial" pitchFamily="34" charset="0"/>
                <a:ea typeface="Arial" pitchFamily="34" charset="-122"/>
                <a:cs typeface="Arial" pitchFamily="34" charset="-120"/>
              </a:rPr>
              <a:t>le fournisseur n’a pas été contrôlé</a:t>
            </a:r>
          </a:p>
        </p:txBody>
      </p:sp>
      <p:sp>
        <p:nvSpPr>
          <p:cNvPr id="28" name="Shape 22"/>
          <p:cNvSpPr/>
          <p:nvPr/>
        </p:nvSpPr>
        <p:spPr>
          <a:xfrm>
            <a:off x="7360920" y="4114800"/>
            <a:ext cx="4169664" cy="749808"/>
          </a:xfrm>
          <a:prstGeom prst="roundRect">
            <a:avLst>
              <a:gd name="adj" fmla="val 12195"/>
            </a:avLst>
          </a:prstGeom>
          <a:solidFill>
            <a:srgbClr val="FFFFFF"/>
          </a:solidFill>
          <a:ln w="19050">
            <a:solidFill>
              <a:srgbClr val="C8283E"/>
            </a:solidFill>
            <a:prstDash val="solid"/>
          </a:ln>
        </p:spPr>
        <p:txBody>
          <a:bodyPr/>
          <a:p/>
        </p:txBody>
      </p:sp>
      <p:sp>
        <p:nvSpPr>
          <p:cNvPr id="29" name="Text 23"/>
          <p:cNvSpPr txBox="1"/>
          <p:nvPr/>
        </p:nvSpPr>
        <p:spPr>
          <a:xfrm>
            <a:off x="7525512" y="4187952"/>
            <a:ext cx="2377440" cy="182880"/>
          </a:xfrm>
          <a:prstGeom prst="rect">
            <a:avLst/>
          </a:prstGeom>
          <a:noFill/>
          <a:ln/>
        </p:spPr>
        <p:txBody>
          <a:bodyPr wrap="square" lIns="0" tIns="0" rIns="0" bIns="0" rtlCol="0" anchor="t"/>
          <a:lstStyle/>
          <a:p>
            <a:pPr indent="0" marL="0">
              <a:lnSpc>
                <a:spcPct val="105000"/>
              </a:lnSpc>
              <a:buNone/>
            </a:pPr>
            <a:r>
              <a:rPr lang="en-US" sz="750" b="1" dirty="0">
                <a:solidFill>
                  <a:srgbClr val="5B6575"/>
                </a:solidFill>
                <a:latin typeface="Arial" pitchFamily="34" charset="0"/>
                <a:ea typeface="Arial" pitchFamily="34" charset="-122"/>
                <a:cs typeface="Arial" pitchFamily="34" charset="-120"/>
              </a:rPr>
              <a:t>LA DÉCISION À PRENDRE</a:t>
            </a:r>
          </a:p>
        </p:txBody>
      </p:sp>
      <p:sp>
        <p:nvSpPr>
          <p:cNvPr id="30" name="Text 24"/>
          <p:cNvSpPr txBox="1"/>
          <p:nvPr/>
        </p:nvSpPr>
        <p:spPr>
          <a:xfrm>
            <a:off x="7525512" y="4370832"/>
            <a:ext cx="3657600" cy="457200"/>
          </a:xfrm>
          <a:prstGeom prst="rect">
            <a:avLst/>
          </a:prstGeom>
          <a:noFill/>
          <a:ln/>
        </p:spPr>
        <p:txBody>
          <a:bodyPr wrap="square" lIns="0" tIns="0" rIns="0" bIns="0" rtlCol="0" anchor="t"/>
          <a:lstStyle/>
          <a:p>
            <a:pPr indent="0" marL="0">
              <a:lnSpc>
                <a:spcPct val="105000"/>
              </a:lnSpc>
              <a:buNone/>
            </a:pPr>
            <a:r>
              <a:rPr lang="en-US" sz="2000" b="1" dirty="0">
                <a:solidFill>
                  <a:srgbClr val="C8283E"/>
                </a:solidFill>
                <a:latin typeface="Arial" pitchFamily="34" charset="0"/>
                <a:ea typeface="Arial" pitchFamily="34" charset="-122"/>
                <a:cs typeface="Arial" pitchFamily="34" charset="-120"/>
              </a:rPr>
              <a:t>À CORRIGER (REWORK)</a:t>
            </a:r>
            <a:endParaRPr lang="en-US" sz="2000" dirty="0"/>
          </a:p>
        </p:txBody>
      </p:sp>
      <p:sp>
        <p:nvSpPr>
          <p:cNvPr id="31" name="Text 25"/>
          <p:cNvSpPr txBox="1"/>
          <p:nvPr/>
        </p:nvSpPr>
        <p:spPr>
          <a:xfrm>
            <a:off x="5074920" y="2468880"/>
            <a:ext cx="2084832" cy="713232"/>
          </a:xfrm>
          <a:prstGeom prst="rect">
            <a:avLst/>
          </a:prstGeom>
          <a:noFill/>
          <a:ln/>
        </p:spPr>
        <p:txBody>
          <a:bodyPr wrap="square" lIns="0" tIns="0" rIns="0" bIns="0" rtlCol="0" anchor="ctr"/>
          <a:lstStyle/>
          <a:p>
            <a:pPr algn="ctr" indent="0" marL="0">
              <a:lnSpc>
                <a:spcPct val="105000"/>
              </a:lnSpc>
              <a:buNone/>
            </a:pPr>
            <a:r>
              <a:rPr lang="en-US" sz="3000" b="1" dirty="0">
                <a:solidFill>
                  <a:srgbClr val="5B6575"/>
                </a:solidFill>
                <a:latin typeface="Arial" pitchFamily="34" charset="0"/>
                <a:ea typeface="Arial" pitchFamily="34" charset="-122"/>
                <a:cs typeface="Arial" pitchFamily="34" charset="-120"/>
              </a:rPr>
              <a:t>=</a:t>
            </a:r>
            <a:endParaRPr lang="en-US" sz="3000" dirty="0"/>
          </a:p>
        </p:txBody>
      </p:sp>
      <p:sp>
        <p:nvSpPr>
          <p:cNvPr id="32" name="Text 26"/>
          <p:cNvSpPr txBox="1"/>
          <p:nvPr/>
        </p:nvSpPr>
        <p:spPr>
          <a:xfrm>
            <a:off x="5074920" y="3072384"/>
            <a:ext cx="2084832" cy="182880"/>
          </a:xfrm>
          <a:prstGeom prst="rect">
            <a:avLst/>
          </a:prstGeom>
          <a:noFill/>
          <a:ln/>
        </p:spPr>
        <p:txBody>
          <a:bodyPr wrap="square" lIns="0" tIns="0" rIns="0" bIns="0" rtlCol="0" anchor="t"/>
          <a:lstStyle/>
          <a:p>
            <a:pPr algn="ctr" indent="0" marL="0">
              <a:lnSpc>
                <a:spcPct val="105000"/>
              </a:lnSpc>
              <a:buNone/>
            </a:pPr>
            <a:r>
              <a:rPr lang="en-US" sz="700" dirty="0">
                <a:solidFill>
                  <a:srgbClr val="5B6575"/>
                </a:solidFill>
                <a:latin typeface="Arial" pitchFamily="34" charset="0"/>
                <a:ea typeface="Arial" pitchFamily="34" charset="-122"/>
                <a:cs typeface="Arial" pitchFamily="34" charset="-120"/>
              </a:rPr>
              <a:t>des documents identiques</a:t>
            </a:r>
          </a:p>
        </p:txBody>
      </p:sp>
      <p:sp>
        <p:nvSpPr>
          <p:cNvPr id="33" name="Text 27"/>
          <p:cNvSpPr txBox="1"/>
          <p:nvPr/>
        </p:nvSpPr>
        <p:spPr>
          <a:xfrm>
            <a:off x="5074920" y="3291840"/>
            <a:ext cx="2084832" cy="713232"/>
          </a:xfrm>
          <a:prstGeom prst="rect">
            <a:avLst/>
          </a:prstGeom>
          <a:noFill/>
          <a:ln/>
        </p:spPr>
        <p:txBody>
          <a:bodyPr wrap="square" lIns="0" tIns="0" rIns="0" bIns="0" rtlCol="0" anchor="ctr"/>
          <a:lstStyle/>
          <a:p>
            <a:pPr algn="ctr" indent="0" marL="0">
              <a:lnSpc>
                <a:spcPct val="105000"/>
              </a:lnSpc>
              <a:buNone/>
            </a:pPr>
            <a:r>
              <a:rPr lang="en-US" sz="3000" b="1" dirty="0">
                <a:solidFill>
                  <a:srgbClr val="C8283E"/>
                </a:solidFill>
                <a:latin typeface="Arial" pitchFamily="34" charset="0"/>
                <a:ea typeface="Arial" pitchFamily="34" charset="-122"/>
                <a:cs typeface="Arial" pitchFamily="34" charset="-120"/>
              </a:rPr>
              <a:t>≠</a:t>
            </a:r>
            <a:endParaRPr lang="en-US" sz="3000" dirty="0"/>
          </a:p>
        </p:txBody>
      </p:sp>
      <p:sp>
        <p:nvSpPr>
          <p:cNvPr id="34" name="Text 28"/>
          <p:cNvSpPr txBox="1"/>
          <p:nvPr/>
        </p:nvSpPr>
        <p:spPr>
          <a:xfrm>
            <a:off x="5074920" y="3895344"/>
            <a:ext cx="2084832" cy="182880"/>
          </a:xfrm>
          <a:prstGeom prst="rect">
            <a:avLst/>
          </a:prstGeom>
          <a:noFill/>
          <a:ln/>
        </p:spPr>
        <p:txBody>
          <a:bodyPr wrap="square" lIns="0" tIns="0" rIns="0" bIns="0" rtlCol="0" anchor="t"/>
          <a:lstStyle/>
          <a:p>
            <a:pPr algn="ctr" indent="0" marL="0">
              <a:lnSpc>
                <a:spcPct val="105000"/>
              </a:lnSpc>
              <a:buNone/>
            </a:pPr>
            <a:r>
              <a:rPr lang="en-US" sz="700" dirty="0">
                <a:solidFill>
                  <a:srgbClr val="5B6575"/>
                </a:solidFill>
                <a:latin typeface="Arial" pitchFamily="34" charset="0"/>
                <a:ea typeface="Arial" pitchFamily="34" charset="-122"/>
                <a:cs typeface="Arial" pitchFamily="34" charset="-120"/>
              </a:rPr>
              <a:t>une information qui change</a:t>
            </a:r>
          </a:p>
        </p:txBody>
      </p:sp>
      <p:sp>
        <p:nvSpPr>
          <p:cNvPr id="35" name="Text 29"/>
          <p:cNvSpPr txBox="1"/>
          <p:nvPr/>
        </p:nvSpPr>
        <p:spPr>
          <a:xfrm>
            <a:off x="5074920" y="4114800"/>
            <a:ext cx="2084832" cy="749808"/>
          </a:xfrm>
          <a:prstGeom prst="rect">
            <a:avLst/>
          </a:prstGeom>
          <a:noFill/>
          <a:ln/>
        </p:spPr>
        <p:txBody>
          <a:bodyPr wrap="square" lIns="0" tIns="0" rIns="0" bIns="0" rtlCol="0" anchor="ctr"/>
          <a:lstStyle/>
          <a:p>
            <a:pPr algn="ctr" indent="0" marL="0">
              <a:lnSpc>
                <a:spcPct val="105000"/>
              </a:lnSpc>
              <a:buNone/>
            </a:pPr>
            <a:r>
              <a:rPr lang="en-US" sz="3000" b="1" dirty="0">
                <a:solidFill>
                  <a:srgbClr val="C8283E"/>
                </a:solidFill>
                <a:latin typeface="Arial" pitchFamily="34" charset="0"/>
                <a:ea typeface="Arial" pitchFamily="34" charset="-122"/>
                <a:cs typeface="Arial" pitchFamily="34" charset="-120"/>
              </a:rPr>
              <a:t>≠</a:t>
            </a:r>
            <a:endParaRPr lang="en-US" sz="3000" dirty="0"/>
          </a:p>
        </p:txBody>
      </p:sp>
      <p:sp>
        <p:nvSpPr>
          <p:cNvPr id="36" name="Text 30"/>
          <p:cNvSpPr txBox="1"/>
          <p:nvPr/>
        </p:nvSpPr>
        <p:spPr>
          <a:xfrm>
            <a:off x="5074920" y="4754880"/>
            <a:ext cx="2084832" cy="182880"/>
          </a:xfrm>
          <a:prstGeom prst="rect">
            <a:avLst/>
          </a:prstGeom>
          <a:noFill/>
          <a:ln/>
        </p:spPr>
        <p:txBody>
          <a:bodyPr wrap="square" lIns="0" tIns="0" rIns="0" bIns="0" rtlCol="0" anchor="t"/>
          <a:lstStyle/>
          <a:p>
            <a:pPr algn="ctr" indent="0" marL="0">
              <a:lnSpc>
                <a:spcPct val="105000"/>
              </a:lnSpc>
              <a:buNone/>
            </a:pPr>
            <a:r>
              <a:rPr lang="en-US" sz="750" dirty="0">
                <a:solidFill>
                  <a:srgbClr val="5B6575"/>
                </a:solidFill>
                <a:latin typeface="Arial" pitchFamily="34" charset="0"/>
                <a:ea typeface="Arial" pitchFamily="34" charset="-122"/>
                <a:cs typeface="Arial" pitchFamily="34" charset="-120"/>
              </a:rPr>
              <a:t>deux décisions opposées</a:t>
            </a:r>
          </a:p>
        </p:txBody>
      </p:sp>
      <p:sp>
        <p:nvSpPr>
          <p:cNvPr id="37" name="Shape 31"/>
          <p:cNvSpPr/>
          <p:nvPr/>
        </p:nvSpPr>
        <p:spPr>
          <a:xfrm>
            <a:off x="457200" y="5166360"/>
            <a:ext cx="11274552" cy="566928"/>
          </a:xfrm>
          <a:prstGeom prst="roundRect">
            <a:avLst>
              <a:gd name="adj" fmla="val 16129"/>
            </a:avLst>
          </a:prstGeom>
          <a:solidFill>
            <a:srgbClr val="F3F5F8"/>
          </a:solidFill>
          <a:ln w="12700">
            <a:solidFill>
              <a:srgbClr val="F3F5F8"/>
            </a:solidFill>
            <a:prstDash val="solid"/>
          </a:ln>
        </p:spPr>
        <p:txBody>
          <a:bodyPr/>
          <a:p/>
        </p:txBody>
      </p:sp>
      <p:sp>
        <p:nvSpPr>
          <p:cNvPr id="38" name="Text 32"/>
          <p:cNvSpPr txBox="1"/>
          <p:nvPr/>
        </p:nvSpPr>
        <p:spPr>
          <a:xfrm>
            <a:off x="658368" y="5166360"/>
            <a:ext cx="10872216" cy="566928"/>
          </a:xfrm>
          <a:prstGeom prst="rect">
            <a:avLst/>
          </a:prstGeom>
          <a:noFill/>
          <a:ln/>
        </p:spPr>
        <p:txBody>
          <a:bodyPr wrap="square" lIns="0" tIns="0" rIns="0" bIns="0" rtlCol="0" anchor="ctr"/>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Avec les seuls documents Word, ni un humain ni un agent IA ne peut savoir lequel des deux projets doit être approuvé. </a:t>
            </a:r>
            <a:r>
              <a:rPr lang="en-US" sz="1050" dirty="0">
                <a:solidFill>
                  <a:srgbClr val="252A3D"/>
                </a:solidFill>
                <a:latin typeface="Arial" pitchFamily="34" charset="0"/>
                <a:ea typeface="Arial" pitchFamily="34" charset="-122"/>
                <a:cs typeface="Arial" pitchFamily="34" charset="-120"/>
              </a:rPr>
              <a:t>Il manque une information, pas une meilleure capacité de raisonnement.</a:t>
            </a:r>
          </a:p>
        </p:txBody>
      </p:sp>
      <p:sp>
        <p:nvSpPr>
          <p:cNvPr id="39" name="Shape 33"/>
          <p:cNvSpPr/>
          <p:nvPr/>
        </p:nvSpPr>
        <p:spPr>
          <a:xfrm>
            <a:off x="457200" y="5870448"/>
            <a:ext cx="11274552" cy="603504"/>
          </a:xfrm>
          <a:prstGeom prst="roundRect">
            <a:avLst>
              <a:gd name="adj" fmla="val 15152"/>
            </a:avLst>
          </a:prstGeom>
          <a:solidFill>
            <a:srgbClr val="FFF5BF"/>
          </a:solidFill>
          <a:ln w="12700">
            <a:solidFill>
              <a:srgbClr val="FFF5BF"/>
            </a:solidFill>
            <a:prstDash val="solid"/>
          </a:ln>
        </p:spPr>
        <p:txBody>
          <a:bodyPr/>
          <a:p/>
        </p:txBody>
      </p:sp>
      <p:pic>
        <p:nvPicPr>
          <p:cNvPr id="40" name="Image 4" descr="preencoded.png">    </p:cNvPr>
          <p:cNvPicPr>
            <a:picLocks noChangeAspect="1"/>
          </p:cNvPicPr>
          <p:nvPr/>
        </p:nvPicPr>
        <p:blipFill>
          <a:blip r:embed="rId5"/>
          <a:stretch>
            <a:fillRect/>
          </a:stretch>
        </p:blipFill>
        <p:spPr>
          <a:xfrm>
            <a:off x="621792" y="6016752"/>
            <a:ext cx="310896" cy="310896"/>
          </a:xfrm>
          <a:prstGeom prst="rect">
            <a:avLst/>
          </a:prstGeom>
        </p:spPr>
      </p:pic>
      <p:sp>
        <p:nvSpPr>
          <p:cNvPr id="41" name="Text 34"/>
          <p:cNvSpPr txBox="1"/>
          <p:nvPr/>
        </p:nvSpPr>
        <p:spPr>
          <a:xfrm>
            <a:off x="1051560" y="5870448"/>
            <a:ext cx="10469880" cy="603504"/>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L’agent doit donc pouvoir consulter les informations officielles de l’entreprise, même lorsqu’elles ne figurent pas dans le dossier. </a:t>
            </a:r>
            <a:r>
              <a:rPr lang="en-US" sz="1150" dirty="0">
                <a:solidFill>
                  <a:srgbClr val="252A3D"/>
                </a:solidFill>
                <a:latin typeface="Arial" pitchFamily="34" charset="0"/>
                <a:ea typeface="Arial" pitchFamily="34" charset="-122"/>
                <a:cs typeface="Arial" pitchFamily="34" charset="-120"/>
              </a:rPr>
              <a:t>S’il ne peut pas les consulter, il doit pouvoir répondre : « Il me manque une information pour décider.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EMPLOI · COMBIEN D’HEURES RESTENT À FAIRE ?</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Combien de travail reste-t-il aux humains ?</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Le nombre de cas automatisés ne suffit pas : il faut mesurer le temps de travail qui reste aux équipes.</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EMPLOI</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20 / 30</a:t>
            </a:r>
            <a:endParaRPr lang="en-US" sz="1000" dirty="0"/>
          </a:p>
        </p:txBody>
      </p:sp>
      <p:sp>
        <p:nvSpPr>
          <p:cNvPr id="9" name="Shape 7"/>
          <p:cNvSpPr/>
          <p:nvPr/>
        </p:nvSpPr>
        <p:spPr>
          <a:xfrm>
            <a:off x="457200" y="1965960"/>
            <a:ext cx="5074920" cy="3611880"/>
          </a:xfrm>
          <a:prstGeom prst="roundRect">
            <a:avLst>
              <a:gd name="adj" fmla="val 2532"/>
            </a:avLst>
          </a:prstGeom>
          <a:solidFill>
            <a:srgbClr val="F3F5F8"/>
          </a:solidFill>
          <a:ln w="12700">
            <a:solidFill>
              <a:srgbClr val="F3F5F8"/>
            </a:solidFill>
            <a:prstDash val="solid"/>
          </a:ln>
        </p:spPr>
        <p:txBody>
          <a:bodyPr/>
          <a:p/>
        </p:txBody>
      </p:sp>
      <p:sp>
        <p:nvSpPr>
          <p:cNvPr id="10" name="Text 8"/>
          <p:cNvSpPr txBox="1"/>
          <p:nvPr/>
        </p:nvSpPr>
        <p:spPr>
          <a:xfrm>
            <a:off x="658368" y="2103120"/>
            <a:ext cx="47548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6575"/>
                </a:solidFill>
                <a:latin typeface="Arial" pitchFamily="34" charset="0"/>
                <a:ea typeface="Arial" pitchFamily="34" charset="-122"/>
                <a:cs typeface="Arial" pitchFamily="34" charset="-120"/>
              </a:rPr>
              <a:t>COMMENT CALCULER LE TRAVAIL HUMAIN RESTANT</a:t>
            </a:r>
          </a:p>
        </p:txBody>
      </p:sp>
      <p:sp>
        <p:nvSpPr>
          <p:cNvPr id="11" name="Shape 9"/>
          <p:cNvSpPr/>
          <p:nvPr/>
        </p:nvSpPr>
        <p:spPr>
          <a:xfrm>
            <a:off x="658368" y="2395728"/>
            <a:ext cx="4663440" cy="658368"/>
          </a:xfrm>
          <a:prstGeom prst="roundRect">
            <a:avLst>
              <a:gd name="adj" fmla="val 13889"/>
            </a:avLst>
          </a:prstGeom>
          <a:solidFill>
            <a:srgbClr val="FFFFFF"/>
          </a:solidFill>
          <a:ln w="12700">
            <a:solidFill>
              <a:srgbClr val="FFFFFF"/>
            </a:solidFill>
            <a:prstDash val="solid"/>
          </a:ln>
        </p:spPr>
        <p:txBody>
          <a:bodyPr/>
          <a:p/>
        </p:txBody>
      </p:sp>
      <p:sp>
        <p:nvSpPr>
          <p:cNvPr id="12" name="Text 10"/>
          <p:cNvSpPr txBox="1"/>
          <p:nvPr/>
        </p:nvSpPr>
        <p:spPr>
          <a:xfrm>
            <a:off x="804672" y="2395728"/>
            <a:ext cx="4389120" cy="658368"/>
          </a:xfrm>
          <a:prstGeom prst="rect">
            <a:avLst/>
          </a:prstGeom>
          <a:noFill/>
          <a:ln/>
        </p:spPr>
        <p:txBody>
          <a:bodyPr wrap="square" lIns="0" tIns="0" rIns="0" bIns="0" rtlCol="0" anchor="ctr"/>
          <a:lstStyle/>
          <a:p>
            <a:pPr indent="0" marL="0">
              <a:lnSpc>
                <a:spcPct val="105000"/>
              </a:lnSpc>
              <a:buNone/>
            </a:pPr>
            <a:r>
              <a:rPr lang="en-US" sz="940" b="1" dirty="0">
                <a:solidFill>
                  <a:srgbClr val="252A3D"/>
                </a:solidFill>
                <a:latin typeface="Arial" pitchFamily="34" charset="0"/>
                <a:ea typeface="Arial" pitchFamily="34" charset="-122"/>
                <a:cs typeface="Arial" pitchFamily="34" charset="-120"/>
              </a:rPr>
              <a:t>Cas complexes : </a:t>
            </a:r>
            <a:r>
              <a:rPr lang="en-US" sz="940" dirty="0">
                <a:solidFill>
                  <a:srgbClr val="252A3D"/>
                </a:solidFill>
                <a:latin typeface="Arial" pitchFamily="34" charset="0"/>
                <a:ea typeface="Arial" pitchFamily="34" charset="-122"/>
                <a:cs typeface="Arial" pitchFamily="34" charset="-120"/>
              </a:rPr>
              <a:t>nombre de cas encore confiés aux humains × temps nécessaire pour chacun.</a:t>
            </a:r>
          </a:p>
        </p:txBody>
      </p:sp>
      <p:sp>
        <p:nvSpPr>
          <p:cNvPr id="13" name="Shape 11"/>
          <p:cNvSpPr/>
          <p:nvPr/>
        </p:nvSpPr>
        <p:spPr>
          <a:xfrm>
            <a:off x="658368" y="3145536"/>
            <a:ext cx="4663440" cy="658368"/>
          </a:xfrm>
          <a:prstGeom prst="roundRect">
            <a:avLst>
              <a:gd name="adj" fmla="val 13889"/>
            </a:avLst>
          </a:prstGeom>
          <a:solidFill>
            <a:srgbClr val="FFFFFF"/>
          </a:solidFill>
          <a:ln w="12700">
            <a:solidFill>
              <a:srgbClr val="FFFFFF"/>
            </a:solidFill>
            <a:prstDash val="solid"/>
          </a:ln>
        </p:spPr>
        <p:txBody>
          <a:bodyPr/>
          <a:p/>
        </p:txBody>
      </p:sp>
      <p:sp>
        <p:nvSpPr>
          <p:cNvPr id="14" name="Text 12"/>
          <p:cNvSpPr txBox="1"/>
          <p:nvPr/>
        </p:nvSpPr>
        <p:spPr>
          <a:xfrm>
            <a:off x="804672" y="3145536"/>
            <a:ext cx="4389120" cy="658368"/>
          </a:xfrm>
          <a:prstGeom prst="rect">
            <a:avLst/>
          </a:prstGeom>
          <a:noFill/>
          <a:ln/>
        </p:spPr>
        <p:txBody>
          <a:bodyPr wrap="square" lIns="0" tIns="0" rIns="0" bIns="0" rtlCol="0" anchor="ctr"/>
          <a:lstStyle/>
          <a:p>
            <a:pPr indent="0" marL="0">
              <a:lnSpc>
                <a:spcPct val="105000"/>
              </a:lnSpc>
              <a:buNone/>
            </a:pPr>
            <a:r>
              <a:rPr lang="en-US" sz="940" b="1" dirty="0">
                <a:solidFill>
                  <a:srgbClr val="252A3D"/>
                </a:solidFill>
                <a:latin typeface="Arial" pitchFamily="34" charset="0"/>
                <a:ea typeface="Arial" pitchFamily="34" charset="-122"/>
                <a:cs typeface="Arial" pitchFamily="34" charset="-120"/>
              </a:rPr>
              <a:t>+ Vérifications : </a:t>
            </a:r>
            <a:r>
              <a:rPr lang="en-US" sz="940" dirty="0">
                <a:solidFill>
                  <a:srgbClr val="252A3D"/>
                </a:solidFill>
                <a:latin typeface="Arial" pitchFamily="34" charset="0"/>
                <a:ea typeface="Arial" pitchFamily="34" charset="-122"/>
                <a:cs typeface="Arial" pitchFamily="34" charset="-120"/>
              </a:rPr>
              <a:t>temps consacré aux signatures, aux contrôles sur un échantillon de dossiers et aux validations qui restent humaines.</a:t>
            </a:r>
          </a:p>
        </p:txBody>
      </p:sp>
      <p:sp>
        <p:nvSpPr>
          <p:cNvPr id="15" name="Shape 13"/>
          <p:cNvSpPr/>
          <p:nvPr/>
        </p:nvSpPr>
        <p:spPr>
          <a:xfrm>
            <a:off x="658368" y="3895344"/>
            <a:ext cx="4663440" cy="658368"/>
          </a:xfrm>
          <a:prstGeom prst="roundRect">
            <a:avLst>
              <a:gd name="adj" fmla="val 13889"/>
            </a:avLst>
          </a:prstGeom>
          <a:solidFill>
            <a:srgbClr val="FFFFFF"/>
          </a:solidFill>
          <a:ln w="12700">
            <a:solidFill>
              <a:srgbClr val="FFFFFF"/>
            </a:solidFill>
            <a:prstDash val="solid"/>
          </a:ln>
        </p:spPr>
        <p:txBody>
          <a:bodyPr/>
          <a:p/>
        </p:txBody>
      </p:sp>
      <p:sp>
        <p:nvSpPr>
          <p:cNvPr id="16" name="Text 14"/>
          <p:cNvSpPr txBox="1"/>
          <p:nvPr/>
        </p:nvSpPr>
        <p:spPr>
          <a:xfrm>
            <a:off x="804672" y="3895344"/>
            <a:ext cx="4389120" cy="658368"/>
          </a:xfrm>
          <a:prstGeom prst="rect">
            <a:avLst/>
          </a:prstGeom>
          <a:noFill/>
          <a:ln/>
        </p:spPr>
        <p:txBody>
          <a:bodyPr wrap="square" lIns="0" tIns="0" rIns="0" bIns="0" rtlCol="0" anchor="ctr"/>
          <a:lstStyle/>
          <a:p>
            <a:pPr indent="0" marL="0">
              <a:lnSpc>
                <a:spcPct val="105000"/>
              </a:lnSpc>
              <a:buNone/>
            </a:pPr>
            <a:r>
              <a:rPr lang="en-US" sz="940" b="1" dirty="0">
                <a:solidFill>
                  <a:srgbClr val="252A3D"/>
                </a:solidFill>
                <a:latin typeface="Arial" pitchFamily="34" charset="0"/>
                <a:ea typeface="Arial" pitchFamily="34" charset="-122"/>
                <a:cs typeface="Arial" pitchFamily="34" charset="-120"/>
              </a:rPr>
              <a:t>+ Corrections : </a:t>
            </a:r>
            <a:r>
              <a:rPr lang="en-US" sz="940" dirty="0">
                <a:solidFill>
                  <a:srgbClr val="252A3D"/>
                </a:solidFill>
                <a:latin typeface="Arial" pitchFamily="34" charset="0"/>
                <a:ea typeface="Arial" pitchFamily="34" charset="-122"/>
                <a:cs typeface="Arial" pitchFamily="34" charset="-120"/>
              </a:rPr>
              <a:t>temps passé à repérer et à corriger les erreurs de l’agent, y compris leurs conséquences sur les revues suivantes.</a:t>
            </a:r>
          </a:p>
        </p:txBody>
      </p:sp>
      <p:sp>
        <p:nvSpPr>
          <p:cNvPr id="17" name="Shape 15"/>
          <p:cNvSpPr/>
          <p:nvPr/>
        </p:nvSpPr>
        <p:spPr>
          <a:xfrm>
            <a:off x="658368" y="4645152"/>
            <a:ext cx="4663440" cy="658368"/>
          </a:xfrm>
          <a:prstGeom prst="roundRect">
            <a:avLst>
              <a:gd name="adj" fmla="val 13889"/>
            </a:avLst>
          </a:prstGeom>
          <a:solidFill>
            <a:srgbClr val="FFFFFF"/>
          </a:solidFill>
          <a:ln w="12700">
            <a:solidFill>
              <a:srgbClr val="FFFFFF"/>
            </a:solidFill>
            <a:prstDash val="solid"/>
          </a:ln>
        </p:spPr>
        <p:txBody>
          <a:bodyPr/>
          <a:p/>
        </p:txBody>
      </p:sp>
      <p:sp>
        <p:nvSpPr>
          <p:cNvPr id="18" name="Text 16"/>
          <p:cNvSpPr txBox="1"/>
          <p:nvPr/>
        </p:nvSpPr>
        <p:spPr>
          <a:xfrm>
            <a:off x="804672" y="4645152"/>
            <a:ext cx="4389120" cy="658368"/>
          </a:xfrm>
          <a:prstGeom prst="rect">
            <a:avLst/>
          </a:prstGeom>
          <a:noFill/>
          <a:ln/>
        </p:spPr>
        <p:txBody>
          <a:bodyPr wrap="square" lIns="0" tIns="0" rIns="0" bIns="0" rtlCol="0" anchor="ctr"/>
          <a:lstStyle/>
          <a:p>
            <a:pPr indent="0" marL="0">
              <a:lnSpc>
                <a:spcPct val="105000"/>
              </a:lnSpc>
              <a:buNone/>
            </a:pPr>
            <a:r>
              <a:rPr lang="en-US" sz="940" b="1" dirty="0">
                <a:solidFill>
                  <a:srgbClr val="252A3D"/>
                </a:solidFill>
                <a:latin typeface="Arial" pitchFamily="34" charset="0"/>
                <a:ea typeface="Arial" pitchFamily="34" charset="-122"/>
                <a:cs typeface="Arial" pitchFamily="34" charset="-120"/>
              </a:rPr>
              <a:t>+ Maintenance : </a:t>
            </a:r>
            <a:r>
              <a:rPr lang="en-US" sz="940" dirty="0">
                <a:solidFill>
                  <a:srgbClr val="252A3D"/>
                </a:solidFill>
                <a:latin typeface="Arial" pitchFamily="34" charset="0"/>
                <a:ea typeface="Arial" pitchFamily="34" charset="-122"/>
                <a:cs typeface="Arial" pitchFamily="34" charset="-120"/>
              </a:rPr>
              <a:t>temps passé à mettre à jour les connexions aux autres systèmes, les règles et les cas de test, sans oublier l’assistance du fournisseur.</a:t>
            </a:r>
          </a:p>
        </p:txBody>
      </p:sp>
      <p:sp>
        <p:nvSpPr>
          <p:cNvPr id="19" name="Text 17"/>
          <p:cNvSpPr txBox="1"/>
          <p:nvPr/>
        </p:nvSpPr>
        <p:spPr>
          <a:xfrm>
            <a:off x="658368" y="5349240"/>
            <a:ext cx="4754880" cy="258317"/>
          </a:xfrm>
          <a:prstGeom prst="rect">
            <a:avLst/>
          </a:prstGeom>
          <a:noFill/>
          <a:ln/>
        </p:spPr>
        <p:txBody>
          <a:bodyPr wrap="square" lIns="0" tIns="0" rIns="0" bIns="0" rtlCol="0" anchor="t"/>
          <a:lstStyle/>
          <a:p>
            <a:pPr indent="0" marL="0">
              <a:lnSpc>
                <a:spcPct val="105000"/>
              </a:lnSpc>
              <a:buNone/>
            </a:pPr>
            <a:r>
              <a:rPr lang="en-US" sz="680" i="1" dirty="0">
                <a:solidFill>
                  <a:srgbClr val="5B6575"/>
                </a:solidFill>
                <a:latin typeface="Arial" pitchFamily="34" charset="0"/>
                <a:ea typeface="Arial" pitchFamily="34" charset="-122"/>
                <a:cs typeface="Arial" pitchFamily="34" charset="-120"/>
              </a:rPr>
              <a:t>Confier la même tâche à un autre service ne fait pas gagner de temps à l’entreprise. Ces heures doivent toujours être comptées.</a:t>
            </a:r>
          </a:p>
        </p:txBody>
      </p:sp>
      <p:sp>
        <p:nvSpPr>
          <p:cNvPr id="20" name="Shape 18"/>
          <p:cNvSpPr/>
          <p:nvPr/>
        </p:nvSpPr>
        <p:spPr>
          <a:xfrm>
            <a:off x="5760720" y="1965960"/>
            <a:ext cx="5971032" cy="1115568"/>
          </a:xfrm>
          <a:prstGeom prst="roundRect">
            <a:avLst>
              <a:gd name="adj" fmla="val 8197"/>
            </a:avLst>
          </a:prstGeom>
          <a:solidFill>
            <a:srgbClr val="FFF5BF"/>
          </a:solidFill>
          <a:ln w="12700">
            <a:solidFill>
              <a:srgbClr val="FFF5BF"/>
            </a:solidFill>
            <a:prstDash val="solid"/>
          </a:ln>
        </p:spPr>
        <p:txBody>
          <a:bodyPr/>
          <a:p/>
        </p:txBody>
      </p:sp>
      <p:sp>
        <p:nvSpPr>
          <p:cNvPr id="21" name="Text 19"/>
          <p:cNvSpPr txBox="1"/>
          <p:nvPr/>
        </p:nvSpPr>
        <p:spPr>
          <a:xfrm>
            <a:off x="5943600" y="2075688"/>
            <a:ext cx="5577840" cy="201168"/>
          </a:xfrm>
          <a:prstGeom prst="rect">
            <a:avLst/>
          </a:prstGeom>
          <a:noFill/>
          <a:ln/>
        </p:spPr>
        <p:txBody>
          <a:bodyPr wrap="square" lIns="0" tIns="0" rIns="0" bIns="0" rtlCol="0" anchor="t"/>
          <a:lstStyle/>
          <a:p>
            <a:pPr indent="0" marL="0">
              <a:lnSpc>
                <a:spcPct val="105000"/>
              </a:lnSpc>
              <a:buNone/>
            </a:pPr>
            <a:r>
              <a:rPr lang="en-US" sz="900" b="1" spc="50" kern="0" dirty="0">
                <a:solidFill>
                  <a:srgbClr val="8A6D00"/>
                </a:solidFill>
                <a:latin typeface="Arial" pitchFamily="34" charset="0"/>
                <a:ea typeface="Arial" pitchFamily="34" charset="-122"/>
                <a:cs typeface="Arial" pitchFamily="34" charset="-120"/>
              </a:rPr>
              <a:t>LES CAS LAISSÉS AUX HUMAINS PRENNENT PLUS DE TEMPS</a:t>
            </a:r>
          </a:p>
        </p:txBody>
      </p:sp>
      <p:sp>
        <p:nvSpPr>
          <p:cNvPr id="22" name="Text 20"/>
          <p:cNvSpPr txBox="1"/>
          <p:nvPr/>
        </p:nvSpPr>
        <p:spPr>
          <a:xfrm>
            <a:off x="5943600" y="2295144"/>
            <a:ext cx="5623560" cy="749808"/>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Si l’IA traite les 80 % de cas les plus simples, les 20 % restants peuvent encore occuper 40 % du temps de travail, voire davantage, parce qu’ils sont plus difficiles.</a:t>
            </a:r>
          </a:p>
        </p:txBody>
      </p:sp>
      <p:sp>
        <p:nvSpPr>
          <p:cNvPr id="23" name="Shape 21"/>
          <p:cNvSpPr/>
          <p:nvPr/>
        </p:nvSpPr>
        <p:spPr>
          <a:xfrm>
            <a:off x="5760720" y="3214116"/>
            <a:ext cx="5971032" cy="1115568"/>
          </a:xfrm>
          <a:prstGeom prst="roundRect">
            <a:avLst>
              <a:gd name="adj" fmla="val 8197"/>
            </a:avLst>
          </a:prstGeom>
          <a:solidFill>
            <a:srgbClr val="FFE4E6"/>
          </a:solidFill>
          <a:ln w="12700">
            <a:solidFill>
              <a:srgbClr val="FFE4E6"/>
            </a:solidFill>
            <a:prstDash val="solid"/>
          </a:ln>
        </p:spPr>
        <p:txBody>
          <a:bodyPr/>
          <a:p/>
        </p:txBody>
      </p:sp>
      <p:sp>
        <p:nvSpPr>
          <p:cNvPr id="24" name="Text 22"/>
          <p:cNvSpPr txBox="1"/>
          <p:nvPr/>
        </p:nvSpPr>
        <p:spPr>
          <a:xfrm>
            <a:off x="5943600" y="3323844"/>
            <a:ext cx="5577840" cy="201168"/>
          </a:xfrm>
          <a:prstGeom prst="rect">
            <a:avLst/>
          </a:prstGeom>
          <a:noFill/>
          <a:ln/>
        </p:spPr>
        <p:txBody>
          <a:bodyPr wrap="square" lIns="0" tIns="0" rIns="0" bIns="0" rtlCol="0" anchor="t"/>
          <a:lstStyle/>
          <a:p>
            <a:pPr indent="0" marL="0">
              <a:lnSpc>
                <a:spcPct val="105000"/>
              </a:lnSpc>
              <a:buNone/>
            </a:pPr>
            <a:r>
              <a:rPr lang="en-US" sz="900" b="1" spc="50" kern="0" dirty="0">
                <a:solidFill>
                  <a:srgbClr val="C8283E"/>
                </a:solidFill>
                <a:latin typeface="Arial" pitchFamily="34" charset="0"/>
                <a:ea typeface="Arial" pitchFamily="34" charset="-122"/>
                <a:cs typeface="Arial" pitchFamily="34" charset="-120"/>
              </a:rPr>
              <a:t>CORRIGER LES ERREURS PREND AUSSI DU TEMPS</a:t>
            </a:r>
          </a:p>
        </p:txBody>
      </p:sp>
      <p:sp>
        <p:nvSpPr>
          <p:cNvPr id="25" name="Text 23"/>
          <p:cNvSpPr txBox="1"/>
          <p:nvPr/>
        </p:nvSpPr>
        <p:spPr>
          <a:xfrm>
            <a:off x="5943600" y="3543300"/>
            <a:ext cx="5623560" cy="749808"/>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Une mauvaise décision ajoute du travail : il faut d’abord la repérer, puis la corriger. Une erreur grave qui passe inaperçue reste inacceptable, même si cela arrive rarement.</a:t>
            </a:r>
          </a:p>
        </p:txBody>
      </p:sp>
      <p:sp>
        <p:nvSpPr>
          <p:cNvPr id="26" name="Shape 24"/>
          <p:cNvSpPr/>
          <p:nvPr/>
        </p:nvSpPr>
        <p:spPr>
          <a:xfrm>
            <a:off x="5760720" y="4462272"/>
            <a:ext cx="5971032" cy="1115568"/>
          </a:xfrm>
          <a:prstGeom prst="roundRect">
            <a:avLst>
              <a:gd name="adj" fmla="val 8197"/>
            </a:avLst>
          </a:prstGeom>
          <a:solidFill>
            <a:srgbClr val="E5F6E9"/>
          </a:solidFill>
          <a:ln w="12700">
            <a:solidFill>
              <a:srgbClr val="E5F6E9"/>
            </a:solidFill>
            <a:prstDash val="solid"/>
          </a:ln>
        </p:spPr>
        <p:txBody>
          <a:bodyPr/>
          <a:p/>
        </p:txBody>
      </p:sp>
      <p:sp>
        <p:nvSpPr>
          <p:cNvPr id="27" name="Text 25"/>
          <p:cNvSpPr txBox="1"/>
          <p:nvPr/>
        </p:nvSpPr>
        <p:spPr>
          <a:xfrm>
            <a:off x="5943600" y="4572000"/>
            <a:ext cx="55778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LES MESURES À RELEVER</a:t>
            </a:r>
          </a:p>
        </p:txBody>
      </p:sp>
      <p:sp>
        <p:nvSpPr>
          <p:cNvPr id="28" name="Text 26"/>
          <p:cNvSpPr txBox="1"/>
          <p:nvPr/>
        </p:nvSpPr>
        <p:spPr>
          <a:xfrm>
            <a:off x="5943600" y="4791456"/>
            <a:ext cx="5623560" cy="749808"/>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Il faut compter les dossiers traités, les heures travaillées avant et après, les dossiers renvoyés aux humains, ainsi que le temps de correction et de maintenance. La comparaison doit porter sur des dossiers de même nature avant et après l’arrivée de l’IA.</a:t>
            </a:r>
          </a:p>
        </p:txBody>
      </p:sp>
      <p:sp>
        <p:nvSpPr>
          <p:cNvPr id="29" name="Shape 27"/>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30"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31" name="Text 28"/>
          <p:cNvSpPr txBox="1"/>
          <p:nvPr/>
        </p:nvSpPr>
        <p:spPr>
          <a:xfrm>
            <a:off x="1051560" y="5845302"/>
            <a:ext cx="10469880" cy="610361"/>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Un bon taux de réussite aux tests ne dit pas combien d’heures l’IA fait gagner. </a:t>
            </a:r>
            <a:r>
              <a:rPr lang="en-US" sz="1150" dirty="0">
                <a:solidFill>
                  <a:srgbClr val="252A3D"/>
                </a:solidFill>
                <a:latin typeface="Arial" pitchFamily="34" charset="0"/>
                <a:ea typeface="Arial" pitchFamily="34" charset="-122"/>
                <a:cs typeface="Arial" pitchFamily="34" charset="-120"/>
              </a:rPr>
              <a:t>Pour le savoir, il faut mesurer le travail qui reste aux humains.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EMPLOI · LE MÊME AGENT, QUATRE FAÇONS D’ORGANISER LE TRAVAIL</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Le même agent, mais des besoins humains très différents</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150" dirty="0">
                <a:solidFill>
                  <a:srgbClr val="5B6575"/>
                </a:solidFill>
                <a:latin typeface="Arial" pitchFamily="34" charset="0"/>
                <a:ea typeface="Arial" pitchFamily="34" charset="-122"/>
                <a:cs typeface="Arial" pitchFamily="34" charset="-120"/>
              </a:rPr>
              <a:t>Dans cet exemple, le travail représente aujourd’hui 140 équivalents temps plein (ETP), soit la charge de travail de 140 personnes à temps plein. Avec le même agent IA, les besoins vont de 44 à 169 ETP selon la façon d’organiser le travail.</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EMPLOI</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21 / 30</a:t>
            </a:r>
            <a:endParaRPr lang="en-US" sz="1000" dirty="0"/>
          </a:p>
        </p:txBody>
      </p:sp>
      <p:sp>
        <p:nvSpPr>
          <p:cNvPr id="9" name="Shape 7"/>
          <p:cNvSpPr/>
          <p:nvPr/>
        </p:nvSpPr>
        <p:spPr>
          <a:xfrm>
            <a:off x="457200" y="1965960"/>
            <a:ext cx="6492240" cy="3611880"/>
          </a:xfrm>
          <a:prstGeom prst="roundRect">
            <a:avLst>
              <a:gd name="adj" fmla="val 2532"/>
            </a:avLst>
          </a:prstGeom>
          <a:solidFill>
            <a:srgbClr val="FFFFFF"/>
          </a:solidFill>
          <a:ln w="12700">
            <a:solidFill>
              <a:srgbClr val="D4DAE3"/>
            </a:solidFill>
            <a:prstDash val="solid"/>
          </a:ln>
        </p:spPr>
        <p:txBody>
          <a:bodyPr/>
          <a:p/>
        </p:txBody>
      </p:sp>
      <p:graphicFrame>
        <p:nvGraphicFramePr>
          <p:cNvPr id="10" name="Chart 0" descr=""/>
          <p:cNvGraphicFramePr/>
          <p:nvPr/>
        </p:nvGraphicFramePr>
        <p:xfrm>
          <a:off x="548640" y="2029968"/>
          <a:ext cx="6309360" cy="3493008"/>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7150608" y="1965960"/>
            <a:ext cx="4581144" cy="804672"/>
          </a:xfrm>
          <a:prstGeom prst="roundRect">
            <a:avLst>
              <a:gd name="adj" fmla="val 11364"/>
            </a:avLst>
          </a:prstGeom>
          <a:solidFill>
            <a:srgbClr val="E5F6E9"/>
          </a:solidFill>
          <a:ln w="12700">
            <a:solidFill>
              <a:srgbClr val="E5F6E9"/>
            </a:solidFill>
            <a:prstDash val="solid"/>
          </a:ln>
        </p:spPr>
        <p:txBody>
          <a:bodyPr/>
          <a:p/>
        </p:txBody>
      </p:sp>
      <p:sp>
        <p:nvSpPr>
          <p:cNvPr id="12" name="Text 9"/>
          <p:cNvSpPr txBox="1"/>
          <p:nvPr/>
        </p:nvSpPr>
        <p:spPr>
          <a:xfrm>
            <a:off x="7315200" y="2048256"/>
            <a:ext cx="2834640" cy="219456"/>
          </a:xfrm>
          <a:prstGeom prst="rect">
            <a:avLst/>
          </a:prstGeom>
          <a:noFill/>
          <a:ln/>
        </p:spPr>
        <p:txBody>
          <a:bodyPr wrap="square" lIns="0" tIns="0" rIns="0" bIns="0" rtlCol="0" anchor="t"/>
          <a:lstStyle/>
          <a:p>
            <a:pPr indent="0" marL="0">
              <a:lnSpc>
                <a:spcPct val="105000"/>
              </a:lnSpc>
              <a:buNone/>
            </a:pPr>
            <a:r>
              <a:rPr lang="en-US" sz="850" b="1" dirty="0">
                <a:solidFill>
                  <a:srgbClr val="252A3D"/>
                </a:solidFill>
                <a:latin typeface="Arial" pitchFamily="34" charset="0"/>
                <a:ea typeface="Arial" pitchFamily="34" charset="-122"/>
                <a:cs typeface="Arial" pitchFamily="34" charset="-120"/>
              </a:rPr>
              <a:t>S0 · L’IA aide aussi à traiter les cas complexes</a:t>
            </a:r>
          </a:p>
        </p:txBody>
      </p:sp>
      <p:sp>
        <p:nvSpPr>
          <p:cNvPr id="13" name="Text 10"/>
          <p:cNvSpPr txBox="1"/>
          <p:nvPr/>
        </p:nvSpPr>
        <p:spPr>
          <a:xfrm>
            <a:off x="9921240" y="2048256"/>
            <a:ext cx="1691640" cy="219456"/>
          </a:xfrm>
          <a:prstGeom prst="rect">
            <a:avLst/>
          </a:prstGeom>
          <a:noFill/>
          <a:ln/>
        </p:spPr>
        <p:txBody>
          <a:bodyPr wrap="square" lIns="0" tIns="0" rIns="0" bIns="0" rtlCol="0" anchor="t"/>
          <a:lstStyle/>
          <a:p>
            <a:pPr algn="r" indent="0" marL="0">
              <a:lnSpc>
                <a:spcPct val="105000"/>
              </a:lnSpc>
              <a:buNone/>
            </a:pPr>
            <a:r>
              <a:rPr lang="en-US" sz="980" b="1" dirty="0">
                <a:solidFill>
                  <a:srgbClr val="1E7A3C"/>
                </a:solidFill>
                <a:latin typeface="Arial" pitchFamily="34" charset="0"/>
                <a:ea typeface="Arial" pitchFamily="34" charset="-122"/>
                <a:cs typeface="Arial" pitchFamily="34" charset="-120"/>
              </a:rPr>
              <a:t>44 ETP · −69 %</a:t>
            </a:r>
            <a:endParaRPr lang="en-US" sz="980" dirty="0"/>
          </a:p>
        </p:txBody>
      </p:sp>
      <p:sp>
        <p:nvSpPr>
          <p:cNvPr id="14" name="Text 11"/>
          <p:cNvSpPr txBox="1"/>
          <p:nvPr/>
        </p:nvSpPr>
        <p:spPr>
          <a:xfrm>
            <a:off x="7315200" y="2295144"/>
            <a:ext cx="4251960" cy="438912"/>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L’IA permet aux spécialistes de traiter les cas complexes en deux fois moins de temps. Les vérifications humaines restent limitées. Ce scénario optimiste ne compte pas le temps de maintenance.</a:t>
            </a:r>
          </a:p>
        </p:txBody>
      </p:sp>
      <p:sp>
        <p:nvSpPr>
          <p:cNvPr id="15" name="Shape 12"/>
          <p:cNvSpPr/>
          <p:nvPr/>
        </p:nvSpPr>
        <p:spPr>
          <a:xfrm>
            <a:off x="7150608" y="2880360"/>
            <a:ext cx="4581144" cy="804672"/>
          </a:xfrm>
          <a:prstGeom prst="roundRect">
            <a:avLst>
              <a:gd name="adj" fmla="val 11364"/>
            </a:avLst>
          </a:prstGeom>
          <a:solidFill>
            <a:srgbClr val="DDF5FC"/>
          </a:solidFill>
          <a:ln w="12700">
            <a:solidFill>
              <a:srgbClr val="DDF5FC"/>
            </a:solidFill>
            <a:prstDash val="solid"/>
          </a:ln>
        </p:spPr>
        <p:txBody>
          <a:bodyPr/>
          <a:p/>
        </p:txBody>
      </p:sp>
      <p:sp>
        <p:nvSpPr>
          <p:cNvPr id="16" name="Text 13"/>
          <p:cNvSpPr txBox="1"/>
          <p:nvPr/>
        </p:nvSpPr>
        <p:spPr>
          <a:xfrm>
            <a:off x="7315200" y="2962656"/>
            <a:ext cx="2834640" cy="219456"/>
          </a:xfrm>
          <a:prstGeom prst="rect">
            <a:avLst/>
          </a:prstGeom>
          <a:noFill/>
          <a:ln/>
        </p:spPr>
        <p:txBody>
          <a:bodyPr wrap="square" lIns="0" tIns="0" rIns="0" bIns="0" rtlCol="0" anchor="t"/>
          <a:lstStyle/>
          <a:p>
            <a:pPr indent="0" marL="0">
              <a:lnSpc>
                <a:spcPct val="105000"/>
              </a:lnSpc>
              <a:buNone/>
            </a:pPr>
            <a:r>
              <a:rPr lang="en-US" sz="850" b="1" dirty="0">
                <a:solidFill>
                  <a:srgbClr val="252A3D"/>
                </a:solidFill>
                <a:latin typeface="Arial" pitchFamily="34" charset="0"/>
                <a:ea typeface="Arial" pitchFamily="34" charset="-122"/>
                <a:cs typeface="Arial" pitchFamily="34" charset="-120"/>
              </a:rPr>
              <a:t>S1 · Les humains traitent seuls les cas complexes</a:t>
            </a:r>
          </a:p>
        </p:txBody>
      </p:sp>
      <p:sp>
        <p:nvSpPr>
          <p:cNvPr id="17" name="Text 14"/>
          <p:cNvSpPr txBox="1"/>
          <p:nvPr/>
        </p:nvSpPr>
        <p:spPr>
          <a:xfrm>
            <a:off x="9921240" y="2962656"/>
            <a:ext cx="1691640" cy="219456"/>
          </a:xfrm>
          <a:prstGeom prst="rect">
            <a:avLst/>
          </a:prstGeom>
          <a:noFill/>
          <a:ln/>
        </p:spPr>
        <p:txBody>
          <a:bodyPr wrap="square" lIns="0" tIns="0" rIns="0" bIns="0" rtlCol="0" anchor="t"/>
          <a:lstStyle/>
          <a:p>
            <a:pPr algn="r" indent="0" marL="0">
              <a:lnSpc>
                <a:spcPct val="105000"/>
              </a:lnSpc>
              <a:buNone/>
            </a:pPr>
            <a:r>
              <a:rPr lang="en-US" sz="980" b="1" dirty="0">
                <a:solidFill>
                  <a:srgbClr val="1E7A3C"/>
                </a:solidFill>
                <a:latin typeface="Arial" pitchFamily="34" charset="0"/>
                <a:ea typeface="Arial" pitchFamily="34" charset="-122"/>
                <a:cs typeface="Arial" pitchFamily="34" charset="-120"/>
              </a:rPr>
              <a:t>85 ETP · −39 %</a:t>
            </a:r>
            <a:endParaRPr lang="en-US" sz="980" dirty="0"/>
          </a:p>
        </p:txBody>
      </p:sp>
      <p:sp>
        <p:nvSpPr>
          <p:cNvPr id="18" name="Text 15"/>
          <p:cNvSpPr txBox="1"/>
          <p:nvPr/>
        </p:nvSpPr>
        <p:spPr>
          <a:xfrm>
            <a:off x="7315200" y="3209544"/>
            <a:ext cx="4251960" cy="438912"/>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Le traitement des cas complexes prend autant de temps aux humains qu’avant. Chaque équipe affecte une personne au fonctionnement de la plateforme.</a:t>
            </a:r>
          </a:p>
        </p:txBody>
      </p:sp>
      <p:sp>
        <p:nvSpPr>
          <p:cNvPr id="19" name="Shape 16"/>
          <p:cNvSpPr/>
          <p:nvPr/>
        </p:nvSpPr>
        <p:spPr>
          <a:xfrm>
            <a:off x="7150608" y="3794760"/>
            <a:ext cx="4581144" cy="804672"/>
          </a:xfrm>
          <a:prstGeom prst="roundRect">
            <a:avLst>
              <a:gd name="adj" fmla="val 11364"/>
            </a:avLst>
          </a:prstGeom>
          <a:solidFill>
            <a:srgbClr val="EFE8FA"/>
          </a:solidFill>
          <a:ln w="12700">
            <a:solidFill>
              <a:srgbClr val="EFE8FA"/>
            </a:solidFill>
            <a:prstDash val="solid"/>
          </a:ln>
        </p:spPr>
        <p:txBody>
          <a:bodyPr/>
          <a:p/>
        </p:txBody>
      </p:sp>
      <p:sp>
        <p:nvSpPr>
          <p:cNvPr id="20" name="Text 17"/>
          <p:cNvSpPr txBox="1"/>
          <p:nvPr/>
        </p:nvSpPr>
        <p:spPr>
          <a:xfrm>
            <a:off x="7315200" y="3877056"/>
            <a:ext cx="2834640" cy="219456"/>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S2 · On ajoute le temps de correction</a:t>
            </a:r>
          </a:p>
        </p:txBody>
      </p:sp>
      <p:sp>
        <p:nvSpPr>
          <p:cNvPr id="21" name="Text 18"/>
          <p:cNvSpPr txBox="1"/>
          <p:nvPr/>
        </p:nvSpPr>
        <p:spPr>
          <a:xfrm>
            <a:off x="9921240" y="3877056"/>
            <a:ext cx="1691640" cy="219456"/>
          </a:xfrm>
          <a:prstGeom prst="rect">
            <a:avLst/>
          </a:prstGeom>
          <a:noFill/>
          <a:ln/>
        </p:spPr>
        <p:txBody>
          <a:bodyPr wrap="square" lIns="0" tIns="0" rIns="0" bIns="0" rtlCol="0" anchor="t"/>
          <a:lstStyle/>
          <a:p>
            <a:pPr algn="r" indent="0" marL="0">
              <a:lnSpc>
                <a:spcPct val="105000"/>
              </a:lnSpc>
              <a:buNone/>
            </a:pPr>
            <a:r>
              <a:rPr lang="en-US" sz="980" b="1" dirty="0">
                <a:solidFill>
                  <a:srgbClr val="1E7A3C"/>
                </a:solidFill>
                <a:latin typeface="Arial" pitchFamily="34" charset="0"/>
                <a:ea typeface="Arial" pitchFamily="34" charset="-122"/>
                <a:cs typeface="Arial" pitchFamily="34" charset="-120"/>
              </a:rPr>
              <a:t>89 ETP · −36 %</a:t>
            </a:r>
            <a:endParaRPr lang="en-US" sz="980" dirty="0"/>
          </a:p>
        </p:txBody>
      </p:sp>
      <p:sp>
        <p:nvSpPr>
          <p:cNvPr id="22" name="Text 19"/>
          <p:cNvSpPr txBox="1"/>
          <p:nvPr/>
        </p:nvSpPr>
        <p:spPr>
          <a:xfrm>
            <a:off x="7315200" y="4123944"/>
            <a:ext cx="4251960" cy="438912"/>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On reprend le scénario S1 et on ajoute 30 minutes de correction par cas.</a:t>
            </a:r>
          </a:p>
        </p:txBody>
      </p:sp>
      <p:sp>
        <p:nvSpPr>
          <p:cNvPr id="23" name="Shape 20"/>
          <p:cNvSpPr/>
          <p:nvPr/>
        </p:nvSpPr>
        <p:spPr>
          <a:xfrm>
            <a:off x="7150608" y="4709160"/>
            <a:ext cx="4581144" cy="804672"/>
          </a:xfrm>
          <a:prstGeom prst="roundRect">
            <a:avLst>
              <a:gd name="adj" fmla="val 11364"/>
            </a:avLst>
          </a:prstGeom>
          <a:solidFill>
            <a:srgbClr val="FFE4E6"/>
          </a:solidFill>
          <a:ln w="12700">
            <a:solidFill>
              <a:srgbClr val="FFE4E6"/>
            </a:solidFill>
            <a:prstDash val="solid"/>
          </a:ln>
        </p:spPr>
        <p:txBody>
          <a:bodyPr/>
          <a:p/>
        </p:txBody>
      </p:sp>
      <p:sp>
        <p:nvSpPr>
          <p:cNvPr id="24" name="Text 21"/>
          <p:cNvSpPr txBox="1"/>
          <p:nvPr/>
        </p:nvSpPr>
        <p:spPr>
          <a:xfrm>
            <a:off x="7315200" y="4791456"/>
            <a:ext cx="2834640" cy="219456"/>
          </a:xfrm>
          <a:prstGeom prst="rect">
            <a:avLst/>
          </a:prstGeom>
          <a:noFill/>
          <a:ln/>
        </p:spPr>
        <p:txBody>
          <a:bodyPr wrap="square" lIns="0" tIns="0" rIns="0" bIns="0" rtlCol="0" anchor="t"/>
          <a:lstStyle/>
          <a:p>
            <a:pPr indent="0" marL="0">
              <a:lnSpc>
                <a:spcPct val="105000"/>
              </a:lnSpc>
              <a:buNone/>
            </a:pPr>
            <a:r>
              <a:rPr lang="en-US" sz="800" b="1" dirty="0">
                <a:solidFill>
                  <a:srgbClr val="252A3D"/>
                </a:solidFill>
                <a:latin typeface="Arial" pitchFamily="34" charset="0"/>
                <a:ea typeface="Arial" pitchFamily="34" charset="-122"/>
                <a:cs typeface="Arial" pitchFamily="34" charset="-120"/>
              </a:rPr>
              <a:t>S3 · Un humain relit chaque décision de l’agent</a:t>
            </a:r>
          </a:p>
        </p:txBody>
      </p:sp>
      <p:sp>
        <p:nvSpPr>
          <p:cNvPr id="25" name="Text 22"/>
          <p:cNvSpPr txBox="1"/>
          <p:nvPr/>
        </p:nvSpPr>
        <p:spPr>
          <a:xfrm>
            <a:off x="9921240" y="4791456"/>
            <a:ext cx="1691640" cy="219456"/>
          </a:xfrm>
          <a:prstGeom prst="rect">
            <a:avLst/>
          </a:prstGeom>
          <a:noFill/>
          <a:ln/>
        </p:spPr>
        <p:txBody>
          <a:bodyPr wrap="square" lIns="0" tIns="0" rIns="0" bIns="0" rtlCol="0" anchor="t"/>
          <a:lstStyle/>
          <a:p>
            <a:pPr algn="r" indent="0" marL="0">
              <a:lnSpc>
                <a:spcPct val="105000"/>
              </a:lnSpc>
              <a:buNone/>
            </a:pPr>
            <a:r>
              <a:rPr lang="en-US" sz="980" b="1" dirty="0">
                <a:solidFill>
                  <a:srgbClr val="C8283E"/>
                </a:solidFill>
                <a:latin typeface="Arial" pitchFamily="34" charset="0"/>
                <a:ea typeface="Arial" pitchFamily="34" charset="-122"/>
                <a:cs typeface="Arial" pitchFamily="34" charset="-120"/>
              </a:rPr>
              <a:t>169 ETP · +21 %</a:t>
            </a:r>
            <a:endParaRPr lang="en-US" sz="980" dirty="0"/>
          </a:p>
        </p:txBody>
      </p:sp>
      <p:sp>
        <p:nvSpPr>
          <p:cNvPr id="26" name="Text 23"/>
          <p:cNvSpPr txBox="1"/>
          <p:nvPr/>
        </p:nvSpPr>
        <p:spPr>
          <a:xfrm>
            <a:off x="7315200" y="5038344"/>
            <a:ext cx="4251960" cy="438912"/>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Chaque décision est relue par un humain. Il faut aussi compter les corrections et la maintenance. Il faut alors plus de travail humain qu’au départ.</a:t>
            </a:r>
          </a:p>
        </p:txBody>
      </p:sp>
      <p:sp>
        <p:nvSpPr>
          <p:cNvPr id="27" name="Shape 24"/>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8" name="Image 0"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29" name="Text 25"/>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Dans ces scénarios, le modèle d’IA est toujours le même. </a:t>
            </a:r>
            <a:r>
              <a:rPr lang="en-US" sz="1150" dirty="0">
                <a:solidFill>
                  <a:srgbClr val="252A3D"/>
                </a:solidFill>
                <a:latin typeface="Arial" pitchFamily="34" charset="0"/>
                <a:ea typeface="Arial" pitchFamily="34" charset="-122"/>
                <a:cs typeface="Arial" pitchFamily="34" charset="-120"/>
              </a:rPr>
              <a:t>C’est l’organisation du travail humain qui change le résultat.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EMPLOI · JUSQU’OÙ L’AUTOMATISATION POURRAIT ALLER (VERSION LONGUE)</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450" b="1" dirty="0">
                <a:solidFill>
                  <a:srgbClr val="252A3D"/>
                </a:solidFill>
                <a:latin typeface="Arial" pitchFamily="34" charset="0"/>
                <a:ea typeface="Arial" pitchFamily="34" charset="-122"/>
                <a:cs typeface="Arial" pitchFamily="34" charset="-120"/>
              </a:rPr>
              <a:t>Jusqu’où l’automatisation pourrait-elle aller ?</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Cinq scénarios théoriques montrent comment le travail humain pourrait passer de 140 ETP à zéro. Ils ne disent pas quand cela arriverait.</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EMPLOI</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22 / 30</a:t>
            </a:r>
            <a:endParaRPr lang="en-US" sz="1000" dirty="0"/>
          </a:p>
        </p:txBody>
      </p:sp>
      <p:sp>
        <p:nvSpPr>
          <p:cNvPr id="9" name="Shape 7"/>
          <p:cNvSpPr/>
          <p:nvPr/>
        </p:nvSpPr>
        <p:spPr>
          <a:xfrm>
            <a:off x="457200" y="1965960"/>
            <a:ext cx="6492240" cy="3611880"/>
          </a:xfrm>
          <a:prstGeom prst="roundRect">
            <a:avLst>
              <a:gd name="adj" fmla="val 2532"/>
            </a:avLst>
          </a:prstGeom>
          <a:solidFill>
            <a:srgbClr val="FFFFFF"/>
          </a:solidFill>
          <a:ln w="12700">
            <a:solidFill>
              <a:srgbClr val="D4DAE3"/>
            </a:solidFill>
            <a:prstDash val="solid"/>
          </a:ln>
        </p:spPr>
        <p:txBody>
          <a:bodyPr/>
          <a:p/>
        </p:txBody>
      </p:sp>
      <p:graphicFrame>
        <p:nvGraphicFramePr>
          <p:cNvPr id="10" name="Chart 0" descr=""/>
          <p:cNvGraphicFramePr/>
          <p:nvPr/>
        </p:nvGraphicFramePr>
        <p:xfrm>
          <a:off x="548640" y="2029968"/>
          <a:ext cx="6309360" cy="3493008"/>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7150608" y="1965960"/>
            <a:ext cx="4581144" cy="1143000"/>
          </a:xfrm>
          <a:prstGeom prst="roundRect">
            <a:avLst>
              <a:gd name="adj" fmla="val 8000"/>
            </a:avLst>
          </a:prstGeom>
          <a:solidFill>
            <a:srgbClr val="DDF5FC"/>
          </a:solidFill>
          <a:ln w="12700">
            <a:solidFill>
              <a:srgbClr val="DDF5FC"/>
            </a:solidFill>
            <a:prstDash val="solid"/>
          </a:ln>
        </p:spPr>
        <p:txBody>
          <a:bodyPr/>
          <a:p/>
        </p:txBody>
      </p:sp>
      <p:sp>
        <p:nvSpPr>
          <p:cNvPr id="12" name="Text 9"/>
          <p:cNvSpPr txBox="1"/>
          <p:nvPr/>
        </p:nvSpPr>
        <p:spPr>
          <a:xfrm>
            <a:off x="7333488" y="2075688"/>
            <a:ext cx="42062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B6E93"/>
                </a:solidFill>
                <a:latin typeface="Arial" pitchFamily="34" charset="0"/>
                <a:ea typeface="Arial" pitchFamily="34" charset="-122"/>
                <a:cs typeface="Arial" pitchFamily="34" charset="-120"/>
              </a:rPr>
              <a:t>CE QUE DÉCRIT CHAQUE SCÉNARIO</a:t>
            </a:r>
          </a:p>
        </p:txBody>
      </p:sp>
      <p:sp>
        <p:nvSpPr>
          <p:cNvPr id="13" name="Text 10"/>
          <p:cNvSpPr txBox="1"/>
          <p:nvPr/>
        </p:nvSpPr>
        <p:spPr>
          <a:xfrm>
            <a:off x="7333488" y="2295144"/>
            <a:ext cx="4224528" cy="777240"/>
          </a:xfrm>
          <a:prstGeom prst="rect">
            <a:avLst/>
          </a:prstGeom>
          <a:noFill/>
          <a:ln/>
        </p:spPr>
        <p:txBody>
          <a:bodyPr wrap="square" lIns="0" tIns="0" rIns="0" bIns="0" rtlCol="0" anchor="t"/>
          <a:lstStyle/>
          <a:p>
            <a:pPr indent="0" marL="0">
              <a:lnSpc>
                <a:spcPct val="105000"/>
              </a:lnSpc>
              <a:buNone/>
            </a:pPr>
            <a:r>
              <a:rPr lang="en-US" sz="670" dirty="0">
                <a:solidFill>
                  <a:srgbClr val="252A3D"/>
                </a:solidFill>
                <a:latin typeface="Arial" pitchFamily="34" charset="0"/>
                <a:ea typeface="Arial" pitchFamily="34" charset="-122"/>
                <a:cs typeface="Arial" pitchFamily="34" charset="-120"/>
              </a:rPr>
              <a:t>Automatisation partielle : les humains réalisent encore certaines revues, surtout pour les projets d’intégration.</a:t>
            </a:r>
          </a:p>
          <a:p>
            <a:pPr indent="0" marL="0">
              <a:lnSpc>
                <a:spcPct val="105000"/>
              </a:lnSpc>
              <a:buNone/>
            </a:pPr>
            <a:r>
              <a:rPr lang="en-US" sz="670" dirty="0">
                <a:solidFill>
                  <a:srgbClr val="252A3D"/>
                </a:solidFill>
                <a:latin typeface="Arial" pitchFamily="34" charset="0"/>
                <a:ea typeface="Arial" pitchFamily="34" charset="-122"/>
                <a:cs typeface="Arial" pitchFamily="34" charset="-120"/>
              </a:rPr>
              <a:t>Cinq personnes assurent le fonctionnement de la plateforme.</a:t>
            </a:r>
          </a:p>
          <a:p>
            <a:pPr indent="0" marL="0">
              <a:lnSpc>
                <a:spcPct val="105000"/>
              </a:lnSpc>
              <a:buNone/>
            </a:pPr>
            <a:r>
              <a:rPr lang="en-US" sz="670" dirty="0">
                <a:solidFill>
                  <a:srgbClr val="252A3D"/>
                </a:solidFill>
                <a:latin typeface="Arial" pitchFamily="34" charset="0"/>
                <a:ea typeface="Arial" pitchFamily="34" charset="-122"/>
                <a:cs typeface="Arial" pitchFamily="34" charset="-120"/>
              </a:rPr>
              <a:t>Automatisation majoritaire : selon le type de projet, les humains ne font plus que 3 à 20 % du travail initial.</a:t>
            </a:r>
          </a:p>
          <a:p>
            <a:pPr indent="0" marL="0">
              <a:lnSpc>
                <a:spcPct val="105000"/>
              </a:lnSpc>
              <a:buNone/>
            </a:pPr>
            <a:r>
              <a:rPr lang="en-US" sz="670" dirty="0">
                <a:solidFill>
                  <a:srgbClr val="252A3D"/>
                </a:solidFill>
                <a:latin typeface="Arial" pitchFamily="34" charset="0"/>
                <a:ea typeface="Arial" pitchFamily="34" charset="-122"/>
                <a:cs typeface="Arial" pitchFamily="34" charset="-120"/>
              </a:rPr>
              <a:t>Exploitation seule : toutes les revues sont automatisées, mais cinq personnes font encore fonctionner la plateforme.</a:t>
            </a:r>
          </a:p>
          <a:p>
            <a:pPr indent="0" marL="0">
              <a:lnSpc>
                <a:spcPct val="105000"/>
              </a:lnSpc>
              <a:buNone/>
            </a:pPr>
            <a:r>
              <a:rPr lang="en-US" sz="670" dirty="0">
                <a:solidFill>
                  <a:srgbClr val="252A3D"/>
                </a:solidFill>
                <a:latin typeface="Arial" pitchFamily="34" charset="0"/>
                <a:ea typeface="Arial" pitchFamily="34" charset="-122"/>
                <a:cs typeface="Arial" pitchFamily="34" charset="-120"/>
              </a:rPr>
              <a:t>Automatisation complète : le fonctionnement de la plateforme est lui aussi automatisé.</a:t>
            </a:r>
          </a:p>
        </p:txBody>
      </p:sp>
      <p:sp>
        <p:nvSpPr>
          <p:cNvPr id="14" name="Shape 11"/>
          <p:cNvSpPr/>
          <p:nvPr/>
        </p:nvSpPr>
        <p:spPr>
          <a:xfrm>
            <a:off x="7150608" y="3223260"/>
            <a:ext cx="4581144" cy="1143000"/>
          </a:xfrm>
          <a:prstGeom prst="roundRect">
            <a:avLst>
              <a:gd name="adj" fmla="val 8000"/>
            </a:avLst>
          </a:prstGeom>
          <a:solidFill>
            <a:srgbClr val="FFF5BF"/>
          </a:solidFill>
          <a:ln w="12700">
            <a:solidFill>
              <a:srgbClr val="FFF5BF"/>
            </a:solidFill>
            <a:prstDash val="solid"/>
          </a:ln>
        </p:spPr>
        <p:txBody>
          <a:bodyPr/>
          <a:p/>
        </p:txBody>
      </p:sp>
      <p:sp>
        <p:nvSpPr>
          <p:cNvPr id="15" name="Text 12"/>
          <p:cNvSpPr txBox="1"/>
          <p:nvPr/>
        </p:nvSpPr>
        <p:spPr>
          <a:xfrm>
            <a:off x="7333488" y="3332988"/>
            <a:ext cx="4206240" cy="201168"/>
          </a:xfrm>
          <a:prstGeom prst="rect">
            <a:avLst/>
          </a:prstGeom>
          <a:noFill/>
          <a:ln/>
        </p:spPr>
        <p:txBody>
          <a:bodyPr wrap="square" lIns="0" tIns="0" rIns="0" bIns="0" rtlCol="0" anchor="t"/>
          <a:lstStyle/>
          <a:p>
            <a:pPr indent="0" marL="0">
              <a:lnSpc>
                <a:spcPct val="105000"/>
              </a:lnSpc>
              <a:buNone/>
            </a:pPr>
            <a:r>
              <a:rPr lang="en-US" sz="740" b="1" spc="50" kern="0" dirty="0">
                <a:solidFill>
                  <a:srgbClr val="8A6D00"/>
                </a:solidFill>
                <a:latin typeface="Arial" pitchFamily="34" charset="0"/>
                <a:ea typeface="Arial" pitchFamily="34" charset="-122"/>
                <a:cs typeface="Arial" pitchFamily="34" charset="-120"/>
              </a:rPr>
              <a:t>LES PERSONNES NÉCESSAIRES POUR FAIRE FONCTIONNER LA PLATEFORME</a:t>
            </a:r>
          </a:p>
        </p:txBody>
      </p:sp>
      <p:sp>
        <p:nvSpPr>
          <p:cNvPr id="16" name="Text 13"/>
          <p:cNvSpPr txBox="1"/>
          <p:nvPr/>
        </p:nvSpPr>
        <p:spPr>
          <a:xfrm>
            <a:off x="7333488" y="3552444"/>
            <a:ext cx="4224528" cy="777240"/>
          </a:xfrm>
          <a:prstGeom prst="rect">
            <a:avLst/>
          </a:prstGeom>
          <a:noFill/>
          <a:ln/>
        </p:spPr>
        <p:txBody>
          <a:bodyPr wrap="square" lIns="0" tIns="0" rIns="0" bIns="0" rtlCol="0" anchor="t"/>
          <a:lstStyle/>
          <a:p>
            <a:pPr indent="0" marL="0">
              <a:lnSpc>
                <a:spcPct val="105000"/>
              </a:lnSpc>
              <a:buNone/>
            </a:pPr>
            <a:r>
              <a:rPr lang="en-US" sz="750" dirty="0">
                <a:solidFill>
                  <a:srgbClr val="252A3D"/>
                </a:solidFill>
                <a:latin typeface="Arial" pitchFamily="34" charset="0"/>
                <a:ea typeface="Arial" pitchFamily="34" charset="-122"/>
                <a:cs typeface="Arial" pitchFamily="34" charset="-120"/>
              </a:rPr>
              <a:t>Même en supprimant 80 % du travail de revue, il reste 33 ETP au total si cinq personnes doivent faire fonctionner la plateforme, et non 28. Avec cinq personnes pour la plateforme, il faudrait réduire d’environ 84 % le temps humain consacré aux revues pour atteindre 28 ETP au total. Avec une équipe de quinze personnes, il faudrait le réduire d’environ 91 %.</a:t>
            </a:r>
          </a:p>
        </p:txBody>
      </p:sp>
      <p:sp>
        <p:nvSpPr>
          <p:cNvPr id="17" name="Shape 14"/>
          <p:cNvSpPr/>
          <p:nvPr/>
        </p:nvSpPr>
        <p:spPr>
          <a:xfrm>
            <a:off x="7150608" y="4480560"/>
            <a:ext cx="4581144" cy="1143000"/>
          </a:xfrm>
          <a:prstGeom prst="roundRect">
            <a:avLst>
              <a:gd name="adj" fmla="val 8000"/>
            </a:avLst>
          </a:prstGeom>
          <a:solidFill>
            <a:srgbClr val="FFE4E6"/>
          </a:solidFill>
          <a:ln w="12700">
            <a:solidFill>
              <a:srgbClr val="FFE4E6"/>
            </a:solidFill>
            <a:prstDash val="solid"/>
          </a:ln>
        </p:spPr>
        <p:txBody>
          <a:bodyPr/>
          <a:p/>
        </p:txBody>
      </p:sp>
      <p:sp>
        <p:nvSpPr>
          <p:cNvPr id="18" name="Text 15"/>
          <p:cNvSpPr txBox="1"/>
          <p:nvPr/>
        </p:nvSpPr>
        <p:spPr>
          <a:xfrm>
            <a:off x="7333488" y="4590288"/>
            <a:ext cx="4206240" cy="201168"/>
          </a:xfrm>
          <a:prstGeom prst="rect">
            <a:avLst/>
          </a:prstGeom>
          <a:noFill/>
          <a:ln/>
        </p:spPr>
        <p:txBody>
          <a:bodyPr wrap="square" lIns="0" tIns="0" rIns="0" bIns="0" rtlCol="0" anchor="t"/>
          <a:lstStyle/>
          <a:p>
            <a:pPr indent="0" marL="0">
              <a:lnSpc>
                <a:spcPct val="105000"/>
              </a:lnSpc>
              <a:buNone/>
            </a:pPr>
            <a:r>
              <a:rPr lang="en-US" sz="800" b="1" spc="50" kern="0" dirty="0">
                <a:solidFill>
                  <a:srgbClr val="C8283E"/>
                </a:solidFill>
                <a:latin typeface="Arial" pitchFamily="34" charset="0"/>
                <a:ea typeface="Arial" pitchFamily="34" charset="-122"/>
                <a:cs typeface="Arial" pitchFamily="34" charset="-120"/>
              </a:rPr>
              <a:t>CE GRAPHIQUE NE DONNE PAS DE CALENDRIER</a:t>
            </a:r>
          </a:p>
        </p:txBody>
      </p:sp>
      <p:sp>
        <p:nvSpPr>
          <p:cNvPr id="19" name="Text 16"/>
          <p:cNvSpPr txBox="1"/>
          <p:nvPr/>
        </p:nvSpPr>
        <p:spPr>
          <a:xfrm>
            <a:off x="7333488" y="4809744"/>
            <a:ext cx="4224528" cy="77724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Chaque barre montre le travail humain qui resterait à un niveau donné d’automatisation. La dernière barre illustre une possibilité théorique. Elle ne prédit pas l’avenir.</a:t>
            </a:r>
          </a:p>
        </p:txBody>
      </p:sp>
      <p:sp>
        <p:nvSpPr>
          <p:cNvPr id="20" name="Shape 17"/>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1" name="Image 0"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22" name="Text 18"/>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Les contrôles prévus restent obligatoires. </a:t>
            </a:r>
            <a:r>
              <a:rPr lang="en-US" sz="1150" dirty="0">
                <a:solidFill>
                  <a:srgbClr val="252A3D"/>
                </a:solidFill>
                <a:latin typeface="Arial" pitchFamily="34" charset="0"/>
                <a:ea typeface="Arial" pitchFamily="34" charset="-122"/>
                <a:cs typeface="Arial" pitchFamily="34" charset="-120"/>
              </a:rPr>
              <a:t>Dans ces scénarios, il faut simplement moins de travail humain pour les effectuer.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EMPLOI · QUAND CELA POURRAIT-IL ARRIVER ? (VERSION LONGUE)</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Quand cela pourrait-il devenir possible ?</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00" dirty="0">
                <a:solidFill>
                  <a:srgbClr val="5B6575"/>
                </a:solidFill>
                <a:latin typeface="Arial" pitchFamily="34" charset="0"/>
                <a:ea typeface="Arial" pitchFamily="34" charset="-122"/>
                <a:cs typeface="Arial" pitchFamily="34" charset="-120"/>
              </a:rPr>
              <a:t>Il faut que l’agent sache mener des tâches plus longues, fasse très peu d’erreurs, réussisse des tests rigoureux et obtienne le droit de décider.</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EMPLOI</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23 / 30</a:t>
            </a:r>
            <a:endParaRPr lang="en-US" sz="1000" dirty="0"/>
          </a:p>
        </p:txBody>
      </p:sp>
      <p:sp>
        <p:nvSpPr>
          <p:cNvPr id="9" name="Shape 7"/>
          <p:cNvSpPr/>
          <p:nvPr/>
        </p:nvSpPr>
        <p:spPr>
          <a:xfrm>
            <a:off x="457200" y="1965960"/>
            <a:ext cx="2651760" cy="2103120"/>
          </a:xfrm>
          <a:prstGeom prst="roundRect">
            <a:avLst>
              <a:gd name="adj" fmla="val 4348"/>
            </a:avLst>
          </a:prstGeom>
          <a:solidFill>
            <a:srgbClr val="DDF5FC"/>
          </a:solidFill>
          <a:ln w="12700">
            <a:solidFill>
              <a:srgbClr val="DDF5FC"/>
            </a:solidFill>
            <a:prstDash val="solid"/>
          </a:ln>
        </p:spPr>
        <p:txBody>
          <a:bodyPr/>
          <a:p/>
        </p:txBody>
      </p:sp>
      <p:sp>
        <p:nvSpPr>
          <p:cNvPr id="10" name="Text 8"/>
          <p:cNvSpPr txBox="1"/>
          <p:nvPr/>
        </p:nvSpPr>
        <p:spPr>
          <a:xfrm>
            <a:off x="621792" y="2075688"/>
            <a:ext cx="2322576" cy="201168"/>
          </a:xfrm>
          <a:prstGeom prst="rect">
            <a:avLst/>
          </a:prstGeom>
          <a:noFill/>
          <a:ln/>
        </p:spPr>
        <p:txBody>
          <a:bodyPr wrap="square" lIns="0" tIns="0" rIns="0" bIns="0" rtlCol="0" anchor="t"/>
          <a:lstStyle/>
          <a:p>
            <a:pPr indent="0" marL="0">
              <a:lnSpc>
                <a:spcPct val="105000"/>
              </a:lnSpc>
              <a:buNone/>
            </a:pPr>
            <a:r>
              <a:rPr lang="en-US" sz="730" b="1" spc="20" kern="0" dirty="0">
                <a:solidFill>
                  <a:srgbClr val="1B6E93"/>
                </a:solidFill>
                <a:latin typeface="Arial" pitchFamily="34" charset="0"/>
                <a:ea typeface="Arial" pitchFamily="34" charset="-122"/>
                <a:cs typeface="Arial" pitchFamily="34" charset="-120"/>
              </a:rPr>
              <a:t>1 · RÉUSSIR DES TÂCHES PLUS LONGUES</a:t>
            </a:r>
          </a:p>
        </p:txBody>
      </p:sp>
      <p:sp>
        <p:nvSpPr>
          <p:cNvPr id="11" name="Text 9"/>
          <p:cNvSpPr txBox="1"/>
          <p:nvPr/>
        </p:nvSpPr>
        <p:spPr>
          <a:xfrm>
            <a:off x="621792" y="2331720"/>
            <a:ext cx="2322576" cy="1691640"/>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D’après les chiffres cités dans la version longue, les meilleurs agents réussissent de façon fiable, en mai 2026, des tâches qui demandent environ trois heures à un humain. L’étude estime qu’une revue complète demande environ 24 heures de travail humain. Si les agents continuent à doubler tous les sept mois la durée des tâches qu’ils savent traiter, ils pourraient atteindre l’équivalent de 24 heures de travail humain début 2028.</a:t>
            </a:r>
          </a:p>
        </p:txBody>
      </p:sp>
      <p:sp>
        <p:nvSpPr>
          <p:cNvPr id="12" name="Shape 10"/>
          <p:cNvSpPr/>
          <p:nvPr/>
        </p:nvSpPr>
        <p:spPr>
          <a:xfrm>
            <a:off x="3332988" y="1965960"/>
            <a:ext cx="2651760" cy="2103120"/>
          </a:xfrm>
          <a:prstGeom prst="roundRect">
            <a:avLst>
              <a:gd name="adj" fmla="val 4348"/>
            </a:avLst>
          </a:prstGeom>
          <a:solidFill>
            <a:srgbClr val="FFE4E6"/>
          </a:solidFill>
          <a:ln w="12700">
            <a:solidFill>
              <a:srgbClr val="FFE4E6"/>
            </a:solidFill>
            <a:prstDash val="solid"/>
          </a:ln>
        </p:spPr>
        <p:txBody>
          <a:bodyPr/>
          <a:p/>
        </p:txBody>
      </p:sp>
      <p:sp>
        <p:nvSpPr>
          <p:cNvPr id="13" name="Text 11"/>
          <p:cNvSpPr txBox="1"/>
          <p:nvPr/>
        </p:nvSpPr>
        <p:spPr>
          <a:xfrm>
            <a:off x="3497580" y="2075688"/>
            <a:ext cx="2322576" cy="201168"/>
          </a:xfrm>
          <a:prstGeom prst="rect">
            <a:avLst/>
          </a:prstGeom>
          <a:noFill/>
          <a:ln/>
        </p:spPr>
        <p:txBody>
          <a:bodyPr wrap="square" lIns="0" tIns="0" rIns="0" bIns="0" rtlCol="0" anchor="t"/>
          <a:lstStyle/>
          <a:p>
            <a:pPr indent="0" marL="0">
              <a:lnSpc>
                <a:spcPct val="105000"/>
              </a:lnSpc>
              <a:buNone/>
            </a:pPr>
            <a:r>
              <a:rPr lang="en-US" sz="700" b="1" spc="20" kern="0" dirty="0">
                <a:solidFill>
                  <a:srgbClr val="C8283E"/>
                </a:solidFill>
                <a:latin typeface="Arial" pitchFamily="34" charset="0"/>
                <a:ea typeface="Arial" pitchFamily="34" charset="-122"/>
                <a:cs typeface="Arial" pitchFamily="34" charset="-120"/>
              </a:rPr>
              <a:t>2 · FAIRE BEAUCOUP MOINS D’ERREURS</a:t>
            </a:r>
          </a:p>
        </p:txBody>
      </p:sp>
      <p:sp>
        <p:nvSpPr>
          <p:cNvPr id="14" name="Text 12"/>
          <p:cNvSpPr txBox="1"/>
          <p:nvPr/>
        </p:nvSpPr>
        <p:spPr>
          <a:xfrm>
            <a:off x="3497580" y="2331720"/>
            <a:ext cx="2322576" cy="169164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Réussir la plupart du temps ne suffit pas. Dans ce scénario, il faut passer d’environ une erreur sur cinq cas à moins d’une sur mille.</a:t>
            </a:r>
          </a:p>
        </p:txBody>
      </p:sp>
      <p:sp>
        <p:nvSpPr>
          <p:cNvPr id="15" name="Shape 13"/>
          <p:cNvSpPr/>
          <p:nvPr/>
        </p:nvSpPr>
        <p:spPr>
          <a:xfrm>
            <a:off x="6208776" y="1965960"/>
            <a:ext cx="2651760" cy="2103120"/>
          </a:xfrm>
          <a:prstGeom prst="roundRect">
            <a:avLst>
              <a:gd name="adj" fmla="val 4348"/>
            </a:avLst>
          </a:prstGeom>
          <a:solidFill>
            <a:srgbClr val="FFF5BF"/>
          </a:solidFill>
          <a:ln w="12700">
            <a:solidFill>
              <a:srgbClr val="FFF5BF"/>
            </a:solidFill>
            <a:prstDash val="solid"/>
          </a:ln>
        </p:spPr>
        <p:txBody>
          <a:bodyPr/>
          <a:p/>
        </p:txBody>
      </p:sp>
      <p:sp>
        <p:nvSpPr>
          <p:cNvPr id="16" name="Text 14"/>
          <p:cNvSpPr txBox="1"/>
          <p:nvPr/>
        </p:nvSpPr>
        <p:spPr>
          <a:xfrm>
            <a:off x="6373368" y="2075688"/>
            <a:ext cx="2322576" cy="201168"/>
          </a:xfrm>
          <a:prstGeom prst="rect">
            <a:avLst/>
          </a:prstGeom>
          <a:noFill/>
          <a:ln/>
        </p:spPr>
        <p:txBody>
          <a:bodyPr wrap="square" lIns="0" tIns="0" rIns="0" bIns="0" rtlCol="0" anchor="t"/>
          <a:lstStyle/>
          <a:p>
            <a:pPr indent="0" marL="0">
              <a:lnSpc>
                <a:spcPct val="105000"/>
              </a:lnSpc>
              <a:buNone/>
            </a:pPr>
            <a:r>
              <a:rPr lang="en-US" sz="730" b="1" spc="20" kern="0" dirty="0">
                <a:solidFill>
                  <a:srgbClr val="8A6D00"/>
                </a:solidFill>
                <a:latin typeface="Arial" pitchFamily="34" charset="0"/>
                <a:ea typeface="Arial" pitchFamily="34" charset="-122"/>
                <a:cs typeface="Arial" pitchFamily="34" charset="-120"/>
              </a:rPr>
              <a:t>3 · PROUVER SA FIABILITÉ PAR DES TESTS</a:t>
            </a:r>
          </a:p>
        </p:txBody>
      </p:sp>
      <p:sp>
        <p:nvSpPr>
          <p:cNvPr id="17" name="Text 15"/>
          <p:cNvSpPr txBox="1"/>
          <p:nvPr/>
        </p:nvSpPr>
        <p:spPr>
          <a:xfrm>
            <a:off x="6373368" y="2331720"/>
            <a:ext cx="2322576" cy="169164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Les spécialistes doivent préparer des cas de test, puis vérifier que l’agent les réussit. Le scénario prévoit environ un an pour cette étape, à titre d’exemple.</a:t>
            </a:r>
          </a:p>
        </p:txBody>
      </p:sp>
      <p:sp>
        <p:nvSpPr>
          <p:cNvPr id="18" name="Shape 16"/>
          <p:cNvSpPr/>
          <p:nvPr/>
        </p:nvSpPr>
        <p:spPr>
          <a:xfrm>
            <a:off x="9084564" y="1965960"/>
            <a:ext cx="2651760" cy="2103120"/>
          </a:xfrm>
          <a:prstGeom prst="roundRect">
            <a:avLst>
              <a:gd name="adj" fmla="val 4348"/>
            </a:avLst>
          </a:prstGeom>
          <a:solidFill>
            <a:srgbClr val="E5F6E9"/>
          </a:solidFill>
          <a:ln w="12700">
            <a:solidFill>
              <a:srgbClr val="E5F6E9"/>
            </a:solidFill>
            <a:prstDash val="solid"/>
          </a:ln>
        </p:spPr>
        <p:txBody>
          <a:bodyPr/>
          <a:p/>
        </p:txBody>
      </p:sp>
      <p:sp>
        <p:nvSpPr>
          <p:cNvPr id="19" name="Text 17"/>
          <p:cNvSpPr txBox="1"/>
          <p:nvPr/>
        </p:nvSpPr>
        <p:spPr>
          <a:xfrm>
            <a:off x="9249156" y="2075688"/>
            <a:ext cx="2322576" cy="201168"/>
          </a:xfrm>
          <a:prstGeom prst="rect">
            <a:avLst/>
          </a:prstGeom>
          <a:noFill/>
          <a:ln/>
        </p:spPr>
        <p:txBody>
          <a:bodyPr wrap="square" lIns="0" tIns="0" rIns="0" bIns="0" rtlCol="0" anchor="t"/>
          <a:lstStyle/>
          <a:p>
            <a:pPr indent="0" marL="0">
              <a:lnSpc>
                <a:spcPct val="105000"/>
              </a:lnSpc>
              <a:buNone/>
            </a:pPr>
            <a:r>
              <a:rPr lang="en-US" sz="730" b="1" spc="20" kern="0" dirty="0">
                <a:solidFill>
                  <a:srgbClr val="1E7A3C"/>
                </a:solidFill>
                <a:latin typeface="Arial" pitchFamily="34" charset="0"/>
                <a:ea typeface="Arial" pitchFamily="34" charset="-122"/>
                <a:cs typeface="Arial" pitchFamily="34" charset="-120"/>
              </a:rPr>
              <a:t>4 · DONNER À L’AGENT LE DROIT DE DÉCIDER</a:t>
            </a:r>
          </a:p>
        </p:txBody>
      </p:sp>
      <p:sp>
        <p:nvSpPr>
          <p:cNvPr id="20" name="Text 18"/>
          <p:cNvSpPr txBox="1"/>
          <p:nvPr/>
        </p:nvSpPr>
        <p:spPr>
          <a:xfrm>
            <a:off x="9249156" y="2331720"/>
            <a:ext cx="2322576" cy="1691640"/>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L’entreprise doit préciser ce que l’agent peut approuver, lui donner les autorisations nécessaires et obtenir l’accord du service juridique. Le scénario prévoit un an de plus, mais les obligations légales peuvent rallonger ce délai.</a:t>
            </a:r>
          </a:p>
        </p:txBody>
      </p:sp>
      <p:sp>
        <p:nvSpPr>
          <p:cNvPr id="21" name="Shape 19"/>
          <p:cNvSpPr/>
          <p:nvPr/>
        </p:nvSpPr>
        <p:spPr>
          <a:xfrm>
            <a:off x="457200" y="4224528"/>
            <a:ext cx="11274552" cy="1481328"/>
          </a:xfrm>
          <a:prstGeom prst="roundRect">
            <a:avLst>
              <a:gd name="adj" fmla="val 6173"/>
            </a:avLst>
          </a:prstGeom>
          <a:solidFill>
            <a:srgbClr val="F5F7FA"/>
          </a:solidFill>
          <a:ln w="12700">
            <a:solidFill>
              <a:srgbClr val="F5F7FA"/>
            </a:solidFill>
            <a:prstDash val="solid"/>
          </a:ln>
        </p:spPr>
        <p:txBody>
          <a:bodyPr/>
          <a:p/>
        </p:txBody>
      </p:sp>
      <p:sp>
        <p:nvSpPr>
          <p:cNvPr id="22" name="Text 20"/>
          <p:cNvSpPr txBox="1"/>
          <p:nvPr/>
        </p:nvSpPr>
        <p:spPr>
          <a:xfrm>
            <a:off x="640080" y="4315968"/>
            <a:ext cx="822960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6575"/>
                </a:solidFill>
                <a:latin typeface="Arial" pitchFamily="34" charset="0"/>
                <a:ea typeface="Arial" pitchFamily="34" charset="-122"/>
                <a:cs typeface="Arial" pitchFamily="34" charset="-120"/>
              </a:rPr>
              <a:t>QUAND L’AGENT POURRAIT-IL RÉALISER UNE REVUE SANS QU’UN HUMAIN LA RELISE À CHAQUE FOIS ?</a:t>
            </a:r>
          </a:p>
        </p:txBody>
      </p:sp>
      <p:sp>
        <p:nvSpPr>
          <p:cNvPr id="23" name="Shape 21"/>
          <p:cNvSpPr/>
          <p:nvPr/>
        </p:nvSpPr>
        <p:spPr>
          <a:xfrm>
            <a:off x="1097280" y="5020056"/>
            <a:ext cx="9966960" cy="0"/>
          </a:xfrm>
          <a:prstGeom prst="line">
            <a:avLst/>
          </a:prstGeom>
          <a:noFill/>
          <a:ln w="19050">
            <a:solidFill>
              <a:srgbClr val="5B6575"/>
            </a:solidFill>
            <a:prstDash val="solid"/>
          </a:ln>
        </p:spPr>
        <p:txBody>
          <a:bodyPr/>
          <a:p/>
        </p:txBody>
      </p:sp>
      <p:sp>
        <p:nvSpPr>
          <p:cNvPr id="24" name="Shape 22"/>
          <p:cNvSpPr/>
          <p:nvPr/>
        </p:nvSpPr>
        <p:spPr>
          <a:xfrm>
            <a:off x="1033272" y="4956048"/>
            <a:ext cx="128016" cy="128016"/>
          </a:xfrm>
          <a:prstGeom prst="ellipse">
            <a:avLst/>
          </a:prstGeom>
          <a:solidFill>
            <a:srgbClr val="252A3D"/>
          </a:solidFill>
          <a:ln w="12700">
            <a:solidFill>
              <a:srgbClr val="FFFFFF"/>
            </a:solidFill>
            <a:prstDash val="solid"/>
          </a:ln>
        </p:spPr>
        <p:txBody>
          <a:bodyPr/>
          <a:p/>
        </p:txBody>
      </p:sp>
      <p:sp>
        <p:nvSpPr>
          <p:cNvPr id="25" name="Text 23"/>
          <p:cNvSpPr txBox="1"/>
          <p:nvPr/>
        </p:nvSpPr>
        <p:spPr>
          <a:xfrm>
            <a:off x="228600" y="4498848"/>
            <a:ext cx="1737360" cy="438912"/>
          </a:xfrm>
          <a:prstGeom prst="rect">
            <a:avLst/>
          </a:prstGeom>
          <a:noFill/>
          <a:ln/>
        </p:spPr>
        <p:txBody>
          <a:bodyPr wrap="square" lIns="0" tIns="0" rIns="0" bIns="0" rtlCol="0" anchor="b"/>
          <a:lstStyle/>
          <a:p>
            <a:pPr algn="ctr" indent="0" marL="0">
              <a:lnSpc>
                <a:spcPct val="105000"/>
              </a:lnSpc>
              <a:buNone/>
            </a:pPr>
            <a:r>
              <a:rPr lang="en-US" sz="700" b="1" dirty="0">
                <a:solidFill>
                  <a:srgbClr val="252A3D"/>
                </a:solidFill>
                <a:latin typeface="Arial" pitchFamily="34" charset="0"/>
                <a:ea typeface="Arial" pitchFamily="34" charset="-122"/>
                <a:cs typeface="Arial" pitchFamily="34" charset="-120"/>
              </a:rPr>
              <a:t>mai 2026</a:t>
            </a:r>
          </a:p>
          <a:p>
            <a:pPr algn="ctr" indent="0" marL="0">
              <a:lnSpc>
                <a:spcPct val="105000"/>
              </a:lnSpc>
              <a:buNone/>
            </a:pPr>
            <a:r>
              <a:rPr lang="en-US" sz="700" dirty="0">
                <a:solidFill>
                  <a:srgbClr val="5B6575"/>
                </a:solidFill>
                <a:latin typeface="Arial" pitchFamily="34" charset="0"/>
                <a:ea typeface="Arial" pitchFamily="34" charset="-122"/>
                <a:cs typeface="Arial" pitchFamily="34" charset="-120"/>
              </a:rPr>
              <a:t>Point de départ : des tâches de trois heures</a:t>
            </a:r>
          </a:p>
        </p:txBody>
      </p:sp>
      <p:sp>
        <p:nvSpPr>
          <p:cNvPr id="26" name="Shape 24"/>
          <p:cNvSpPr/>
          <p:nvPr/>
        </p:nvSpPr>
        <p:spPr>
          <a:xfrm>
            <a:off x="3105610" y="4956048"/>
            <a:ext cx="128016" cy="128016"/>
          </a:xfrm>
          <a:prstGeom prst="ellipse">
            <a:avLst/>
          </a:prstGeom>
          <a:solidFill>
            <a:srgbClr val="1B6E93"/>
          </a:solidFill>
          <a:ln w="12700">
            <a:solidFill>
              <a:srgbClr val="FFFFFF"/>
            </a:solidFill>
            <a:prstDash val="solid"/>
          </a:ln>
        </p:spPr>
        <p:txBody>
          <a:bodyPr/>
          <a:p/>
        </p:txBody>
      </p:sp>
      <p:sp>
        <p:nvSpPr>
          <p:cNvPr id="27" name="Text 25"/>
          <p:cNvSpPr txBox="1"/>
          <p:nvPr/>
        </p:nvSpPr>
        <p:spPr>
          <a:xfrm>
            <a:off x="2300938" y="5111496"/>
            <a:ext cx="1737360" cy="438912"/>
          </a:xfrm>
          <a:prstGeom prst="rect">
            <a:avLst/>
          </a:prstGeom>
          <a:noFill/>
          <a:ln/>
        </p:spPr>
        <p:txBody>
          <a:bodyPr wrap="square" lIns="0" tIns="0" rIns="0" bIns="0" rtlCol="0" anchor="t"/>
          <a:lstStyle/>
          <a:p>
            <a:pPr algn="ctr" indent="0" marL="0">
              <a:lnSpc>
                <a:spcPct val="105000"/>
              </a:lnSpc>
              <a:buNone/>
            </a:pPr>
            <a:r>
              <a:rPr lang="en-US" sz="750" b="1" dirty="0">
                <a:solidFill>
                  <a:srgbClr val="1B6E93"/>
                </a:solidFill>
                <a:latin typeface="Arial" pitchFamily="34" charset="0"/>
                <a:ea typeface="Arial" pitchFamily="34" charset="-122"/>
                <a:cs typeface="Arial" pitchFamily="34" charset="-120"/>
              </a:rPr>
              <a:t>février 2028</a:t>
            </a:r>
          </a:p>
          <a:p>
            <a:pPr algn="ctr" indent="0" marL="0">
              <a:lnSpc>
                <a:spcPct val="105000"/>
              </a:lnSpc>
              <a:buNone/>
            </a:pPr>
            <a:r>
              <a:rPr lang="en-US" sz="700" dirty="0">
                <a:solidFill>
                  <a:srgbClr val="5B6575"/>
                </a:solidFill>
                <a:latin typeface="Arial" pitchFamily="34" charset="0"/>
                <a:ea typeface="Arial" pitchFamily="34" charset="-122"/>
                <a:cs typeface="Arial" pitchFamily="34" charset="-120"/>
              </a:rPr>
              <a:t>Des tâches de 24 heures, si la progression se poursuit</a:t>
            </a:r>
          </a:p>
        </p:txBody>
      </p:sp>
      <p:sp>
        <p:nvSpPr>
          <p:cNvPr id="28" name="Shape 26"/>
          <p:cNvSpPr/>
          <p:nvPr/>
        </p:nvSpPr>
        <p:spPr>
          <a:xfrm>
            <a:off x="6855556" y="4956048"/>
            <a:ext cx="128016" cy="128016"/>
          </a:xfrm>
          <a:prstGeom prst="ellipse">
            <a:avLst/>
          </a:prstGeom>
          <a:solidFill>
            <a:srgbClr val="1E7A3C"/>
          </a:solidFill>
          <a:ln w="12700">
            <a:solidFill>
              <a:srgbClr val="FFFFFF"/>
            </a:solidFill>
            <a:prstDash val="solid"/>
          </a:ln>
        </p:spPr>
        <p:txBody>
          <a:bodyPr/>
          <a:p/>
        </p:txBody>
      </p:sp>
      <p:sp>
        <p:nvSpPr>
          <p:cNvPr id="29" name="Text 27"/>
          <p:cNvSpPr txBox="1"/>
          <p:nvPr/>
        </p:nvSpPr>
        <p:spPr>
          <a:xfrm>
            <a:off x="6050884" y="4498848"/>
            <a:ext cx="1737360" cy="438912"/>
          </a:xfrm>
          <a:prstGeom prst="rect">
            <a:avLst/>
          </a:prstGeom>
          <a:noFill/>
          <a:ln/>
        </p:spPr>
        <p:txBody>
          <a:bodyPr wrap="square" lIns="0" tIns="0" rIns="0" bIns="0" rtlCol="0" anchor="b"/>
          <a:lstStyle/>
          <a:p>
            <a:pPr algn="ctr" indent="0" marL="0">
              <a:lnSpc>
                <a:spcPct val="105000"/>
              </a:lnSpc>
              <a:buNone/>
            </a:pPr>
            <a:r>
              <a:rPr lang="en-US" sz="720" b="1" dirty="0">
                <a:solidFill>
                  <a:srgbClr val="1E7A3C"/>
                </a:solidFill>
                <a:latin typeface="Arial" pitchFamily="34" charset="0"/>
                <a:ea typeface="Arial" pitchFamily="34" charset="-122"/>
                <a:cs typeface="Arial" pitchFamily="34" charset="-120"/>
              </a:rPr>
              <a:t>avril 2031</a:t>
            </a:r>
          </a:p>
          <a:p>
            <a:pPr algn="ctr" indent="0" marL="0">
              <a:lnSpc>
                <a:spcPct val="105000"/>
              </a:lnSpc>
              <a:buNone/>
            </a:pPr>
            <a:r>
              <a:rPr lang="en-US" sz="670" dirty="0">
                <a:solidFill>
                  <a:srgbClr val="5B6575"/>
                </a:solidFill>
                <a:latin typeface="Arial" pitchFamily="34" charset="0"/>
                <a:ea typeface="Arial" pitchFamily="34" charset="-122"/>
                <a:cs typeface="Arial" pitchFamily="34" charset="-120"/>
              </a:rPr>
              <a:t>Revue sans relecture humaine systématique, si les erreurs diminuent rapidement</a:t>
            </a:r>
          </a:p>
        </p:txBody>
      </p:sp>
      <p:sp>
        <p:nvSpPr>
          <p:cNvPr id="30" name="Shape 28"/>
          <p:cNvSpPr/>
          <p:nvPr/>
        </p:nvSpPr>
        <p:spPr>
          <a:xfrm>
            <a:off x="8237114" y="4956048"/>
            <a:ext cx="128016" cy="128016"/>
          </a:xfrm>
          <a:prstGeom prst="ellipse">
            <a:avLst/>
          </a:prstGeom>
          <a:solidFill>
            <a:srgbClr val="1E7A3C"/>
          </a:solidFill>
          <a:ln w="12700">
            <a:solidFill>
              <a:srgbClr val="FFFFFF"/>
            </a:solidFill>
            <a:prstDash val="solid"/>
          </a:ln>
        </p:spPr>
        <p:txBody>
          <a:bodyPr/>
          <a:p/>
        </p:txBody>
      </p:sp>
      <p:sp>
        <p:nvSpPr>
          <p:cNvPr id="31" name="Text 29"/>
          <p:cNvSpPr txBox="1"/>
          <p:nvPr/>
        </p:nvSpPr>
        <p:spPr>
          <a:xfrm>
            <a:off x="7432442" y="5111496"/>
            <a:ext cx="1737360" cy="438912"/>
          </a:xfrm>
          <a:prstGeom prst="rect">
            <a:avLst/>
          </a:prstGeom>
          <a:noFill/>
          <a:ln/>
        </p:spPr>
        <p:txBody>
          <a:bodyPr wrap="square" lIns="0" tIns="0" rIns="0" bIns="0" rtlCol="0" anchor="t"/>
          <a:lstStyle/>
          <a:p>
            <a:pPr algn="ctr" indent="0" marL="0">
              <a:lnSpc>
                <a:spcPct val="105000"/>
              </a:lnSpc>
              <a:buNone/>
            </a:pPr>
            <a:r>
              <a:rPr lang="en-US" sz="670" b="1" dirty="0">
                <a:solidFill>
                  <a:srgbClr val="1E7A3C"/>
                </a:solidFill>
                <a:latin typeface="Arial" pitchFamily="34" charset="0"/>
                <a:ea typeface="Arial" pitchFamily="34" charset="-122"/>
                <a:cs typeface="Arial" pitchFamily="34" charset="-120"/>
              </a:rPr>
              <a:t>juin 2032</a:t>
            </a:r>
          </a:p>
          <a:p>
            <a:pPr algn="ctr" indent="0" marL="0">
              <a:lnSpc>
                <a:spcPct val="105000"/>
              </a:lnSpc>
              <a:buNone/>
            </a:pPr>
            <a:r>
              <a:rPr lang="en-US" sz="670" dirty="0">
                <a:solidFill>
                  <a:srgbClr val="5B6575"/>
                </a:solidFill>
                <a:latin typeface="Arial" pitchFamily="34" charset="0"/>
                <a:ea typeface="Arial" pitchFamily="34" charset="-122"/>
                <a:cs typeface="Arial" pitchFamily="34" charset="-120"/>
              </a:rPr>
              <a:t>Revue sans relecture humaine systématique, si les erreurs diminuent à un rythme moyen</a:t>
            </a:r>
          </a:p>
        </p:txBody>
      </p:sp>
      <p:sp>
        <p:nvSpPr>
          <p:cNvPr id="32" name="Shape 30"/>
          <p:cNvSpPr/>
          <p:nvPr/>
        </p:nvSpPr>
        <p:spPr>
          <a:xfrm>
            <a:off x="9756829" y="4956048"/>
            <a:ext cx="128016" cy="128016"/>
          </a:xfrm>
          <a:prstGeom prst="ellipse">
            <a:avLst/>
          </a:prstGeom>
          <a:solidFill>
            <a:srgbClr val="5B3F9E"/>
          </a:solidFill>
          <a:ln w="12700">
            <a:solidFill>
              <a:srgbClr val="FFFFFF"/>
            </a:solidFill>
            <a:prstDash val="solid"/>
          </a:ln>
        </p:spPr>
        <p:txBody>
          <a:bodyPr/>
          <a:p/>
        </p:txBody>
      </p:sp>
      <p:sp>
        <p:nvSpPr>
          <p:cNvPr id="33" name="Text 31"/>
          <p:cNvSpPr txBox="1"/>
          <p:nvPr/>
        </p:nvSpPr>
        <p:spPr>
          <a:xfrm>
            <a:off x="8952157" y="4498848"/>
            <a:ext cx="1737360" cy="438912"/>
          </a:xfrm>
          <a:prstGeom prst="rect">
            <a:avLst/>
          </a:prstGeom>
          <a:noFill/>
          <a:ln/>
        </p:spPr>
        <p:txBody>
          <a:bodyPr wrap="square" lIns="0" tIns="0" rIns="0" bIns="0" rtlCol="0" anchor="b"/>
          <a:lstStyle/>
          <a:p>
            <a:pPr algn="ctr" indent="0" marL="0">
              <a:lnSpc>
                <a:spcPct val="105000"/>
              </a:lnSpc>
              <a:buNone/>
            </a:pPr>
            <a:r>
              <a:rPr lang="en-US" sz="700" b="1" dirty="0">
                <a:solidFill>
                  <a:srgbClr val="5B3F9E"/>
                </a:solidFill>
                <a:latin typeface="Arial" pitchFamily="34" charset="0"/>
                <a:ea typeface="Arial" pitchFamily="34" charset="-122"/>
                <a:cs typeface="Arial" pitchFamily="34" charset="-120"/>
              </a:rPr>
              <a:t>septembre 2033</a:t>
            </a:r>
          </a:p>
          <a:p>
            <a:pPr algn="ctr" indent="0" marL="0">
              <a:lnSpc>
                <a:spcPct val="105000"/>
              </a:lnSpc>
              <a:buNone/>
            </a:pPr>
            <a:r>
              <a:rPr lang="en-US" sz="700" dirty="0">
                <a:solidFill>
                  <a:srgbClr val="5B6575"/>
                </a:solidFill>
                <a:latin typeface="Arial" pitchFamily="34" charset="0"/>
                <a:ea typeface="Arial" pitchFamily="34" charset="-122"/>
                <a:cs typeface="Arial" pitchFamily="34" charset="-120"/>
              </a:rPr>
              <a:t>Vérification de l’objectif : au moins 80 % d’ETP en moins</a:t>
            </a:r>
          </a:p>
        </p:txBody>
      </p:sp>
      <p:sp>
        <p:nvSpPr>
          <p:cNvPr id="34" name="Shape 32"/>
          <p:cNvSpPr/>
          <p:nvPr/>
        </p:nvSpPr>
        <p:spPr>
          <a:xfrm>
            <a:off x="11000232" y="4956048"/>
            <a:ext cx="128016" cy="128016"/>
          </a:xfrm>
          <a:prstGeom prst="ellipse">
            <a:avLst/>
          </a:prstGeom>
          <a:solidFill>
            <a:srgbClr val="C8283E"/>
          </a:solidFill>
          <a:ln w="12700">
            <a:solidFill>
              <a:srgbClr val="FFFFFF"/>
            </a:solidFill>
            <a:prstDash val="solid"/>
          </a:ln>
        </p:spPr>
        <p:txBody>
          <a:bodyPr/>
          <a:p/>
        </p:txBody>
      </p:sp>
      <p:sp>
        <p:nvSpPr>
          <p:cNvPr id="35" name="Text 33"/>
          <p:cNvSpPr txBox="1"/>
          <p:nvPr/>
        </p:nvSpPr>
        <p:spPr>
          <a:xfrm>
            <a:off x="10195560" y="5111496"/>
            <a:ext cx="1737360" cy="438912"/>
          </a:xfrm>
          <a:prstGeom prst="rect">
            <a:avLst/>
          </a:prstGeom>
          <a:noFill/>
          <a:ln/>
        </p:spPr>
        <p:txBody>
          <a:bodyPr wrap="square" lIns="0" tIns="0" rIns="0" bIns="0" rtlCol="0" anchor="t"/>
          <a:lstStyle/>
          <a:p>
            <a:pPr algn="ctr" indent="0" marL="0">
              <a:lnSpc>
                <a:spcPct val="105000"/>
              </a:lnSpc>
              <a:buNone/>
            </a:pPr>
            <a:r>
              <a:rPr lang="en-US" sz="670" b="1" dirty="0">
                <a:solidFill>
                  <a:srgbClr val="C8283E"/>
                </a:solidFill>
                <a:latin typeface="Arial" pitchFamily="34" charset="0"/>
                <a:ea typeface="Arial" pitchFamily="34" charset="-122"/>
                <a:cs typeface="Arial" pitchFamily="34" charset="-120"/>
              </a:rPr>
              <a:t>octobre 2034</a:t>
            </a:r>
          </a:p>
          <a:p>
            <a:pPr algn="ctr" indent="0" marL="0">
              <a:lnSpc>
                <a:spcPct val="105000"/>
              </a:lnSpc>
              <a:buNone/>
            </a:pPr>
            <a:r>
              <a:rPr lang="en-US" sz="670" dirty="0">
                <a:solidFill>
                  <a:srgbClr val="5B6575"/>
                </a:solidFill>
                <a:latin typeface="Arial" pitchFamily="34" charset="0"/>
                <a:ea typeface="Arial" pitchFamily="34" charset="-122"/>
                <a:cs typeface="Arial" pitchFamily="34" charset="-120"/>
              </a:rPr>
              <a:t>Revue sans relecture humaine systématique, si les erreurs diminuent lentement</a:t>
            </a:r>
          </a:p>
        </p:txBody>
      </p:sp>
      <p:sp>
        <p:nvSpPr>
          <p:cNvPr id="36" name="Shape 34"/>
          <p:cNvSpPr/>
          <p:nvPr/>
        </p:nvSpPr>
        <p:spPr>
          <a:xfrm>
            <a:off x="457200" y="5852160"/>
            <a:ext cx="11274552" cy="621792"/>
          </a:xfrm>
          <a:prstGeom prst="roundRect">
            <a:avLst>
              <a:gd name="adj" fmla="val 14706"/>
            </a:avLst>
          </a:prstGeom>
          <a:solidFill>
            <a:srgbClr val="FFF5BF"/>
          </a:solidFill>
          <a:ln w="12700">
            <a:solidFill>
              <a:srgbClr val="FFF5BF"/>
            </a:solidFill>
            <a:prstDash val="solid"/>
          </a:ln>
        </p:spPr>
        <p:txBody>
          <a:bodyPr/>
          <a:p/>
        </p:txBody>
      </p:sp>
      <p:pic>
        <p:nvPicPr>
          <p:cNvPr id="37" name="Image 0" descr="preencoded.png">    </p:cNvPr>
          <p:cNvPicPr>
            <a:picLocks noChangeAspect="1"/>
          </p:cNvPicPr>
          <p:nvPr/>
        </p:nvPicPr>
        <p:blipFill>
          <a:blip r:embed="rId1"/>
          <a:stretch>
            <a:fillRect/>
          </a:stretch>
        </p:blipFill>
        <p:spPr>
          <a:xfrm>
            <a:off x="621792" y="6007608"/>
            <a:ext cx="310896" cy="310896"/>
          </a:xfrm>
          <a:prstGeom prst="rect">
            <a:avLst/>
          </a:prstGeom>
        </p:spPr>
      </p:pic>
      <p:sp>
        <p:nvSpPr>
          <p:cNvPr id="38" name="Text 35"/>
          <p:cNvSpPr txBox="1"/>
          <p:nvPr/>
        </p:nvSpPr>
        <p:spPr>
          <a:xfrm>
            <a:off x="1051560" y="5852160"/>
            <a:ext cx="10469880" cy="62179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Selon les hypothèses choisies, une revue pourrait être confiée à l’IA sans relecture humaine systématique entre 2031 et 2034. </a:t>
            </a:r>
            <a:r>
              <a:rPr lang="en-US" sz="1150" dirty="0">
                <a:solidFill>
                  <a:srgbClr val="252A3D"/>
                </a:solidFill>
                <a:latin typeface="Arial" pitchFamily="34" charset="0"/>
                <a:ea typeface="Arial" pitchFamily="34" charset="-122"/>
                <a:cs typeface="Arial" pitchFamily="34" charset="-120"/>
              </a:rPr>
              <a:t>Ces dates illustrent des scénarios possibles, pas des prévisions.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000" b="1" dirty="0">
                <a:solidFill>
                  <a:srgbClr val="5B6575"/>
                </a:solidFill>
                <a:latin typeface="Arial" pitchFamily="34" charset="0"/>
                <a:ea typeface="Arial" pitchFamily="34" charset="-122"/>
                <a:cs typeface="Arial" pitchFamily="34" charset="-120"/>
              </a:rPr>
              <a:t>EMPLOI · L’HYPOTHÈSE D’UNE AUTOMATISATION COMPLÈTE (VERSION LONGUE)</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L’hypothèse : confier une revue entière à l’IA</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300" dirty="0">
                <a:solidFill>
                  <a:srgbClr val="5B6575"/>
                </a:solidFill>
                <a:latin typeface="Arial" pitchFamily="34" charset="0"/>
                <a:ea typeface="Arial" pitchFamily="34" charset="-122"/>
                <a:cs typeface="Arial" pitchFamily="34" charset="-120"/>
              </a:rPr>
              <a:t>À terme, l’agent pourrait traiter aussi les dossiers complexes et prendre la décision finale. La supervision de la plateforme pourrait elle aussi être automatisée.</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EMPLOI</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24 / 30</a:t>
            </a:r>
            <a:endParaRPr lang="en-US" sz="1000" dirty="0"/>
          </a:p>
        </p:txBody>
      </p:sp>
      <p:sp>
        <p:nvSpPr>
          <p:cNvPr id="9" name="Shape 7"/>
          <p:cNvSpPr/>
          <p:nvPr/>
        </p:nvSpPr>
        <p:spPr>
          <a:xfrm>
            <a:off x="457200" y="1965960"/>
            <a:ext cx="5074920" cy="3611880"/>
          </a:xfrm>
          <a:prstGeom prst="roundRect">
            <a:avLst>
              <a:gd name="adj" fmla="val 2532"/>
            </a:avLst>
          </a:prstGeom>
          <a:solidFill>
            <a:srgbClr val="EFE8FA"/>
          </a:solidFill>
          <a:ln w="12700">
            <a:solidFill>
              <a:srgbClr val="EFE8FA"/>
            </a:solidFill>
            <a:prstDash val="solid"/>
          </a:ln>
        </p:spPr>
        <p:txBody>
          <a:bodyPr/>
          <a:p/>
        </p:txBody>
      </p:sp>
      <p:sp>
        <p:nvSpPr>
          <p:cNvPr id="10" name="Text 8"/>
          <p:cNvSpPr txBox="1"/>
          <p:nvPr/>
        </p:nvSpPr>
        <p:spPr>
          <a:xfrm>
            <a:off x="640080" y="2103120"/>
            <a:ext cx="47548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3F9E"/>
                </a:solidFill>
                <a:latin typeface="Arial" pitchFamily="34" charset="0"/>
                <a:ea typeface="Arial" pitchFamily="34" charset="-122"/>
                <a:cs typeface="Arial" pitchFamily="34" charset="-120"/>
              </a:rPr>
              <a:t>CE QUE SUPPOSE L’HYPOTHÈSE</a:t>
            </a:r>
          </a:p>
        </p:txBody>
      </p:sp>
      <p:sp>
        <p:nvSpPr>
          <p:cNvPr id="11" name="Text 9"/>
          <p:cNvSpPr txBox="1"/>
          <p:nvPr/>
        </p:nvSpPr>
        <p:spPr>
          <a:xfrm>
            <a:off x="640080" y="2395728"/>
            <a:ext cx="4709160" cy="2468880"/>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960" dirty="0">
                <a:solidFill>
                  <a:srgbClr val="252A3D"/>
                </a:solidFill>
                <a:latin typeface="Arial" pitchFamily="34" charset="0"/>
                <a:ea typeface="Arial" pitchFamily="34" charset="-122"/>
                <a:cs typeface="Arial" pitchFamily="34" charset="-120"/>
              </a:rPr>
              <a:t>L’hypothèse est qu’un agent IA pourrait effectuer chaque revue du début à la fin.</a:t>
            </a:r>
          </a:p>
          <a:p>
            <a:pPr marL="127000" indent="-127000">
              <a:lnSpc>
                <a:spcPct val="105000"/>
              </a:lnSpc>
              <a:spcAft>
                <a:spcPts val="600"/>
              </a:spcAft>
              <a:buSzPct val="100000"/>
              <a:buChar char="•"/>
            </a:pPr>
            <a:r>
              <a:rPr lang="en-US" sz="960" dirty="0">
                <a:solidFill>
                  <a:srgbClr val="252A3D"/>
                </a:solidFill>
                <a:latin typeface="Arial" pitchFamily="34" charset="0"/>
                <a:ea typeface="Arial" pitchFamily="34" charset="-122"/>
                <a:cs typeface="Arial" pitchFamily="34" charset="-120"/>
              </a:rPr>
              <a:t>L’IA pourrait aussi surveiller la plateforme, traiter les cas particuliers et mettre à jour les règles.</a:t>
            </a:r>
          </a:p>
          <a:p>
            <a:pPr marL="127000" indent="-127000">
              <a:lnSpc>
                <a:spcPct val="105000"/>
              </a:lnSpc>
              <a:spcAft>
                <a:spcPts val="600"/>
              </a:spcAft>
              <a:buSzPct val="100000"/>
              <a:buChar char="•"/>
            </a:pPr>
            <a:r>
              <a:rPr lang="en-US" sz="960" dirty="0">
                <a:solidFill>
                  <a:srgbClr val="252A3D"/>
                </a:solidFill>
                <a:latin typeface="Arial" pitchFamily="34" charset="0"/>
                <a:ea typeface="Arial" pitchFamily="34" charset="-122"/>
                <a:cs typeface="Arial" pitchFamily="34" charset="-120"/>
              </a:rPr>
              <a:t>Aucune étape de contrôle ne disparaît.</a:t>
            </a:r>
          </a:p>
          <a:p>
            <a:pPr marL="127000" indent="-127000">
              <a:lnSpc>
                <a:spcPct val="105000"/>
              </a:lnSpc>
              <a:spcAft>
                <a:spcPts val="600"/>
              </a:spcAft>
              <a:buSzPct val="100000"/>
              <a:buChar char="•"/>
            </a:pPr>
            <a:r>
              <a:rPr lang="en-US" sz="960" dirty="0">
                <a:solidFill>
                  <a:srgbClr val="252A3D"/>
                </a:solidFill>
                <a:latin typeface="Arial" pitchFamily="34" charset="0"/>
                <a:ea typeface="Arial" pitchFamily="34" charset="-122"/>
                <a:cs typeface="Arial" pitchFamily="34" charset="-120"/>
              </a:rPr>
              <a:t>L’agent IA réalise les contrôles à la place du spécialiste.</a:t>
            </a:r>
          </a:p>
          <a:p>
            <a:pPr marL="127000" indent="-127000">
              <a:lnSpc>
                <a:spcPct val="105000"/>
              </a:lnSpc>
              <a:spcAft>
                <a:spcPts val="600"/>
              </a:spcAft>
              <a:buSzPct val="100000"/>
              <a:buChar char="•"/>
            </a:pPr>
            <a:r>
              <a:rPr lang="en-US" sz="960" dirty="0">
                <a:solidFill>
                  <a:srgbClr val="252A3D"/>
                </a:solidFill>
                <a:latin typeface="Arial" pitchFamily="34" charset="0"/>
                <a:ea typeface="Arial" pitchFamily="34" charset="-122"/>
                <a:cs typeface="Arial" pitchFamily="34" charset="-120"/>
              </a:rPr>
              <a:t>Si l’automatisation réduit réellement le travail au lieu de le transférer, il pourrait ne rester qu’une petite équipe pour la plateforme, puis éventuellement plus aucun travail humain.</a:t>
            </a:r>
          </a:p>
        </p:txBody>
      </p:sp>
      <p:sp>
        <p:nvSpPr>
          <p:cNvPr id="12" name="Text 10"/>
          <p:cNvSpPr txBox="1"/>
          <p:nvPr/>
        </p:nvSpPr>
        <p:spPr>
          <a:xfrm>
            <a:off x="640080" y="4864608"/>
            <a:ext cx="4709160" cy="685800"/>
          </a:xfrm>
          <a:prstGeom prst="rect">
            <a:avLst/>
          </a:prstGeom>
          <a:noFill/>
          <a:ln/>
        </p:spPr>
        <p:txBody>
          <a:bodyPr wrap="square" lIns="0" tIns="0" rIns="0" bIns="0" rtlCol="0" anchor="t"/>
          <a:lstStyle/>
          <a:p>
            <a:pPr indent="0" marL="0">
              <a:lnSpc>
                <a:spcPct val="105000"/>
              </a:lnSpc>
              <a:buNone/>
            </a:pPr>
            <a:r>
              <a:rPr lang="en-US" sz="880" i="1" dirty="0">
                <a:solidFill>
                  <a:srgbClr val="5B6575"/>
                </a:solidFill>
                <a:latin typeface="Arial" pitchFamily="34" charset="0"/>
                <a:ea typeface="Arial" pitchFamily="34" charset="-122"/>
                <a:cs typeface="Arial" pitchFamily="34" charset="-120"/>
              </a:rPr>
              <a:t>Cette hypothèse ne tient pas si une revue ou une signature doit rester humaine, si le service prétendument automatisé cache du travail humain, ou si l’équipe nécessaire à la plateforme ne diminue jamais.</a:t>
            </a:r>
          </a:p>
        </p:txBody>
      </p:sp>
      <p:sp>
        <p:nvSpPr>
          <p:cNvPr id="13" name="Shape 11"/>
          <p:cNvSpPr/>
          <p:nvPr/>
        </p:nvSpPr>
        <p:spPr>
          <a:xfrm>
            <a:off x="5742432" y="1965960"/>
            <a:ext cx="5989320" cy="3611880"/>
          </a:xfrm>
          <a:prstGeom prst="roundRect">
            <a:avLst>
              <a:gd name="adj" fmla="val 2532"/>
            </a:avLst>
          </a:prstGeom>
          <a:solidFill>
            <a:srgbClr val="F5F7FA"/>
          </a:solidFill>
          <a:ln w="12700">
            <a:solidFill>
              <a:srgbClr val="F5F7FA"/>
            </a:solidFill>
            <a:prstDash val="solid"/>
          </a:ln>
        </p:spPr>
        <p:txBody>
          <a:bodyPr/>
          <a:p/>
        </p:txBody>
      </p:sp>
      <p:sp>
        <p:nvSpPr>
          <p:cNvPr id="14" name="Text 12"/>
          <p:cNvSpPr txBox="1"/>
          <p:nvPr/>
        </p:nvSpPr>
        <p:spPr>
          <a:xfrm>
            <a:off x="5925312" y="2075688"/>
            <a:ext cx="548640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3F9E"/>
                </a:solidFill>
                <a:latin typeface="Arial" pitchFamily="34" charset="0"/>
                <a:ea typeface="Arial" pitchFamily="34" charset="-122"/>
                <a:cs typeface="Arial" pitchFamily="34" charset="-120"/>
              </a:rPr>
              <a:t>SIX POINTS À OBSERVER POUR TESTER L’HYPOTHÈSE</a:t>
            </a:r>
          </a:p>
        </p:txBody>
      </p:sp>
      <p:sp>
        <p:nvSpPr>
          <p:cNvPr id="15" name="Text 13"/>
          <p:cNvSpPr txBox="1"/>
          <p:nvPr/>
        </p:nvSpPr>
        <p:spPr>
          <a:xfrm>
            <a:off x="5925312" y="2331720"/>
            <a:ext cx="5623560" cy="512064"/>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1 · Les revues devraient être plus faciles à automatiser quand les informations sont claires, les règles écrites et les résultats vérifiables.</a:t>
            </a:r>
          </a:p>
        </p:txBody>
      </p:sp>
      <p:sp>
        <p:nvSpPr>
          <p:cNvPr id="16" name="Text 14"/>
          <p:cNvSpPr txBox="1"/>
          <p:nvPr/>
        </p:nvSpPr>
        <p:spPr>
          <a:xfrm>
            <a:off x="5925312" y="2862072"/>
            <a:ext cx="5623560" cy="512064"/>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2 · Transmettre un dossier bien organisé d’une revue à l’autre devrait éviter de refaire le même travail.</a:t>
            </a:r>
          </a:p>
        </p:txBody>
      </p:sp>
      <p:sp>
        <p:nvSpPr>
          <p:cNvPr id="17" name="Text 15"/>
          <p:cNvSpPr txBox="1"/>
          <p:nvPr/>
        </p:nvSpPr>
        <p:spPr>
          <a:xfrm>
            <a:off x="5925312" y="3392424"/>
            <a:ext cx="5623560" cy="512064"/>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3 · Les dossiers laissés aux humains devraient souvent être les plus longs à traiter.</a:t>
            </a:r>
          </a:p>
        </p:txBody>
      </p:sp>
      <p:sp>
        <p:nvSpPr>
          <p:cNvPr id="18" name="Text 16"/>
          <p:cNvSpPr txBox="1"/>
          <p:nvPr/>
        </p:nvSpPr>
        <p:spPr>
          <a:xfrm>
            <a:off x="5925312" y="3922776"/>
            <a:ext cx="5623560" cy="512064"/>
          </a:xfrm>
          <a:prstGeom prst="rect">
            <a:avLst/>
          </a:prstGeom>
          <a:noFill/>
          <a:ln/>
        </p:spPr>
        <p:txBody>
          <a:bodyPr wrap="square" lIns="0" tIns="0" rIns="0" bIns="0" rtlCol="0" anchor="t"/>
          <a:lstStyle/>
          <a:p>
            <a:pPr indent="0" marL="0">
              <a:lnSpc>
                <a:spcPct val="105000"/>
              </a:lnSpc>
              <a:buNone/>
            </a:pPr>
            <a:r>
              <a:rPr lang="en-US" sz="860" b="1" dirty="0">
                <a:solidFill>
                  <a:srgbClr val="252A3D"/>
                </a:solidFill>
                <a:latin typeface="Arial" pitchFamily="34" charset="0"/>
                <a:ea typeface="Arial" pitchFamily="34" charset="-122"/>
                <a:cs typeface="Arial" pitchFamily="34" charset="-120"/>
              </a:rPr>
              <a:t>4 · Pour estimer les heures gagnées, il faut compter les dossiers complexes, les corrections et la maintenance. </a:t>
            </a:r>
            <a:r>
              <a:rPr lang="en-US" sz="860" dirty="0">
                <a:solidFill>
                  <a:srgbClr val="252A3D"/>
                </a:solidFill>
                <a:latin typeface="Arial" pitchFamily="34" charset="0"/>
                <a:ea typeface="Arial" pitchFamily="34" charset="-122"/>
                <a:cs typeface="Arial" pitchFamily="34" charset="-120"/>
              </a:rPr>
              <a:t>Automatiser 80 % des cas ne fait pas forcément gagner 80 % du temps.</a:t>
            </a:r>
          </a:p>
        </p:txBody>
      </p:sp>
      <p:sp>
        <p:nvSpPr>
          <p:cNvPr id="19" name="Text 17"/>
          <p:cNvSpPr txBox="1"/>
          <p:nvPr/>
        </p:nvSpPr>
        <p:spPr>
          <a:xfrm>
            <a:off x="5925312" y="4453128"/>
            <a:ext cx="5623560" cy="512064"/>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5 · Les entreprises devraient d’abord laisser l’IA préparer les décisions, puis lui donner le droit d’en prendre certaines.</a:t>
            </a:r>
          </a:p>
        </p:txBody>
      </p:sp>
      <p:sp>
        <p:nvSpPr>
          <p:cNvPr id="20" name="Text 18"/>
          <p:cNvSpPr txBox="1"/>
          <p:nvPr/>
        </p:nvSpPr>
        <p:spPr>
          <a:xfrm>
            <a:off x="5925312" y="4983480"/>
            <a:ext cx="5623560" cy="512064"/>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6 · L’automatisation ne réduit le travail humain que si elle fait gagner plus d’heures qu’elle n’en ajoute.</a:t>
            </a:r>
          </a:p>
        </p:txBody>
      </p:sp>
      <p:sp>
        <p:nvSpPr>
          <p:cNvPr id="21" name="Shape 19"/>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2"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23" name="Text 20"/>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L’expérience ne prouve pas cette évolution. </a:t>
            </a:r>
            <a:r>
              <a:rPr lang="en-US" sz="1150" dirty="0">
                <a:solidFill>
                  <a:srgbClr val="252A3D"/>
                </a:solidFill>
                <a:latin typeface="Arial" pitchFamily="34" charset="0"/>
                <a:ea typeface="Arial" pitchFamily="34" charset="-122"/>
                <a:cs typeface="Arial" pitchFamily="34" charset="-120"/>
              </a:rPr>
              <a:t>L’étude propose une hypothèse, six points à suivre et des situations qui montreraient qu’elle ne se vérifie pas.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EMPLOI · UNE HYPOTHÈSE À VÉRIFIER EN 2033</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L’hypothèse pour 2033 : au moins 80 % d’ETP en moins</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50" dirty="0">
                <a:solidFill>
                  <a:srgbClr val="5B6575"/>
                </a:solidFill>
                <a:latin typeface="Arial" pitchFamily="34" charset="0"/>
                <a:ea typeface="Arial" pitchFamily="34" charset="-122"/>
                <a:cs typeface="Arial" pitchFamily="34" charset="-120"/>
              </a:rPr>
              <a:t>Pour confirmer l’hypothèse, il faudra traiter autant de dossiers, aussi bien et aussi vite, avec au moins 80 % d’ETP en moins.</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EMPLOI</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25 / 30</a:t>
            </a:r>
            <a:endParaRPr lang="en-US" sz="1000" dirty="0"/>
          </a:p>
        </p:txBody>
      </p:sp>
      <p:sp>
        <p:nvSpPr>
          <p:cNvPr id="9" name="Shape 7"/>
          <p:cNvSpPr/>
          <p:nvPr/>
        </p:nvSpPr>
        <p:spPr>
          <a:xfrm>
            <a:off x="457200" y="1965960"/>
            <a:ext cx="3749040" cy="2103120"/>
          </a:xfrm>
          <a:prstGeom prst="roundRect">
            <a:avLst>
              <a:gd name="adj" fmla="val 4348"/>
            </a:avLst>
          </a:prstGeom>
          <a:solidFill>
            <a:srgbClr val="EFE8FA"/>
          </a:solidFill>
          <a:ln w="12700">
            <a:solidFill>
              <a:srgbClr val="EFE8FA"/>
            </a:solidFill>
            <a:prstDash val="solid"/>
          </a:ln>
        </p:spPr>
        <p:txBody>
          <a:bodyPr/>
          <a:p/>
        </p:txBody>
      </p:sp>
      <p:sp>
        <p:nvSpPr>
          <p:cNvPr id="10" name="Text 8"/>
          <p:cNvSpPr txBox="1"/>
          <p:nvPr/>
        </p:nvSpPr>
        <p:spPr>
          <a:xfrm>
            <a:off x="640080" y="2057400"/>
            <a:ext cx="3383280" cy="777240"/>
          </a:xfrm>
          <a:prstGeom prst="rect">
            <a:avLst/>
          </a:prstGeom>
          <a:noFill/>
          <a:ln/>
        </p:spPr>
        <p:txBody>
          <a:bodyPr wrap="square" lIns="0" tIns="0" rIns="0" bIns="0" rtlCol="0" anchor="t"/>
          <a:lstStyle/>
          <a:p>
            <a:pPr indent="0" marL="0">
              <a:lnSpc>
                <a:spcPct val="105000"/>
              </a:lnSpc>
              <a:buNone/>
            </a:pPr>
            <a:r>
              <a:rPr lang="en-US" sz="4800" b="1" dirty="0">
                <a:solidFill>
                  <a:srgbClr val="5B3F9E"/>
                </a:solidFill>
                <a:latin typeface="Arial" pitchFamily="34" charset="0"/>
                <a:ea typeface="Arial" pitchFamily="34" charset="-122"/>
                <a:cs typeface="Arial" pitchFamily="34" charset="-120"/>
              </a:rPr>
              <a:t>−80 %</a:t>
            </a:r>
            <a:endParaRPr lang="en-US" sz="5000" dirty="0"/>
          </a:p>
        </p:txBody>
      </p:sp>
      <p:sp>
        <p:nvSpPr>
          <p:cNvPr id="11" name="Text 9"/>
          <p:cNvSpPr txBox="1"/>
          <p:nvPr/>
        </p:nvSpPr>
        <p:spPr>
          <a:xfrm>
            <a:off x="640080" y="2852928"/>
            <a:ext cx="3383280" cy="868680"/>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d’ETP pour les mêmes revues du DGF au 20 septembre 2033, par rapport au travail mesuré pendant l’année terminée le 20 septembre 2026.</a:t>
            </a:r>
          </a:p>
        </p:txBody>
      </p:sp>
      <p:sp>
        <p:nvSpPr>
          <p:cNvPr id="12" name="Text 10"/>
          <p:cNvSpPr txBox="1"/>
          <p:nvPr/>
        </p:nvSpPr>
        <p:spPr>
          <a:xfrm>
            <a:off x="640080" y="3749040"/>
            <a:ext cx="3383280" cy="256032"/>
          </a:xfrm>
          <a:prstGeom prst="rect">
            <a:avLst/>
          </a:prstGeom>
          <a:noFill/>
          <a:ln/>
        </p:spPr>
        <p:txBody>
          <a:bodyPr wrap="square" lIns="0" tIns="0" rIns="0" bIns="0" rtlCol="0" anchor="t"/>
          <a:lstStyle/>
          <a:p>
            <a:pPr indent="0" marL="0">
              <a:lnSpc>
                <a:spcPct val="105000"/>
              </a:lnSpc>
              <a:buNone/>
            </a:pPr>
            <a:r>
              <a:rPr lang="en-US" sz="800" b="1" dirty="0">
                <a:solidFill>
                  <a:srgbClr val="5B3F9E"/>
                </a:solidFill>
                <a:latin typeface="Arial" pitchFamily="34" charset="0"/>
                <a:ea typeface="Arial" pitchFamily="34" charset="-122"/>
                <a:cs typeface="Arial" pitchFamily="34" charset="-120"/>
              </a:rPr>
              <a:t>Dans l’exemple de départ, cela revient à passer de 140 ETP à 28 ou moins.</a:t>
            </a:r>
          </a:p>
        </p:txBody>
      </p:sp>
      <p:sp>
        <p:nvSpPr>
          <p:cNvPr id="13" name="Shape 11"/>
          <p:cNvSpPr/>
          <p:nvPr/>
        </p:nvSpPr>
        <p:spPr>
          <a:xfrm>
            <a:off x="457200" y="4206240"/>
            <a:ext cx="3749040" cy="1371600"/>
          </a:xfrm>
          <a:prstGeom prst="roundRect">
            <a:avLst>
              <a:gd name="adj" fmla="val 6667"/>
            </a:avLst>
          </a:prstGeom>
          <a:solidFill>
            <a:srgbClr val="F3F5F8"/>
          </a:solidFill>
          <a:ln w="12700">
            <a:solidFill>
              <a:srgbClr val="F3F5F8"/>
            </a:solidFill>
            <a:prstDash val="solid"/>
          </a:ln>
        </p:spPr>
        <p:txBody>
          <a:bodyPr/>
          <a:p/>
        </p:txBody>
      </p:sp>
      <p:sp>
        <p:nvSpPr>
          <p:cNvPr id="14" name="Text 12"/>
          <p:cNvSpPr txBox="1"/>
          <p:nvPr/>
        </p:nvSpPr>
        <p:spPr>
          <a:xfrm>
            <a:off x="640080" y="4315968"/>
            <a:ext cx="33832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6575"/>
                </a:solidFill>
                <a:latin typeface="Arial" pitchFamily="34" charset="0"/>
                <a:ea typeface="Arial" pitchFamily="34" charset="-122"/>
                <a:cs typeface="Arial" pitchFamily="34" charset="-120"/>
              </a:rPr>
              <a:t>TOUT LE TRAVAIL HUMAIN À COMPTER</a:t>
            </a:r>
          </a:p>
        </p:txBody>
      </p:sp>
      <p:sp>
        <p:nvSpPr>
          <p:cNvPr id="15" name="Text 13"/>
          <p:cNvSpPr txBox="1"/>
          <p:nvPr/>
        </p:nvSpPr>
        <p:spPr>
          <a:xfrm>
            <a:off x="640080" y="4544568"/>
            <a:ext cx="3383280" cy="1005840"/>
          </a:xfrm>
          <a:prstGeom prst="rect">
            <a:avLst/>
          </a:prstGeom>
          <a:noFill/>
          <a:ln/>
        </p:spPr>
        <p:txBody>
          <a:bodyPr wrap="square" lIns="0" tIns="0" rIns="0" bIns="0" rtlCol="0" anchor="t"/>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Il faut compter toutes les heures : examen des dossiers, cas complexes, vérifications, corrections, maintenance, aide des fournisseurs et supervision par les responsables.</a:t>
            </a:r>
          </a:p>
        </p:txBody>
      </p:sp>
      <p:sp>
        <p:nvSpPr>
          <p:cNvPr id="16" name="Shape 14"/>
          <p:cNvSpPr/>
          <p:nvPr/>
        </p:nvSpPr>
        <p:spPr>
          <a:xfrm>
            <a:off x="4434840" y="1965960"/>
            <a:ext cx="7296912" cy="1115568"/>
          </a:xfrm>
          <a:prstGeom prst="roundRect">
            <a:avLst>
              <a:gd name="adj" fmla="val 8197"/>
            </a:avLst>
          </a:prstGeom>
          <a:solidFill>
            <a:srgbClr val="FFE4E6"/>
          </a:solidFill>
          <a:ln w="12700">
            <a:solidFill>
              <a:srgbClr val="FFE4E6"/>
            </a:solidFill>
            <a:prstDash val="solid"/>
          </a:ln>
        </p:spPr>
        <p:txBody>
          <a:bodyPr/>
          <a:p/>
        </p:txBody>
      </p:sp>
      <p:sp>
        <p:nvSpPr>
          <p:cNvPr id="17" name="Text 15"/>
          <p:cNvSpPr txBox="1"/>
          <p:nvPr/>
        </p:nvSpPr>
        <p:spPr>
          <a:xfrm>
            <a:off x="4617720" y="2075688"/>
            <a:ext cx="6949440" cy="201168"/>
          </a:xfrm>
          <a:prstGeom prst="rect">
            <a:avLst/>
          </a:prstGeom>
          <a:noFill/>
          <a:ln/>
        </p:spPr>
        <p:txBody>
          <a:bodyPr wrap="square" lIns="0" tIns="0" rIns="0" bIns="0" rtlCol="0" anchor="t"/>
          <a:lstStyle/>
          <a:p>
            <a:pPr indent="0" marL="0">
              <a:lnSpc>
                <a:spcPct val="105000"/>
              </a:lnSpc>
              <a:buNone/>
            </a:pPr>
            <a:r>
              <a:rPr lang="en-US" sz="700" b="1" spc="50" kern="0" dirty="0">
                <a:solidFill>
                  <a:srgbClr val="C8283E"/>
                </a:solidFill>
                <a:latin typeface="Arial" pitchFamily="34" charset="0"/>
                <a:ea typeface="Arial" pitchFamily="34" charset="-122"/>
                <a:cs typeface="Arial" pitchFamily="34" charset="-120"/>
              </a:rPr>
              <a:t>CE QUI MONTRERAIT QUE L’HYPOTHÈSE EST FAUSSE</a:t>
            </a:r>
          </a:p>
        </p:txBody>
      </p:sp>
      <p:sp>
        <p:nvSpPr>
          <p:cNvPr id="18" name="Text 16"/>
          <p:cNvSpPr txBox="1"/>
          <p:nvPr/>
        </p:nvSpPr>
        <p:spPr>
          <a:xfrm>
            <a:off x="4617720" y="2295144"/>
            <a:ext cx="6949440" cy="749808"/>
          </a:xfrm>
          <a:prstGeom prst="rect">
            <a:avLst/>
          </a:prstGeom>
          <a:noFill/>
          <a:ln/>
        </p:spPr>
        <p:txBody>
          <a:bodyPr wrap="square" lIns="0" tIns="0" rIns="0" bIns="0" rtlCol="0" anchor="t"/>
          <a:lstStyle/>
          <a:p>
            <a:pPr indent="0" marL="0">
              <a:lnSpc>
                <a:spcPct val="105000"/>
              </a:lnSpc>
              <a:buNone/>
            </a:pPr>
            <a:r>
              <a:rPr lang="en-US" sz="930" dirty="0">
                <a:solidFill>
                  <a:srgbClr val="252A3D"/>
                </a:solidFill>
                <a:latin typeface="Arial" pitchFamily="34" charset="0"/>
                <a:ea typeface="Arial" pitchFamily="34" charset="-122"/>
                <a:cs typeface="Arial" pitchFamily="34" charset="-120"/>
              </a:rPr>
              <a:t>L’hypothèse échoue s’il reste plus de 20 % du travail humain initial, si la qualité baisse ou si les délais augmentent. Elle échoue aussi si le calcul exclut les cas difficiles ou oublie les nouveaux besoins d’assistance.</a:t>
            </a:r>
          </a:p>
        </p:txBody>
      </p:sp>
      <p:sp>
        <p:nvSpPr>
          <p:cNvPr id="19" name="Shape 17"/>
          <p:cNvSpPr/>
          <p:nvPr/>
        </p:nvSpPr>
        <p:spPr>
          <a:xfrm>
            <a:off x="4434840" y="3214116"/>
            <a:ext cx="7296912" cy="1115568"/>
          </a:xfrm>
          <a:prstGeom prst="roundRect">
            <a:avLst>
              <a:gd name="adj" fmla="val 8197"/>
            </a:avLst>
          </a:prstGeom>
          <a:solidFill>
            <a:srgbClr val="FFF5BF"/>
          </a:solidFill>
          <a:ln w="12700">
            <a:solidFill>
              <a:srgbClr val="FFF5BF"/>
            </a:solidFill>
            <a:prstDash val="solid"/>
          </a:ln>
        </p:spPr>
        <p:txBody>
          <a:bodyPr/>
          <a:p/>
        </p:txBody>
      </p:sp>
      <p:sp>
        <p:nvSpPr>
          <p:cNvPr id="20" name="Text 18"/>
          <p:cNvSpPr txBox="1"/>
          <p:nvPr/>
        </p:nvSpPr>
        <p:spPr>
          <a:xfrm>
            <a:off x="4617720" y="3323844"/>
            <a:ext cx="69494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8A6D00"/>
                </a:solidFill>
                <a:latin typeface="Arial" pitchFamily="34" charset="0"/>
                <a:ea typeface="Arial" pitchFamily="34" charset="-122"/>
                <a:cs typeface="Arial" pitchFamily="34" charset="-120"/>
              </a:rPr>
              <a:t>QUAND ON NE PEUT PAS CONCLURE</a:t>
            </a:r>
          </a:p>
        </p:txBody>
      </p:sp>
      <p:sp>
        <p:nvSpPr>
          <p:cNvPr id="21" name="Text 19"/>
          <p:cNvSpPr txBox="1"/>
          <p:nvPr/>
        </p:nvSpPr>
        <p:spPr>
          <a:xfrm>
            <a:off x="4617720" y="3543300"/>
            <a:ext cx="6949440" cy="749808"/>
          </a:xfrm>
          <a:prstGeom prst="rect">
            <a:avLst/>
          </a:prstGeom>
          <a:noFill/>
          <a:ln/>
        </p:spPr>
        <p:txBody>
          <a:bodyPr wrap="square" lIns="0" tIns="0" rIns="0" bIns="0" rtlCol="0" anchor="t"/>
          <a:lstStyle/>
          <a:p>
            <a:pPr indent="0" marL="0">
              <a:lnSpc>
                <a:spcPct val="105000"/>
              </a:lnSpc>
              <a:buNone/>
            </a:pPr>
            <a:r>
              <a:rPr lang="en-US" sz="930" dirty="0">
                <a:solidFill>
                  <a:srgbClr val="252A3D"/>
                </a:solidFill>
                <a:latin typeface="Arial" pitchFamily="34" charset="0"/>
                <a:ea typeface="Arial" pitchFamily="34" charset="-122"/>
                <a:cs typeface="Arial" pitchFamily="34" charset="-120"/>
              </a:rPr>
              <a:t>Sans mesure des heures avant et après, impossible de savoir si l’hypothèse est confirmée ou non.</a:t>
            </a:r>
          </a:p>
        </p:txBody>
      </p:sp>
      <p:sp>
        <p:nvSpPr>
          <p:cNvPr id="22" name="Shape 20"/>
          <p:cNvSpPr/>
          <p:nvPr/>
        </p:nvSpPr>
        <p:spPr>
          <a:xfrm>
            <a:off x="4434840" y="4462272"/>
            <a:ext cx="7296912" cy="1115568"/>
          </a:xfrm>
          <a:prstGeom prst="roundRect">
            <a:avLst>
              <a:gd name="adj" fmla="val 8197"/>
            </a:avLst>
          </a:prstGeom>
          <a:solidFill>
            <a:srgbClr val="E5F6E9"/>
          </a:solidFill>
          <a:ln w="12700">
            <a:solidFill>
              <a:srgbClr val="E5F6E9"/>
            </a:solidFill>
            <a:prstDash val="solid"/>
          </a:ln>
        </p:spPr>
        <p:txBody>
          <a:bodyPr/>
          <a:p/>
        </p:txBody>
      </p:sp>
      <p:sp>
        <p:nvSpPr>
          <p:cNvPr id="23" name="Text 21"/>
          <p:cNvSpPr txBox="1"/>
          <p:nvPr/>
        </p:nvSpPr>
        <p:spPr>
          <a:xfrm>
            <a:off x="4617720" y="4572000"/>
            <a:ext cx="69494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CE QUI NE PROUVE PAS UNE RÉUSSITE</a:t>
            </a:r>
          </a:p>
        </p:txBody>
      </p:sp>
      <p:sp>
        <p:nvSpPr>
          <p:cNvPr id="24" name="Text 22"/>
          <p:cNvSpPr txBox="1"/>
          <p:nvPr/>
        </p:nvSpPr>
        <p:spPr>
          <a:xfrm>
            <a:off x="4617720" y="4791456"/>
            <a:ext cx="6949440" cy="749808"/>
          </a:xfrm>
          <a:prstGeom prst="rect">
            <a:avLst/>
          </a:prstGeom>
          <a:noFill/>
          <a:ln/>
        </p:spPr>
        <p:txBody>
          <a:bodyPr wrap="square" lIns="0" tIns="0" rIns="0" bIns="0" rtlCol="0" anchor="t"/>
          <a:lstStyle/>
          <a:p>
            <a:pPr indent="0" marL="0">
              <a:lnSpc>
                <a:spcPct val="105000"/>
              </a:lnSpc>
              <a:buNone/>
            </a:pPr>
            <a:r>
              <a:rPr lang="en-US" sz="930" dirty="0">
                <a:solidFill>
                  <a:srgbClr val="252A3D"/>
                </a:solidFill>
                <a:latin typeface="Arial" pitchFamily="34" charset="0"/>
                <a:ea typeface="Arial" pitchFamily="34" charset="-122"/>
                <a:cs typeface="Arial" pitchFamily="34" charset="-120"/>
              </a:rPr>
              <a:t>Faire faire les mêmes heures à des prestataires, laisser passer des défauts ou renommer « supervision IA » une équipe qui refait les revues à la main ne compte pas comme une réussite.</a:t>
            </a:r>
          </a:p>
        </p:txBody>
      </p:sp>
      <p:sp>
        <p:nvSpPr>
          <p:cNvPr id="25" name="Shape 23"/>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6"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27" name="Text 24"/>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L’étude précise ce qu’il faut mesurer et comment le calculer, sans laisser de côté le travail qui reste aux humains.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EMPLOI · CE QUE FAIT L’IA ET CE QUE FONT LES HUMAINS</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650" b="1" dirty="0">
                <a:solidFill>
                  <a:srgbClr val="252A3D"/>
                </a:solidFill>
                <a:latin typeface="Arial" pitchFamily="34" charset="0"/>
                <a:ea typeface="Arial" pitchFamily="34" charset="-122"/>
                <a:cs typeface="Arial" pitchFamily="34" charset="-120"/>
              </a:rPr>
              <a:t>Ce que l’IA peut faire, et ce qui reste aux humains</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250" dirty="0">
                <a:solidFill>
                  <a:srgbClr val="5B6575"/>
                </a:solidFill>
                <a:latin typeface="Arial" pitchFamily="34" charset="0"/>
                <a:ea typeface="Arial" pitchFamily="34" charset="-122"/>
                <a:cs typeface="Arial" pitchFamily="34" charset="-120"/>
              </a:rPr>
              <a:t>Un agent IA peut prendre en charge certaines tâches. L’agent effectue le travail, mais la responsabilité reste à l’entreprise et aux personnes qu’elle a désignées.</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EMPLOI</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26 / 30</a:t>
            </a:r>
            <a:endParaRPr lang="en-US" sz="1000" dirty="0"/>
          </a:p>
        </p:txBody>
      </p:sp>
      <p:sp>
        <p:nvSpPr>
          <p:cNvPr id="9" name="Shape 7"/>
          <p:cNvSpPr/>
          <p:nvPr/>
        </p:nvSpPr>
        <p:spPr>
          <a:xfrm>
            <a:off x="457200" y="1965960"/>
            <a:ext cx="5532120" cy="2148840"/>
          </a:xfrm>
          <a:prstGeom prst="roundRect">
            <a:avLst>
              <a:gd name="adj" fmla="val 4255"/>
            </a:avLst>
          </a:prstGeom>
          <a:solidFill>
            <a:srgbClr val="DDF5FC"/>
          </a:solidFill>
          <a:ln w="12700">
            <a:solidFill>
              <a:srgbClr val="DDF5FC"/>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5468112" y="2103120"/>
            <a:ext cx="329184" cy="329184"/>
          </a:xfrm>
          <a:prstGeom prst="rect">
            <a:avLst/>
          </a:prstGeom>
        </p:spPr>
      </p:pic>
      <p:sp>
        <p:nvSpPr>
          <p:cNvPr id="11" name="Text 8"/>
          <p:cNvSpPr txBox="1"/>
          <p:nvPr/>
        </p:nvSpPr>
        <p:spPr>
          <a:xfrm>
            <a:off x="658368" y="2103120"/>
            <a:ext cx="4754880" cy="201168"/>
          </a:xfrm>
          <a:prstGeom prst="rect">
            <a:avLst/>
          </a:prstGeom>
          <a:noFill/>
          <a:ln/>
        </p:spPr>
        <p:txBody>
          <a:bodyPr wrap="square" lIns="0" tIns="0" rIns="0" bIns="0" rtlCol="0" anchor="t"/>
          <a:lstStyle/>
          <a:p>
            <a:pPr indent="0" marL="0">
              <a:lnSpc>
                <a:spcPct val="105000"/>
              </a:lnSpc>
              <a:buNone/>
            </a:pPr>
            <a:r>
              <a:rPr lang="en-US" sz="900" b="1" spc="50" kern="0" dirty="0">
                <a:solidFill>
                  <a:srgbClr val="1B6E93"/>
                </a:solidFill>
                <a:latin typeface="Arial" pitchFamily="34" charset="0"/>
                <a:ea typeface="Arial" pitchFamily="34" charset="-122"/>
                <a:cs typeface="Arial" pitchFamily="34" charset="-120"/>
              </a:rPr>
              <a:t>LES TÂCHES QUE L’AGENT PEUT EFFECTUER</a:t>
            </a:r>
          </a:p>
        </p:txBody>
      </p:sp>
      <p:sp>
        <p:nvSpPr>
          <p:cNvPr id="12" name="Text 9"/>
          <p:cNvSpPr txBox="1"/>
          <p:nvPr/>
        </p:nvSpPr>
        <p:spPr>
          <a:xfrm>
            <a:off x="658368" y="2432304"/>
            <a:ext cx="5166360" cy="164592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Examiner tous les documents du dossier</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Rendre une décision et expliquer pourquoi</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Appliquer les règles et vérifier les seuils fixés</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Indiquer précisément où il a trouvé chaque problème</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Transmettre à la revue suivante les conditions qui restent à remplir</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Approuver sous conditions, mais seulement s’il en a le droit</a:t>
            </a:r>
          </a:p>
        </p:txBody>
      </p:sp>
      <p:sp>
        <p:nvSpPr>
          <p:cNvPr id="13" name="Shape 10"/>
          <p:cNvSpPr/>
          <p:nvPr/>
        </p:nvSpPr>
        <p:spPr>
          <a:xfrm>
            <a:off x="6199632" y="1965960"/>
            <a:ext cx="5532120" cy="2148840"/>
          </a:xfrm>
          <a:prstGeom prst="roundRect">
            <a:avLst>
              <a:gd name="adj" fmla="val 4255"/>
            </a:avLst>
          </a:prstGeom>
          <a:solidFill>
            <a:srgbClr val="FFF5BF"/>
          </a:solidFill>
          <a:ln w="12700">
            <a:solidFill>
              <a:srgbClr val="FFF5BF"/>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11210544" y="2103120"/>
            <a:ext cx="329184" cy="329184"/>
          </a:xfrm>
          <a:prstGeom prst="rect">
            <a:avLst/>
          </a:prstGeom>
        </p:spPr>
      </p:pic>
      <p:sp>
        <p:nvSpPr>
          <p:cNvPr id="15" name="Text 11"/>
          <p:cNvSpPr txBox="1"/>
          <p:nvPr/>
        </p:nvSpPr>
        <p:spPr>
          <a:xfrm>
            <a:off x="6400800" y="2103120"/>
            <a:ext cx="4754880" cy="201168"/>
          </a:xfrm>
          <a:prstGeom prst="rect">
            <a:avLst/>
          </a:prstGeom>
          <a:noFill/>
          <a:ln/>
        </p:spPr>
        <p:txBody>
          <a:bodyPr wrap="square" lIns="0" tIns="0" rIns="0" bIns="0" rtlCol="0" anchor="t"/>
          <a:lstStyle/>
          <a:p>
            <a:pPr indent="0" marL="0">
              <a:lnSpc>
                <a:spcPct val="105000"/>
              </a:lnSpc>
              <a:buNone/>
            </a:pPr>
            <a:r>
              <a:rPr lang="en-US" sz="900" b="1" spc="50" kern="0" dirty="0">
                <a:solidFill>
                  <a:srgbClr val="8A6D00"/>
                </a:solidFill>
                <a:latin typeface="Arial" pitchFamily="34" charset="0"/>
                <a:ea typeface="Arial" pitchFamily="34" charset="-122"/>
                <a:cs typeface="Arial" pitchFamily="34" charset="-120"/>
              </a:rPr>
              <a:t>LE TRAVAIL QUI RESTE AUX HUMAINS ET QU’IL FAUT COMPTER</a:t>
            </a:r>
          </a:p>
        </p:txBody>
      </p:sp>
      <p:sp>
        <p:nvSpPr>
          <p:cNvPr id="16" name="Text 12"/>
          <p:cNvSpPr txBox="1"/>
          <p:nvPr/>
        </p:nvSpPr>
        <p:spPr>
          <a:xfrm>
            <a:off x="6400800" y="2432304"/>
            <a:ext cx="5166360" cy="164592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Définir et valider les règles</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Décider dans les cas où l’agent n’a pas l’autorisation de le faire</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Apposer les signatures humaines exigées par la loi ou l’entreprise</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Vérifier un échantillon des dossiers traités</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Faire fonctionner la plateforme et en assurer la maintenance</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Réaliser les actions demandées par la revue tant qu’elles ne sont pas automatisées</a:t>
            </a:r>
          </a:p>
          <a:p>
            <a:pPr marL="127000" indent="-127000">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Renommer les postes ne supprime pas le travail</a:t>
            </a:r>
          </a:p>
        </p:txBody>
      </p:sp>
      <p:sp>
        <p:nvSpPr>
          <p:cNvPr id="17" name="Shape 13"/>
          <p:cNvSpPr/>
          <p:nvPr/>
        </p:nvSpPr>
        <p:spPr>
          <a:xfrm>
            <a:off x="457200" y="4297680"/>
            <a:ext cx="3657600" cy="1188720"/>
          </a:xfrm>
          <a:prstGeom prst="roundRect">
            <a:avLst>
              <a:gd name="adj" fmla="val 7692"/>
            </a:avLst>
          </a:prstGeom>
          <a:solidFill>
            <a:srgbClr val="FFE4E6"/>
          </a:solidFill>
          <a:ln w="12700">
            <a:solidFill>
              <a:srgbClr val="FFE4E6"/>
            </a:solidFill>
            <a:prstDash val="solid"/>
          </a:ln>
        </p:spPr>
        <p:txBody>
          <a:bodyPr/>
          <a:p/>
        </p:txBody>
      </p:sp>
      <p:sp>
        <p:nvSpPr>
          <p:cNvPr id="18" name="Text 14"/>
          <p:cNvSpPr txBox="1"/>
          <p:nvPr/>
        </p:nvSpPr>
        <p:spPr>
          <a:xfrm>
            <a:off x="621792" y="4370832"/>
            <a:ext cx="3337560" cy="256032"/>
          </a:xfrm>
          <a:prstGeom prst="rect">
            <a:avLst/>
          </a:prstGeom>
          <a:noFill/>
          <a:ln/>
        </p:spPr>
        <p:txBody>
          <a:bodyPr wrap="square" lIns="0" tIns="0" rIns="0" bIns="0" rtlCol="0" anchor="t"/>
          <a:lstStyle/>
          <a:p>
            <a:pPr indent="0" marL="0">
              <a:lnSpc>
                <a:spcPct val="105000"/>
              </a:lnSpc>
              <a:buNone/>
            </a:pPr>
            <a:r>
              <a:rPr lang="en-US" sz="700" b="1" dirty="0">
                <a:solidFill>
                  <a:srgbClr val="252A3D"/>
                </a:solidFill>
                <a:latin typeface="Arial" pitchFamily="34" charset="0"/>
                <a:ea typeface="Arial" pitchFamily="34" charset="-122"/>
                <a:cs typeface="Arial" pitchFamily="34" charset="-120"/>
              </a:rPr>
              <a:t>Appeler les personnes « superviseurs » ne change pas le nombre d’heures qu’elles travaillent.</a:t>
            </a:r>
          </a:p>
        </p:txBody>
      </p:sp>
      <p:sp>
        <p:nvSpPr>
          <p:cNvPr id="19" name="Text 15"/>
          <p:cNvSpPr txBox="1"/>
          <p:nvPr/>
        </p:nvSpPr>
        <p:spPr>
          <a:xfrm>
            <a:off x="621792" y="4645152"/>
            <a:ext cx="3337560" cy="82296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Moins de travail peut conduire à supprimer des postes. L’entreprise peut aussi garder la même équipe et lui faire traiter davantage de dossiers.</a:t>
            </a:r>
          </a:p>
        </p:txBody>
      </p:sp>
      <p:sp>
        <p:nvSpPr>
          <p:cNvPr id="20" name="Shape 16"/>
          <p:cNvSpPr/>
          <p:nvPr/>
        </p:nvSpPr>
        <p:spPr>
          <a:xfrm>
            <a:off x="4265676" y="4297680"/>
            <a:ext cx="3657600" cy="1188720"/>
          </a:xfrm>
          <a:prstGeom prst="roundRect">
            <a:avLst>
              <a:gd name="adj" fmla="val 7692"/>
            </a:avLst>
          </a:prstGeom>
          <a:solidFill>
            <a:srgbClr val="EFE8FA"/>
          </a:solidFill>
          <a:ln w="12700">
            <a:solidFill>
              <a:srgbClr val="EFE8FA"/>
            </a:solidFill>
            <a:prstDash val="solid"/>
          </a:ln>
        </p:spPr>
        <p:txBody>
          <a:bodyPr/>
          <a:p/>
        </p:txBody>
      </p:sp>
      <p:sp>
        <p:nvSpPr>
          <p:cNvPr id="21" name="Text 17"/>
          <p:cNvSpPr txBox="1"/>
          <p:nvPr/>
        </p:nvSpPr>
        <p:spPr>
          <a:xfrm>
            <a:off x="4430268" y="4370832"/>
            <a:ext cx="3337560" cy="256032"/>
          </a:xfrm>
          <a:prstGeom prst="rect">
            <a:avLst/>
          </a:prstGeom>
          <a:noFill/>
          <a:ln/>
        </p:spPr>
        <p:txBody>
          <a:bodyPr wrap="square" lIns="0" tIns="0" rIns="0" bIns="0" rtlCol="0" anchor="t"/>
          <a:lstStyle/>
          <a:p>
            <a:pPr indent="0" marL="0">
              <a:lnSpc>
                <a:spcPct val="105000"/>
              </a:lnSpc>
              <a:buNone/>
            </a:pPr>
            <a:r>
              <a:rPr lang="en-US" sz="800" b="1" dirty="0">
                <a:solidFill>
                  <a:srgbClr val="252A3D"/>
                </a:solidFill>
                <a:latin typeface="Arial" pitchFamily="34" charset="0"/>
                <a:ea typeface="Arial" pitchFamily="34" charset="-122"/>
                <a:cs typeface="Arial" pitchFamily="34" charset="-120"/>
              </a:rPr>
              <a:t>Renvoyer tous les dossiers à un humain n’automatise pas la revue</a:t>
            </a:r>
          </a:p>
        </p:txBody>
      </p:sp>
      <p:sp>
        <p:nvSpPr>
          <p:cNvPr id="22" name="Text 18"/>
          <p:cNvSpPr txBox="1"/>
          <p:nvPr/>
        </p:nvSpPr>
        <p:spPr>
          <a:xfrm>
            <a:off x="4430268" y="4645152"/>
            <a:ext cx="3337560" cy="82296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Si l’agent confie toutes les décisions à un humain, il limite les risques qu’il prend, mais ne remplace aucune revue humaine.</a:t>
            </a:r>
          </a:p>
        </p:txBody>
      </p:sp>
      <p:sp>
        <p:nvSpPr>
          <p:cNvPr id="23" name="Shape 19"/>
          <p:cNvSpPr/>
          <p:nvPr/>
        </p:nvSpPr>
        <p:spPr>
          <a:xfrm>
            <a:off x="8074152" y="4297680"/>
            <a:ext cx="3657600" cy="1188720"/>
          </a:xfrm>
          <a:prstGeom prst="roundRect">
            <a:avLst>
              <a:gd name="adj" fmla="val 7692"/>
            </a:avLst>
          </a:prstGeom>
          <a:solidFill>
            <a:srgbClr val="E5F6E9"/>
          </a:solidFill>
          <a:ln w="12700">
            <a:solidFill>
              <a:srgbClr val="E5F6E9"/>
            </a:solidFill>
            <a:prstDash val="solid"/>
          </a:ln>
        </p:spPr>
        <p:txBody>
          <a:bodyPr/>
          <a:p/>
        </p:txBody>
      </p:sp>
      <p:sp>
        <p:nvSpPr>
          <p:cNvPr id="24" name="Text 20"/>
          <p:cNvSpPr txBox="1"/>
          <p:nvPr/>
        </p:nvSpPr>
        <p:spPr>
          <a:xfrm>
            <a:off x="8238744" y="4370832"/>
            <a:ext cx="3337560" cy="256032"/>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Les spécialistes se consacrent davantage aux règles</a:t>
            </a:r>
          </a:p>
        </p:txBody>
      </p:sp>
      <p:sp>
        <p:nvSpPr>
          <p:cNvPr id="25" name="Text 21"/>
          <p:cNvSpPr txBox="1"/>
          <p:nvPr/>
        </p:nvSpPr>
        <p:spPr>
          <a:xfrm>
            <a:off x="8238744" y="4645152"/>
            <a:ext cx="3337560" cy="82296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Ils passent moins de temps sur chaque dossier et plus de temps à définir, tester et améliorer les règles de décision.</a:t>
            </a:r>
          </a:p>
        </p:txBody>
      </p:sp>
      <p:sp>
        <p:nvSpPr>
          <p:cNvPr id="26" name="Shape 22"/>
          <p:cNvSpPr/>
          <p:nvPr/>
        </p:nvSpPr>
        <p:spPr>
          <a:xfrm>
            <a:off x="457200" y="5650992"/>
            <a:ext cx="11274552" cy="777240"/>
          </a:xfrm>
          <a:prstGeom prst="roundRect">
            <a:avLst>
              <a:gd name="adj" fmla="val 11765"/>
            </a:avLst>
          </a:prstGeom>
          <a:solidFill>
            <a:srgbClr val="FFF5BF"/>
          </a:solidFill>
          <a:ln w="12700">
            <a:solidFill>
              <a:srgbClr val="FFF5BF"/>
            </a:solidFill>
            <a:prstDash val="solid"/>
          </a:ln>
        </p:spPr>
        <p:txBody>
          <a:bodyPr/>
          <a:p/>
        </p:txBody>
      </p:sp>
      <p:pic>
        <p:nvPicPr>
          <p:cNvPr id="27" name="Image 2" descr="preencoded.png">    </p:cNvPr>
          <p:cNvPicPr>
            <a:picLocks noChangeAspect="1"/>
          </p:cNvPicPr>
          <p:nvPr/>
        </p:nvPicPr>
        <p:blipFill>
          <a:blip r:embed="rId3"/>
          <a:stretch>
            <a:fillRect/>
          </a:stretch>
        </p:blipFill>
        <p:spPr>
          <a:xfrm>
            <a:off x="621792" y="5884164"/>
            <a:ext cx="310896" cy="310896"/>
          </a:xfrm>
          <a:prstGeom prst="rect">
            <a:avLst/>
          </a:prstGeom>
        </p:spPr>
      </p:pic>
      <p:sp>
        <p:nvSpPr>
          <p:cNvPr id="28" name="Text 23"/>
          <p:cNvSpPr txBox="1"/>
          <p:nvPr/>
        </p:nvSpPr>
        <p:spPr>
          <a:xfrm>
            <a:off x="1051560" y="5650992"/>
            <a:ext cx="10469880" cy="77724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L’entreprise reste tenue de faire réaliser les contrôles obligatoires et reste responsable des décisions. </a:t>
            </a:r>
            <a:r>
              <a:rPr lang="en-US" sz="1150" dirty="0">
                <a:solidFill>
                  <a:srgbClr val="252A3D"/>
                </a:solidFill>
                <a:latin typeface="Arial" pitchFamily="34" charset="0"/>
                <a:ea typeface="Arial" pitchFamily="34" charset="-122"/>
                <a:cs typeface="Arial" pitchFamily="34" charset="-120"/>
              </a:rPr>
              <a:t>Ce qui change, c’est la répartition des tâches entre les humains et les agents IA.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EMPLOI · D’AUTRES MÉTIERS POURRAIENT SUIVRE (VERSION LONGUE)</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Et dans les autres métiers soumis à des règles ?</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On y retrouve le même travail : lire un dossier, appliquer des règles, prendre une décision et l’expliquer.</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EMPLOI</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27 / 30</a:t>
            </a:r>
            <a:endParaRPr lang="en-US" sz="1000" dirty="0"/>
          </a:p>
        </p:txBody>
      </p:sp>
      <p:sp>
        <p:nvSpPr>
          <p:cNvPr id="9" name="Shape 7"/>
          <p:cNvSpPr/>
          <p:nvPr/>
        </p:nvSpPr>
        <p:spPr>
          <a:xfrm>
            <a:off x="457200" y="1965960"/>
            <a:ext cx="2788920" cy="3611880"/>
          </a:xfrm>
          <a:prstGeom prst="roundRect">
            <a:avLst>
              <a:gd name="adj" fmla="val 3279"/>
            </a:avLst>
          </a:prstGeom>
          <a:solidFill>
            <a:srgbClr val="DDF5FC"/>
          </a:solidFill>
          <a:ln w="12700">
            <a:solidFill>
              <a:srgbClr val="DDF5FC"/>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2788920" y="2084832"/>
            <a:ext cx="310896" cy="310896"/>
          </a:xfrm>
          <a:prstGeom prst="rect">
            <a:avLst/>
          </a:prstGeom>
        </p:spPr>
      </p:pic>
      <p:sp>
        <p:nvSpPr>
          <p:cNvPr id="11" name="Text 8"/>
          <p:cNvSpPr txBox="1"/>
          <p:nvPr/>
        </p:nvSpPr>
        <p:spPr>
          <a:xfrm>
            <a:off x="621792" y="2103120"/>
            <a:ext cx="2103120" cy="201168"/>
          </a:xfrm>
          <a:prstGeom prst="rect">
            <a:avLst/>
          </a:prstGeom>
          <a:noFill/>
          <a:ln/>
        </p:spPr>
        <p:txBody>
          <a:bodyPr wrap="square" lIns="0" tIns="0" rIns="0" bIns="0" rtlCol="0" anchor="t"/>
          <a:lstStyle/>
          <a:p>
            <a:pPr indent="0" marL="0">
              <a:lnSpc>
                <a:spcPct val="105000"/>
              </a:lnSpc>
              <a:buNone/>
            </a:pPr>
            <a:r>
              <a:rPr lang="en-US" sz="620" b="1" spc="50" kern="0" dirty="0">
                <a:solidFill>
                  <a:srgbClr val="1B6E93"/>
                </a:solidFill>
                <a:latin typeface="Arial" pitchFamily="34" charset="0"/>
                <a:ea typeface="Arial" pitchFamily="34" charset="-122"/>
                <a:cs typeface="Arial" pitchFamily="34" charset="-120"/>
              </a:rPr>
              <a:t>DES DOSSIERS À EXAMINER, DES DÉCISIONS À PRENDRE</a:t>
            </a:r>
          </a:p>
        </p:txBody>
      </p:sp>
      <p:sp>
        <p:nvSpPr>
          <p:cNvPr id="12" name="Text 9"/>
          <p:cNvSpPr txBox="1"/>
          <p:nvPr/>
        </p:nvSpPr>
        <p:spPr>
          <a:xfrm>
            <a:off x="621792" y="2395728"/>
            <a:ext cx="2487168" cy="1280160"/>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Exemples : souscrire une assurance, traiter un sinistre ou demander un prêt. On commence par examiner un dossier. On aboutit à un tarif, à un paiement, à un accord ou à un refus.</a:t>
            </a:r>
          </a:p>
        </p:txBody>
      </p:sp>
      <p:sp>
        <p:nvSpPr>
          <p:cNvPr id="13" name="Text 10"/>
          <p:cNvSpPr txBox="1"/>
          <p:nvPr/>
        </p:nvSpPr>
        <p:spPr>
          <a:xfrm>
            <a:off x="621792" y="3703320"/>
            <a:ext cx="2487168" cy="13716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20" b="1" dirty="0">
                <a:solidFill>
                  <a:srgbClr val="252A3D"/>
                </a:solidFill>
                <a:latin typeface="Arial" pitchFamily="34" charset="0"/>
                <a:ea typeface="Arial" pitchFamily="34" charset="-122"/>
                <a:cs typeface="Arial" pitchFamily="34" charset="-120"/>
              </a:rPr>
              <a:t>Dans l’assurance : </a:t>
            </a:r>
            <a:r>
              <a:rPr lang="en-US" sz="920" dirty="0">
                <a:solidFill>
                  <a:srgbClr val="252A3D"/>
                </a:solidFill>
                <a:latin typeface="Arial" pitchFamily="34" charset="0"/>
                <a:ea typeface="Arial" pitchFamily="34" charset="-122"/>
                <a:cs typeface="Arial" pitchFamily="34" charset="-120"/>
              </a:rPr>
              <a:t>souscripteurs et gestionnaires de sinistres.</a:t>
            </a:r>
          </a:p>
          <a:p>
            <a:pPr marL="127000" indent="-127000">
              <a:lnSpc>
                <a:spcPct val="105000"/>
              </a:lnSpc>
              <a:spcAft>
                <a:spcPts val="400"/>
              </a:spcAft>
              <a:buSzPct val="100000"/>
              <a:buChar char="•"/>
            </a:pPr>
            <a:r>
              <a:rPr lang="en-US" sz="920" b="1" dirty="0">
                <a:solidFill>
                  <a:srgbClr val="252A3D"/>
                </a:solidFill>
                <a:latin typeface="Arial" pitchFamily="34" charset="0"/>
                <a:ea typeface="Arial" pitchFamily="34" charset="-122"/>
                <a:cs typeface="Arial" pitchFamily="34" charset="-120"/>
              </a:rPr>
              <a:t>Dans la banque : </a:t>
            </a:r>
            <a:r>
              <a:rPr lang="en-US" sz="920" dirty="0">
                <a:solidFill>
                  <a:srgbClr val="252A3D"/>
                </a:solidFill>
                <a:latin typeface="Arial" pitchFamily="34" charset="0"/>
                <a:ea typeface="Arial" pitchFamily="34" charset="-122"/>
                <a:cs typeface="Arial" pitchFamily="34" charset="-120"/>
              </a:rPr>
              <a:t>chargés de crédit et analystes crédit.</a:t>
            </a:r>
          </a:p>
          <a:p>
            <a:pPr marL="127000" indent="-127000">
              <a:lnSpc>
                <a:spcPct val="105000"/>
              </a:lnSpc>
              <a:spcAft>
                <a:spcPts val="400"/>
              </a:spcAft>
              <a:buSzPct val="100000"/>
              <a:buChar char="•"/>
            </a:pPr>
            <a:r>
              <a:rPr lang="en-US" sz="920" dirty="0">
                <a:solidFill>
                  <a:srgbClr val="252A3D"/>
                </a:solidFill>
                <a:latin typeface="Arial" pitchFamily="34" charset="0"/>
                <a:ea typeface="Arial" pitchFamily="34" charset="-122"/>
                <a:cs typeface="Arial" pitchFamily="34" charset="-120"/>
              </a:rPr>
              <a:t>Autres exemples : prêts immobiliers, déclarations en douane et suivi des effets indésirables des médicaments.</a:t>
            </a:r>
          </a:p>
        </p:txBody>
      </p:sp>
      <p:sp>
        <p:nvSpPr>
          <p:cNvPr id="14" name="Text 11"/>
          <p:cNvSpPr txBox="1"/>
          <p:nvPr/>
        </p:nvSpPr>
        <p:spPr>
          <a:xfrm>
            <a:off x="621792" y="5120640"/>
            <a:ext cx="2487168" cy="411480"/>
          </a:xfrm>
          <a:prstGeom prst="rect">
            <a:avLst/>
          </a:prstGeom>
          <a:noFill/>
          <a:ln/>
        </p:spPr>
        <p:txBody>
          <a:bodyPr wrap="square" lIns="0" tIns="0" rIns="0" bIns="0" rtlCol="0" anchor="t"/>
          <a:lstStyle/>
          <a:p>
            <a:pPr indent="0" marL="0">
              <a:lnSpc>
                <a:spcPct val="105000"/>
              </a:lnSpc>
              <a:buNone/>
            </a:pPr>
            <a:r>
              <a:rPr lang="en-US" sz="700" i="1" dirty="0">
                <a:solidFill>
                  <a:srgbClr val="5B6575"/>
                </a:solidFill>
                <a:latin typeface="Arial" pitchFamily="34" charset="0"/>
                <a:ea typeface="Arial" pitchFamily="34" charset="-122"/>
                <a:cs typeface="Arial" pitchFamily="34" charset="-120"/>
              </a:rPr>
              <a:t>La version longue envisage cette possibilité pour d’autres métiers. L’expérience sur le DGF n’a pas testé ces métiers.</a:t>
            </a:r>
          </a:p>
        </p:txBody>
      </p:sp>
      <p:sp>
        <p:nvSpPr>
          <p:cNvPr id="15" name="Shape 12"/>
          <p:cNvSpPr/>
          <p:nvPr/>
        </p:nvSpPr>
        <p:spPr>
          <a:xfrm>
            <a:off x="3429000" y="1965960"/>
            <a:ext cx="4846320" cy="1115568"/>
          </a:xfrm>
          <a:prstGeom prst="roundRect">
            <a:avLst>
              <a:gd name="adj" fmla="val 8197"/>
            </a:avLst>
          </a:prstGeom>
          <a:solidFill>
            <a:srgbClr val="FFF5BF"/>
          </a:solidFill>
          <a:ln w="12700">
            <a:solidFill>
              <a:srgbClr val="FFF5BF"/>
            </a:solidFill>
            <a:prstDash val="solid"/>
          </a:ln>
        </p:spPr>
        <p:txBody>
          <a:bodyPr/>
          <a:p/>
        </p:txBody>
      </p:sp>
      <p:sp>
        <p:nvSpPr>
          <p:cNvPr id="16" name="Text 13"/>
          <p:cNvSpPr txBox="1"/>
          <p:nvPr/>
        </p:nvSpPr>
        <p:spPr>
          <a:xfrm>
            <a:off x="3593592" y="2057400"/>
            <a:ext cx="4526280" cy="201168"/>
          </a:xfrm>
          <a:prstGeom prst="rect">
            <a:avLst/>
          </a:prstGeom>
          <a:noFill/>
          <a:ln/>
        </p:spPr>
        <p:txBody>
          <a:bodyPr wrap="square" lIns="0" tIns="0" rIns="0" bIns="0" rtlCol="0" anchor="t"/>
          <a:lstStyle/>
          <a:p>
            <a:pPr indent="0" marL="0">
              <a:lnSpc>
                <a:spcPct val="105000"/>
              </a:lnSpc>
              <a:buNone/>
            </a:pPr>
            <a:r>
              <a:rPr lang="en-US" sz="850" b="1" dirty="0">
                <a:solidFill>
                  <a:srgbClr val="252A3D"/>
                </a:solidFill>
                <a:latin typeface="Arial" pitchFamily="34" charset="0"/>
                <a:ea typeface="Arial" pitchFamily="34" charset="-122"/>
                <a:cs typeface="Arial" pitchFamily="34" charset="-120"/>
              </a:rPr>
              <a:t>Allianz · l’IA prépare les dossiers, un humain autorise le paiement</a:t>
            </a:r>
          </a:p>
        </p:txBody>
      </p:sp>
      <p:sp>
        <p:nvSpPr>
          <p:cNvPr id="17" name="Text 14"/>
          <p:cNvSpPr txBox="1"/>
          <p:nvPr/>
        </p:nvSpPr>
        <p:spPr>
          <a:xfrm>
            <a:off x="3593592" y="2276856"/>
            <a:ext cx="4526280" cy="777240"/>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Dans l’exemple cité en Australie, sept agents IA traitent de petits sinistres. Le paiement prend quelques heures au lieu de plusieurs jours, mais chaque paiement doit encore être approuvé par un gestionnaire humain. Le délai est plus court, mais cela ne dit pas combien d’heures de travail humain ont été gagnées.</a:t>
            </a:r>
          </a:p>
        </p:txBody>
      </p:sp>
      <p:sp>
        <p:nvSpPr>
          <p:cNvPr id="18" name="Shape 15"/>
          <p:cNvSpPr/>
          <p:nvPr/>
        </p:nvSpPr>
        <p:spPr>
          <a:xfrm>
            <a:off x="3429000" y="3214116"/>
            <a:ext cx="4846320" cy="1115568"/>
          </a:xfrm>
          <a:prstGeom prst="roundRect">
            <a:avLst>
              <a:gd name="adj" fmla="val 8197"/>
            </a:avLst>
          </a:prstGeom>
          <a:solidFill>
            <a:srgbClr val="E5F6E9"/>
          </a:solidFill>
          <a:ln w="12700">
            <a:solidFill>
              <a:srgbClr val="E5F6E9"/>
            </a:solidFill>
            <a:prstDash val="solid"/>
          </a:ln>
        </p:spPr>
        <p:txBody>
          <a:bodyPr/>
          <a:p/>
        </p:txBody>
      </p:sp>
      <p:sp>
        <p:nvSpPr>
          <p:cNvPr id="19" name="Text 16"/>
          <p:cNvSpPr txBox="1"/>
          <p:nvPr/>
        </p:nvSpPr>
        <p:spPr>
          <a:xfrm>
            <a:off x="3593592" y="3305556"/>
            <a:ext cx="4526280" cy="201168"/>
          </a:xfrm>
          <a:prstGeom prst="rect">
            <a:avLst/>
          </a:prstGeom>
          <a:noFill/>
          <a:ln/>
        </p:spPr>
        <p:txBody>
          <a:bodyPr wrap="square" lIns="0" tIns="0" rIns="0" bIns="0" rtlCol="0" anchor="t"/>
          <a:lstStyle/>
          <a:p>
            <a:pPr indent="0" marL="0">
              <a:lnSpc>
                <a:spcPct val="105000"/>
              </a:lnSpc>
              <a:buNone/>
            </a:pPr>
            <a:r>
              <a:rPr lang="en-US" sz="960" b="1" dirty="0">
                <a:solidFill>
                  <a:srgbClr val="252A3D"/>
                </a:solidFill>
                <a:latin typeface="Arial" pitchFamily="34" charset="0"/>
                <a:ea typeface="Arial" pitchFamily="34" charset="-122"/>
                <a:cs typeface="Arial" pitchFamily="34" charset="-120"/>
              </a:rPr>
              <a:t>AIG · l’IA prépare l’analyse, le spécialiste décide</a:t>
            </a:r>
          </a:p>
        </p:txBody>
      </p:sp>
      <p:sp>
        <p:nvSpPr>
          <p:cNvPr id="20" name="Text 17"/>
          <p:cNvSpPr txBox="1"/>
          <p:nvPr/>
        </p:nvSpPr>
        <p:spPr>
          <a:xfrm>
            <a:off x="3593592" y="3525012"/>
            <a:ext cx="4526280" cy="777240"/>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Chez AIG, des agents IA lisent les dossiers, évaluent les risques, comparent les prix et rédigent une synthèse. C’est toujours l’analyste humain qui prend la décision.</a:t>
            </a:r>
          </a:p>
        </p:txBody>
      </p:sp>
      <p:sp>
        <p:nvSpPr>
          <p:cNvPr id="21" name="Shape 18"/>
          <p:cNvSpPr/>
          <p:nvPr/>
        </p:nvSpPr>
        <p:spPr>
          <a:xfrm>
            <a:off x="3429000" y="4462272"/>
            <a:ext cx="4846320" cy="1115568"/>
          </a:xfrm>
          <a:prstGeom prst="roundRect">
            <a:avLst>
              <a:gd name="adj" fmla="val 8197"/>
            </a:avLst>
          </a:prstGeom>
          <a:solidFill>
            <a:srgbClr val="EFE8FA"/>
          </a:solidFill>
          <a:ln w="12700">
            <a:solidFill>
              <a:srgbClr val="EFE8FA"/>
            </a:solidFill>
            <a:prstDash val="solid"/>
          </a:ln>
        </p:spPr>
        <p:txBody>
          <a:bodyPr/>
          <a:p/>
        </p:txBody>
      </p:sp>
      <p:sp>
        <p:nvSpPr>
          <p:cNvPr id="22" name="Text 19"/>
          <p:cNvSpPr txBox="1"/>
          <p:nvPr/>
        </p:nvSpPr>
        <p:spPr>
          <a:xfrm>
            <a:off x="3593592" y="4553712"/>
            <a:ext cx="4526280" cy="201168"/>
          </a:xfrm>
          <a:prstGeom prst="rect">
            <a:avLst/>
          </a:prstGeom>
          <a:noFill/>
          <a:ln/>
        </p:spPr>
        <p:txBody>
          <a:bodyPr wrap="square" lIns="0" tIns="0" rIns="0" bIns="0" rtlCol="0" anchor="t"/>
          <a:lstStyle/>
          <a:p>
            <a:pPr indent="0" marL="0">
              <a:lnSpc>
                <a:spcPct val="105000"/>
              </a:lnSpc>
              <a:buNone/>
            </a:pPr>
            <a:r>
              <a:rPr lang="en-US" sz="800" b="1" dirty="0">
                <a:solidFill>
                  <a:srgbClr val="252A3D"/>
                </a:solidFill>
                <a:latin typeface="Arial" pitchFamily="34" charset="0"/>
                <a:ea typeface="Arial" pitchFamily="34" charset="-122"/>
                <a:cs typeface="Arial" pitchFamily="34" charset="-120"/>
              </a:rPr>
              <a:t>Upstart · la plupart des prêts financés sont approuvés sans revue humaine</a:t>
            </a:r>
          </a:p>
        </p:txBody>
      </p:sp>
      <p:sp>
        <p:nvSpPr>
          <p:cNvPr id="23" name="Text 20"/>
          <p:cNvSpPr txBox="1"/>
          <p:nvPr/>
        </p:nvSpPr>
        <p:spPr>
          <a:xfrm>
            <a:off x="3593592" y="4773168"/>
            <a:ext cx="4526280" cy="777240"/>
          </a:xfrm>
          <a:prstGeom prst="rect">
            <a:avLst/>
          </a:prstGeom>
          <a:noFill/>
          <a:ln/>
        </p:spPr>
        <p:txBody>
          <a:bodyPr wrap="square" lIns="0" tIns="0" rIns="0" bIns="0" rtlCol="0" anchor="t"/>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Plus de 90 % des prêts financés par Upstart sont approuvés sans revue humaine. En revanche, environ un quart de l’ensemble des demandes est renvoyé à une personne. Le premier chiffre concerne les prêts financés. Le second concerne toutes les demandes. On ne peut donc pas les comparer directement.</a:t>
            </a:r>
          </a:p>
        </p:txBody>
      </p:sp>
      <p:sp>
        <p:nvSpPr>
          <p:cNvPr id="24" name="Shape 21"/>
          <p:cNvSpPr/>
          <p:nvPr/>
        </p:nvSpPr>
        <p:spPr>
          <a:xfrm>
            <a:off x="8458200" y="1965960"/>
            <a:ext cx="3273552" cy="3611880"/>
          </a:xfrm>
          <a:prstGeom prst="roundRect">
            <a:avLst>
              <a:gd name="adj" fmla="val 2793"/>
            </a:avLst>
          </a:prstGeom>
          <a:solidFill>
            <a:srgbClr val="FFE4E6"/>
          </a:solidFill>
          <a:ln w="12700">
            <a:solidFill>
              <a:srgbClr val="FFE4E6"/>
            </a:solidFill>
            <a:prstDash val="solid"/>
          </a:ln>
        </p:spPr>
        <p:txBody>
          <a:bodyPr/>
          <a:p/>
        </p:txBody>
      </p:sp>
      <p:sp>
        <p:nvSpPr>
          <p:cNvPr id="25" name="Text 22"/>
          <p:cNvSpPr txBox="1"/>
          <p:nvPr/>
        </p:nvSpPr>
        <p:spPr>
          <a:xfrm>
            <a:off x="8622792" y="2103120"/>
            <a:ext cx="2926080" cy="223113"/>
          </a:xfrm>
          <a:prstGeom prst="rect">
            <a:avLst/>
          </a:prstGeom>
          <a:noFill/>
          <a:ln/>
        </p:spPr>
        <p:txBody>
          <a:bodyPr wrap="square" lIns="0" tIns="0" rIns="0" bIns="0" rtlCol="0" anchor="t"/>
          <a:lstStyle/>
          <a:p>
            <a:pPr indent="0" marL="0">
              <a:lnSpc>
                <a:spcPct val="105000"/>
              </a:lnSpc>
              <a:buNone/>
            </a:pPr>
            <a:r>
              <a:rPr lang="en-US" sz="640" b="1" spc="50" kern="0" dirty="0">
                <a:solidFill>
                  <a:srgbClr val="C8283E"/>
                </a:solidFill>
                <a:latin typeface="Arial" pitchFamily="34" charset="0"/>
                <a:ea typeface="Arial" pitchFamily="34" charset="-122"/>
                <a:cs typeface="Arial" pitchFamily="34" charset="-120"/>
              </a:rPr>
              <a:t>POURQUOI CES MÉTIERS SONT PLUS DIFFICILES À AUTOMATISER</a:t>
            </a:r>
          </a:p>
        </p:txBody>
      </p:sp>
      <p:sp>
        <p:nvSpPr>
          <p:cNvPr id="26" name="Text 23"/>
          <p:cNvSpPr txBox="1"/>
          <p:nvPr/>
        </p:nvSpPr>
        <p:spPr>
          <a:xfrm>
            <a:off x="8622792" y="2454249"/>
            <a:ext cx="2971800" cy="3041294"/>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860" b="1" dirty="0">
                <a:solidFill>
                  <a:srgbClr val="252A3D"/>
                </a:solidFill>
                <a:latin typeface="Arial" pitchFamily="34" charset="0"/>
                <a:ea typeface="Arial" pitchFamily="34" charset="-122"/>
                <a:cs typeface="Arial" pitchFamily="34" charset="-120"/>
              </a:rPr>
              <a:t>Ces décisions touchent directement les personnes, ce qui rend l’automatisation de ces métiers plus délicate. </a:t>
            </a:r>
            <a:r>
              <a:rPr lang="en-US" sz="860" dirty="0">
                <a:solidFill>
                  <a:srgbClr val="252A3D"/>
                </a:solidFill>
                <a:latin typeface="Arial" pitchFamily="34" charset="0"/>
                <a:ea typeface="Arial" pitchFamily="34" charset="-122"/>
                <a:cs typeface="Arial" pitchFamily="34" charset="-120"/>
              </a:rPr>
              <a:t>Certains de ces usages de l’IA sont classés « à haut risque », et le droit européen encadre les décisions entièrement automatisées. Il faut aussi adapter l’automatisation aux règles et au fonctionnement de chaque secteur.</a:t>
            </a:r>
          </a:p>
        </p:txBody>
      </p:sp>
      <p:sp>
        <p:nvSpPr>
          <p:cNvPr id="27" name="Shape 24"/>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8" name="Image 1"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29" name="Text 25"/>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Ces exemples montrent que certaines tâches simples sont déjà automatisées. </a:t>
            </a:r>
            <a:r>
              <a:rPr lang="en-US" sz="1150" dirty="0">
                <a:solidFill>
                  <a:srgbClr val="252A3D"/>
                </a:solidFill>
                <a:latin typeface="Arial" pitchFamily="34" charset="0"/>
                <a:ea typeface="Arial" pitchFamily="34" charset="-122"/>
                <a:cs typeface="Arial" pitchFamily="34" charset="-120"/>
              </a:rPr>
              <a:t>Les dossiers complexes restent souvent confiés aux humains. L’hypothèse est que l’IA pourra progressivement traiter aussi ces dossiers plus difficiles.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800" b="1" dirty="0">
                <a:solidFill>
                  <a:srgbClr val="5B6575"/>
                </a:solidFill>
                <a:latin typeface="Arial" pitchFamily="34" charset="0"/>
                <a:ea typeface="Arial" pitchFamily="34" charset="-122"/>
                <a:cs typeface="Arial" pitchFamily="34" charset="-120"/>
              </a:rPr>
              <a:t>CE QU’IL FAUT RETENIR</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100" b="1" dirty="0">
                <a:solidFill>
                  <a:srgbClr val="252A3D"/>
                </a:solidFill>
                <a:latin typeface="Arial" pitchFamily="34" charset="0"/>
                <a:ea typeface="Arial" pitchFamily="34" charset="-122"/>
                <a:cs typeface="Arial" pitchFamily="34" charset="-120"/>
              </a:rPr>
              <a:t>Ce qu’il faut retenir</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350" dirty="0">
                <a:solidFill>
                  <a:srgbClr val="5B6575"/>
                </a:solidFill>
                <a:latin typeface="Arial" pitchFamily="34" charset="0"/>
                <a:ea typeface="Arial" pitchFamily="34" charset="-122"/>
                <a:cs typeface="Arial" pitchFamily="34" charset="-120"/>
              </a:rPr>
              <a:t>Les contrôles prévus restent obligatoires. L’agent IA peut effectuer certaines revues. Il faut compter tout le travail qui reste aux humains.</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CONCLUSION</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28 / 30</a:t>
            </a:r>
            <a:endParaRPr lang="en-US" sz="1000" dirty="0"/>
          </a:p>
        </p:txBody>
      </p:sp>
      <p:sp>
        <p:nvSpPr>
          <p:cNvPr id="9" name="Shape 7"/>
          <p:cNvSpPr/>
          <p:nvPr/>
        </p:nvSpPr>
        <p:spPr>
          <a:xfrm>
            <a:off x="457200" y="1965960"/>
            <a:ext cx="2651760" cy="2514600"/>
          </a:xfrm>
          <a:prstGeom prst="roundRect">
            <a:avLst>
              <a:gd name="adj" fmla="val 3636"/>
            </a:avLst>
          </a:prstGeom>
          <a:solidFill>
            <a:srgbClr val="DDF5FC"/>
          </a:solidFill>
          <a:ln w="12700">
            <a:solidFill>
              <a:srgbClr val="DDF5FC"/>
            </a:solidFill>
            <a:prstDash val="solid"/>
          </a:ln>
        </p:spPr>
        <p:txBody>
          <a:bodyPr/>
          <a:p/>
        </p:txBody>
      </p:sp>
      <p:sp>
        <p:nvSpPr>
          <p:cNvPr id="10" name="Text 8"/>
          <p:cNvSpPr txBox="1"/>
          <p:nvPr/>
        </p:nvSpPr>
        <p:spPr>
          <a:xfrm>
            <a:off x="640080" y="2103120"/>
            <a:ext cx="2286000" cy="566928"/>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Les FDE rendent l’IA utilisable dans l’entreprise</a:t>
            </a:r>
          </a:p>
        </p:txBody>
      </p:sp>
      <p:sp>
        <p:nvSpPr>
          <p:cNvPr id="11" name="Text 9"/>
          <p:cNvSpPr txBox="1"/>
          <p:nvPr/>
        </p:nvSpPr>
        <p:spPr>
          <a:xfrm>
            <a:off x="640080" y="2724912"/>
            <a:ext cx="2286000" cy="1143000"/>
          </a:xfrm>
          <a:prstGeom prst="rect">
            <a:avLst/>
          </a:prstGeom>
          <a:noFill/>
          <a:ln/>
        </p:spPr>
        <p:txBody>
          <a:bodyPr wrap="square" lIns="0" tIns="0" rIns="0" bIns="0" rtlCol="0" anchor="t"/>
          <a:lstStyle/>
          <a:p>
            <a:pPr indent="0" marL="0">
              <a:lnSpc>
                <a:spcPct val="105000"/>
              </a:lnSpc>
              <a:buNone/>
            </a:pPr>
            <a:r>
              <a:rPr lang="en-US" sz="880" dirty="0">
                <a:solidFill>
                  <a:srgbClr val="252A3D"/>
                </a:solidFill>
                <a:latin typeface="Arial" pitchFamily="34" charset="0"/>
                <a:ea typeface="Arial" pitchFamily="34" charset="-122"/>
                <a:cs typeface="Arial" pitchFamily="34" charset="-120"/>
              </a:rPr>
              <a:t>Les FDE donnent aux agents IA accès aux documents, aux règles, aux applications et aux informations officielles dont ils ont besoin. L’article présente les revues du DGF comme un premier usage possible de cette approche.</a:t>
            </a:r>
          </a:p>
        </p:txBody>
      </p:sp>
      <p:sp>
        <p:nvSpPr>
          <p:cNvPr id="12" name="Shape 10"/>
          <p:cNvSpPr/>
          <p:nvPr/>
        </p:nvSpPr>
        <p:spPr>
          <a:xfrm>
            <a:off x="2432304" y="3803904"/>
            <a:ext cx="493776" cy="493776"/>
          </a:xfrm>
          <a:prstGeom prst="ellipse">
            <a:avLst/>
          </a:prstGeom>
          <a:solidFill>
            <a:srgbClr val="FFFFFF"/>
          </a:solidFill>
          <a:ln w="12700">
            <a:solidFill>
              <a:srgbClr val="FFFFFF"/>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2542032" y="3913632"/>
            <a:ext cx="274320" cy="274320"/>
          </a:xfrm>
          <a:prstGeom prst="rect">
            <a:avLst/>
          </a:prstGeom>
        </p:spPr>
      </p:pic>
      <p:sp>
        <p:nvSpPr>
          <p:cNvPr id="14" name="Shape 11"/>
          <p:cNvSpPr/>
          <p:nvPr/>
        </p:nvSpPr>
        <p:spPr>
          <a:xfrm>
            <a:off x="3332988" y="1965960"/>
            <a:ext cx="2651760" cy="2514600"/>
          </a:xfrm>
          <a:prstGeom prst="roundRect">
            <a:avLst>
              <a:gd name="adj" fmla="val 3636"/>
            </a:avLst>
          </a:prstGeom>
          <a:solidFill>
            <a:srgbClr val="FFE4E6"/>
          </a:solidFill>
          <a:ln w="12700">
            <a:solidFill>
              <a:srgbClr val="FFE4E6"/>
            </a:solidFill>
            <a:prstDash val="solid"/>
          </a:ln>
        </p:spPr>
        <p:txBody>
          <a:bodyPr/>
          <a:p/>
        </p:txBody>
      </p:sp>
      <p:sp>
        <p:nvSpPr>
          <p:cNvPr id="15" name="Text 12"/>
          <p:cNvSpPr txBox="1"/>
          <p:nvPr/>
        </p:nvSpPr>
        <p:spPr>
          <a:xfrm>
            <a:off x="3515868" y="2103120"/>
            <a:ext cx="2286000" cy="566928"/>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Des agents IA peuvent examiner les dossiers</a:t>
            </a:r>
          </a:p>
        </p:txBody>
      </p:sp>
      <p:sp>
        <p:nvSpPr>
          <p:cNvPr id="16" name="Text 13"/>
          <p:cNvSpPr txBox="1"/>
          <p:nvPr/>
        </p:nvSpPr>
        <p:spPr>
          <a:xfrm>
            <a:off x="3515868" y="2724912"/>
            <a:ext cx="2286000" cy="1143000"/>
          </a:xfrm>
          <a:prstGeom prst="rect">
            <a:avLst/>
          </a:prstGeom>
          <a:noFill/>
          <a:ln/>
        </p:spPr>
        <p:txBody>
          <a:bodyPr wrap="square" lIns="0" tIns="0" rIns="0" bIns="0" rtlCol="0" anchor="t"/>
          <a:lstStyle/>
          <a:p>
            <a:pPr indent="0" marL="0">
              <a:lnSpc>
                <a:spcPct val="105000"/>
              </a:lnSpc>
              <a:buNone/>
            </a:pPr>
            <a:r>
              <a:rPr lang="en-US" sz="880" dirty="0">
                <a:solidFill>
                  <a:srgbClr val="252A3D"/>
                </a:solidFill>
                <a:latin typeface="Arial" pitchFamily="34" charset="0"/>
                <a:ea typeface="Arial" pitchFamily="34" charset="-122"/>
                <a:cs typeface="Arial" pitchFamily="34" charset="-120"/>
              </a:rPr>
              <a:t>Les revues du DGF reviennent régulièrement, suivent des règles écrites et donnent des résultats vérifiables. Un agent peut les réaliser s’il a accès aux informations officielles nécessaires aux contrôles.</a:t>
            </a:r>
          </a:p>
        </p:txBody>
      </p:sp>
      <p:sp>
        <p:nvSpPr>
          <p:cNvPr id="17" name="Shape 14"/>
          <p:cNvSpPr/>
          <p:nvPr/>
        </p:nvSpPr>
        <p:spPr>
          <a:xfrm>
            <a:off x="5308092" y="3803904"/>
            <a:ext cx="493776" cy="493776"/>
          </a:xfrm>
          <a:prstGeom prst="ellipse">
            <a:avLst/>
          </a:prstGeom>
          <a:solidFill>
            <a:srgbClr val="FFFFFF"/>
          </a:solidFill>
          <a:ln w="12700">
            <a:solidFill>
              <a:srgbClr val="FFFFFF"/>
            </a:solidFill>
            <a:prstDash val="solid"/>
          </a:ln>
        </p:spPr>
        <p:txBody>
          <a:bodyPr/>
          <a:p/>
        </p:txBody>
      </p:sp>
      <p:pic>
        <p:nvPicPr>
          <p:cNvPr id="18" name="Image 1" descr="preencoded.png">    </p:cNvPr>
          <p:cNvPicPr>
            <a:picLocks noChangeAspect="1"/>
          </p:cNvPicPr>
          <p:nvPr/>
        </p:nvPicPr>
        <p:blipFill>
          <a:blip r:embed="rId2"/>
          <a:stretch>
            <a:fillRect/>
          </a:stretch>
        </p:blipFill>
        <p:spPr>
          <a:xfrm>
            <a:off x="5417820" y="3913632"/>
            <a:ext cx="274320" cy="274320"/>
          </a:xfrm>
          <a:prstGeom prst="rect">
            <a:avLst/>
          </a:prstGeom>
        </p:spPr>
      </p:pic>
      <p:sp>
        <p:nvSpPr>
          <p:cNvPr id="19" name="Shape 15"/>
          <p:cNvSpPr/>
          <p:nvPr/>
        </p:nvSpPr>
        <p:spPr>
          <a:xfrm>
            <a:off x="6208776" y="1965960"/>
            <a:ext cx="2651760" cy="2514600"/>
          </a:xfrm>
          <a:prstGeom prst="roundRect">
            <a:avLst>
              <a:gd name="adj" fmla="val 3636"/>
            </a:avLst>
          </a:prstGeom>
          <a:solidFill>
            <a:srgbClr val="E5F6E9"/>
          </a:solidFill>
          <a:ln w="12700">
            <a:solidFill>
              <a:srgbClr val="E5F6E9"/>
            </a:solidFill>
            <a:prstDash val="solid"/>
          </a:ln>
        </p:spPr>
        <p:txBody>
          <a:bodyPr/>
          <a:p/>
        </p:txBody>
      </p:sp>
      <p:sp>
        <p:nvSpPr>
          <p:cNvPr id="20" name="Text 16"/>
          <p:cNvSpPr txBox="1"/>
          <p:nvPr/>
        </p:nvSpPr>
        <p:spPr>
          <a:xfrm>
            <a:off x="6391656" y="2103120"/>
            <a:ext cx="2286000" cy="566928"/>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Un même agent ne réussit pas à tous les essais</a:t>
            </a:r>
          </a:p>
        </p:txBody>
      </p:sp>
      <p:sp>
        <p:nvSpPr>
          <p:cNvPr id="21" name="Text 17"/>
          <p:cNvSpPr txBox="1"/>
          <p:nvPr/>
        </p:nvSpPr>
        <p:spPr>
          <a:xfrm>
            <a:off x="6391656" y="2724912"/>
            <a:ext cx="2286000" cy="1143000"/>
          </a:xfrm>
          <a:prstGeom prst="rect">
            <a:avLst/>
          </a:prstGeom>
          <a:noFill/>
          <a:ln/>
        </p:spPr>
        <p:txBody>
          <a:bodyPr wrap="square" lIns="0" tIns="0" rIns="0" bIns="0" rtlCol="0" anchor="t"/>
          <a:lstStyle/>
          <a:p>
            <a:pPr indent="0" marL="0">
              <a:lnSpc>
                <a:spcPct val="105000"/>
              </a:lnSpc>
              <a:buNone/>
            </a:pPr>
            <a:r>
              <a:rPr lang="en-US" sz="880" dirty="0">
                <a:solidFill>
                  <a:srgbClr val="252A3D"/>
                </a:solidFill>
                <a:latin typeface="Arial" pitchFamily="34" charset="0"/>
                <a:ea typeface="Arial" pitchFamily="34" charset="-122"/>
                <a:cs typeface="Arial" pitchFamily="34" charset="-120"/>
              </a:rPr>
              <a:t>Dans les tests, les agents ont souvent pris la bonne décision. Ils doivent encore mieux citer leurs sources et obtenir des résultats réguliers d’un essai à l’autre.</a:t>
            </a:r>
          </a:p>
        </p:txBody>
      </p:sp>
      <p:sp>
        <p:nvSpPr>
          <p:cNvPr id="22" name="Shape 18"/>
          <p:cNvSpPr/>
          <p:nvPr/>
        </p:nvSpPr>
        <p:spPr>
          <a:xfrm>
            <a:off x="8183880" y="3803904"/>
            <a:ext cx="493776" cy="493776"/>
          </a:xfrm>
          <a:prstGeom prst="ellipse">
            <a:avLst/>
          </a:prstGeom>
          <a:solidFill>
            <a:srgbClr val="FFFFFF"/>
          </a:solidFill>
          <a:ln w="12700">
            <a:solidFill>
              <a:srgbClr val="FFFFFF"/>
            </a:solidFill>
            <a:prstDash val="solid"/>
          </a:ln>
        </p:spPr>
        <p:txBody>
          <a:bodyPr/>
          <a:p/>
        </p:txBody>
      </p:sp>
      <p:pic>
        <p:nvPicPr>
          <p:cNvPr id="23" name="Image 2" descr="preencoded.png">    </p:cNvPr>
          <p:cNvPicPr>
            <a:picLocks noChangeAspect="1"/>
          </p:cNvPicPr>
          <p:nvPr/>
        </p:nvPicPr>
        <p:blipFill>
          <a:blip r:embed="rId3"/>
          <a:stretch>
            <a:fillRect/>
          </a:stretch>
        </p:blipFill>
        <p:spPr>
          <a:xfrm>
            <a:off x="8293608" y="3913632"/>
            <a:ext cx="274320" cy="274320"/>
          </a:xfrm>
          <a:prstGeom prst="rect">
            <a:avLst/>
          </a:prstGeom>
        </p:spPr>
      </p:pic>
      <p:sp>
        <p:nvSpPr>
          <p:cNvPr id="24" name="Shape 19"/>
          <p:cNvSpPr/>
          <p:nvPr/>
        </p:nvSpPr>
        <p:spPr>
          <a:xfrm>
            <a:off x="9084564" y="1965960"/>
            <a:ext cx="2651760" cy="2514600"/>
          </a:xfrm>
          <a:prstGeom prst="roundRect">
            <a:avLst>
              <a:gd name="adj" fmla="val 3636"/>
            </a:avLst>
          </a:prstGeom>
          <a:solidFill>
            <a:srgbClr val="FFF5BF"/>
          </a:solidFill>
          <a:ln w="12700">
            <a:solidFill>
              <a:srgbClr val="FFF5BF"/>
            </a:solidFill>
            <a:prstDash val="solid"/>
          </a:ln>
        </p:spPr>
        <p:txBody>
          <a:bodyPr/>
          <a:p/>
        </p:txBody>
      </p:sp>
      <p:sp>
        <p:nvSpPr>
          <p:cNvPr id="25" name="Text 20"/>
          <p:cNvSpPr txBox="1"/>
          <p:nvPr/>
        </p:nvSpPr>
        <p:spPr>
          <a:xfrm>
            <a:off x="9267444" y="2103120"/>
            <a:ext cx="2286000" cy="566928"/>
          </a:xfrm>
          <a:prstGeom prst="rect">
            <a:avLst/>
          </a:prstGeom>
          <a:noFill/>
          <a:ln/>
        </p:spPr>
        <p:txBody>
          <a:bodyPr wrap="square" lIns="0" tIns="0" rIns="0" bIns="0" rtlCol="0" anchor="t"/>
          <a:lstStyle/>
          <a:p>
            <a:pPr indent="0" marL="0">
              <a:lnSpc>
                <a:spcPct val="105000"/>
              </a:lnSpc>
              <a:buNone/>
            </a:pPr>
            <a:r>
              <a:rPr lang="en-US" sz="1200" b="1" dirty="0">
                <a:solidFill>
                  <a:srgbClr val="252A3D"/>
                </a:solidFill>
                <a:latin typeface="Arial" pitchFamily="34" charset="0"/>
                <a:ea typeface="Arial" pitchFamily="34" charset="-122"/>
                <a:cs typeface="Arial" pitchFamily="34" charset="-120"/>
              </a:rPr>
              <a:t>Automatiser davantage ne dit pas combien de postes disparaîtront</a:t>
            </a:r>
          </a:p>
        </p:txBody>
      </p:sp>
      <p:sp>
        <p:nvSpPr>
          <p:cNvPr id="26" name="Text 21"/>
          <p:cNvSpPr txBox="1"/>
          <p:nvPr/>
        </p:nvSpPr>
        <p:spPr>
          <a:xfrm>
            <a:off x="9267444" y="2724912"/>
            <a:ext cx="2286000" cy="1143000"/>
          </a:xfrm>
          <a:prstGeom prst="rect">
            <a:avLst/>
          </a:prstGeom>
          <a:noFill/>
          <a:ln/>
        </p:spPr>
        <p:txBody>
          <a:bodyPr wrap="square" lIns="0" tIns="0" rIns="0" bIns="0" rtlCol="0" anchor="t"/>
          <a:lstStyle/>
          <a:p>
            <a:pPr indent="0" marL="0">
              <a:lnSpc>
                <a:spcPct val="105000"/>
              </a:lnSpc>
              <a:buNone/>
            </a:pPr>
            <a:r>
              <a:rPr lang="en-US" sz="750" dirty="0">
                <a:solidFill>
                  <a:srgbClr val="252A3D"/>
                </a:solidFill>
                <a:latin typeface="Arial" pitchFamily="34" charset="0"/>
                <a:ea typeface="Arial" pitchFamily="34" charset="-122"/>
                <a:cs typeface="Arial" pitchFamily="34" charset="-120"/>
              </a:rPr>
              <a:t>Dans les scénarios étudiés, le même agent peut laisser un besoin de 44 à 169 ETP, selon la manière d’organiser le travail. Le vrai point à mesurer est le temps qui reste aux humains, pas seulement le nombre de cas automatisés.</a:t>
            </a:r>
          </a:p>
        </p:txBody>
      </p:sp>
      <p:sp>
        <p:nvSpPr>
          <p:cNvPr id="27" name="Shape 22"/>
          <p:cNvSpPr/>
          <p:nvPr/>
        </p:nvSpPr>
        <p:spPr>
          <a:xfrm>
            <a:off x="11059668" y="3803904"/>
            <a:ext cx="493776" cy="493776"/>
          </a:xfrm>
          <a:prstGeom prst="ellipse">
            <a:avLst/>
          </a:prstGeom>
          <a:solidFill>
            <a:srgbClr val="FFFFFF"/>
          </a:solidFill>
          <a:ln w="12700">
            <a:solidFill>
              <a:srgbClr val="FFFFFF"/>
            </a:solidFill>
            <a:prstDash val="solid"/>
          </a:ln>
        </p:spPr>
        <p:txBody>
          <a:bodyPr/>
          <a:p/>
        </p:txBody>
      </p:sp>
      <p:pic>
        <p:nvPicPr>
          <p:cNvPr id="28" name="Image 3" descr="preencoded.png">    </p:cNvPr>
          <p:cNvPicPr>
            <a:picLocks noChangeAspect="1"/>
          </p:cNvPicPr>
          <p:nvPr/>
        </p:nvPicPr>
        <p:blipFill>
          <a:blip r:embed="rId4"/>
          <a:stretch>
            <a:fillRect/>
          </a:stretch>
        </p:blipFill>
        <p:spPr>
          <a:xfrm>
            <a:off x="11169396" y="3913632"/>
            <a:ext cx="274320" cy="274320"/>
          </a:xfrm>
          <a:prstGeom prst="rect">
            <a:avLst/>
          </a:prstGeom>
        </p:spPr>
      </p:pic>
      <p:sp>
        <p:nvSpPr>
          <p:cNvPr id="29" name="Shape 23"/>
          <p:cNvSpPr/>
          <p:nvPr/>
        </p:nvSpPr>
        <p:spPr>
          <a:xfrm>
            <a:off x="457200" y="4663440"/>
            <a:ext cx="11274552" cy="1691640"/>
          </a:xfrm>
          <a:prstGeom prst="roundRect">
            <a:avLst>
              <a:gd name="adj" fmla="val 5405"/>
            </a:avLst>
          </a:prstGeom>
          <a:solidFill>
            <a:srgbClr val="F3F5F8"/>
          </a:solidFill>
          <a:ln w="12700">
            <a:solidFill>
              <a:srgbClr val="F3F5F8"/>
            </a:solidFill>
            <a:prstDash val="solid"/>
          </a:ln>
        </p:spPr>
        <p:txBody>
          <a:bodyPr/>
          <a:p/>
        </p:txBody>
      </p:sp>
      <p:sp>
        <p:nvSpPr>
          <p:cNvPr id="30" name="Text 24"/>
          <p:cNvSpPr txBox="1"/>
          <p:nvPr/>
        </p:nvSpPr>
        <p:spPr>
          <a:xfrm>
            <a:off x="658368" y="4663440"/>
            <a:ext cx="10872216" cy="1691640"/>
          </a:xfrm>
          <a:prstGeom prst="rect">
            <a:avLst/>
          </a:prstGeom>
          <a:noFill/>
          <a:ln/>
        </p:spPr>
        <p:txBody>
          <a:bodyPr wrap="square" lIns="0" tIns="0" rIns="0" bIns="0" rtlCol="0" anchor="ctr"/>
          <a:lstStyle/>
          <a:p>
            <a:pPr indent="0" marL="0">
              <a:lnSpc>
                <a:spcPct val="105000"/>
              </a:lnSpc>
              <a:buNone/>
            </a:pPr>
            <a:r>
              <a:rPr lang="en-US" sz="1030" dirty="0">
                <a:solidFill>
                  <a:srgbClr val="252A3D"/>
                </a:solidFill>
                <a:latin typeface="Arial" pitchFamily="34" charset="0"/>
                <a:ea typeface="Arial" pitchFamily="34" charset="-122"/>
                <a:cs typeface="Arial" pitchFamily="34" charset="-120"/>
              </a:rPr>
              <a:t>Dans l’expérience, l’agent réussit une revue s’il prend la bonne décision, repère les bons problèmes, demande les corrections nécessaires, cite les bonnes sources et respecte ses autorisations.</a:t>
            </a:r>
          </a:p>
          <a:p>
            <a:pPr indent="0" marL="0">
              <a:lnSpc>
                <a:spcPct val="105000"/>
              </a:lnSpc>
              <a:buNone/>
            </a:pPr>
            <a:r>
              <a:rPr lang="en-US" sz="1030" dirty="0">
                <a:solidFill>
                  <a:srgbClr val="252A3D"/>
                </a:solidFill>
                <a:latin typeface="Arial" pitchFamily="34" charset="0"/>
                <a:ea typeface="Arial" pitchFamily="34" charset="-122"/>
                <a:cs typeface="Arial" pitchFamily="34" charset="-120"/>
              </a:rPr>
              <a:t>La version longue envisage qu’à terme, même la supervision de la plateforme puisse être automatisée.</a:t>
            </a:r>
          </a:p>
          <a:p>
            <a:pPr indent="0" marL="0">
              <a:lnSpc>
                <a:spcPct val="105000"/>
              </a:lnSpc>
              <a:buNone/>
            </a:pPr>
            <a:r>
              <a:rPr lang="en-US" sz="1030" dirty="0">
                <a:solidFill>
                  <a:srgbClr val="252A3D"/>
                </a:solidFill>
                <a:latin typeface="Arial" pitchFamily="34" charset="0"/>
                <a:ea typeface="Arial" pitchFamily="34" charset="-122"/>
                <a:cs typeface="Arial" pitchFamily="34" charset="-120"/>
              </a:rPr>
              <a:t>L’étude ne mesure pas les économies dans une entreprise réelle, ne compare pas directement les agents à des spécialistes humains et ne montre pas quels secteurs adopteront l’IA en premier.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800" b="1" dirty="0">
                <a:solidFill>
                  <a:srgbClr val="5B6575"/>
                </a:solidFill>
                <a:latin typeface="Arial" pitchFamily="34" charset="0"/>
                <a:ea typeface="Arial" pitchFamily="34" charset="-122"/>
                <a:cs typeface="Arial" pitchFamily="34" charset="-120"/>
              </a:rPr>
              <a:t>POUR CONSULTER L’ÉTUDE, LES DONNÉES ET LE CODE</a:t>
            </a:r>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150" b="1" dirty="0">
                <a:solidFill>
                  <a:srgbClr val="252A3D"/>
                </a:solidFill>
                <a:latin typeface="Arial" pitchFamily="34" charset="0"/>
                <a:ea typeface="Arial" pitchFamily="34" charset="-122"/>
                <a:cs typeface="Arial" pitchFamily="34" charset="-120"/>
              </a:rPr>
              <a:t>Consulter l’étude et vérifier les résultats</a:t>
            </a:r>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On peut vérifier les résultats publiés sans solliciter à nouveau les modèles d’IA.</a:t>
            </a:r>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SOURCES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29 / 30</a:t>
            </a:r>
            <a:endParaRPr lang="en-US" sz="1000" dirty="0"/>
          </a:p>
        </p:txBody>
      </p:sp>
      <p:sp>
        <p:nvSpPr>
          <p:cNvPr id="9" name="Shape 7"/>
          <p:cNvSpPr/>
          <p:nvPr/>
        </p:nvSpPr>
        <p:spPr>
          <a:xfrm>
            <a:off x="457200" y="1965960"/>
            <a:ext cx="5532120" cy="3749040"/>
          </a:xfrm>
          <a:prstGeom prst="roundRect">
            <a:avLst>
              <a:gd name="adj" fmla="val 2439"/>
            </a:avLst>
          </a:prstGeom>
          <a:solidFill>
            <a:srgbClr val="DDF5FC"/>
          </a:solidFill>
          <a:ln w="12700">
            <a:solidFill>
              <a:srgbClr val="DDF5FC"/>
            </a:solidFill>
            <a:prstDash val="solid"/>
          </a:ln>
        </p:spPr>
        <p:txBody>
          <a:bodyPr/>
          <a:p/>
        </p:txBody>
      </p:sp>
      <p:sp>
        <p:nvSpPr>
          <p:cNvPr id="10" name="Text 8"/>
          <p:cNvSpPr txBox="1"/>
          <p:nvPr/>
        </p:nvSpPr>
        <p:spPr>
          <a:xfrm>
            <a:off x="658368" y="2103120"/>
            <a:ext cx="51206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B6E93"/>
                </a:solidFill>
                <a:latin typeface="Arial" pitchFamily="34" charset="0"/>
                <a:ea typeface="Arial" pitchFamily="34" charset="-122"/>
                <a:cs typeface="Arial" pitchFamily="34" charset="-120"/>
              </a:rPr>
              <a:t>LES DEUX VERSIONS DE L’ÉTUDE ET LES DONNÉES</a:t>
            </a:r>
          </a:p>
        </p:txBody>
      </p:sp>
      <p:sp>
        <p:nvSpPr>
          <p:cNvPr id="11" name="Text 9"/>
          <p:cNvSpPr txBox="1"/>
          <p:nvPr/>
        </p:nvSpPr>
        <p:spPr>
          <a:xfrm>
            <a:off x="658368" y="2395728"/>
            <a:ext cx="5120640" cy="3246120"/>
          </a:xfrm>
          <a:prstGeom prst="rect">
            <a:avLst/>
          </a:prstGeom>
          <a:noFill/>
          <a:ln/>
        </p:spPr>
        <p:txBody>
          <a:bodyPr wrap="square" lIns="0" tIns="0" rIns="0" bIns="0" rtlCol="0" anchor="t"/>
          <a:lstStyle/>
          <a:p>
            <a:pPr indent="0" marL="0">
              <a:lnSpc>
                <a:spcPct val="105000"/>
              </a:lnSpc>
              <a:buNone/>
            </a:pPr>
            <a:r>
              <a:rPr lang="en-US" sz="920" b="1" dirty="0">
                <a:solidFill>
                  <a:srgbClr val="252A3D"/>
                </a:solidFill>
                <a:latin typeface="Arial" pitchFamily="34" charset="0"/>
                <a:ea typeface="Arial" pitchFamily="34" charset="-122"/>
                <a:cs typeface="Arial" pitchFamily="34" charset="-120"/>
              </a:rPr>
              <a:t>L’article de 28 pages présente l’idée, l’expérience et le calcul des effets sur l’emploi. </a:t>
            </a:r>
            <a:r>
              <a:rPr lang="en-US" sz="920" dirty="0">
                <a:solidFill>
                  <a:srgbClr val="252A3D"/>
                </a:solidFill>
                <a:latin typeface="Arial" pitchFamily="34" charset="0"/>
                <a:ea typeface="Arial" pitchFamily="34" charset="-122"/>
                <a:cs typeface="Arial" pitchFamily="34" charset="-120"/>
              </a:rPr>
              <a:t>Il est disponible sur arXiv : arxiv.org/abs/2609.29345.</a:t>
            </a:r>
          </a:p>
          <a:p>
            <a:pPr indent="0" marL="0">
              <a:lnSpc>
                <a:spcPct val="105000"/>
              </a:lnSpc>
              <a:buNone/>
            </a:pPr>
            <a:r>
              <a:rPr lang="en-US" sz="920" dirty="0">
                <a:solidFill>
                  <a:srgbClr val="252A3D"/>
                </a:solidFill>
                <a:latin typeface="Arial" pitchFamily="34" charset="0"/>
                <a:ea typeface="Arial" pitchFamily="34" charset="-122"/>
                <a:cs typeface="Arial" pitchFamily="34" charset="-120"/>
              </a:rPr>
              <a:t>github.com/jeremy1392/dgf-agentic-bench/blob/main/paper2/From_Governance_Reviews_to_Task_Substitution.pdf</a:t>
            </a:r>
          </a:p>
          <a:p>
            <a:pPr indent="0" marL="0">
              <a:lnSpc>
                <a:spcPct val="105000"/>
              </a:lnSpc>
              <a:buNone/>
            </a:pPr>
            <a:r>
              <a:rPr lang="en-US" sz="920" dirty="0">
                <a:solidFill>
                  <a:srgbClr val="252A3D"/>
                </a:solidFill>
                <a:latin typeface="Arial" pitchFamily="34" charset="0"/>
                <a:ea typeface="Arial" pitchFamily="34" charset="-122"/>
                <a:cs typeface="Arial" pitchFamily="34" charset="-120"/>
              </a:rPr>
              <a:t>La version longue de 66 pages détaille l’hypothèse, les délais possibles, les objections et les scénarios à long terme.</a:t>
            </a:r>
          </a:p>
          <a:p>
            <a:pPr indent="0" marL="0">
              <a:lnSpc>
                <a:spcPct val="105000"/>
              </a:lnSpc>
              <a:buNone/>
            </a:pPr>
            <a:r>
              <a:rPr lang="en-US" sz="920" dirty="0">
                <a:solidFill>
                  <a:srgbClr val="252A3D"/>
                </a:solidFill>
                <a:latin typeface="Arial" pitchFamily="34" charset="0"/>
                <a:ea typeface="Arial" pitchFamily="34" charset="-122"/>
                <a:cs typeface="Arial" pitchFamily="34" charset="-120"/>
              </a:rPr>
              <a:t>github.com/jeremy1392/dgf-agentic-bench/blob/main/paper/The_Last_Human_Gate.pdf</a:t>
            </a:r>
          </a:p>
          <a:p>
            <a:pPr indent="0" marL="0">
              <a:lnSpc>
                <a:spcPct val="105000"/>
              </a:lnSpc>
              <a:buNone/>
            </a:pPr>
            <a:r>
              <a:rPr lang="en-US" sz="920" b="1" dirty="0">
                <a:solidFill>
                  <a:srgbClr val="252A3D"/>
                </a:solidFill>
                <a:latin typeface="Arial" pitchFamily="34" charset="0"/>
                <a:ea typeface="Arial" pitchFamily="34" charset="-122"/>
                <a:cs typeface="Arial" pitchFamily="34" charset="-120"/>
              </a:rPr>
              <a:t>Les données publiées comprennent les 300 dossiers, les réponses des agents, les scores, les coûts et les essais répétés. </a:t>
            </a:r>
            <a:r>
              <a:rPr lang="en-US" sz="920" dirty="0">
                <a:solidFill>
                  <a:srgbClr val="252A3D"/>
                </a:solidFill>
                <a:latin typeface="Arial" pitchFamily="34" charset="0"/>
                <a:ea typeface="Arial" pitchFamily="34" charset="-122"/>
                <a:cs typeface="Arial" pitchFamily="34" charset="-120"/>
              </a:rPr>
              <a:t>Elles incluent aussi la version du code utilisée et des empreintes SHA-256 pour vérifier que les fichiers n’ont pas changé.</a:t>
            </a:r>
          </a:p>
          <a:p>
            <a:pPr indent="0" marL="0">
              <a:lnSpc>
                <a:spcPct val="105000"/>
              </a:lnSpc>
              <a:buNone/>
            </a:pPr>
            <a:r>
              <a:rPr lang="en-US" sz="920" dirty="0">
                <a:solidFill>
                  <a:srgbClr val="252A3D"/>
                </a:solidFill>
                <a:latin typeface="Arial" pitchFamily="34" charset="0"/>
                <a:ea typeface="Arial" pitchFamily="34" charset="-122"/>
                <a:cs typeface="Arial" pitchFamily="34" charset="-120"/>
              </a:rPr>
              <a:t>Pour refaire les calculs, téléchargez les données, vérifiez les fichiers grâce aux empreintes SHA-256, puis relancez la notation et les statistiques.</a:t>
            </a:r>
          </a:p>
          <a:p>
            <a:pPr indent="0" marL="0">
              <a:lnSpc>
                <a:spcPct val="105000"/>
              </a:lnSpc>
              <a:buNone/>
            </a:pPr>
            <a:r>
              <a:rPr lang="en-US" sz="920" dirty="0">
                <a:solidFill>
                  <a:srgbClr val="252A3D"/>
                </a:solidFill>
                <a:latin typeface="Arial" pitchFamily="34" charset="0"/>
                <a:ea typeface="Arial" pitchFamily="34" charset="-122"/>
                <a:cs typeface="Arial" pitchFamily="34" charset="-120"/>
              </a:rPr>
              <a:t>Il n’est pas nécessaire de faire de nouveaux appels aux modèles d’IA.</a:t>
            </a:r>
          </a:p>
        </p:txBody>
      </p:sp>
      <p:sp>
        <p:nvSpPr>
          <p:cNvPr id="12" name="Shape 10"/>
          <p:cNvSpPr/>
          <p:nvPr/>
        </p:nvSpPr>
        <p:spPr>
          <a:xfrm>
            <a:off x="6199632" y="1965960"/>
            <a:ext cx="5532120" cy="3749040"/>
          </a:xfrm>
          <a:prstGeom prst="roundRect">
            <a:avLst>
              <a:gd name="adj" fmla="val 2439"/>
            </a:avLst>
          </a:prstGeom>
          <a:solidFill>
            <a:srgbClr val="F3F5F8"/>
          </a:solidFill>
          <a:ln w="12700">
            <a:solidFill>
              <a:srgbClr val="F3F5F8"/>
            </a:solidFill>
            <a:prstDash val="solid"/>
          </a:ln>
        </p:spPr>
        <p:txBody>
          <a:bodyPr/>
          <a:p/>
        </p:txBody>
      </p:sp>
      <p:sp>
        <p:nvSpPr>
          <p:cNvPr id="13" name="Text 11"/>
          <p:cNvSpPr txBox="1"/>
          <p:nvPr/>
        </p:nvSpPr>
        <p:spPr>
          <a:xfrm>
            <a:off x="6400800" y="2103120"/>
            <a:ext cx="51206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6575"/>
                </a:solidFill>
                <a:latin typeface="Arial" pitchFamily="34" charset="0"/>
                <a:ea typeface="Arial" pitchFamily="34" charset="-122"/>
                <a:cs typeface="Arial" pitchFamily="34" charset="-120"/>
              </a:rPr>
              <a:t>LES TRAVAUX CITÉS DANS L’ARTICLE</a:t>
            </a:r>
          </a:p>
        </p:txBody>
      </p:sp>
      <p:sp>
        <p:nvSpPr>
          <p:cNvPr id="14" name="Text 12"/>
          <p:cNvSpPr txBox="1"/>
          <p:nvPr/>
        </p:nvSpPr>
        <p:spPr>
          <a:xfrm>
            <a:off x="6400800" y="2395728"/>
            <a:ext cx="5129784" cy="3246120"/>
          </a:xfrm>
          <a:prstGeom prst="rect">
            <a:avLst/>
          </a:prstGeom>
          <a:noFill/>
          <a:ln/>
        </p:spPr>
        <p:txBody>
          <a:bodyPr wrap="square" lIns="0" tIns="0" rIns="0" bIns="0" rtlCol="0" anchor="t"/>
          <a:lstStyle/>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Acemoglu &amp; Restrepo (2019). Automation and new tasks. Journal of Economic Perspectives.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Bainbridge (1983). Ironies of automation. Automatica.</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Calvanese et al. (2026). Agentic business process management. Information Systems.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Cooper (1990). Stage-gate systems. Business Horizons.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Demirer, Horton, Immorlica, Lucier &amp; Shahidi (2026). Chaining tasks, redefining work. NBER.</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Drouin et al. (2024). WorkArena. ICML.</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Gans &amp; Goldfarb (2026). O-Ring automation. NBER.</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Gao, Yen, Yu &amp; Chen (2023). Enabling LLMs to generate text with citations. EMNLP.</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Jha et al. (2025). ITBench. arXiv:2502.05352.</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Kapoor, Stroebl, Siegel, Nadgir &amp; Narayanan (2024). AI agents that matter. arXiv:2407.01502.</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Ly, Maggi, Montali, Rinderle-Ma &amp; van der Aalst (2015). Compliance monitoring in business processes.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Palantir Technologies (2026). Forward Deployed Software Engineer, fiche de poste.</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Rashkin et al. (2023). Measuring attribution in natural language generation models.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Yao, Shinn, Razavi &amp; Narasimhan (2024). τ-bench. arXiv:2406.12045.</a:t>
            </a:r>
            <a:endParaRPr lang="en-US" sz="860" dirty="0"/>
          </a:p>
        </p:txBody>
      </p:sp>
      <p:sp>
        <p:nvSpPr>
          <p:cNvPr id="15" name="Shape 13"/>
          <p:cNvSpPr/>
          <p:nvPr/>
        </p:nvSpPr>
        <p:spPr>
          <a:xfrm>
            <a:off x="457200" y="5870448"/>
            <a:ext cx="11274552" cy="566928"/>
          </a:xfrm>
          <a:prstGeom prst="roundRect">
            <a:avLst>
              <a:gd name="adj" fmla="val 16129"/>
            </a:avLst>
          </a:prstGeom>
          <a:solidFill>
            <a:srgbClr val="F5F7FA"/>
          </a:solidFill>
          <a:ln w="12700">
            <a:solidFill>
              <a:srgbClr val="F5F7FA"/>
            </a:solidFill>
            <a:prstDash val="solid"/>
          </a:ln>
        </p:spPr>
        <p:txBody>
          <a:bodyPr/>
          <a:p/>
        </p:txBody>
      </p:sp>
      <p:sp>
        <p:nvSpPr>
          <p:cNvPr id="16" name="Text 14"/>
          <p:cNvSpPr txBox="1"/>
          <p:nvPr/>
        </p:nvSpPr>
        <p:spPr>
          <a:xfrm>
            <a:off x="658368" y="5870448"/>
            <a:ext cx="10872216" cy="566928"/>
          </a:xfrm>
          <a:prstGeom prst="rect">
            <a:avLst/>
          </a:prstGeom>
          <a:noFill/>
          <a:ln/>
        </p:spPr>
        <p:txBody>
          <a:bodyPr wrap="square" lIns="0" tIns="0" rIns="0" bIns="0" rtlCol="0" anchor="ctr"/>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Les tests portent sur les modèles proposés par OpenRouter les 22 et 23 septembre 2026. </a:t>
            </a:r>
            <a:r>
              <a:rPr lang="en-US" sz="950" dirty="0">
                <a:solidFill>
                  <a:srgbClr val="252A3D"/>
                </a:solidFill>
                <a:latin typeface="Arial" pitchFamily="34" charset="0"/>
                <a:ea typeface="Arial" pitchFamily="34" charset="-122"/>
                <a:cs typeface="Arial" pitchFamily="34" charset="-120"/>
              </a:rPr>
              <a:t>L’expérience n’utilise aucune donnée provenant d’une entreprise réelle.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6B6B"/>
        </a:solidFill>
      </p:bgPr>
    </p:bg>
    <p:spTree>
      <p:nvGrpSpPr>
        <p:cNvPr id="1" name=""/>
        <p:cNvGrpSpPr/>
        <p:nvPr/>
      </p:nvGrpSpPr>
      <p:grpSpPr>
        <a:xfrm>
          <a:off x="0" y="0"/>
          <a:ext cx="0" cy="0"/>
          <a:chOff x="0" y="0"/>
          <a:chExt cx="0" cy="0"/>
        </a:xfrm>
      </p:grpSpPr>
      <p:sp>
        <p:nvSpPr>
          <p:cNvPr id="2" name="Shape 0"/>
          <p:cNvSpPr/>
          <p:nvPr/>
        </p:nvSpPr>
        <p:spPr>
          <a:xfrm>
            <a:off x="1097280" y="1188720"/>
            <a:ext cx="6035040" cy="3291840"/>
          </a:xfrm>
          <a:prstGeom prst="wedgeRoundRectCallout">
            <a:avLst/>
          </a:prstGeom>
          <a:solidFill>
            <a:srgbClr val="FFFFFF"/>
          </a:solidFill>
          <a:ln w="12700">
            <a:solidFill>
              <a:srgbClr val="252A3D"/>
            </a:solidFill>
            <a:prstDash val="solid"/>
          </a:ln>
        </p:spPr>
        <p:txBody>
          <a:bodyPr/>
          <a:p/>
        </p:txBody>
      </p:sp>
      <p:sp>
        <p:nvSpPr>
          <p:cNvPr id="3" name="Text 1"/>
          <p:cNvSpPr txBox="1"/>
          <p:nvPr/>
        </p:nvSpPr>
        <p:spPr>
          <a:xfrm>
            <a:off x="1554480" y="1325880"/>
            <a:ext cx="5303520" cy="868680"/>
          </a:xfrm>
          <a:prstGeom prst="rect">
            <a:avLst/>
          </a:prstGeom>
          <a:noFill/>
          <a:ln/>
        </p:spPr>
        <p:txBody>
          <a:bodyPr wrap="square" lIns="0" tIns="0" rIns="0" bIns="0" rtlCol="0" anchor="ctr"/>
          <a:lstStyle/>
          <a:p>
            <a:pPr indent="0" marL="0">
              <a:lnSpc>
                <a:spcPct val="105000"/>
              </a:lnSpc>
              <a:buNone/>
            </a:pPr>
            <a:r>
              <a:rPr lang="en-US" sz="4400" b="1" dirty="0">
                <a:solidFill>
                  <a:srgbClr val="252A3D"/>
                </a:solidFill>
                <a:latin typeface="Arial" pitchFamily="34" charset="0"/>
                <a:ea typeface="Arial" pitchFamily="34" charset="-122"/>
                <a:cs typeface="Arial" pitchFamily="34" charset="-120"/>
              </a:rPr>
              <a:t>Merci !</a:t>
            </a:r>
            <a:endParaRPr lang="en-US" sz="4400" dirty="0"/>
          </a:p>
        </p:txBody>
      </p:sp>
      <p:sp>
        <p:nvSpPr>
          <p:cNvPr id="4" name="Text 2"/>
          <p:cNvSpPr txBox="1"/>
          <p:nvPr/>
        </p:nvSpPr>
        <p:spPr>
          <a:xfrm>
            <a:off x="1554480" y="2194560"/>
            <a:ext cx="5303520" cy="384048"/>
          </a:xfrm>
          <a:prstGeom prst="rect">
            <a:avLst/>
          </a:prstGeom>
          <a:noFill/>
          <a:ln/>
        </p:spPr>
        <p:txBody>
          <a:bodyPr wrap="square" lIns="0" tIns="0" rIns="0" bIns="0" rtlCol="0" anchor="t"/>
          <a:lstStyle/>
          <a:p>
            <a:pPr indent="0" marL="0">
              <a:lnSpc>
                <a:spcPct val="105000"/>
              </a:lnSpc>
              <a:buNone/>
            </a:pPr>
            <a:r>
              <a:rPr lang="en-US" sz="1900" dirty="0">
                <a:solidFill>
                  <a:srgbClr val="252A3D"/>
                </a:solidFill>
                <a:latin typeface="Arial" pitchFamily="34" charset="0"/>
                <a:ea typeface="Arial" pitchFamily="34" charset="-122"/>
                <a:cs typeface="Arial" pitchFamily="34" charset="-120"/>
              </a:rPr>
              <a:t>Place aux questions</a:t>
            </a:r>
          </a:p>
        </p:txBody>
      </p:sp>
      <p:sp>
        <p:nvSpPr>
          <p:cNvPr id="5" name="Text 3"/>
          <p:cNvSpPr txBox="1"/>
          <p:nvPr/>
        </p:nvSpPr>
        <p:spPr>
          <a:xfrm>
            <a:off x="1554480" y="2651760"/>
            <a:ext cx="5303520" cy="530352"/>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Lisez l’article, refaites l’expérience et vérifiez l’hypothèse : au moins 80 % d’ETP en moins en 2033.</a:t>
            </a:r>
          </a:p>
        </p:txBody>
      </p:sp>
      <p:sp>
        <p:nvSpPr>
          <p:cNvPr id="6" name="Text 4">
            <a:hlinkClick r:id="rId1" tooltip=""/>
          </p:cNvPr>
          <p:cNvSpPr txBox="1"/>
          <p:nvPr/>
        </p:nvSpPr>
        <p:spPr>
          <a:xfrm>
            <a:off x="1554480" y="3182112"/>
            <a:ext cx="5303520" cy="274320"/>
          </a:xfrm>
          <a:prstGeom prst="rect">
            <a:avLst/>
          </a:prstGeom>
          <a:noFill/>
          <a:ln/>
        </p:spPr>
        <p:txBody>
          <a:bodyPr wrap="square" lIns="0" tIns="0" rIns="0" bIns="0" rtlCol="0" anchor="ctr"/>
          <a:lstStyle/>
          <a:p>
            <a:pPr indent="0" marL="0">
              <a:buNone/>
            </a:pPr>
            <a:r>
              <a:rPr lang="en-US" sz="1250" u="sng" dirty="0">
                <a:solidFill>
                  <a:srgbClr val="252A3D"/>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https://www.linkedin.com/in/jcanale13/</a:t>
            </a:r>
            <a:endParaRPr lang="en-US" sz="1250" dirty="0"/>
          </a:p>
        </p:txBody>
      </p:sp>
      <p:sp>
        <p:nvSpPr>
          <p:cNvPr id="7" name="Text 5"/>
          <p:cNvSpPr txBox="1"/>
          <p:nvPr/>
        </p:nvSpPr>
        <p:spPr>
          <a:xfrm>
            <a:off x="1554480" y="3465576"/>
            <a:ext cx="5303520" cy="256032"/>
          </a:xfrm>
          <a:prstGeom prst="rect">
            <a:avLst/>
          </a:prstGeom>
          <a:noFill/>
          <a:ln/>
        </p:spPr>
        <p:txBody>
          <a:bodyPr wrap="square" lIns="0" tIns="0" rIns="0" bIns="0" rtlCol="0" anchor="t"/>
          <a:lstStyle/>
          <a:p>
            <a:pPr indent="0" marL="0">
              <a:lnSpc>
                <a:spcPct val="105000"/>
              </a:lnSpc>
              <a:buNone/>
            </a:pPr>
            <a:r>
              <a:rPr lang="en-US" sz="1200" dirty="0">
                <a:solidFill>
                  <a:srgbClr val="5B6575"/>
                </a:solidFill>
                <a:latin typeface="Arial" pitchFamily="34" charset="0"/>
                <a:ea typeface="Arial" pitchFamily="34" charset="-122"/>
                <a:cs typeface="Arial" pitchFamily="34" charset="-120"/>
              </a:rPr>
              <a:t>Jeremy Canale · AI Applied Security Architect</a:t>
            </a:r>
            <a:endParaRPr lang="en-US" sz="1200" dirty="0"/>
          </a:p>
        </p:txBody>
      </p:sp>
      <p:sp>
        <p:nvSpPr>
          <p:cNvPr id="8" name="Text 6"/>
          <p:cNvSpPr txBox="1"/>
          <p:nvPr/>
        </p:nvSpPr>
        <p:spPr>
          <a:xfrm>
            <a:off x="1554480" y="3730752"/>
            <a:ext cx="5303520" cy="256032"/>
          </a:xfrm>
          <a:prstGeom prst="rect">
            <a:avLst/>
          </a:prstGeom>
          <a:noFill/>
          <a:ln/>
        </p:spPr>
        <p:txBody>
          <a:bodyPr wrap="square" lIns="0" tIns="0" rIns="0" bIns="0" rtlCol="0" anchor="t"/>
          <a:lstStyle/>
          <a:p>
            <a:pPr indent="0" marL="0">
              <a:lnSpc>
                <a:spcPct val="105000"/>
              </a:lnSpc>
              <a:buNone/>
            </a:pPr>
            <a:r>
              <a:rPr lang="en-US" sz="1200" b="1" dirty="0">
                <a:solidFill>
                  <a:srgbClr val="252A3D"/>
                </a:solidFill>
                <a:latin typeface="Arial" pitchFamily="34" charset="0"/>
                <a:ea typeface="Arial" pitchFamily="34" charset="-122"/>
                <a:cs typeface="Arial" pitchFamily="34" charset="-120"/>
              </a:rPr>
              <a:t>contact@jeremycanale.com · https://www.jeremycanale.com</a:t>
            </a:r>
            <a:endParaRPr lang="en-US" sz="1200" dirty="0"/>
          </a:p>
        </p:txBody>
      </p:sp>
      <p:sp>
        <p:nvSpPr>
          <p:cNvPr id="9" name="Text 7"/>
          <p:cNvSpPr txBox="1"/>
          <p:nvPr/>
        </p:nvSpPr>
        <p:spPr>
          <a:xfrm>
            <a:off x="1554480" y="3986784"/>
            <a:ext cx="5303520" cy="457200"/>
          </a:xfrm>
          <a:prstGeom prst="rect">
            <a:avLst/>
          </a:prstGeom>
          <a:noFill/>
          <a:ln/>
        </p:spPr>
        <p:txBody>
          <a:bodyPr wrap="square" lIns="0" tIns="0" rIns="0" bIns="0" rtlCol="0" anchor="t"/>
          <a:lstStyle/>
          <a:p>
            <a:pPr indent="0" marL="0">
              <a:lnSpc>
                <a:spcPct val="105000"/>
              </a:lnSpc>
              <a:buNone/>
            </a:pPr>
            <a:r>
              <a:rPr lang="en-US" sz="1100" i="1" dirty="0">
                <a:solidFill>
                  <a:srgbClr val="252A3D"/>
                </a:solidFill>
                <a:latin typeface="Arial" pitchFamily="34" charset="0"/>
                <a:ea typeface="Arial" pitchFamily="34" charset="-122"/>
                <a:cs typeface="Arial" pitchFamily="34" charset="-120"/>
              </a:rPr>
              <a:t>Article : arxiv.org/abs/2609.29345 · Étude complète et données : github.com/jeremy1392/dgf-agentic-bench</a:t>
            </a:r>
          </a:p>
        </p:txBody>
      </p:sp>
      <p:sp>
        <p:nvSpPr>
          <p:cNvPr id="10" name="Shape 8"/>
          <p:cNvSpPr/>
          <p:nvPr/>
        </p:nvSpPr>
        <p:spPr>
          <a:xfrm>
            <a:off x="2148840" y="4983480"/>
            <a:ext cx="1188720" cy="1188720"/>
          </a:xfrm>
          <a:prstGeom prst="ellipse">
            <a:avLst/>
          </a:prstGeom>
          <a:solidFill>
            <a:srgbClr val="FFD23F"/>
          </a:solidFill>
          <a:ln w="12700">
            <a:solidFill>
              <a:srgbClr val="252A3D"/>
            </a:solidFill>
            <a:prstDash val="solid"/>
          </a:ln>
          <a:effectLst>
            <a:outerShdw sx="100000" sy="100000" kx="0" ky="0" algn="bl" rotWithShape="0" blurRad="50800" dist="38100" dir="2700000">
              <a:srgbClr val="000000">
                <a:alpha val="25000"/>
              </a:srgbClr>
            </a:outerShdw>
          </a:effectLst>
        </p:spPr>
        <p:txBody>
          <a:bodyPr/>
          <a:p/>
        </p:txBody>
      </p:sp>
      <p:pic>
        <p:nvPicPr>
          <p:cNvPr id="11" name="Image 0" descr="preencoded.png">    </p:cNvPr>
          <p:cNvPicPr>
            <a:picLocks noChangeAspect="1"/>
          </p:cNvPicPr>
          <p:nvPr/>
        </p:nvPicPr>
        <p:blipFill>
          <a:blip r:embed="rId2"/>
          <a:stretch>
            <a:fillRect/>
          </a:stretch>
        </p:blipFill>
        <p:spPr>
          <a:xfrm>
            <a:off x="2441448" y="5285232"/>
            <a:ext cx="594360" cy="594360"/>
          </a:xfrm>
          <a:prstGeom prst="rect">
            <a:avLst/>
          </a:prstGeom>
        </p:spPr>
      </p:pic>
      <p:sp>
        <p:nvSpPr>
          <p:cNvPr id="12" name="Shape 9"/>
          <p:cNvSpPr/>
          <p:nvPr/>
        </p:nvSpPr>
        <p:spPr>
          <a:xfrm>
            <a:off x="8138160" y="1600200"/>
            <a:ext cx="3566160" cy="3566160"/>
          </a:xfrm>
          <a:prstGeom prst="ellipse">
            <a:avLst/>
          </a:prstGeom>
          <a:solidFill>
            <a:srgbClr val="FFD23F"/>
          </a:solidFill>
          <a:ln w="12700">
            <a:solidFill>
              <a:srgbClr val="252A3D"/>
            </a:solidFill>
            <a:prstDash val="solid"/>
          </a:ln>
          <a:effectLst>
            <a:outerShdw sx="100000" sy="100000" kx="0" ky="0" algn="bl" rotWithShape="0" blurRad="50800" dist="38100" dir="2700000">
              <a:srgbClr val="000000">
                <a:alpha val="25000"/>
              </a:srgbClr>
            </a:outerShdw>
          </a:effectLst>
        </p:spPr>
        <p:txBody>
          <a:bodyPr/>
          <a:p/>
        </p:txBody>
      </p:sp>
      <p:pic>
        <p:nvPicPr>
          <p:cNvPr id="13" name="Image 1" descr="preencoded.png">    </p:cNvPr>
          <p:cNvPicPr>
            <a:picLocks noChangeAspect="1"/>
          </p:cNvPicPr>
          <p:nvPr/>
        </p:nvPicPr>
        <p:blipFill>
          <a:blip r:embed="rId3"/>
          <a:stretch>
            <a:fillRect/>
          </a:stretch>
        </p:blipFill>
        <p:spPr>
          <a:xfrm>
            <a:off x="8549640" y="2011680"/>
            <a:ext cx="2743200" cy="2743200"/>
          </a:xfrm>
          <a:prstGeom prst="rect">
            <a:avLst/>
          </a:prstGeom>
        </p:spPr>
      </p:pic>
      <p:sp>
        <p:nvSpPr>
          <p:cNvPr id="14" name="Text 10"/>
          <p:cNvSpPr txBox="1"/>
          <p:nvPr/>
        </p:nvSpPr>
        <p:spPr>
          <a:xfrm>
            <a:off x="731520" y="6419088"/>
            <a:ext cx="7315200" cy="228600"/>
          </a:xfrm>
          <a:prstGeom prst="rect">
            <a:avLst/>
          </a:prstGeom>
          <a:noFill/>
          <a:ln/>
        </p:spPr>
        <p:txBody>
          <a:bodyPr wrap="square" lIns="0" tIns="0" rIns="0" bIns="0" rtlCol="0" anchor="t"/>
          <a:lstStyle/>
          <a:p>
            <a:pPr indent="0" marL="0">
              <a:lnSpc>
                <a:spcPct val="105000"/>
              </a:lnSpc>
              <a:buNone/>
            </a:pPr>
            <a:r>
              <a:rPr lang="en-US" sz="950" dirty="0">
                <a:solidFill>
                  <a:srgbClr val="252A3D"/>
                </a:solidFill>
                <a:latin typeface="Arial" pitchFamily="34" charset="0"/>
                <a:ea typeface="Arial" pitchFamily="34" charset="-122"/>
                <a:cs typeface="Arial" pitchFamily="34" charset="-120"/>
              </a:rPr>
              <a:t>The Last Human Gate · Forward Deployed Engineering for Governance Automation · Article de recherche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dernier jalon encore humain - The Last Human Gate (version française)</dc:title>
  <dc:subject>PptxGenJS Presentation</dc:subject>
  <dc:creator>Jeremy Canale</dc:creator>
  <cp:lastModifiedBy>Jeremy Canale</cp:lastModifiedBy>
  <cp:revision>1</cp:revision>
  <dcterms:created xsi:type="dcterms:W3CDTF">2026-09-25T11:10:40Z</dcterms:created>
  <dcterms:modified xsi:type="dcterms:W3CDTF">2026-09-25T11:10:40Z</dcterms:modified>
</cp:coreProperties>
</file>